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hnO3ANY3tuO9bw3fvWapvK42Hs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6390" y="156705"/>
            <a:ext cx="2342520" cy="68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5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6577520" y="203969"/>
            <a:ext cx="19240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5"/>
          <p:cNvSpPr txBox="1"/>
          <p:nvPr>
            <p:ph type="title"/>
          </p:nvPr>
        </p:nvSpPr>
        <p:spPr>
          <a:xfrm>
            <a:off x="1839150" y="1583850"/>
            <a:ext cx="54657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4" name="Google Shape;1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183" y="4552000"/>
            <a:ext cx="112138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5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None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6" name="Google Shape;16;p35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6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9" name="Google Shape;19;p3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" name="Google Shape;20;p3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22;p3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3" name="Google Shape;23;p3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3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3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" name="Google Shape;26;p3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7" name="Google Shape;27;p3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3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" name="Google Shape;31;p36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32" name="Google Shape;32;p3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3" name="Google Shape;33;p3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" name="Google Shape;35;p3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36" name="Google Shape;36;p3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3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3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" name="Google Shape;39;p3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0" name="Google Shape;40;p3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" name="Google Shape;44;p3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45" name="Google Shape;45;p3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3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" name="Google Shape;50;p36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3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37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7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7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8" name="Google Shape;58;p37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38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1" name="Google Shape;61;p38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2" name="Google Shape;62;p38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38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38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5" name="Google Shape;65;p38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38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38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8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9" name="Google Shape;69;p38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8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8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8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" name="Google Shape;73;p38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4" name="Google Shape;74;p38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5" name="Google Shape;75;p38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8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8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8" name="Google Shape;78;p38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8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8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38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2" name="Google Shape;82;p38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8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8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8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38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7" name="Google Shape;87;p38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8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8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8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8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2" name="Google Shape;92;p38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38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9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39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39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9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9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40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03" name="Google Shape;103;p4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04" name="Google Shape;104;p4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4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07" name="Google Shape;107;p4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4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11" name="Google Shape;111;p4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4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" name="Google Shape;115;p40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116" name="Google Shape;116;p4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17" name="Google Shape;117;p4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4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20" name="Google Shape;120;p4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4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24" name="Google Shape;124;p4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4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29" name="Google Shape;129;p4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4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4" name="Google Shape;134;p40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4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1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41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9" name="Google Shape;139;p41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1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1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42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45" name="Google Shape;145;p42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46" name="Google Shape;146;p4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2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42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49" name="Google Shape;149;p42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2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2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42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53" name="Google Shape;153;p42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2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2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7" name="Google Shape;157;p42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158" name="Google Shape;158;p42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59" name="Google Shape;159;p42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2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42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62" name="Google Shape;162;p42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2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2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42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66" name="Google Shape;166;p4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2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2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42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42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71" name="Google Shape;171;p42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2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2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2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2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" name="Google Shape;176;p42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4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3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0" name="Google Shape;180;p43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4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3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44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87" name="Google Shape;187;p4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88" name="Google Shape;188;p4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4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91" name="Google Shape;191;p4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4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4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95" name="Google Shape;195;p4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9" name="Google Shape;199;p44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200" name="Google Shape;200;p4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01" name="Google Shape;201;p4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4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04" name="Google Shape;204;p4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oogle Shape;207;p4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08" name="Google Shape;208;p4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4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13" name="Google Shape;213;p4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8" name="Google Shape;218;p44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4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2" name="Google Shape;222;p45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3" name="Google Shape;223;p45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5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5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46"/>
          <p:cNvSpPr txBox="1"/>
          <p:nvPr>
            <p:ph idx="1" type="body"/>
          </p:nvPr>
        </p:nvSpPr>
        <p:spPr>
          <a:xfrm>
            <a:off x="4889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46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6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4" name="Google Shape;234;p46"/>
          <p:cNvSpPr txBox="1"/>
          <p:nvPr>
            <p:ph idx="2" type="body"/>
          </p:nvPr>
        </p:nvSpPr>
        <p:spPr>
          <a:xfrm>
            <a:off x="49295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7"/>
          <p:cNvSpPr txBox="1"/>
          <p:nvPr>
            <p:ph type="title"/>
          </p:nvPr>
        </p:nvSpPr>
        <p:spPr>
          <a:xfrm>
            <a:off x="536550" y="1279950"/>
            <a:ext cx="38259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47"/>
          <p:cNvSpPr txBox="1"/>
          <p:nvPr>
            <p:ph idx="1" type="body"/>
          </p:nvPr>
        </p:nvSpPr>
        <p:spPr>
          <a:xfrm>
            <a:off x="4781550" y="1197300"/>
            <a:ext cx="36648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47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7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7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41" name="Google Shape;24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50" y="18075"/>
            <a:ext cx="2103376" cy="5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7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○"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9" name="Google Shape;249;p1"/>
          <p:cNvSpPr txBox="1"/>
          <p:nvPr>
            <p:ph type="title"/>
          </p:nvPr>
        </p:nvSpPr>
        <p:spPr>
          <a:xfrm>
            <a:off x="1839150" y="1045200"/>
            <a:ext cx="54657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UD5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¿Cómo hacemos una empresa sostenible en nuestro sector profesional?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50" name="Google Shape;250;p1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Sostenibilidad aplicada al sistema productivo</a:t>
            </a:r>
            <a:endParaRPr/>
          </a:p>
        </p:txBody>
      </p:sp>
      <p:sp>
        <p:nvSpPr>
          <p:cNvPr id="251" name="Google Shape;251;p1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1º DESARROLLO  DE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APLICACIONES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/>
          <p:nvPr>
            <p:ph idx="1" type="body"/>
          </p:nvPr>
        </p:nvSpPr>
        <p:spPr>
          <a:xfrm>
            <a:off x="500700" y="1464525"/>
            <a:ext cx="81426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Límites planetarios: </a:t>
            </a:r>
            <a:r>
              <a:rPr b="0" lang="es"/>
              <a:t>Estamos chocando con los límites ecológicos de la Tierra.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Ecodependencia: </a:t>
            </a:r>
            <a:r>
              <a:rPr b="0" lang="es"/>
              <a:t>Toda actividad económica depende de ecosistemas equilibrados.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Transformaciones necesarias:</a:t>
            </a:r>
            <a:endParaRPr/>
          </a:p>
          <a:p>
            <a:pPr indent="-3238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</a:pPr>
            <a:r>
              <a:rPr b="0" lang="es"/>
              <a:t>Restaurar ecosistemas (ej. fertilidad del suelo).</a:t>
            </a:r>
            <a:endParaRPr b="0"/>
          </a:p>
          <a:p>
            <a:pPr indent="-3238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</a:pPr>
            <a:r>
              <a:rPr b="0" lang="es"/>
              <a:t>Fomentar empleos integrados en el entorno (ej. agroecología).</a:t>
            </a:r>
            <a:endParaRPr b="0"/>
          </a:p>
          <a:p>
            <a:pPr indent="-3238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</a:pPr>
            <a:r>
              <a:rPr b="0" lang="es"/>
              <a:t>Reducir actividades nocivas o basadas únicamente en la explotación.</a:t>
            </a:r>
            <a:endParaRPr b="0"/>
          </a:p>
        </p:txBody>
      </p:sp>
      <p:sp>
        <p:nvSpPr>
          <p:cNvPr id="257" name="Google Shape;257;p1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s"/>
              <a:t>¿Por qué necesitamos un Plan de Sostenibilidad?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Reducción: </a:t>
            </a:r>
            <a:r>
              <a:rPr b="0" lang="es"/>
              <a:t>Ajustar el consumo material y energético a lo disponible en el territorio.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Relocalización: </a:t>
            </a:r>
            <a:r>
              <a:rPr b="0" lang="es"/>
              <a:t>Producir en cercanía y diversificar para reducir la dependencia del transporte de larga distancia.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Metabolismo ecosistémico: </a:t>
            </a:r>
            <a:r>
              <a:rPr b="0" lang="es"/>
              <a:t>Ajustar las actividades humanas a los ritmos y límites de la naturaleza.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Justicia social:</a:t>
            </a:r>
            <a:r>
              <a:rPr b="0" lang="es"/>
              <a:t> Redistribución de la riqueza con criterios de justicia global.</a:t>
            </a:r>
            <a:endParaRPr b="0"/>
          </a:p>
        </p:txBody>
      </p:sp>
      <p:sp>
        <p:nvSpPr>
          <p:cNvPr id="263" name="Google Shape;263;p16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Pilares de la Transformación Económica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>
            <p:ph idx="1" type="body"/>
          </p:nvPr>
        </p:nvSpPr>
        <p:spPr>
          <a:xfrm>
            <a:off x="500700" y="1464525"/>
            <a:ext cx="53514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Definición: </a:t>
            </a:r>
            <a:r>
              <a:rPr b="0" lang="es"/>
              <a:t>Estrategia para asegurar que una organización sea ambientalmente responsable, económicamente viable y socialmente justa.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Grupos de interés (Participantes):</a:t>
            </a:r>
            <a:r>
              <a:rPr b="0" lang="es"/>
              <a:t> Empleados, clientes, comunidades locales, gobiernos y los propios sistemas naturales.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Diseño participativo: </a:t>
            </a:r>
            <a:r>
              <a:rPr b="0" lang="es"/>
              <a:t>No se impone; se crea en colaboración con todas las partes.</a:t>
            </a:r>
            <a:endParaRPr b="0"/>
          </a:p>
        </p:txBody>
      </p:sp>
      <p:sp>
        <p:nvSpPr>
          <p:cNvPr id="269" name="Google Shape;269;p17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¿Qué es un Plan de Sostenibilidad?</a:t>
            </a:r>
            <a:endParaRPr/>
          </a:p>
        </p:txBody>
      </p:sp>
      <p:pic>
        <p:nvPicPr>
          <p:cNvPr id="270" name="Google Shape;270;p17"/>
          <p:cNvPicPr preferRelativeResize="0"/>
          <p:nvPr/>
        </p:nvPicPr>
        <p:blipFill rotWithShape="1">
          <a:blip r:embed="rId3">
            <a:alphaModFix/>
          </a:blip>
          <a:srcRect b="12388" l="0" r="0" t="0"/>
          <a:stretch/>
        </p:blipFill>
        <p:spPr>
          <a:xfrm>
            <a:off x="6553100" y="1529975"/>
            <a:ext cx="1948150" cy="293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s"/>
              <a:t>Diagnóstico Inicial: </a:t>
            </a:r>
            <a:r>
              <a:rPr b="0" lang="es"/>
              <a:t>Identificar impactos ambientales (residuos, emisiones, consumos) y riesgos sociales.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s"/>
              <a:t>Definir el Plan de Acción: </a:t>
            </a:r>
            <a:r>
              <a:rPr b="0" lang="es"/>
              <a:t>Priorizar ámbitos de mejora y establecer objetivos "SMART" (específicos, medibles, alcanzables, relevantes y temporales).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es"/>
              <a:t>Establecer Indicadores: </a:t>
            </a:r>
            <a:r>
              <a:rPr b="0" lang="es"/>
              <a:t>Herramientas para medir el progreso (ej. huella de carbono, condiciones laborales, transparencia).</a:t>
            </a:r>
            <a:endParaRPr b="0"/>
          </a:p>
        </p:txBody>
      </p:sp>
      <p:sp>
        <p:nvSpPr>
          <p:cNvPr id="276" name="Google Shape;276;p18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Pasos para elaborar el Plan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 txBox="1"/>
          <p:nvPr>
            <p:ph idx="1" type="body"/>
          </p:nvPr>
        </p:nvSpPr>
        <p:spPr>
          <a:xfrm>
            <a:off x="3251100" y="1464525"/>
            <a:ext cx="53922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6706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Gestión de recursos: </a:t>
            </a:r>
            <a:r>
              <a:rPr b="0" lang="es"/>
              <a:t>Uso eficiente de agua, energía y materiales biodegradables.</a:t>
            </a:r>
            <a:endParaRPr b="0"/>
          </a:p>
          <a:p>
            <a:pPr indent="-316706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Economía Circular: </a:t>
            </a:r>
            <a:r>
              <a:rPr b="0" lang="es"/>
              <a:t>Cierre de ciclos de materia en interrelación con los ecosistemas.</a:t>
            </a:r>
            <a:endParaRPr b="0"/>
          </a:p>
          <a:p>
            <a:pPr indent="-316706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Responsabilidad Social: </a:t>
            </a:r>
            <a:r>
              <a:rPr b="0" lang="es"/>
              <a:t>Prácticas laborales justas y apoyo a la comunidad.</a:t>
            </a:r>
            <a:endParaRPr b="0"/>
          </a:p>
          <a:p>
            <a:pPr indent="-316706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Gobernanza: </a:t>
            </a:r>
            <a:r>
              <a:rPr b="0" lang="es"/>
              <a:t>Transparencia, ética y cumplimiento normativo.</a:t>
            </a:r>
            <a:endParaRPr b="0"/>
          </a:p>
        </p:txBody>
      </p:sp>
      <p:sp>
        <p:nvSpPr>
          <p:cNvPr id="282" name="Google Shape;282;p19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Elementos Clave en la Gestión</a:t>
            </a:r>
            <a:endParaRPr/>
          </a:p>
        </p:txBody>
      </p:sp>
      <p:pic>
        <p:nvPicPr>
          <p:cNvPr id="283" name="Google Shape;2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450" y="1294250"/>
            <a:ext cx="2059625" cy="308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Implementación: </a:t>
            </a:r>
            <a:r>
              <a:rPr b="0" lang="es"/>
              <a:t>Debe suponer cambios estructurales reales, no solo acciones "cosméticas".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Difusión Interna y Externa: </a:t>
            </a:r>
            <a:r>
              <a:rPr b="0" lang="es"/>
              <a:t>Generar diálogo y fiscalización activa; evitar relatos triunfalistas.</a:t>
            </a:r>
            <a:endParaRPr b="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Seguimiento Periódico: </a:t>
            </a:r>
            <a:r>
              <a:rPr b="0" lang="es"/>
              <a:t>Revisar metas, detectar frenos y ajustar la estrategia según los resultados.</a:t>
            </a:r>
            <a:endParaRPr b="0"/>
          </a:p>
        </p:txBody>
      </p:sp>
      <p:sp>
        <p:nvSpPr>
          <p:cNvPr id="289" name="Google Shape;289;p2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Implementación y Seguimiento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/>
          <p:nvPr>
            <p:ph idx="1" type="body"/>
          </p:nvPr>
        </p:nvSpPr>
        <p:spPr>
          <a:xfrm>
            <a:off x="500700" y="1464525"/>
            <a:ext cx="81426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sostenibilidad es un plan de mejora sostenida, no una meta final estática.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Objetivo final: Una economía que cuide de las personas y de la trama de la vida.</a:t>
            </a:r>
            <a:endParaRPr/>
          </a:p>
        </p:txBody>
      </p:sp>
      <p:sp>
        <p:nvSpPr>
          <p:cNvPr id="295" name="Google Shape;295;p21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Conclusión - El Horizonte de Transformación</a:t>
            </a:r>
            <a:endParaRPr/>
          </a:p>
        </p:txBody>
      </p:sp>
      <p:pic>
        <p:nvPicPr>
          <p:cNvPr id="296" name="Google Shape;2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9400" y="2500690"/>
            <a:ext cx="3385200" cy="22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