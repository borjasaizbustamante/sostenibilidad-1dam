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6858000" cx="12192000"/>
  <p:notesSz cx="6858000" cy="9144000"/>
  <p:embeddedFontLst>
    <p:embeddedFont>
      <p:font typeface="Nunito"/>
      <p:regular r:id="rId49"/>
      <p:bold r:id="rId50"/>
      <p:italic r:id="rId51"/>
      <p:boldItalic r:id="rId52"/>
    </p:embeddedFont>
    <p:embeddedFont>
      <p:font typeface="Maven Pro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jpwOCYsJ/jSpFeb+ru90cPii4u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Nuni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Nunito-italic.fntdata"/><Relationship Id="rId50" Type="http://schemas.openxmlformats.org/officeDocument/2006/relationships/font" Target="fonts/Nunito-bold.fntdata"/><Relationship Id="rId53" Type="http://schemas.openxmlformats.org/officeDocument/2006/relationships/font" Target="fonts/MavenPro-regular.fntdata"/><Relationship Id="rId52" Type="http://schemas.openxmlformats.org/officeDocument/2006/relationships/font" Target="fonts/Nunito-boldItalic.fntdata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font" Target="fonts/Maven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2de7cfb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2de7cfb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42de7cfbb3_0_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42de7cfbb3_0_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g342de7cfbb3_0_5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2de7cfbb3_0_27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5" name="Google Shape;15;g342de7cfbb3_0_2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42de7cfbb3_0_277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42de7cfbb3_0_277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8" name="Google Shape;18;g342de7cfbb3_0_2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42de7cfbb3_0_277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0" name="Google Shape;20;g342de7cfbb3_0_277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42de7cfbb3_0_285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3" name="Google Shape;23;g342de7cfbb3_0_28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4" name="Google Shape;24;g342de7cfbb3_0_28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42de7cfbb3_0_28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" name="Google Shape;26;g342de7cfbb3_0_28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7" name="Google Shape;27;g342de7cfbb3_0_28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g342de7cfbb3_0_28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42de7cfbb3_0_28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g342de7cfbb3_0_28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31" name="Google Shape;31;g342de7cfbb3_0_28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42de7cfbb3_0_28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g342de7cfbb3_0_28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g342de7cfbb3_0_28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g342de7cfbb3_0_285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36" name="Google Shape;36;g342de7cfbb3_0_28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7" name="Google Shape;37;g342de7cfbb3_0_28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42de7cfbb3_0_28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" name="Google Shape;39;g342de7cfbb3_0_28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40" name="Google Shape;40;g342de7cfbb3_0_28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g342de7cfbb3_0_28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g342de7cfbb3_0_28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g342de7cfbb3_0_28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4" name="Google Shape;44;g342de7cfbb3_0_28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g342de7cfbb3_0_28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g342de7cfbb3_0_28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g342de7cfbb3_0_28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g342de7cfbb3_0_28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49" name="Google Shape;49;g342de7cfbb3_0_28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g342de7cfbb3_0_28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g342de7cfbb3_0_28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g342de7cfbb3_0_28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42de7cfbb3_0_28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g342de7cfbb3_0_285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42de7cfbb3_0_28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2de7cfbb3_0_320"/>
          <p:cNvSpPr txBox="1"/>
          <p:nvPr>
            <p:ph idx="1" type="body"/>
          </p:nvPr>
        </p:nvSpPr>
        <p:spPr>
          <a:xfrm>
            <a:off x="6676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g342de7cfbb3_0_320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9" name="Google Shape;59;g342de7cfbb3_0_320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0" name="Google Shape;60;g342de7cfbb3_0_3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42de7cfbb3_0_320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2" name="Google Shape;62;g342de7cfbb3_0_320"/>
          <p:cNvSpPr txBox="1"/>
          <p:nvPr>
            <p:ph type="title"/>
          </p:nvPr>
        </p:nvSpPr>
        <p:spPr>
          <a:xfrm>
            <a:off x="6676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2de7cfbb3_0_327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" name="Google Shape;65;g342de7cfbb3_0_327"/>
          <p:cNvSpPr txBox="1"/>
          <p:nvPr>
            <p:ph idx="1" type="body"/>
          </p:nvPr>
        </p:nvSpPr>
        <p:spPr>
          <a:xfrm>
            <a:off x="6519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6" name="Google Shape;66;g342de7cfbb3_0_327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7" name="Google Shape;67;g342de7cfbb3_0_327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8" name="Google Shape;68;g342de7cfbb3_0_3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42de7cfbb3_0_327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0" name="Google Shape;70;g342de7cfbb3_0_327"/>
          <p:cNvSpPr txBox="1"/>
          <p:nvPr>
            <p:ph idx="2" type="body"/>
          </p:nvPr>
        </p:nvSpPr>
        <p:spPr>
          <a:xfrm>
            <a:off x="65727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2de7cfbb3_0_335"/>
          <p:cNvSpPr txBox="1"/>
          <p:nvPr>
            <p:ph type="title"/>
          </p:nvPr>
        </p:nvSpPr>
        <p:spPr>
          <a:xfrm>
            <a:off x="715400" y="1706600"/>
            <a:ext cx="5101200" cy="344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3" name="Google Shape;73;g342de7cfbb3_0_335"/>
          <p:cNvSpPr txBox="1"/>
          <p:nvPr>
            <p:ph idx="1" type="body"/>
          </p:nvPr>
        </p:nvSpPr>
        <p:spPr>
          <a:xfrm>
            <a:off x="6375400" y="1596400"/>
            <a:ext cx="48864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4" name="Google Shape;74;g342de7cfbb3_0_335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5" name="Google Shape;75;g342de7cfbb3_0_335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6" name="Google Shape;76;g342de7cfbb3_0_33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77" name="Google Shape;77;g342de7cfbb3_0_3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133" y="24100"/>
            <a:ext cx="2804501" cy="7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42de7cfbb3_0_335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79" name="Google Shape;79;g342de7cfbb3_0_3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342de7cfbb3_0_344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82" name="Google Shape;82;g342de7cfbb3_0_34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83" name="Google Shape;83;g342de7cfbb3_0_34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42de7cfbb3_0_34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g342de7cfbb3_0_34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86" name="Google Shape;86;g342de7cfbb3_0_34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g342de7cfbb3_0_34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g342de7cfbb3_0_34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g342de7cfbb3_0_34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90" name="Google Shape;90;g342de7cfbb3_0_34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g342de7cfbb3_0_34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g342de7cfbb3_0_34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g342de7cfbb3_0_34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" name="Google Shape;94;g342de7cfbb3_0_344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95" name="Google Shape;95;g342de7cfbb3_0_34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96" name="Google Shape;96;g342de7cfbb3_0_34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g342de7cfbb3_0_34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" name="Google Shape;98;g342de7cfbb3_0_34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99" name="Google Shape;99;g342de7cfbb3_0_34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g342de7cfbb3_0_34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g342de7cfbb3_0_34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g342de7cfbb3_0_34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03" name="Google Shape;103;g342de7cfbb3_0_34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g342de7cfbb3_0_34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g342de7cfbb3_0_34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g342de7cfbb3_0_34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" name="Google Shape;107;g342de7cfbb3_0_34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08" name="Google Shape;108;g342de7cfbb3_0_34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g342de7cfbb3_0_34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g342de7cfbb3_0_34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g342de7cfbb3_0_34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g342de7cfbb3_0_34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" name="Google Shape;113;g342de7cfbb3_0_344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g342de7cfbb3_0_344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2de7cfbb3_0_379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42de7cfbb3_0_379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8" name="Google Shape;118;g342de7cfbb3_0_379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9" name="Google Shape;119;g342de7cfbb3_0_379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0" name="Google Shape;120;g342de7cfbb3_0_3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42de7cfbb3_0_379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g342de7cfbb3_0_386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24" name="Google Shape;124;g342de7cfbb3_0_38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25" name="Google Shape;125;g342de7cfbb3_0_38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g342de7cfbb3_0_38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" name="Google Shape;127;g342de7cfbb3_0_38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28" name="Google Shape;128;g342de7cfbb3_0_38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g342de7cfbb3_0_38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g342de7cfbb3_0_38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g342de7cfbb3_0_38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32" name="Google Shape;132;g342de7cfbb3_0_38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g342de7cfbb3_0_38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g342de7cfbb3_0_38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g342de7cfbb3_0_38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" name="Google Shape;136;g342de7cfbb3_0_386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37" name="Google Shape;137;g342de7cfbb3_0_38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38" name="Google Shape;138;g342de7cfbb3_0_38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g342de7cfbb3_0_38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g342de7cfbb3_0_38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41" name="Google Shape;141;g342de7cfbb3_0_38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g342de7cfbb3_0_38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g342de7cfbb3_0_38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g342de7cfbb3_0_38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45" name="Google Shape;145;g342de7cfbb3_0_38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g342de7cfbb3_0_38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g342de7cfbb3_0_38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g342de7cfbb3_0_38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g342de7cfbb3_0_38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50" name="Google Shape;150;g342de7cfbb3_0_38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42de7cfbb3_0_38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342de7cfbb3_0_38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342de7cfbb3_0_38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42de7cfbb3_0_38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5" name="Google Shape;155;g342de7cfbb3_0_386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g342de7cfbb3_0_386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2de7cfbb3_0_421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9" name="Google Shape;159;g342de7cfbb3_0_421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0" name="Google Shape;160;g342de7cfbb3_0_421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1" name="Google Shape;161;g342de7cfbb3_0_421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62" name="Google Shape;162;g342de7cfbb3_0_4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42de7cfbb3_0_421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42de7cfbb3_0_428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66" name="Google Shape;166;g342de7cfbb3_0_428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67" name="Google Shape;167;g342de7cfbb3_0_428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g342de7cfbb3_0_428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g342de7cfbb3_0_428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70" name="Google Shape;170;g342de7cfbb3_0_428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42de7cfbb3_0_428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42de7cfbb3_0_428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42de7cfbb3_0_428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74" name="Google Shape;174;g342de7cfbb3_0_428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42de7cfbb3_0_428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42de7cfbb3_0_428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42de7cfbb3_0_428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" name="Google Shape;178;g342de7cfbb3_0_428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79" name="Google Shape;179;g342de7cfbb3_0_428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80" name="Google Shape;180;g342de7cfbb3_0_428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42de7cfbb3_0_428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42de7cfbb3_0_428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83" name="Google Shape;183;g342de7cfbb3_0_428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42de7cfbb3_0_428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42de7cfbb3_0_428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" name="Google Shape;186;g342de7cfbb3_0_428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87" name="Google Shape;187;g342de7cfbb3_0_428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42de7cfbb3_0_428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g342de7cfbb3_0_428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42de7cfbb3_0_428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g342de7cfbb3_0_428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92" name="Google Shape;192;g342de7cfbb3_0_428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g342de7cfbb3_0_428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g342de7cfbb3_0_428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42de7cfbb3_0_428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42de7cfbb3_0_428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7" name="Google Shape;197;g342de7cfbb3_0_428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g342de7cfbb3_0_428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2de7cfbb3_0_463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1" name="Google Shape;201;g342de7cfbb3_0_463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02" name="Google Shape;202;g342de7cfbb3_0_463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03" name="Google Shape;203;g342de7cfbb3_0_463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04" name="Google Shape;204;g342de7cfbb3_0_4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42de7cfbb3_0_463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g342de7cfbb3_0_470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08" name="Google Shape;208;g342de7cfbb3_0_47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9" name="Google Shape;209;g342de7cfbb3_0_47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42de7cfbb3_0_47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" name="Google Shape;211;g342de7cfbb3_0_47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12" name="Google Shape;212;g342de7cfbb3_0_47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g342de7cfbb3_0_47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42de7cfbb3_0_47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g342de7cfbb3_0_47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16" name="Google Shape;216;g342de7cfbb3_0_47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42de7cfbb3_0_47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42de7cfbb3_0_47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g342de7cfbb3_0_47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0" name="Google Shape;220;g342de7cfbb3_0_470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221" name="Google Shape;221;g342de7cfbb3_0_47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22" name="Google Shape;222;g342de7cfbb3_0_47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g342de7cfbb3_0_47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g342de7cfbb3_0_47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25" name="Google Shape;225;g342de7cfbb3_0_47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42de7cfbb3_0_47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42de7cfbb3_0_47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g342de7cfbb3_0_47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29" name="Google Shape;229;g342de7cfbb3_0_47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42de7cfbb3_0_47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42de7cfbb3_0_47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42de7cfbb3_0_47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g342de7cfbb3_0_47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34" name="Google Shape;234;g342de7cfbb3_0_47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42de7cfbb3_0_47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42de7cfbb3_0_47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42de7cfbb3_0_47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342de7cfbb3_0_47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9" name="Google Shape;239;g342de7cfbb3_0_470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g342de7cfbb3_0_470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2de7cfbb3_0_505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3" name="Google Shape;243;g342de7cfbb3_0_505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4" name="Google Shape;244;g342de7cfbb3_0_505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45" name="Google Shape;245;g342de7cfbb3_0_505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46" name="Google Shape;246;g342de7cfbb3_0_5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42de7cfbb3_0_50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2de7cfbb3_0_51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0" name="Google Shape;250;g342de7cfbb3_0_51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g342de7cfbb3_0_5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42de7cfbb3_0_5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42de7cfbb3_0_5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_1">
  <p:cSld name="TITLE_1_1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2de7cfbb3_0_51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6" name="Google Shape;256;g342de7cfbb3_0_5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42de7cfbb3_0_518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42de7cfbb3_0_518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259" name="Google Shape;259;g342de7cfbb3_0_5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42de7cfbb3_0_518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61" name="Google Shape;261;g342de7cfbb3_0_518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2de7cfbb3_0_5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4" name="Google Shape;264;g342de7cfbb3_0_5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65" name="Google Shape;265;g342de7cfbb3_0_5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342de7cfbb3_0_5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g342de7cfbb3_0_5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2de7cfbb3_0_27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b="1"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42de7cfbb3_0_27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b="1" sz="2000">
                <a:solidFill>
                  <a:schemeClr val="dk2"/>
                </a:solidFill>
              </a:defRPr>
            </a:lvl1pPr>
            <a:lvl2pPr indent="-336550" lvl="1" marL="9144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b="1" sz="1700">
                <a:solidFill>
                  <a:schemeClr val="dk2"/>
                </a:solidFill>
              </a:defRPr>
            </a:lvl2pPr>
            <a:lvl3pPr indent="-323850" lvl="2" marL="13716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indent="-323850" lvl="3" marL="18288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indent="-323850" lvl="4" marL="22860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indent="-3238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indent="-3238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indent="-3238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indent="-3238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42de7cfbb3_0_27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efrag.org/system/files/sites/webpublishing/Meeting%20Documents/2305101014421471/04-02%20Materiality%20Assessment%20Implementation%20guidance%20SR%20TEG%20090423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jpg"/><Relationship Id="rId4" Type="http://schemas.openxmlformats.org/officeDocument/2006/relationships/image" Target="../media/image3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ifrs.org/groups/international-sustainability-standards-board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2de7cfbb3_0_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73" name="Google Shape;273;g342de7cfbb3_0_0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UD5: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plan de sostenibilidad</a:t>
            </a:r>
            <a:endParaRPr/>
          </a:p>
        </p:txBody>
      </p:sp>
      <p:sp>
        <p:nvSpPr>
          <p:cNvPr id="274" name="Google Shape;274;g342de7cfbb3_0_0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rgbClr val="211261"/>
                </a:solidFill>
              </a:rPr>
              <a:t>SOSTENIBILIDAD APLICADA AL SISTEMA PRODUCTIVO</a:t>
            </a:r>
            <a:endParaRPr b="1">
              <a:solidFill>
                <a:srgbClr val="21126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2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281" name="Google Shape;281;p2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5.1. INTRODUCCIÓN 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INTRODUCCIÓN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293" name="Google Shape;293;p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94" name="Google Shape;2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1710" y="1356124"/>
            <a:ext cx="7996972" cy="55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EL PLAN DE SOSTENIBILIDAD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01" name="Google Shape;301;p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Una caricatura de una persona&#10;&#10;Descripción generada automáticamente con confianza media" id="303" name="Google Shape;3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5529" y="1387502"/>
            <a:ext cx="5040948" cy="510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"/>
          <p:cNvSpPr txBox="1"/>
          <p:nvPr/>
        </p:nvSpPr>
        <p:spPr>
          <a:xfrm>
            <a:off x="555523" y="2383270"/>
            <a:ext cx="5751871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Sostenibilidad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Estratégico de Sostenibilidad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documento que sirve como guía para la compañía, cuyo propósito principal es integrar la sostenibilidad en su estrategia de negocio teniendo presente la Agenda 2030.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EL PLAN DE SOSTENIBILIDAD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10" name="Google Shape;310;p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12" name="Google Shape;3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5556" y="2220404"/>
            <a:ext cx="2439167" cy="132556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5"/>
          <p:cNvSpPr txBox="1"/>
          <p:nvPr/>
        </p:nvSpPr>
        <p:spPr>
          <a:xfrm>
            <a:off x="4755556" y="1553790"/>
            <a:ext cx="240140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SOSTENIBILIDAD</a:t>
            </a:r>
            <a:endParaRPr/>
          </a:p>
        </p:txBody>
      </p:sp>
      <p:sp>
        <p:nvSpPr>
          <p:cNvPr id="314" name="Google Shape;314;p5"/>
          <p:cNvSpPr/>
          <p:nvPr/>
        </p:nvSpPr>
        <p:spPr>
          <a:xfrm>
            <a:off x="4755556" y="1553790"/>
            <a:ext cx="2439167" cy="1992173"/>
          </a:xfrm>
          <a:prstGeom prst="rect">
            <a:avLst/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 txBox="1"/>
          <p:nvPr/>
        </p:nvSpPr>
        <p:spPr>
          <a:xfrm>
            <a:off x="4559294" y="4324092"/>
            <a:ext cx="2831689" cy="1015663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fundamental en la administración de empresas sostenibles</a:t>
            </a:r>
            <a:endParaRPr/>
          </a:p>
        </p:txBody>
      </p:sp>
      <p:sp>
        <p:nvSpPr>
          <p:cNvPr id="316" name="Google Shape;316;p5"/>
          <p:cNvSpPr/>
          <p:nvPr/>
        </p:nvSpPr>
        <p:spPr>
          <a:xfrm>
            <a:off x="3967305" y="5996401"/>
            <a:ext cx="1563329" cy="604502"/>
          </a:xfrm>
          <a:prstGeom prst="roundRect">
            <a:avLst>
              <a:gd fmla="val 16667" name="adj"/>
            </a:avLst>
          </a:prstGeom>
          <a:solidFill>
            <a:srgbClr val="385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Activos Tangibles</a:t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6375300" y="5996401"/>
            <a:ext cx="1563329" cy="604502"/>
          </a:xfrm>
          <a:prstGeom prst="roundRect">
            <a:avLst>
              <a:gd fmla="val 16667" name="adj"/>
            </a:avLst>
          </a:prstGeom>
          <a:solidFill>
            <a:srgbClr val="385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Activos Intangibles</a:t>
            </a:r>
            <a:endParaRPr/>
          </a:p>
        </p:txBody>
      </p:sp>
      <p:sp>
        <p:nvSpPr>
          <p:cNvPr id="318" name="Google Shape;318;p5"/>
          <p:cNvSpPr txBox="1"/>
          <p:nvPr/>
        </p:nvSpPr>
        <p:spPr>
          <a:xfrm>
            <a:off x="1265892" y="2110088"/>
            <a:ext cx="2701413" cy="2246769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Contine los objetivos a corto, medio y largo plazo, las acciones a realizar, sus responsables y su planificación según criterios ASG o ESG</a:t>
            </a:r>
            <a:endParaRPr/>
          </a:p>
        </p:txBody>
      </p:sp>
      <p:sp>
        <p:nvSpPr>
          <p:cNvPr id="319" name="Google Shape;319;p5"/>
          <p:cNvSpPr txBox="1"/>
          <p:nvPr/>
        </p:nvSpPr>
        <p:spPr>
          <a:xfrm>
            <a:off x="7938629" y="2371985"/>
            <a:ext cx="2701413" cy="1631216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él se establece la correlación entre las acciones de la empresa en materia de sostenibilidad y los ODS</a:t>
            </a:r>
            <a:endParaRPr/>
          </a:p>
        </p:txBody>
      </p:sp>
      <p:cxnSp>
        <p:nvCxnSpPr>
          <p:cNvPr id="320" name="Google Shape;320;p5"/>
          <p:cNvCxnSpPr>
            <a:stCxn id="314" idx="1"/>
            <a:endCxn id="318" idx="3"/>
          </p:cNvCxnSpPr>
          <p:nvPr/>
        </p:nvCxnSpPr>
        <p:spPr>
          <a:xfrm flipH="1">
            <a:off x="3967156" y="2549877"/>
            <a:ext cx="788400" cy="6837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21" name="Google Shape;321;p5"/>
          <p:cNvCxnSpPr>
            <a:stCxn id="314" idx="2"/>
            <a:endCxn id="315" idx="0"/>
          </p:cNvCxnSpPr>
          <p:nvPr/>
        </p:nvCxnSpPr>
        <p:spPr>
          <a:xfrm>
            <a:off x="5975140" y="3545963"/>
            <a:ext cx="0" cy="7782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22" name="Google Shape;322;p5"/>
          <p:cNvCxnSpPr>
            <a:stCxn id="314" idx="3"/>
            <a:endCxn id="319" idx="1"/>
          </p:cNvCxnSpPr>
          <p:nvPr/>
        </p:nvCxnSpPr>
        <p:spPr>
          <a:xfrm>
            <a:off x="7194723" y="2549877"/>
            <a:ext cx="744000" cy="6378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23" name="Google Shape;323;p5"/>
          <p:cNvCxnSpPr>
            <a:stCxn id="315" idx="2"/>
            <a:endCxn id="316" idx="0"/>
          </p:cNvCxnSpPr>
          <p:nvPr/>
        </p:nvCxnSpPr>
        <p:spPr>
          <a:xfrm flipH="1">
            <a:off x="4749039" y="5339755"/>
            <a:ext cx="1226100" cy="6567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24" name="Google Shape;324;p5"/>
          <p:cNvCxnSpPr>
            <a:stCxn id="315" idx="2"/>
            <a:endCxn id="317" idx="0"/>
          </p:cNvCxnSpPr>
          <p:nvPr/>
        </p:nvCxnSpPr>
        <p:spPr>
          <a:xfrm>
            <a:off x="5975139" y="5339755"/>
            <a:ext cx="1181700" cy="6567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ASPECTOS DEL PLAN DE SOSTENIBILIDAD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30" name="Google Shape;330;p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1" name="Google Shape;331;p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32" name="Google Shape;3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302" y="3818205"/>
            <a:ext cx="2439167" cy="132556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6"/>
          <p:cNvSpPr txBox="1"/>
          <p:nvPr/>
        </p:nvSpPr>
        <p:spPr>
          <a:xfrm>
            <a:off x="4770302" y="3151591"/>
            <a:ext cx="240140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SOSTENIBILIDAD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4770302" y="3151591"/>
            <a:ext cx="2439167" cy="1992173"/>
          </a:xfrm>
          <a:prstGeom prst="rect">
            <a:avLst/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6"/>
          <p:cNvCxnSpPr>
            <a:stCxn id="334" idx="1"/>
            <a:endCxn id="336" idx="6"/>
          </p:cNvCxnSpPr>
          <p:nvPr/>
        </p:nvCxnSpPr>
        <p:spPr>
          <a:xfrm rot="10800000">
            <a:off x="3838802" y="4147678"/>
            <a:ext cx="931500" cy="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37" name="Google Shape;337;p6"/>
          <p:cNvCxnSpPr>
            <a:stCxn id="334" idx="2"/>
            <a:endCxn id="338" idx="0"/>
          </p:cNvCxnSpPr>
          <p:nvPr/>
        </p:nvCxnSpPr>
        <p:spPr>
          <a:xfrm flipH="1">
            <a:off x="5985686" y="5143764"/>
            <a:ext cx="4200" cy="6453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39" name="Google Shape;339;p6"/>
          <p:cNvCxnSpPr>
            <a:stCxn id="334" idx="3"/>
            <a:endCxn id="340" idx="2"/>
          </p:cNvCxnSpPr>
          <p:nvPr/>
        </p:nvCxnSpPr>
        <p:spPr>
          <a:xfrm>
            <a:off x="7209469" y="4147678"/>
            <a:ext cx="1030800" cy="147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341" name="Google Shape;341;p6"/>
          <p:cNvSpPr/>
          <p:nvPr/>
        </p:nvSpPr>
        <p:spPr>
          <a:xfrm>
            <a:off x="4577283" y="1856787"/>
            <a:ext cx="2816941" cy="683596"/>
          </a:xfrm>
          <a:prstGeom prst="ellipse">
            <a:avLst/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ECONÓMICA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8240165" y="3820627"/>
            <a:ext cx="2816941" cy="683596"/>
          </a:xfrm>
          <a:prstGeom prst="ellipse">
            <a:avLst/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4577282" y="5789073"/>
            <a:ext cx="2816941" cy="683596"/>
          </a:xfrm>
          <a:prstGeom prst="ellipse">
            <a:avLst/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GOBERNANZA</a:t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1021715" y="3805879"/>
            <a:ext cx="2816941" cy="683596"/>
          </a:xfrm>
          <a:prstGeom prst="ellipse">
            <a:avLst/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AMBIENTAL</a:t>
            </a:r>
            <a:endParaRPr/>
          </a:p>
        </p:txBody>
      </p:sp>
      <p:cxnSp>
        <p:nvCxnSpPr>
          <p:cNvPr id="342" name="Google Shape;342;p6"/>
          <p:cNvCxnSpPr>
            <a:stCxn id="334" idx="0"/>
            <a:endCxn id="341" idx="4"/>
          </p:cNvCxnSpPr>
          <p:nvPr/>
        </p:nvCxnSpPr>
        <p:spPr>
          <a:xfrm rot="10800000">
            <a:off x="5985686" y="2540491"/>
            <a:ext cx="4200" cy="611100"/>
          </a:xfrm>
          <a:prstGeom prst="straightConnector1">
            <a:avLst/>
          </a:prstGeom>
          <a:noFill/>
          <a:ln cap="flat" cmpd="sng" w="5080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p7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349" name="Google Shape;349;p7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7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5.2. FASES PARA LA DEFINICIÓN DE UN PLAN DE SOSTENIBILIDAD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FASES PARA DEFINIR EL PLAN DE SOSTENIBILIDAD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61" name="Google Shape;361;p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Diagrama&#10;&#10;Descripción generada automáticamente" id="362" name="Google Shape;3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4" y="1357024"/>
            <a:ext cx="10353364" cy="545904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DEFINICIÓN DE COMPROMISOS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69" name="Google Shape;369;p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p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71" name="Google Shape;3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4033" y="1400223"/>
            <a:ext cx="5363934" cy="488437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9"/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COMPROMISO CORPORATIVO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78" name="Google Shape;378;p1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1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80" name="Google Shape;3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2622" y="3429000"/>
            <a:ext cx="1977309" cy="282142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0"/>
          <p:cNvSpPr txBox="1"/>
          <p:nvPr/>
        </p:nvSpPr>
        <p:spPr>
          <a:xfrm>
            <a:off x="412955" y="2300748"/>
            <a:ext cx="429178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Misión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esencia de la compañía.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Visión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objetivos a medio y largo plazo. Debe apoyarse en los resultados del diagnóstico de la situación actual.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principios que dirigen su actuación.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integra los tres puntos anteriores y le proporciona su identidad particular. Comprende las tres dimensiones de la sostenibilidad: ambiental, social y gobernanza.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984949" y="1592826"/>
            <a:ext cx="2512654" cy="589928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endParaRPr/>
          </a:p>
        </p:txBody>
      </p:sp>
      <p:sp>
        <p:nvSpPr>
          <p:cNvPr id="383" name="Google Shape;383;p10"/>
          <p:cNvSpPr txBox="1"/>
          <p:nvPr/>
        </p:nvSpPr>
        <p:spPr>
          <a:xfrm>
            <a:off x="7811728" y="2750239"/>
            <a:ext cx="317090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Políticas Corporativas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criterios, principios y objetivos que explican los compromisos de organización en materia de sostenibilidad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COMPROMISO CORPORATIVO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89" name="Google Shape;389;p1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0" name="Google Shape;390;p1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Dibujo con letras&#10;&#10;Descripción generada automáticamente con confianza baja" id="391" name="Google Shape;3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7948" y="1372298"/>
            <a:ext cx="5962650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/>
          <p:nvPr/>
        </p:nvSpPr>
        <p:spPr>
          <a:xfrm>
            <a:off x="7693014" y="1491409"/>
            <a:ext cx="3660785" cy="589928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NIVEL DE AMBICIÓN</a:t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305444" y="2582546"/>
            <a:ext cx="27032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Cambios importantes en la empresa y en la cadena de suministro</a:t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3034440" y="2816942"/>
            <a:ext cx="1710813" cy="3687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305444" y="3767387"/>
            <a:ext cx="27032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objetivos de la empresa se alinean con los criterios ASG</a:t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3034440" y="4044697"/>
            <a:ext cx="1226568" cy="3687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305444" y="5002119"/>
            <a:ext cx="27032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cumplen los mínimos reglamentarios en materia social y ambiental</a:t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3034440" y="5272452"/>
            <a:ext cx="816744" cy="3687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DIAGNÓSTICO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04" name="Google Shape;404;p1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5" name="Google Shape;405;p1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406" name="Google Shape;4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2126" y="1399305"/>
            <a:ext cx="5878592" cy="506886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2"/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DIAGNÓSTICO INTERNO Y EXTERNO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13" name="Google Shape;413;p13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1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415" name="Google Shape;415;p13"/>
          <p:cNvGrpSpPr/>
          <p:nvPr/>
        </p:nvGrpSpPr>
        <p:grpSpPr>
          <a:xfrm>
            <a:off x="1107984" y="1464160"/>
            <a:ext cx="3516629" cy="1152686"/>
            <a:chOff x="1107984" y="1464160"/>
            <a:chExt cx="3516629" cy="1152686"/>
          </a:xfrm>
        </p:grpSpPr>
        <p:pic>
          <p:nvPicPr>
            <p:cNvPr id="416" name="Google Shape;41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7984" y="1464160"/>
              <a:ext cx="1295581" cy="1152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13"/>
            <p:cNvSpPr/>
            <p:nvPr/>
          </p:nvSpPr>
          <p:spPr>
            <a:xfrm>
              <a:off x="2403564" y="1642278"/>
              <a:ext cx="2221049" cy="8791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DIAGNÓSTICO INTERNO</a:t>
              </a:r>
              <a:endParaRPr/>
            </a:p>
          </p:txBody>
        </p:sp>
      </p:grpSp>
      <p:grpSp>
        <p:nvGrpSpPr>
          <p:cNvPr id="418" name="Google Shape;418;p13"/>
          <p:cNvGrpSpPr/>
          <p:nvPr/>
        </p:nvGrpSpPr>
        <p:grpSpPr>
          <a:xfrm>
            <a:off x="6816270" y="1397027"/>
            <a:ext cx="3639014" cy="1190791"/>
            <a:chOff x="6816270" y="1397027"/>
            <a:chExt cx="3639014" cy="1190791"/>
          </a:xfrm>
        </p:grpSpPr>
        <p:pic>
          <p:nvPicPr>
            <p:cNvPr id="419" name="Google Shape;41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16270" y="1397027"/>
              <a:ext cx="1257475" cy="1190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13"/>
            <p:cNvSpPr/>
            <p:nvPr/>
          </p:nvSpPr>
          <p:spPr>
            <a:xfrm>
              <a:off x="8234235" y="1642278"/>
              <a:ext cx="2221049" cy="879138"/>
            </a:xfrm>
            <a:prstGeom prst="rect">
              <a:avLst/>
            </a:prstGeom>
            <a:solidFill>
              <a:srgbClr val="FC5622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DIAGNÓSTICO EXTERNO</a:t>
              </a:r>
              <a:endParaRPr/>
            </a:p>
          </p:txBody>
        </p:sp>
      </p:grpSp>
      <p:sp>
        <p:nvSpPr>
          <p:cNvPr id="421" name="Google Shape;421;p13"/>
          <p:cNvSpPr txBox="1"/>
          <p:nvPr/>
        </p:nvSpPr>
        <p:spPr>
          <a:xfrm>
            <a:off x="1264737" y="2891976"/>
            <a:ext cx="33482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SE ESTÁN HACIENDO LAS COSAS?</a:t>
            </a:r>
            <a:endParaRPr/>
          </a:p>
        </p:txBody>
      </p:sp>
      <p:sp>
        <p:nvSpPr>
          <p:cNvPr id="422" name="Google Shape;422;p13"/>
          <p:cNvSpPr txBox="1"/>
          <p:nvPr/>
        </p:nvSpPr>
        <p:spPr>
          <a:xfrm>
            <a:off x="7034216" y="2891976"/>
            <a:ext cx="33482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 HACEN LOS DEMÁS?</a:t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1621899" y="5906690"/>
            <a:ext cx="1807685" cy="443933"/>
          </a:xfrm>
          <a:prstGeom prst="roundRect">
            <a:avLst>
              <a:gd fmla="val 16667" name="adj"/>
            </a:avLst>
          </a:prstGeom>
          <a:solidFill>
            <a:srgbClr val="00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AMBIENTAL</a:t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921588" y="5906690"/>
            <a:ext cx="1807685" cy="443933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8221277" y="5906690"/>
            <a:ext cx="1819368" cy="443933"/>
          </a:xfrm>
          <a:prstGeom prst="roundRect">
            <a:avLst>
              <a:gd fmla="val 16667" name="adj"/>
            </a:avLst>
          </a:prstGeom>
          <a:solidFill>
            <a:srgbClr val="833C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GOBERNANZA</a:t>
            </a:r>
            <a:endParaRPr/>
          </a:p>
        </p:txBody>
      </p:sp>
      <p:sp>
        <p:nvSpPr>
          <p:cNvPr id="426" name="Google Shape;426;p13"/>
          <p:cNvSpPr txBox="1"/>
          <p:nvPr/>
        </p:nvSpPr>
        <p:spPr>
          <a:xfrm>
            <a:off x="1107985" y="3904343"/>
            <a:ext cx="3516628" cy="1015663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Dentro de la empresa y en toda la cadena de valor, incluidos proveedores</a:t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7034216" y="3852553"/>
            <a:ext cx="3516628" cy="1015663"/>
          </a:xfrm>
          <a:prstGeom prst="rect">
            <a:avLst/>
          </a:prstGeom>
          <a:solidFill>
            <a:srgbClr val="FED7B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Recopilar normativa y buscar empresas que destaquen por su buen hacer</a:t>
            </a:r>
            <a:endParaRPr/>
          </a:p>
        </p:txBody>
      </p:sp>
      <p:pic>
        <p:nvPicPr>
          <p:cNvPr descr="Lupa con relleno sólido" id="428" name="Google Shape;42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6407" y="395271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3"/>
          <p:cNvSpPr/>
          <p:nvPr/>
        </p:nvSpPr>
        <p:spPr>
          <a:xfrm rot="-5400000">
            <a:off x="5463473" y="1134354"/>
            <a:ext cx="720270" cy="9117742"/>
          </a:xfrm>
          <a:prstGeom prst="rightBrace">
            <a:avLst>
              <a:gd fmla="val 54681" name="adj1"/>
              <a:gd fmla="val 50000" name="adj2"/>
            </a:avLst>
          </a:prstGeom>
          <a:noFill/>
          <a:ln cap="flat" cmpd="sng" w="762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4554945" y="4920006"/>
            <a:ext cx="25860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diferenciado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DIAGNÓSTICO INTERNO Y EXTERNO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36" name="Google Shape;436;p14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7" name="Google Shape;437;p1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734682" y="3512950"/>
            <a:ext cx="2524432" cy="735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RECOPILAR DATOS</a:t>
            </a:r>
            <a:endParaRPr/>
          </a:p>
        </p:txBody>
      </p:sp>
      <p:sp>
        <p:nvSpPr>
          <p:cNvPr id="439" name="Google Shape;439;p14"/>
          <p:cNvSpPr txBox="1"/>
          <p:nvPr/>
        </p:nvSpPr>
        <p:spPr>
          <a:xfrm>
            <a:off x="535304" y="4884223"/>
            <a:ext cx="2922639" cy="1200329"/>
          </a:xfrm>
          <a:prstGeom prst="rect">
            <a:avLst/>
          </a:prstGeom>
          <a:noFill/>
          <a:ln cap="flat" cmpd="sng" w="508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proceso de diagnóstico, la obtención de datos, su clasificación e interpretación es fundamental</a:t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 rot="5400000">
            <a:off x="1774656" y="4404112"/>
            <a:ext cx="443933" cy="324249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3820064" y="2239423"/>
            <a:ext cx="2524432" cy="6072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F9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Diagnóstico Interno</a:t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3820064" y="4829613"/>
            <a:ext cx="2524432" cy="6072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F9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Diagnóstico Externo</a:t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6684356" y="1523705"/>
            <a:ext cx="2524432" cy="6072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Actividades de la compañía</a:t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6684356" y="2945952"/>
            <a:ext cx="2524432" cy="6072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Actividades de la cadena de suministro</a:t>
            </a:r>
            <a:endParaRPr/>
          </a:p>
        </p:txBody>
      </p:sp>
      <p:cxnSp>
        <p:nvCxnSpPr>
          <p:cNvPr id="445" name="Google Shape;445;p14"/>
          <p:cNvCxnSpPr>
            <a:stCxn id="438" idx="0"/>
            <a:endCxn id="441" idx="2"/>
          </p:cNvCxnSpPr>
          <p:nvPr/>
        </p:nvCxnSpPr>
        <p:spPr>
          <a:xfrm flipH="1" rot="10800000">
            <a:off x="3259114" y="2543200"/>
            <a:ext cx="561000" cy="13374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14"/>
          <p:cNvCxnSpPr>
            <a:stCxn id="438" idx="0"/>
            <a:endCxn id="442" idx="2"/>
          </p:cNvCxnSpPr>
          <p:nvPr/>
        </p:nvCxnSpPr>
        <p:spPr>
          <a:xfrm>
            <a:off x="3259114" y="3880600"/>
            <a:ext cx="561000" cy="12528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14"/>
          <p:cNvCxnSpPr>
            <a:stCxn id="441" idx="0"/>
            <a:endCxn id="443" idx="2"/>
          </p:cNvCxnSpPr>
          <p:nvPr/>
        </p:nvCxnSpPr>
        <p:spPr>
          <a:xfrm flipH="1" rot="10800000">
            <a:off x="6344496" y="1827271"/>
            <a:ext cx="339900" cy="7158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14"/>
          <p:cNvCxnSpPr>
            <a:stCxn id="444" idx="2"/>
            <a:endCxn id="441" idx="0"/>
          </p:cNvCxnSpPr>
          <p:nvPr/>
        </p:nvCxnSpPr>
        <p:spPr>
          <a:xfrm rot="10800000">
            <a:off x="6344456" y="2543100"/>
            <a:ext cx="339900" cy="7065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9" name="Google Shape;449;p14"/>
          <p:cNvSpPr txBox="1"/>
          <p:nvPr/>
        </p:nvSpPr>
        <p:spPr>
          <a:xfrm>
            <a:off x="9371531" y="1523705"/>
            <a:ext cx="2256875" cy="2031325"/>
          </a:xfrm>
          <a:prstGeom prst="rect">
            <a:avLst/>
          </a:prstGeom>
          <a:noFill/>
          <a:ln cap="flat" cmpd="sng" w="508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elaboración del Plan de Sostenibilidad obliga a implementar un sistema de registro de datos, que tiene efectos beneficiosos a medio plazo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6684356" y="4099879"/>
            <a:ext cx="2524432" cy="6072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Marco regulatorio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6684356" y="5597200"/>
            <a:ext cx="2524432" cy="6072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Fuentes de información externas</a:t>
            </a:r>
            <a:endParaRPr/>
          </a:p>
        </p:txBody>
      </p:sp>
      <p:cxnSp>
        <p:nvCxnSpPr>
          <p:cNvPr id="452" name="Google Shape;452;p14"/>
          <p:cNvCxnSpPr>
            <a:stCxn id="442" idx="0"/>
            <a:endCxn id="450" idx="2"/>
          </p:cNvCxnSpPr>
          <p:nvPr/>
        </p:nvCxnSpPr>
        <p:spPr>
          <a:xfrm flipH="1" rot="10800000">
            <a:off x="6344496" y="4403661"/>
            <a:ext cx="339900" cy="7296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14"/>
          <p:cNvCxnSpPr>
            <a:stCxn id="442" idx="0"/>
            <a:endCxn id="451" idx="2"/>
          </p:cNvCxnSpPr>
          <p:nvPr/>
        </p:nvCxnSpPr>
        <p:spPr>
          <a:xfrm>
            <a:off x="6344496" y="5133261"/>
            <a:ext cx="339900" cy="7677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4" name="Google Shape;454;p14"/>
          <p:cNvSpPr txBox="1"/>
          <p:nvPr/>
        </p:nvSpPr>
        <p:spPr>
          <a:xfrm>
            <a:off x="9388783" y="4072686"/>
            <a:ext cx="2256875" cy="2031325"/>
          </a:xfrm>
          <a:prstGeom prst="rect">
            <a:avLst/>
          </a:prstGeom>
          <a:noFill/>
          <a:ln cap="flat" cmpd="sng" w="508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fuentes de información externa deben ser fiables, por ejemplo, los índices bursátiles </a:t>
            </a:r>
            <a:r>
              <a:rPr i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 Jones Soustainability, FTS4 Good o MSCI ESG.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ANÁLISIS DE DOBLE MATERIALIDAD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60" name="Google Shape;460;p15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1" name="Google Shape;461;p1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462" name="Google Shape;4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0205" y="1276601"/>
            <a:ext cx="5662881" cy="511589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5"/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69" name="Google Shape;469;p16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1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454752" y="4599875"/>
            <a:ext cx="2688215" cy="95757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8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CUESTIONES MATERIALES</a:t>
            </a:r>
            <a:endParaRPr/>
          </a:p>
        </p:txBody>
      </p:sp>
      <p:pic>
        <p:nvPicPr>
          <p:cNvPr id="472" name="Google Shape;4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813" y="3846358"/>
            <a:ext cx="807698" cy="52424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6"/>
          <p:cNvSpPr/>
          <p:nvPr/>
        </p:nvSpPr>
        <p:spPr>
          <a:xfrm>
            <a:off x="3303649" y="4762444"/>
            <a:ext cx="2050026" cy="632432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3421637" y="4438922"/>
            <a:ext cx="18140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Sostenibilidad</a:t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6039745" y="2551498"/>
            <a:ext cx="2310771" cy="65996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Incidencia</a:t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5034857" y="1546459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924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Positiva</a:t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7797722" y="1546459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3070C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Negativa</a:t>
            </a:r>
            <a:endParaRPr/>
          </a:p>
        </p:txBody>
      </p:sp>
      <p:cxnSp>
        <p:nvCxnSpPr>
          <p:cNvPr id="478" name="Google Shape;478;p16"/>
          <p:cNvCxnSpPr>
            <a:stCxn id="475" idx="3"/>
            <a:endCxn id="476" idx="1"/>
          </p:cNvCxnSpPr>
          <p:nvPr/>
        </p:nvCxnSpPr>
        <p:spPr>
          <a:xfrm rot="10800000">
            <a:off x="5813630" y="2077798"/>
            <a:ext cx="1381500" cy="4737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479" name="Google Shape;479;p16"/>
          <p:cNvCxnSpPr>
            <a:stCxn id="475" idx="3"/>
            <a:endCxn id="477" idx="1"/>
          </p:cNvCxnSpPr>
          <p:nvPr/>
        </p:nvCxnSpPr>
        <p:spPr>
          <a:xfrm flipH="1" rot="10800000">
            <a:off x="7195130" y="2077798"/>
            <a:ext cx="1381500" cy="4737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80" name="Google Shape;480;p16"/>
          <p:cNvSpPr/>
          <p:nvPr/>
        </p:nvSpPr>
        <p:spPr>
          <a:xfrm>
            <a:off x="5432335" y="4040392"/>
            <a:ext cx="633273" cy="2076537"/>
          </a:xfrm>
          <a:prstGeom prst="leftBrace">
            <a:avLst>
              <a:gd fmla="val 43267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4202" y="4291314"/>
            <a:ext cx="633273" cy="53628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6"/>
          <p:cNvSpPr txBox="1"/>
          <p:nvPr/>
        </p:nvSpPr>
        <p:spPr>
          <a:xfrm>
            <a:off x="6369670" y="4312307"/>
            <a:ext cx="2310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FUNCIONAMIENTO INTERNO</a:t>
            </a:r>
            <a:endParaRPr/>
          </a:p>
        </p:txBody>
      </p:sp>
      <p:pic>
        <p:nvPicPr>
          <p:cNvPr id="483" name="Google Shape;48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6002" y="5358374"/>
            <a:ext cx="579420" cy="392718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6"/>
          <p:cNvSpPr txBox="1"/>
          <p:nvPr/>
        </p:nvSpPr>
        <p:spPr>
          <a:xfrm>
            <a:off x="6417475" y="5200790"/>
            <a:ext cx="2310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GRUPOS DE INTERÉS</a:t>
            </a:r>
            <a:endParaRPr/>
          </a:p>
        </p:txBody>
      </p:sp>
      <p:sp>
        <p:nvSpPr>
          <p:cNvPr id="485" name="Google Shape;485;p16"/>
          <p:cNvSpPr/>
          <p:nvPr/>
        </p:nvSpPr>
        <p:spPr>
          <a:xfrm flipH="1">
            <a:off x="8376199" y="4040392"/>
            <a:ext cx="633273" cy="2076537"/>
          </a:xfrm>
          <a:prstGeom prst="leftBrace">
            <a:avLst>
              <a:gd fmla="val 43267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8918170" y="4762444"/>
            <a:ext cx="791126" cy="632432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9870315" y="4245531"/>
            <a:ext cx="1987388" cy="1666259"/>
          </a:xfrm>
          <a:prstGeom prst="ellipse">
            <a:avLst/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ASG o ESG</a:t>
            </a:r>
            <a:endParaRPr/>
          </a:p>
        </p:txBody>
      </p:sp>
      <p:pic>
        <p:nvPicPr>
          <p:cNvPr id="488" name="Google Shape;48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9657" y="2400379"/>
            <a:ext cx="1339917" cy="191192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6"/>
          <p:cNvSpPr txBox="1"/>
          <p:nvPr/>
        </p:nvSpPr>
        <p:spPr>
          <a:xfrm>
            <a:off x="699972" y="2003876"/>
            <a:ext cx="21977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/>
          </a:p>
        </p:txBody>
      </p:sp>
      <p:sp>
        <p:nvSpPr>
          <p:cNvPr id="490" name="Google Shape;490;p16"/>
          <p:cNvSpPr/>
          <p:nvPr/>
        </p:nvSpPr>
        <p:spPr>
          <a:xfrm rot="5400000">
            <a:off x="6813276" y="3508347"/>
            <a:ext cx="791126" cy="632432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ANÁLISIS IRO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96" name="Google Shape;496;p17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7" name="Google Shape;497;p1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2835450" y="1430602"/>
            <a:ext cx="6432612" cy="443934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CUESTIONES SON MATERIALES?</a:t>
            </a: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838200" y="3712694"/>
            <a:ext cx="2310771" cy="132556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Impactos, Riesgos y Oportunidades</a:t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3802703" y="2631379"/>
            <a:ext cx="2084629" cy="55427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A38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Impactos</a:t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3802703" y="4098340"/>
            <a:ext cx="2084629" cy="55427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3070C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3802703" y="5565300"/>
            <a:ext cx="2084629" cy="55427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924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Oportunidades</a:t>
            </a:r>
            <a:endParaRPr/>
          </a:p>
        </p:txBody>
      </p:sp>
      <p:sp>
        <p:nvSpPr>
          <p:cNvPr id="503" name="Google Shape;503;p17"/>
          <p:cNvSpPr txBox="1"/>
          <p:nvPr/>
        </p:nvSpPr>
        <p:spPr>
          <a:xfrm>
            <a:off x="6304670" y="2353881"/>
            <a:ext cx="4166685" cy="923330"/>
          </a:xfrm>
          <a:prstGeom prst="rect">
            <a:avLst/>
          </a:prstGeom>
          <a:noFill/>
          <a:ln cap="flat" cmpd="tri" w="101600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una cuestión material de afectar a la empresa, a su cadena de valor, a sus grupos de interés o a su entorno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11120284" y="2021598"/>
            <a:ext cx="589935" cy="618359"/>
          </a:xfrm>
          <a:prstGeom prst="plus">
            <a:avLst>
              <a:gd fmla="val 39634" name="adj"/>
            </a:avLst>
          </a:prstGeom>
          <a:solidFill>
            <a:srgbClr val="00924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11120284" y="3274136"/>
            <a:ext cx="589935" cy="147484"/>
          </a:xfrm>
          <a:prstGeom prst="rect">
            <a:avLst/>
          </a:prstGeom>
          <a:solidFill>
            <a:srgbClr val="E3070C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10568321" y="2022021"/>
            <a:ext cx="454997" cy="1690673"/>
          </a:xfrm>
          <a:prstGeom prst="leftBrace">
            <a:avLst>
              <a:gd fmla="val 29293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6304669" y="4036604"/>
            <a:ext cx="4166685" cy="646331"/>
          </a:xfrm>
          <a:prstGeom prst="rect">
            <a:avLst/>
          </a:prstGeom>
          <a:noFill/>
          <a:ln cap="flat" cmpd="tri" w="101600">
            <a:solidFill>
              <a:srgbClr val="E3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las situaciones que pueden impedir a la empresa lograr sus objetivos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6304668" y="5502750"/>
            <a:ext cx="4166685" cy="646331"/>
          </a:xfrm>
          <a:prstGeom prst="rect">
            <a:avLst/>
          </a:prstGeom>
          <a:noFill/>
          <a:ln cap="flat" cmpd="tri" w="101600">
            <a:solidFill>
              <a:srgbClr val="009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todas las repercusiones beneficiosas asociadas a una cierta cuestión material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3245937" y="2463010"/>
            <a:ext cx="454997" cy="3861183"/>
          </a:xfrm>
          <a:prstGeom prst="leftBrace">
            <a:avLst>
              <a:gd fmla="val 29293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199" y="5242928"/>
            <a:ext cx="806771" cy="907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TIPOS DE 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16" name="Google Shape;516;p18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7" name="Google Shape;517;p1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518" name="Google Shape;518;p18"/>
          <p:cNvGrpSpPr/>
          <p:nvPr/>
        </p:nvGrpSpPr>
        <p:grpSpPr>
          <a:xfrm>
            <a:off x="5949406" y="1273435"/>
            <a:ext cx="7108031" cy="5414740"/>
            <a:chOff x="509984" y="1963"/>
            <a:chExt cx="7108031" cy="5414740"/>
          </a:xfrm>
        </p:grpSpPr>
        <p:sp>
          <p:nvSpPr>
            <p:cNvPr id="519" name="Google Shape;519;p18"/>
            <p:cNvSpPr/>
            <p:nvPr/>
          </p:nvSpPr>
          <p:spPr>
            <a:xfrm>
              <a:off x="509984" y="1963"/>
              <a:ext cx="1974453" cy="1974453"/>
            </a:xfrm>
            <a:prstGeom prst="ellipse">
              <a:avLst/>
            </a:pr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8"/>
            <p:cNvSpPr txBox="1"/>
            <p:nvPr/>
          </p:nvSpPr>
          <p:spPr>
            <a:xfrm>
              <a:off x="799136" y="291115"/>
              <a:ext cx="1396149" cy="1396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Materialidad Financiera</a:t>
              </a: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924619" y="2136742"/>
              <a:ext cx="1145182" cy="1145182"/>
            </a:xfrm>
            <a:prstGeom prst="mathPlus">
              <a:avLst>
                <a:gd fmla="val 23520" name="adj1"/>
              </a:avLst>
            </a:pr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8"/>
            <p:cNvSpPr txBox="1"/>
            <p:nvPr/>
          </p:nvSpPr>
          <p:spPr>
            <a:xfrm>
              <a:off x="1076413" y="2574660"/>
              <a:ext cx="841594" cy="2693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509984" y="3442250"/>
              <a:ext cx="1974453" cy="1974453"/>
            </a:xfrm>
            <a:prstGeom prst="ellipse">
              <a:avLst/>
            </a:prstGeom>
            <a:solidFill>
              <a:srgbClr val="4CC3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8"/>
            <p:cNvSpPr txBox="1"/>
            <p:nvPr/>
          </p:nvSpPr>
          <p:spPr>
            <a:xfrm>
              <a:off x="799136" y="3731402"/>
              <a:ext cx="1396149" cy="1396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Materialidad de Impacto</a:t>
              </a: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2780605" y="2342085"/>
              <a:ext cx="627876" cy="734496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FAB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8"/>
            <p:cNvSpPr txBox="1"/>
            <p:nvPr/>
          </p:nvSpPr>
          <p:spPr>
            <a:xfrm>
              <a:off x="2780605" y="2488984"/>
              <a:ext cx="439513" cy="440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3669109" y="734880"/>
              <a:ext cx="3948906" cy="3948906"/>
            </a:xfrm>
            <a:prstGeom prst="ellipse">
              <a:avLst/>
            </a:prstGeom>
            <a:solidFill>
              <a:srgbClr val="6FAB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8"/>
            <p:cNvSpPr txBox="1"/>
            <p:nvPr/>
          </p:nvSpPr>
          <p:spPr>
            <a:xfrm>
              <a:off x="4247413" y="1313184"/>
              <a:ext cx="2792298" cy="2792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Cuestiones Materiales</a:t>
              </a:r>
              <a:endParaRPr/>
            </a:p>
          </p:txBody>
        </p:sp>
      </p:grpSp>
      <p:sp>
        <p:nvSpPr>
          <p:cNvPr id="529" name="Google Shape;529;p18"/>
          <p:cNvSpPr txBox="1"/>
          <p:nvPr/>
        </p:nvSpPr>
        <p:spPr>
          <a:xfrm>
            <a:off x="711335" y="1820376"/>
            <a:ext cx="4616245" cy="1015663"/>
          </a:xfrm>
          <a:prstGeom prst="rect">
            <a:avLst/>
          </a:prstGeom>
          <a:noFill/>
          <a:ln cap="flat" cmpd="tri" w="1016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los riesgos y oportunidades, tanto internos como externos, que pueden tener efectos financieros sobre la empresa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5439422" y="2187741"/>
            <a:ext cx="656578" cy="2688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 txBox="1"/>
          <p:nvPr/>
        </p:nvSpPr>
        <p:spPr>
          <a:xfrm>
            <a:off x="711335" y="5156130"/>
            <a:ext cx="4616245" cy="1323439"/>
          </a:xfrm>
          <a:prstGeom prst="rect">
            <a:avLst/>
          </a:prstGeom>
          <a:noFill/>
          <a:ln cap="flat" cmpd="tri" w="1016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las cuestiones susceptibles de causar un impacto real o potencial, positivo o negativo, sobre las personas y/o el medio ambiente, a corto, medio o largo plazo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5439422" y="5675895"/>
            <a:ext cx="656578" cy="2688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EVALUACIÓN DE LA MATERIALIDAD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38" name="Google Shape;538;p19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9" name="Google Shape;539;p1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4613460" y="1767529"/>
            <a:ext cx="3064047" cy="1052196"/>
          </a:xfrm>
          <a:prstGeom prst="roundRect">
            <a:avLst>
              <a:gd fmla="val 16667" name="adj"/>
            </a:avLst>
          </a:prstGeom>
          <a:solidFill>
            <a:srgbClr val="A8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DE LA MATERIALIDAD</a:t>
            </a: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6078747" y="2863967"/>
            <a:ext cx="127819" cy="3625241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 rot="5400000">
            <a:off x="5024233" y="2944023"/>
            <a:ext cx="178419" cy="1930608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6032043" y="3775866"/>
            <a:ext cx="221226" cy="221226"/>
          </a:xfrm>
          <a:prstGeom prst="ellipse">
            <a:avLst/>
          </a:prstGeom>
          <a:solidFill>
            <a:srgbClr val="A8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790560" y="3232681"/>
            <a:ext cx="3327191" cy="1325563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Determinar que cuestiones materiales son más relevantes para la empresa y sus grupos de interés</a:t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 rot="5400000">
            <a:off x="7082661" y="3871152"/>
            <a:ext cx="178419" cy="1930608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032043" y="4727278"/>
            <a:ext cx="221226" cy="221226"/>
          </a:xfrm>
          <a:prstGeom prst="ellipse">
            <a:avLst/>
          </a:prstGeom>
          <a:solidFill>
            <a:srgbClr val="A8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8143261" y="4173674"/>
            <a:ext cx="3327191" cy="1325563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Sirve para definir estrategias y enfocar los esfuerzos de forma adecuada</a:t>
            </a:r>
            <a:endParaRPr/>
          </a:p>
        </p:txBody>
      </p:sp>
      <p:sp>
        <p:nvSpPr>
          <p:cNvPr id="548" name="Google Shape;548;p19"/>
          <p:cNvSpPr/>
          <p:nvPr/>
        </p:nvSpPr>
        <p:spPr>
          <a:xfrm>
            <a:off x="790560" y="5188683"/>
            <a:ext cx="3327191" cy="1325563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un análisis de doble materialidad: tiene en cuenta la materialidad financiera y la de impacto</a:t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 rot="5400000">
            <a:off x="4977529" y="4883124"/>
            <a:ext cx="178419" cy="1930608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5985339" y="5714967"/>
            <a:ext cx="221226" cy="221226"/>
          </a:xfrm>
          <a:prstGeom prst="ellipse">
            <a:avLst/>
          </a:prstGeom>
          <a:solidFill>
            <a:srgbClr val="A8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ANÁLISIS DOBLE MATERIALIDAD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56" name="Google Shape;556;p20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cd&#10;&#10;Descripción generada automáticamente" id="557" name="Google Shape;557;p20"/>
          <p:cNvPicPr preferRelativeResize="0"/>
          <p:nvPr/>
        </p:nvPicPr>
        <p:blipFill rotWithShape="1">
          <a:blip r:embed="rId3">
            <a:alphaModFix/>
          </a:blip>
          <a:srcRect b="0" l="0" r="0" t="19454"/>
          <a:stretch/>
        </p:blipFill>
        <p:spPr>
          <a:xfrm>
            <a:off x="704295" y="2630157"/>
            <a:ext cx="11019752" cy="4200921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59" name="Google Shape;559;p20"/>
          <p:cNvSpPr txBox="1"/>
          <p:nvPr/>
        </p:nvSpPr>
        <p:spPr>
          <a:xfrm>
            <a:off x="280219" y="1674674"/>
            <a:ext cx="29791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materialidad financiera fundamentalmente se ve influenciada por el entorno: mercado, competencia, etc. y afecta a la empresa</a:t>
            </a:r>
            <a:endParaRPr/>
          </a:p>
        </p:txBody>
      </p:sp>
      <p:sp>
        <p:nvSpPr>
          <p:cNvPr id="560" name="Google Shape;560;p20"/>
          <p:cNvSpPr txBox="1"/>
          <p:nvPr/>
        </p:nvSpPr>
        <p:spPr>
          <a:xfrm>
            <a:off x="8944250" y="1674674"/>
            <a:ext cx="29791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materialidad de impacto tiene más que ver con cómo la empresa afecta a su entorno y grupos de interés</a:t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4563976" y="1410814"/>
            <a:ext cx="3064047" cy="1052196"/>
          </a:xfrm>
          <a:prstGeom prst="roundRect">
            <a:avLst>
              <a:gd fmla="val 16667" name="adj"/>
            </a:avLst>
          </a:prstGeom>
          <a:solidFill>
            <a:srgbClr val="4C216D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DOBLE MATERIALIDAD = IRO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SECUENCIA ANÁLISIS DOBLE MATERIALIDAD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67" name="Google Shape;567;p21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8" name="Google Shape;568;p2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569" name="Google Shape;569;p21"/>
          <p:cNvGrpSpPr/>
          <p:nvPr/>
        </p:nvGrpSpPr>
        <p:grpSpPr>
          <a:xfrm>
            <a:off x="704295" y="1030218"/>
            <a:ext cx="10848883" cy="5748505"/>
            <a:chOff x="0" y="0"/>
            <a:chExt cx="10848883" cy="5748505"/>
          </a:xfrm>
        </p:grpSpPr>
        <p:sp>
          <p:nvSpPr>
            <p:cNvPr id="570" name="Google Shape;570;p21"/>
            <p:cNvSpPr/>
            <p:nvPr/>
          </p:nvSpPr>
          <p:spPr>
            <a:xfrm>
              <a:off x="0" y="1724551"/>
              <a:ext cx="10848883" cy="2299402"/>
            </a:xfrm>
            <a:prstGeom prst="notched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8DCD4"/>
                </a:gs>
                <a:gs pos="50000">
                  <a:srgbClr val="F9D3C8"/>
                </a:gs>
                <a:gs pos="100000">
                  <a:srgbClr val="DFB8A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4886" y="0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1"/>
            <p:cNvSpPr txBox="1"/>
            <p:nvPr/>
          </p:nvSpPr>
          <p:spPr>
            <a:xfrm>
              <a:off x="4886" y="0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35125" lIns="135125" spcFirstLastPara="1" rIns="135125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9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Determinación de los grupos de interés</a:t>
              </a:r>
              <a:endParaRPr b="1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21"/>
            <p:cNvSpPr/>
            <p:nvPr/>
          </p:nvSpPr>
          <p:spPr>
            <a:xfrm>
              <a:off x="892668" y="2586827"/>
              <a:ext cx="574850" cy="574850"/>
            </a:xfrm>
            <a:prstGeom prst="ellipse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1"/>
            <p:cNvSpPr/>
            <p:nvPr/>
          </p:nvSpPr>
          <p:spPr>
            <a:xfrm>
              <a:off x="2472822" y="3449103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1"/>
            <p:cNvSpPr txBox="1"/>
            <p:nvPr/>
          </p:nvSpPr>
          <p:spPr>
            <a:xfrm>
              <a:off x="2472822" y="3449103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125" lIns="135125" spcFirstLastPara="1" rIns="135125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9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Estudio de su capacidad de influencia e impacto y definición de la estrategia de participación de cada uno de ellos</a:t>
              </a:r>
              <a:endParaRPr b="1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1"/>
            <p:cNvSpPr/>
            <p:nvPr/>
          </p:nvSpPr>
          <p:spPr>
            <a:xfrm>
              <a:off x="3360604" y="2586827"/>
              <a:ext cx="574850" cy="574850"/>
            </a:xfrm>
            <a:prstGeom prst="ellipse">
              <a:avLst/>
            </a:prstGeom>
            <a:gradFill>
              <a:gsLst>
                <a:gs pos="0">
                  <a:srgbClr val="D58870"/>
                </a:gs>
                <a:gs pos="50000">
                  <a:srgbClr val="D57755"/>
                </a:gs>
                <a:gs pos="100000">
                  <a:srgbClr val="C265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4940757" y="0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1"/>
            <p:cNvSpPr txBox="1"/>
            <p:nvPr/>
          </p:nvSpPr>
          <p:spPr>
            <a:xfrm>
              <a:off x="4940757" y="0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35125" lIns="135125" spcFirstLastPara="1" rIns="135125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9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Identificación, numeración y clasificación de las cuestiones materiales</a:t>
              </a:r>
              <a:endParaRPr b="1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21"/>
            <p:cNvSpPr/>
            <p:nvPr/>
          </p:nvSpPr>
          <p:spPr>
            <a:xfrm>
              <a:off x="5828539" y="2586827"/>
              <a:ext cx="574850" cy="574850"/>
            </a:xfrm>
            <a:prstGeom prst="ellipse">
              <a:avLst/>
            </a:prstGeom>
            <a:gradFill>
              <a:gsLst>
                <a:gs pos="0">
                  <a:srgbClr val="BF948F"/>
                </a:gs>
                <a:gs pos="50000">
                  <a:srgbClr val="BA857E"/>
                </a:gs>
                <a:gs pos="100000">
                  <a:srgbClr val="A774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1"/>
            <p:cNvSpPr/>
            <p:nvPr/>
          </p:nvSpPr>
          <p:spPr>
            <a:xfrm>
              <a:off x="7408693" y="3449103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1"/>
            <p:cNvSpPr txBox="1"/>
            <p:nvPr/>
          </p:nvSpPr>
          <p:spPr>
            <a:xfrm>
              <a:off x="7408693" y="3449103"/>
              <a:ext cx="2350414" cy="2299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125" lIns="135125" spcFirstLastPara="1" rIns="135125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9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Construcción de la matriz de doble materialidad</a:t>
              </a:r>
              <a:endParaRPr b="1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21"/>
            <p:cNvSpPr/>
            <p:nvPr/>
          </p:nvSpPr>
          <p:spPr>
            <a:xfrm>
              <a:off x="8296475" y="2586827"/>
              <a:ext cx="574850" cy="574850"/>
            </a:xfrm>
            <a:prstGeom prst="ellipse">
              <a:avLst/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" name="Google Shape;583;p21"/>
          <p:cNvSpPr txBox="1"/>
          <p:nvPr/>
        </p:nvSpPr>
        <p:spPr>
          <a:xfrm>
            <a:off x="9108489" y="1217421"/>
            <a:ext cx="280245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Borrador de la guía de la EFRAG para la realización del análisis de doble materialidad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DETERMINACIÓN DE LOS GRUPOS DE INTERÉS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89" name="Google Shape;589;p22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0" name="Google Shape;590;p2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91" name="Google Shape;591;p22"/>
          <p:cNvSpPr/>
          <p:nvPr/>
        </p:nvSpPr>
        <p:spPr>
          <a:xfrm>
            <a:off x="4777597" y="3209026"/>
            <a:ext cx="2553419" cy="1932317"/>
          </a:xfrm>
          <a:prstGeom prst="ellipse">
            <a:avLst/>
          </a:prstGeom>
          <a:solidFill>
            <a:srgbClr val="4F22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GRUPOS DE INTERÉS</a:t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872706" y="1783170"/>
            <a:ext cx="2784894" cy="1174251"/>
          </a:xfrm>
          <a:prstGeom prst="rect">
            <a:avLst/>
          </a:prstGeom>
          <a:solidFill>
            <a:srgbClr val="AFAC2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GRUPOS AFECTADOS</a:t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8451012" y="1783170"/>
            <a:ext cx="2784894" cy="1174251"/>
          </a:xfrm>
          <a:prstGeom prst="rect">
            <a:avLst/>
          </a:prstGeom>
          <a:solidFill>
            <a:srgbClr val="AFAC2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USUARIOS DE INFORMES DE SOSTENIBILIDAD</a:t>
            </a:r>
            <a:endParaRPr/>
          </a:p>
        </p:txBody>
      </p:sp>
      <p:cxnSp>
        <p:nvCxnSpPr>
          <p:cNvPr id="594" name="Google Shape;594;p22"/>
          <p:cNvCxnSpPr>
            <a:stCxn id="591" idx="7"/>
            <a:endCxn id="593" idx="1"/>
          </p:cNvCxnSpPr>
          <p:nvPr/>
        </p:nvCxnSpPr>
        <p:spPr>
          <a:xfrm flipH="1" rot="10800000">
            <a:off x="6957076" y="2370307"/>
            <a:ext cx="1494000" cy="1121700"/>
          </a:xfrm>
          <a:prstGeom prst="straightConnector1">
            <a:avLst/>
          </a:prstGeom>
          <a:noFill/>
          <a:ln cap="flat" cmpd="sng" w="635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22"/>
          <p:cNvCxnSpPr>
            <a:stCxn id="591" idx="1"/>
            <a:endCxn id="592" idx="3"/>
          </p:cNvCxnSpPr>
          <p:nvPr/>
        </p:nvCxnSpPr>
        <p:spPr>
          <a:xfrm rot="10800000">
            <a:off x="3657537" y="2370307"/>
            <a:ext cx="1494000" cy="1121700"/>
          </a:xfrm>
          <a:prstGeom prst="straightConnector1">
            <a:avLst/>
          </a:prstGeom>
          <a:noFill/>
          <a:ln cap="flat" cmpd="sng" w="635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6" name="Google Shape;596;p22"/>
          <p:cNvSpPr/>
          <p:nvPr/>
        </p:nvSpPr>
        <p:spPr>
          <a:xfrm rot="5400000">
            <a:off x="1869590" y="3199365"/>
            <a:ext cx="791126" cy="459271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 txBox="1"/>
          <p:nvPr/>
        </p:nvSpPr>
        <p:spPr>
          <a:xfrm>
            <a:off x="638821" y="3914467"/>
            <a:ext cx="3243065" cy="1938992"/>
          </a:xfrm>
          <a:prstGeom prst="rect">
            <a:avLst/>
          </a:prstGeom>
          <a:noFill/>
          <a:ln cap="flat" cmpd="sng" w="69850">
            <a:solidFill>
              <a:srgbClr val="AFA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aquellos cuyos intereses se ven influidos por las actividades de las empresas en toda su cadena de valor, ya sea de forma directa o indirecta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870026" y="6071780"/>
            <a:ext cx="589935" cy="618359"/>
          </a:xfrm>
          <a:prstGeom prst="plus">
            <a:avLst>
              <a:gd fmla="val 39634" name="adj"/>
            </a:avLst>
          </a:prstGeom>
          <a:solidFill>
            <a:srgbClr val="009242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3067665" y="6324193"/>
            <a:ext cx="589935" cy="147484"/>
          </a:xfrm>
          <a:prstGeom prst="rect">
            <a:avLst/>
          </a:prstGeom>
          <a:solidFill>
            <a:srgbClr val="E3070C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 rot="5400000">
            <a:off x="9489126" y="3199365"/>
            <a:ext cx="791126" cy="459271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 txBox="1"/>
          <p:nvPr/>
        </p:nvSpPr>
        <p:spPr>
          <a:xfrm>
            <a:off x="8258357" y="3914467"/>
            <a:ext cx="3243065" cy="1938992"/>
          </a:xfrm>
          <a:prstGeom prst="rect">
            <a:avLst/>
          </a:prstGeom>
          <a:noFill/>
          <a:ln cap="flat" cmpd="sng" w="69850">
            <a:solidFill>
              <a:srgbClr val="AFA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Recurren a la información de estos informes para tomar decisiones. Son ejemplo las entidades financieras, los inversionistas, los acreedores, etc.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CAPADIDAD DE INFLUENCIA E IMPACTO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07" name="Google Shape;607;p23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8" name="Google Shape;608;p2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609" name="Google Shape;609;p23"/>
          <p:cNvGrpSpPr/>
          <p:nvPr/>
        </p:nvGrpSpPr>
        <p:grpSpPr>
          <a:xfrm>
            <a:off x="1157939" y="1302517"/>
            <a:ext cx="8326281" cy="5356575"/>
            <a:chOff x="246375" y="31045"/>
            <a:chExt cx="8326281" cy="5356575"/>
          </a:xfrm>
        </p:grpSpPr>
        <p:sp>
          <p:nvSpPr>
            <p:cNvPr id="610" name="Google Shape;610;p23"/>
            <p:cNvSpPr/>
            <p:nvPr/>
          </p:nvSpPr>
          <p:spPr>
            <a:xfrm rot="5400000">
              <a:off x="617336" y="1583167"/>
              <a:ext cx="1400175" cy="1594049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246375" y="31045"/>
              <a:ext cx="2357070" cy="1649872"/>
            </a:xfrm>
            <a:prstGeom prst="roundRect">
              <a:avLst>
                <a:gd fmla="val 1667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3"/>
            <p:cNvSpPr txBox="1"/>
            <p:nvPr/>
          </p:nvSpPr>
          <p:spPr>
            <a:xfrm>
              <a:off x="326930" y="111600"/>
              <a:ext cx="2195960" cy="1488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 determinan los grupos de interés</a:t>
              </a: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2766682" y="236230"/>
              <a:ext cx="2435929" cy="1333500"/>
            </a:xfrm>
            <a:prstGeom prst="rect">
              <a:avLst/>
            </a:prstGeom>
            <a:noFill/>
            <a:ln cap="flat" cmpd="sng" w="9525">
              <a:solidFill>
                <a:schemeClr val="dk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3"/>
            <p:cNvSpPr txBox="1"/>
            <p:nvPr/>
          </p:nvSpPr>
          <p:spPr>
            <a:xfrm>
              <a:off x="2766682" y="236230"/>
              <a:ext cx="2435929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Según clasificación de afectados y usuarios de informes de sostenibilidad</a:t>
              </a: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 rot="5400000">
              <a:off x="2744787" y="3436519"/>
              <a:ext cx="1400175" cy="1594049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FE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2373826" y="1884397"/>
              <a:ext cx="2357070" cy="1649872"/>
            </a:xfrm>
            <a:prstGeom prst="roundRect">
              <a:avLst>
                <a:gd fmla="val 16670" name="adj"/>
              </a:avLst>
            </a:prstGeom>
            <a:solidFill>
              <a:srgbClr val="C8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3"/>
            <p:cNvSpPr txBox="1"/>
            <p:nvPr/>
          </p:nvSpPr>
          <p:spPr>
            <a:xfrm>
              <a:off x="2454381" y="1964952"/>
              <a:ext cx="2195960" cy="1488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 escoge cómo recabar información sobre cada uno de ellos</a:t>
              </a:r>
              <a:endParaRPr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4691570" y="2157524"/>
              <a:ext cx="2943296" cy="1333500"/>
            </a:xfrm>
            <a:prstGeom prst="rect">
              <a:avLst/>
            </a:prstGeom>
            <a:noFill/>
            <a:ln cap="flat" cmpd="sng" w="9525">
              <a:solidFill>
                <a:schemeClr val="dk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3"/>
            <p:cNvSpPr txBox="1"/>
            <p:nvPr/>
          </p:nvSpPr>
          <p:spPr>
            <a:xfrm>
              <a:off x="4691570" y="2157524"/>
              <a:ext cx="294329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puede recurrir a encuestas, cuestionarios, entrevistas, datos estadísticos etc. Con cada grupo, un instrumento específico </a:t>
              </a:r>
              <a:endParaRPr/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4501277" y="3737748"/>
              <a:ext cx="2357070" cy="1649872"/>
            </a:xfrm>
            <a:prstGeom prst="roundRect">
              <a:avLst>
                <a:gd fmla="val 16670" name="adj"/>
              </a:avLst>
            </a:prstGeom>
            <a:solidFill>
              <a:srgbClr val="F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3"/>
            <p:cNvSpPr txBox="1"/>
            <p:nvPr/>
          </p:nvSpPr>
          <p:spPr>
            <a:xfrm>
              <a:off x="4581832" y="3818303"/>
              <a:ext cx="2195960" cy="1488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 elabora la matriz de clasificación de los grupos de interés</a:t>
              </a:r>
              <a:endParaRPr/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6858348" y="3895101"/>
              <a:ext cx="1714308" cy="1333500"/>
            </a:xfrm>
            <a:prstGeom prst="rect">
              <a:avLst/>
            </a:prstGeom>
            <a:noFill/>
            <a:ln cap="flat" cmpd="sng" w="9525">
              <a:solidFill>
                <a:schemeClr val="dk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3"/>
            <p:cNvSpPr txBox="1"/>
            <p:nvPr/>
          </p:nvSpPr>
          <p:spPr>
            <a:xfrm>
              <a:off x="6858348" y="3895101"/>
              <a:ext cx="1714308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 un análisis de cómo se ven afectados y cómo perciben el impacto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CAPADIDAD DE INFLUENCIA E IMPACTO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29" name="Google Shape;629;p24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0" name="Google Shape;630;p2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631" name="Google Shape;631;p24"/>
          <p:cNvPicPr preferRelativeResize="0"/>
          <p:nvPr/>
        </p:nvPicPr>
        <p:blipFill rotWithShape="1">
          <a:blip r:embed="rId3">
            <a:alphaModFix/>
          </a:blip>
          <a:srcRect b="0" l="0" r="0" t="3387"/>
          <a:stretch/>
        </p:blipFill>
        <p:spPr>
          <a:xfrm>
            <a:off x="886314" y="1224949"/>
            <a:ext cx="5842959" cy="5228949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4"/>
          <p:cNvSpPr txBox="1"/>
          <p:nvPr/>
        </p:nvSpPr>
        <p:spPr>
          <a:xfrm>
            <a:off x="2277370" y="6448597"/>
            <a:ext cx="2892057" cy="369332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que afectan a la empresa</a:t>
            </a:r>
            <a:endParaRPr/>
          </a:p>
        </p:txBody>
      </p:sp>
      <p:sp>
        <p:nvSpPr>
          <p:cNvPr id="633" name="Google Shape;633;p24"/>
          <p:cNvSpPr txBox="1"/>
          <p:nvPr/>
        </p:nvSpPr>
        <p:spPr>
          <a:xfrm rot="-5400000">
            <a:off x="-782897" y="3579857"/>
            <a:ext cx="2583033" cy="646331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que se ven afectados por la empresa</a:t>
            </a:r>
            <a:endParaRPr/>
          </a:p>
        </p:txBody>
      </p:sp>
      <p:sp>
        <p:nvSpPr>
          <p:cNvPr id="634" name="Google Shape;634;p24"/>
          <p:cNvSpPr txBox="1"/>
          <p:nvPr/>
        </p:nvSpPr>
        <p:spPr>
          <a:xfrm>
            <a:off x="6901803" y="1345719"/>
            <a:ext cx="498205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Vulnerable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Su efecto sobre la empresa es reducido, pero se ven muy afectados por las actividades de la empresa. Sus necesidades deben contemplarse en el plan de sostenibilidad y es una prioridad satisfacerlas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Poderoso.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relación con la organización es de gran peso por ambas partes. Influye y es influenciado considerablemente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Pasivo.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 acciones tienen poca repercusión sobre la empresa y viceversa. Es un grupo a tener en cuenta, pero no es prioritario.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Mediador.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Tienen gran influencia sobre la organización, pero no se ve afectado por ella en gran medida.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5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IDENTIFICACIÓN DE LAS 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40" name="Google Shape;640;p25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1" name="Google Shape;641;p2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42" name="Google Shape;642;p25"/>
          <p:cNvSpPr/>
          <p:nvPr/>
        </p:nvSpPr>
        <p:spPr>
          <a:xfrm>
            <a:off x="308148" y="1446986"/>
            <a:ext cx="4758432" cy="443930"/>
          </a:xfrm>
          <a:prstGeom prst="round2SameRect">
            <a:avLst>
              <a:gd fmla="val 36600" name="adj1"/>
              <a:gd fmla="val 0" name="adj2"/>
            </a:avLst>
          </a:prstGeom>
          <a:solidFill>
            <a:srgbClr val="F2B8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Materialidad de Impacto</a:t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940676" y="3358805"/>
            <a:ext cx="1848457" cy="87710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Impactos</a:t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210233" y="5720553"/>
            <a:ext cx="135736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924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Positivos</a:t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2162215" y="5720552"/>
            <a:ext cx="135736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3070C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Negativos</a:t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4928556" y="2473608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Reales</a:t>
            </a: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4928556" y="5116392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Potenciales</a:t>
            </a:r>
            <a:endParaRPr/>
          </a:p>
        </p:txBody>
      </p:sp>
      <p:sp>
        <p:nvSpPr>
          <p:cNvPr id="648" name="Google Shape;648;p25"/>
          <p:cNvSpPr/>
          <p:nvPr/>
        </p:nvSpPr>
        <p:spPr>
          <a:xfrm>
            <a:off x="8364686" y="3531666"/>
            <a:ext cx="2260165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Irremediabilidad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8364686" y="2473609"/>
            <a:ext cx="2260165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/>
          </a:p>
        </p:txBody>
      </p:sp>
      <p:sp>
        <p:nvSpPr>
          <p:cNvPr id="650" name="Google Shape;650;p25"/>
          <p:cNvSpPr/>
          <p:nvPr/>
        </p:nvSpPr>
        <p:spPr>
          <a:xfrm>
            <a:off x="8364686" y="1415552"/>
            <a:ext cx="2260165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/>
          </a:p>
        </p:txBody>
      </p:sp>
      <p:sp>
        <p:nvSpPr>
          <p:cNvPr id="651" name="Google Shape;651;p25"/>
          <p:cNvSpPr/>
          <p:nvPr/>
        </p:nvSpPr>
        <p:spPr>
          <a:xfrm>
            <a:off x="8364686" y="4589723"/>
            <a:ext cx="2260165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Probabilidad</a:t>
            </a:r>
            <a:endParaRPr/>
          </a:p>
        </p:txBody>
      </p:sp>
      <p:sp>
        <p:nvSpPr>
          <p:cNvPr id="652" name="Google Shape;652;p25"/>
          <p:cNvSpPr/>
          <p:nvPr/>
        </p:nvSpPr>
        <p:spPr>
          <a:xfrm>
            <a:off x="8364686" y="5647779"/>
            <a:ext cx="2260165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Severidad</a:t>
            </a:r>
            <a:endParaRPr/>
          </a:p>
        </p:txBody>
      </p:sp>
      <p:cxnSp>
        <p:nvCxnSpPr>
          <p:cNvPr id="653" name="Google Shape;653;p25"/>
          <p:cNvCxnSpPr>
            <a:stCxn id="643" idx="0"/>
            <a:endCxn id="646" idx="2"/>
          </p:cNvCxnSpPr>
          <p:nvPr/>
        </p:nvCxnSpPr>
        <p:spPr>
          <a:xfrm flipH="1" rot="10800000">
            <a:off x="2789133" y="2739259"/>
            <a:ext cx="2139300" cy="10581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54" name="Google Shape;654;p25"/>
          <p:cNvCxnSpPr>
            <a:stCxn id="643" idx="0"/>
            <a:endCxn id="647" idx="2"/>
          </p:cNvCxnSpPr>
          <p:nvPr/>
        </p:nvCxnSpPr>
        <p:spPr>
          <a:xfrm>
            <a:off x="2789133" y="3797359"/>
            <a:ext cx="2139300" cy="15846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55" name="Google Shape;655;p25"/>
          <p:cNvCxnSpPr>
            <a:stCxn id="646" idx="0"/>
            <a:endCxn id="650" idx="2"/>
          </p:cNvCxnSpPr>
          <p:nvPr/>
        </p:nvCxnSpPr>
        <p:spPr>
          <a:xfrm flipH="1" rot="10800000">
            <a:off x="6486238" y="1681202"/>
            <a:ext cx="1878300" cy="10581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56" name="Google Shape;656;p25"/>
          <p:cNvCxnSpPr>
            <a:stCxn id="646" idx="0"/>
            <a:endCxn id="649" idx="2"/>
          </p:cNvCxnSpPr>
          <p:nvPr/>
        </p:nvCxnSpPr>
        <p:spPr>
          <a:xfrm>
            <a:off x="6486238" y="2739302"/>
            <a:ext cx="1878300" cy="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57" name="Google Shape;657;p25"/>
          <p:cNvCxnSpPr>
            <a:stCxn id="646" idx="0"/>
            <a:endCxn id="648" idx="2"/>
          </p:cNvCxnSpPr>
          <p:nvPr/>
        </p:nvCxnSpPr>
        <p:spPr>
          <a:xfrm>
            <a:off x="6486238" y="2739302"/>
            <a:ext cx="1878300" cy="10581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58" name="Google Shape;658;p25"/>
          <p:cNvCxnSpPr>
            <a:stCxn id="647" idx="0"/>
            <a:endCxn id="651" idx="2"/>
          </p:cNvCxnSpPr>
          <p:nvPr/>
        </p:nvCxnSpPr>
        <p:spPr>
          <a:xfrm flipH="1" rot="10800000">
            <a:off x="6486238" y="4855286"/>
            <a:ext cx="1878300" cy="5268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59" name="Google Shape;659;p25"/>
          <p:cNvCxnSpPr>
            <a:stCxn id="647" idx="0"/>
            <a:endCxn id="652" idx="2"/>
          </p:cNvCxnSpPr>
          <p:nvPr/>
        </p:nvCxnSpPr>
        <p:spPr>
          <a:xfrm>
            <a:off x="6486238" y="5382086"/>
            <a:ext cx="1878300" cy="5313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60" name="Google Shape;660;p25"/>
          <p:cNvCxnSpPr>
            <a:stCxn id="643" idx="1"/>
            <a:endCxn id="644" idx="3"/>
          </p:cNvCxnSpPr>
          <p:nvPr/>
        </p:nvCxnSpPr>
        <p:spPr>
          <a:xfrm flipH="1">
            <a:off x="889004" y="4235913"/>
            <a:ext cx="975900" cy="14847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61" name="Google Shape;661;p25"/>
          <p:cNvCxnSpPr>
            <a:stCxn id="643" idx="1"/>
            <a:endCxn id="645" idx="3"/>
          </p:cNvCxnSpPr>
          <p:nvPr/>
        </p:nvCxnSpPr>
        <p:spPr>
          <a:xfrm>
            <a:off x="1864904" y="4235913"/>
            <a:ext cx="975900" cy="14847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6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IDENTIFICACIÓN DE LAS 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67" name="Google Shape;667;p26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8" name="Google Shape;668;p2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Interfaz de usuario gráfica, Tabla&#10;&#10;Descripción generada automáticamente" id="669" name="Google Shape;6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861" y="1859370"/>
            <a:ext cx="4676775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26"/>
          <p:cNvSpPr/>
          <p:nvPr/>
        </p:nvSpPr>
        <p:spPr>
          <a:xfrm>
            <a:off x="3970637" y="1276444"/>
            <a:ext cx="4758432" cy="443930"/>
          </a:xfrm>
          <a:prstGeom prst="round2SameRect">
            <a:avLst>
              <a:gd fmla="val 36600" name="adj1"/>
              <a:gd fmla="val 0" name="adj2"/>
            </a:avLst>
          </a:prstGeom>
          <a:solidFill>
            <a:srgbClr val="F2B8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Materialidad de Impacto</a:t>
            </a:r>
            <a:endParaRPr/>
          </a:p>
        </p:txBody>
      </p:sp>
      <p:pic>
        <p:nvPicPr>
          <p:cNvPr descr="Tabla&#10;&#10;Descripción generada automáticamente" id="671" name="Google Shape;67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04" y="2463010"/>
            <a:ext cx="5924905" cy="291090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26"/>
          <p:cNvSpPr txBox="1"/>
          <p:nvPr/>
        </p:nvSpPr>
        <p:spPr>
          <a:xfrm>
            <a:off x="50500" y="6433667"/>
            <a:ext cx="6126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Posible cuantificación para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Impactos Reales Negativos</a:t>
            </a:r>
            <a:endParaRPr/>
          </a:p>
        </p:txBody>
      </p:sp>
      <p:sp>
        <p:nvSpPr>
          <p:cNvPr id="673" name="Google Shape;673;p26"/>
          <p:cNvSpPr txBox="1"/>
          <p:nvPr/>
        </p:nvSpPr>
        <p:spPr>
          <a:xfrm>
            <a:off x="5794349" y="5567101"/>
            <a:ext cx="54744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Posible cuantificación para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Impactos Potenciales Negativos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7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IDENTIFICACIÓN DE LAS 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79" name="Google Shape;679;p27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0" name="Google Shape;680;p2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81" name="Google Shape;681;p27"/>
          <p:cNvSpPr/>
          <p:nvPr/>
        </p:nvSpPr>
        <p:spPr>
          <a:xfrm>
            <a:off x="3970637" y="1276444"/>
            <a:ext cx="4758432" cy="443930"/>
          </a:xfrm>
          <a:prstGeom prst="round2SameRect">
            <a:avLst>
              <a:gd fmla="val 36600" name="adj1"/>
              <a:gd fmla="val 0" name="adj2"/>
            </a:avLst>
          </a:prstGeom>
          <a:solidFill>
            <a:srgbClr val="F2B8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Materialidad de Impacto</a:t>
            </a:r>
            <a:endParaRPr/>
          </a:p>
        </p:txBody>
      </p:sp>
      <p:pic>
        <p:nvPicPr>
          <p:cNvPr descr="Tabla&#10;&#10;Descripción generada automáticamente" id="682" name="Google Shape;6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148" y="2622430"/>
            <a:ext cx="8229600" cy="2599146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7"/>
          <p:cNvSpPr txBox="1"/>
          <p:nvPr/>
        </p:nvSpPr>
        <p:spPr>
          <a:xfrm>
            <a:off x="748095" y="5484752"/>
            <a:ext cx="73497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cómo se determinan, entre 4 impactos (en este caso negativos) reales, cuál de ellos son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cuestiones materiales</a:t>
            </a:r>
            <a:endParaRPr/>
          </a:p>
        </p:txBody>
      </p:sp>
      <p:sp>
        <p:nvSpPr>
          <p:cNvPr id="684" name="Google Shape;684;p27"/>
          <p:cNvSpPr txBox="1"/>
          <p:nvPr/>
        </p:nvSpPr>
        <p:spPr>
          <a:xfrm>
            <a:off x="8729069" y="2490842"/>
            <a:ext cx="3054614" cy="2862322"/>
          </a:xfrm>
          <a:prstGeom prst="rect">
            <a:avLst/>
          </a:prstGeom>
          <a:noFill/>
          <a:ln cap="flat" cmpd="sng" w="50800">
            <a:solidFill>
              <a:srgbClr val="F2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total se calcula como la suma de la escala, el alcance y la irremediabilidad. Se fija como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umbral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8, de manera que aquellos impactos cuyo valor total sea igual o superior a 8, se consideran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materiales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8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IDENTIFICACIÓN DE LAS 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90" name="Google Shape;690;p28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1" name="Google Shape;691;p2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92" name="Google Shape;692;p28"/>
          <p:cNvSpPr/>
          <p:nvPr/>
        </p:nvSpPr>
        <p:spPr>
          <a:xfrm>
            <a:off x="3970637" y="1276444"/>
            <a:ext cx="4758432" cy="443930"/>
          </a:xfrm>
          <a:prstGeom prst="round2SameRect">
            <a:avLst>
              <a:gd fmla="val 36600" name="adj1"/>
              <a:gd fmla="val 0" name="adj2"/>
            </a:avLst>
          </a:prstGeom>
          <a:solidFill>
            <a:srgbClr val="385623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Materialidad Financiera</a:t>
            </a:r>
            <a:endParaRPr/>
          </a:p>
        </p:txBody>
      </p:sp>
      <p:pic>
        <p:nvPicPr>
          <p:cNvPr id="693" name="Google Shape;6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79" y="3409746"/>
            <a:ext cx="107478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8"/>
          <p:cNvSpPr/>
          <p:nvPr/>
        </p:nvSpPr>
        <p:spPr>
          <a:xfrm>
            <a:off x="2346389" y="3678572"/>
            <a:ext cx="2021067" cy="1056737"/>
          </a:xfrm>
          <a:prstGeom prst="roundRect">
            <a:avLst>
              <a:gd fmla="val 16667" name="adj"/>
            </a:avLst>
          </a:prstGeom>
          <a:solidFill>
            <a:srgbClr val="38562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Indicadores de actividad económica</a:t>
            </a:r>
            <a:endParaRPr/>
          </a:p>
        </p:txBody>
      </p:sp>
      <p:sp>
        <p:nvSpPr>
          <p:cNvPr id="695" name="Google Shape;695;p28"/>
          <p:cNvSpPr txBox="1"/>
          <p:nvPr/>
        </p:nvSpPr>
        <p:spPr>
          <a:xfrm>
            <a:off x="4986072" y="2794957"/>
            <a:ext cx="1811547" cy="400110"/>
          </a:xfrm>
          <a:prstGeom prst="rect">
            <a:avLst/>
          </a:prstGeom>
          <a:solidFill>
            <a:srgbClr val="CDED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Cualitativos</a:t>
            </a:r>
            <a:endParaRPr/>
          </a:p>
        </p:txBody>
      </p:sp>
      <p:sp>
        <p:nvSpPr>
          <p:cNvPr id="696" name="Google Shape;696;p28"/>
          <p:cNvSpPr txBox="1"/>
          <p:nvPr/>
        </p:nvSpPr>
        <p:spPr>
          <a:xfrm>
            <a:off x="4935125" y="5218814"/>
            <a:ext cx="1811547" cy="400110"/>
          </a:xfrm>
          <a:prstGeom prst="rect">
            <a:avLst/>
          </a:prstGeom>
          <a:solidFill>
            <a:srgbClr val="CDED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Cuantitativos</a:t>
            </a:r>
            <a:endParaRPr/>
          </a:p>
        </p:txBody>
      </p:sp>
      <p:sp>
        <p:nvSpPr>
          <p:cNvPr id="697" name="Google Shape;697;p28"/>
          <p:cNvSpPr/>
          <p:nvPr/>
        </p:nvSpPr>
        <p:spPr>
          <a:xfrm>
            <a:off x="6797619" y="2171155"/>
            <a:ext cx="500332" cy="1641719"/>
          </a:xfrm>
          <a:prstGeom prst="leftBrace">
            <a:avLst>
              <a:gd fmla="val 42816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 txBox="1"/>
          <p:nvPr/>
        </p:nvSpPr>
        <p:spPr>
          <a:xfrm>
            <a:off x="7325688" y="2333292"/>
            <a:ext cx="38301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Reputación de la empresa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Fidelidad a la marca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Percepción para los inversores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/>
          </a:p>
        </p:txBody>
      </p:sp>
      <p:sp>
        <p:nvSpPr>
          <p:cNvPr id="699" name="Google Shape;699;p28"/>
          <p:cNvSpPr txBox="1"/>
          <p:nvPr/>
        </p:nvSpPr>
        <p:spPr>
          <a:xfrm>
            <a:off x="7325688" y="4715234"/>
            <a:ext cx="38301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 en los costes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los ingresos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acceso al capital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/>
          </a:p>
        </p:txBody>
      </p:sp>
      <p:cxnSp>
        <p:nvCxnSpPr>
          <p:cNvPr id="700" name="Google Shape;700;p28"/>
          <p:cNvCxnSpPr>
            <a:stCxn id="694" idx="3"/>
            <a:endCxn id="695" idx="1"/>
          </p:cNvCxnSpPr>
          <p:nvPr/>
        </p:nvCxnSpPr>
        <p:spPr>
          <a:xfrm flipH="1" rot="10800000">
            <a:off x="4367456" y="2994941"/>
            <a:ext cx="618600" cy="12120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1" name="Google Shape;701;p28"/>
          <p:cNvCxnSpPr>
            <a:stCxn id="694" idx="3"/>
            <a:endCxn id="696" idx="1"/>
          </p:cNvCxnSpPr>
          <p:nvPr/>
        </p:nvCxnSpPr>
        <p:spPr>
          <a:xfrm>
            <a:off x="4367456" y="4206941"/>
            <a:ext cx="567600" cy="12120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2" name="Google Shape;702;p28"/>
          <p:cNvSpPr/>
          <p:nvPr/>
        </p:nvSpPr>
        <p:spPr>
          <a:xfrm>
            <a:off x="6797619" y="4572643"/>
            <a:ext cx="500332" cy="1641719"/>
          </a:xfrm>
          <a:prstGeom prst="leftBrace">
            <a:avLst>
              <a:gd fmla="val 42816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 txBox="1"/>
          <p:nvPr/>
        </p:nvSpPr>
        <p:spPr>
          <a:xfrm>
            <a:off x="256389" y="5774201"/>
            <a:ext cx="4263852" cy="923330"/>
          </a:xfrm>
          <a:prstGeom prst="rect">
            <a:avLst/>
          </a:prstGeom>
          <a:noFill/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Hay que tener presente todo el marco regulatorio presente y en desarrollo que pueda tener un impacto financiero.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9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IDENTIFICACIÓN DE LAS 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09" name="Google Shape;709;p29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0" name="Google Shape;710;p29"/>
          <p:cNvSpPr txBox="1"/>
          <p:nvPr/>
        </p:nvSpPr>
        <p:spPr>
          <a:xfrm>
            <a:off x="6813381" y="6463617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11" name="Google Shape;711;p29"/>
          <p:cNvSpPr/>
          <p:nvPr/>
        </p:nvSpPr>
        <p:spPr>
          <a:xfrm>
            <a:off x="217132" y="1326322"/>
            <a:ext cx="4758432" cy="443930"/>
          </a:xfrm>
          <a:prstGeom prst="round2SameRect">
            <a:avLst>
              <a:gd fmla="val 36600" name="adj1"/>
              <a:gd fmla="val 0" name="adj2"/>
            </a:avLst>
          </a:prstGeom>
          <a:solidFill>
            <a:srgbClr val="385623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Materialidad Financiera</a:t>
            </a:r>
            <a:endParaRPr/>
          </a:p>
        </p:txBody>
      </p:sp>
      <p:sp>
        <p:nvSpPr>
          <p:cNvPr id="712" name="Google Shape;712;p29"/>
          <p:cNvSpPr/>
          <p:nvPr/>
        </p:nvSpPr>
        <p:spPr>
          <a:xfrm>
            <a:off x="1354748" y="3669359"/>
            <a:ext cx="1848457" cy="87710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Impactos</a:t>
            </a:r>
            <a:endParaRPr/>
          </a:p>
        </p:txBody>
      </p:sp>
      <p:sp>
        <p:nvSpPr>
          <p:cNvPr id="713" name="Google Shape;713;p29"/>
          <p:cNvSpPr/>
          <p:nvPr/>
        </p:nvSpPr>
        <p:spPr>
          <a:xfrm>
            <a:off x="624305" y="5496264"/>
            <a:ext cx="135736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924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Positivos</a:t>
            </a:r>
            <a:endParaRPr/>
          </a:p>
        </p:txBody>
      </p:sp>
      <p:sp>
        <p:nvSpPr>
          <p:cNvPr id="714" name="Google Shape;714;p29"/>
          <p:cNvSpPr/>
          <p:nvPr/>
        </p:nvSpPr>
        <p:spPr>
          <a:xfrm>
            <a:off x="2576287" y="5496263"/>
            <a:ext cx="135736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3070C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Negativos</a:t>
            </a:r>
            <a:endParaRPr/>
          </a:p>
        </p:txBody>
      </p:sp>
      <p:sp>
        <p:nvSpPr>
          <p:cNvPr id="715" name="Google Shape;715;p29"/>
          <p:cNvSpPr/>
          <p:nvPr/>
        </p:nvSpPr>
        <p:spPr>
          <a:xfrm>
            <a:off x="5365315" y="1956018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Ingresos</a:t>
            </a:r>
            <a:endParaRPr/>
          </a:p>
        </p:txBody>
      </p:sp>
      <p:sp>
        <p:nvSpPr>
          <p:cNvPr id="716" name="Google Shape;716;p29"/>
          <p:cNvSpPr/>
          <p:nvPr/>
        </p:nvSpPr>
        <p:spPr>
          <a:xfrm>
            <a:off x="8700091" y="3830651"/>
            <a:ext cx="2521850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Horizonte temporal</a:t>
            </a:r>
            <a:endParaRPr/>
          </a:p>
        </p:txBody>
      </p:sp>
      <p:sp>
        <p:nvSpPr>
          <p:cNvPr id="717" name="Google Shape;717;p29"/>
          <p:cNvSpPr/>
          <p:nvPr/>
        </p:nvSpPr>
        <p:spPr>
          <a:xfrm>
            <a:off x="8700091" y="2569105"/>
            <a:ext cx="2521850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Probabilidad</a:t>
            </a:r>
            <a:endParaRPr/>
          </a:p>
        </p:txBody>
      </p:sp>
      <p:cxnSp>
        <p:nvCxnSpPr>
          <p:cNvPr id="718" name="Google Shape;718;p29"/>
          <p:cNvCxnSpPr>
            <a:stCxn id="712" idx="0"/>
            <a:endCxn id="715" idx="2"/>
          </p:cNvCxnSpPr>
          <p:nvPr/>
        </p:nvCxnSpPr>
        <p:spPr>
          <a:xfrm flipH="1" rot="10800000">
            <a:off x="3203205" y="2221813"/>
            <a:ext cx="2162100" cy="18861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19" name="Google Shape;719;p29"/>
          <p:cNvCxnSpPr>
            <a:stCxn id="712" idx="0"/>
            <a:endCxn id="720" idx="2"/>
          </p:cNvCxnSpPr>
          <p:nvPr/>
        </p:nvCxnSpPr>
        <p:spPr>
          <a:xfrm>
            <a:off x="3203205" y="4107913"/>
            <a:ext cx="2162100" cy="8982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21" name="Google Shape;721;p29"/>
          <p:cNvCxnSpPr>
            <a:stCxn id="712" idx="1"/>
            <a:endCxn id="713" idx="3"/>
          </p:cNvCxnSpPr>
          <p:nvPr/>
        </p:nvCxnSpPr>
        <p:spPr>
          <a:xfrm flipH="1">
            <a:off x="1303077" y="4546467"/>
            <a:ext cx="975900" cy="9498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722" name="Google Shape;722;p29"/>
          <p:cNvSpPr/>
          <p:nvPr/>
        </p:nvSpPr>
        <p:spPr>
          <a:xfrm>
            <a:off x="5365315" y="2884142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Gastos</a:t>
            </a:r>
            <a:endParaRPr/>
          </a:p>
        </p:txBody>
      </p:sp>
      <p:sp>
        <p:nvSpPr>
          <p:cNvPr id="723" name="Google Shape;723;p29"/>
          <p:cNvSpPr/>
          <p:nvPr/>
        </p:nvSpPr>
        <p:spPr>
          <a:xfrm>
            <a:off x="5365315" y="3812266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Activos</a:t>
            </a:r>
            <a:endParaRPr/>
          </a:p>
        </p:txBody>
      </p:sp>
      <p:sp>
        <p:nvSpPr>
          <p:cNvPr id="720" name="Google Shape;720;p29"/>
          <p:cNvSpPr/>
          <p:nvPr/>
        </p:nvSpPr>
        <p:spPr>
          <a:xfrm>
            <a:off x="5365315" y="4740390"/>
            <a:ext cx="1557682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Pasivos</a:t>
            </a:r>
            <a:endParaRPr/>
          </a:p>
        </p:txBody>
      </p:sp>
      <p:sp>
        <p:nvSpPr>
          <p:cNvPr id="724" name="Google Shape;724;p29"/>
          <p:cNvSpPr/>
          <p:nvPr/>
        </p:nvSpPr>
        <p:spPr>
          <a:xfrm>
            <a:off x="5365315" y="5668515"/>
            <a:ext cx="1557682" cy="69777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 de mercado</a:t>
            </a:r>
            <a:endParaRPr/>
          </a:p>
        </p:txBody>
      </p:sp>
      <p:cxnSp>
        <p:nvCxnSpPr>
          <p:cNvPr id="725" name="Google Shape;725;p29"/>
          <p:cNvCxnSpPr>
            <a:stCxn id="712" idx="1"/>
            <a:endCxn id="714" idx="3"/>
          </p:cNvCxnSpPr>
          <p:nvPr/>
        </p:nvCxnSpPr>
        <p:spPr>
          <a:xfrm>
            <a:off x="2278977" y="4546467"/>
            <a:ext cx="975900" cy="9498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26" name="Google Shape;726;p29"/>
          <p:cNvCxnSpPr>
            <a:stCxn id="712" idx="0"/>
            <a:endCxn id="722" idx="2"/>
          </p:cNvCxnSpPr>
          <p:nvPr/>
        </p:nvCxnSpPr>
        <p:spPr>
          <a:xfrm flipH="1" rot="10800000">
            <a:off x="3203205" y="3149713"/>
            <a:ext cx="2162100" cy="9582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27" name="Google Shape;727;p29"/>
          <p:cNvCxnSpPr>
            <a:stCxn id="712" idx="0"/>
            <a:endCxn id="723" idx="2"/>
          </p:cNvCxnSpPr>
          <p:nvPr/>
        </p:nvCxnSpPr>
        <p:spPr>
          <a:xfrm flipH="1" rot="10800000">
            <a:off x="3203205" y="4077913"/>
            <a:ext cx="2162100" cy="300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28" name="Google Shape;728;p29"/>
          <p:cNvCxnSpPr>
            <a:stCxn id="712" idx="0"/>
            <a:endCxn id="724" idx="2"/>
          </p:cNvCxnSpPr>
          <p:nvPr/>
        </p:nvCxnSpPr>
        <p:spPr>
          <a:xfrm>
            <a:off x="3203205" y="4107913"/>
            <a:ext cx="2162100" cy="19095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729" name="Google Shape;729;p29"/>
          <p:cNvSpPr/>
          <p:nvPr/>
        </p:nvSpPr>
        <p:spPr>
          <a:xfrm>
            <a:off x="8700091" y="5223393"/>
            <a:ext cx="2521850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70C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Grado control</a:t>
            </a:r>
            <a:endParaRPr/>
          </a:p>
        </p:txBody>
      </p:sp>
      <p:sp>
        <p:nvSpPr>
          <p:cNvPr id="730" name="Google Shape;730;p29"/>
          <p:cNvSpPr/>
          <p:nvPr/>
        </p:nvSpPr>
        <p:spPr>
          <a:xfrm flipH="1">
            <a:off x="7211691" y="1721346"/>
            <a:ext cx="500332" cy="4800221"/>
          </a:xfrm>
          <a:prstGeom prst="leftBrace">
            <a:avLst>
              <a:gd fmla="val 42816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1" name="Google Shape;731;p29"/>
          <p:cNvCxnSpPr>
            <a:stCxn id="730" idx="1"/>
            <a:endCxn id="717" idx="2"/>
          </p:cNvCxnSpPr>
          <p:nvPr/>
        </p:nvCxnSpPr>
        <p:spPr>
          <a:xfrm flipH="1" rot="10800000">
            <a:off x="7712023" y="2834757"/>
            <a:ext cx="988200" cy="12867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32" name="Google Shape;732;p29"/>
          <p:cNvCxnSpPr>
            <a:stCxn id="730" idx="1"/>
            <a:endCxn id="716" idx="2"/>
          </p:cNvCxnSpPr>
          <p:nvPr/>
        </p:nvCxnSpPr>
        <p:spPr>
          <a:xfrm flipH="1" rot="10800000">
            <a:off x="7712023" y="4096257"/>
            <a:ext cx="988200" cy="252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33" name="Google Shape;733;p29"/>
          <p:cNvCxnSpPr>
            <a:stCxn id="730" idx="1"/>
            <a:endCxn id="729" idx="2"/>
          </p:cNvCxnSpPr>
          <p:nvPr/>
        </p:nvCxnSpPr>
        <p:spPr>
          <a:xfrm>
            <a:off x="7712023" y="4121457"/>
            <a:ext cx="988200" cy="13677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734" name="Google Shape;734;p29"/>
          <p:cNvSpPr txBox="1"/>
          <p:nvPr/>
        </p:nvSpPr>
        <p:spPr>
          <a:xfrm>
            <a:off x="217131" y="2221712"/>
            <a:ext cx="2359155" cy="646331"/>
          </a:xfrm>
          <a:prstGeom prst="rect">
            <a:avLst/>
          </a:prstGeom>
          <a:noFill/>
          <a:ln cap="flat" cmpd="sng" w="3810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de indicadores (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Estándar ISSB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0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IDENTIFICACIÓN DE LAS CUESTIONES MATERIALES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40" name="Google Shape;740;p30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1" name="Google Shape;741;p3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42" name="Google Shape;742;p30"/>
          <p:cNvSpPr/>
          <p:nvPr/>
        </p:nvSpPr>
        <p:spPr>
          <a:xfrm>
            <a:off x="3970637" y="1295494"/>
            <a:ext cx="4758432" cy="443930"/>
          </a:xfrm>
          <a:prstGeom prst="round2SameRect">
            <a:avLst>
              <a:gd fmla="val 36600" name="adj1"/>
              <a:gd fmla="val 0" name="adj2"/>
            </a:avLst>
          </a:prstGeom>
          <a:solidFill>
            <a:srgbClr val="385623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Materialidad Financiera</a:t>
            </a:r>
            <a:endParaRPr/>
          </a:p>
        </p:txBody>
      </p:sp>
      <p:sp>
        <p:nvSpPr>
          <p:cNvPr id="743" name="Google Shape;743;p30"/>
          <p:cNvSpPr txBox="1"/>
          <p:nvPr/>
        </p:nvSpPr>
        <p:spPr>
          <a:xfrm>
            <a:off x="325321" y="2260121"/>
            <a:ext cx="3470305" cy="1323439"/>
          </a:xfrm>
          <a:prstGeom prst="rect">
            <a:avLst/>
          </a:prstGeom>
          <a:noFill/>
          <a:ln cap="flat" cmpd="tri" w="101600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proceso para determinar las cuestiones materiales desde el punto de vista financiero es análogo al anterior</a:t>
            </a:r>
            <a:endParaRPr/>
          </a:p>
        </p:txBody>
      </p:sp>
      <p:sp>
        <p:nvSpPr>
          <p:cNvPr id="744" name="Google Shape;744;p30"/>
          <p:cNvSpPr txBox="1"/>
          <p:nvPr/>
        </p:nvSpPr>
        <p:spPr>
          <a:xfrm>
            <a:off x="4255698" y="2260121"/>
            <a:ext cx="7435970" cy="707886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cada tema/subtema/subsubtema de la AR 16 la empresa realiza un análisis IRO desde el punto de vista financiero</a:t>
            </a:r>
            <a:endParaRPr/>
          </a:p>
        </p:txBody>
      </p:sp>
      <p:sp>
        <p:nvSpPr>
          <p:cNvPr id="745" name="Google Shape;745;p30"/>
          <p:cNvSpPr/>
          <p:nvPr/>
        </p:nvSpPr>
        <p:spPr>
          <a:xfrm flipH="1" rot="10800000">
            <a:off x="4295958" y="3046763"/>
            <a:ext cx="1570007" cy="230628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5865965" y="3532877"/>
            <a:ext cx="500332" cy="2829464"/>
          </a:xfrm>
          <a:prstGeom prst="leftBrace">
            <a:avLst>
              <a:gd fmla="val 42816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 txBox="1"/>
          <p:nvPr/>
        </p:nvSpPr>
        <p:spPr>
          <a:xfrm>
            <a:off x="6416452" y="3663643"/>
            <a:ext cx="5275216" cy="400110"/>
          </a:xfrm>
          <a:prstGeom prst="rect">
            <a:avLst/>
          </a:prstGeom>
          <a:solidFill>
            <a:srgbClr val="FCEEE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eligen indicadores cualitativos y cuantitativos</a:t>
            </a:r>
            <a:endParaRPr/>
          </a:p>
        </p:txBody>
      </p:sp>
      <p:sp>
        <p:nvSpPr>
          <p:cNvPr id="748" name="Google Shape;748;p30"/>
          <p:cNvSpPr txBox="1"/>
          <p:nvPr/>
        </p:nvSpPr>
        <p:spPr>
          <a:xfrm>
            <a:off x="6416452" y="4673408"/>
            <a:ext cx="5275216" cy="400110"/>
          </a:xfrm>
          <a:prstGeom prst="rect">
            <a:avLst/>
          </a:prstGeom>
          <a:solidFill>
            <a:srgbClr val="FCEEE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definen escalas para valorar los cualitativos</a:t>
            </a:r>
            <a:endParaRPr/>
          </a:p>
        </p:txBody>
      </p:sp>
      <p:sp>
        <p:nvSpPr>
          <p:cNvPr id="749" name="Google Shape;749;p30"/>
          <p:cNvSpPr txBox="1"/>
          <p:nvPr/>
        </p:nvSpPr>
        <p:spPr>
          <a:xfrm>
            <a:off x="6416452" y="5683172"/>
            <a:ext cx="5275216" cy="400110"/>
          </a:xfrm>
          <a:prstGeom prst="rect">
            <a:avLst/>
          </a:prstGeom>
          <a:solidFill>
            <a:srgbClr val="FCEEE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fija un umbral para considerar el ítem material</a:t>
            </a:r>
            <a:endParaRPr/>
          </a:p>
        </p:txBody>
      </p:sp>
      <p:sp>
        <p:nvSpPr>
          <p:cNvPr id="750" name="Google Shape;750;p30"/>
          <p:cNvSpPr/>
          <p:nvPr/>
        </p:nvSpPr>
        <p:spPr>
          <a:xfrm>
            <a:off x="8847026" y="4107355"/>
            <a:ext cx="414068" cy="49026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0"/>
          <p:cNvSpPr/>
          <p:nvPr/>
        </p:nvSpPr>
        <p:spPr>
          <a:xfrm>
            <a:off x="8843350" y="5182755"/>
            <a:ext cx="414068" cy="49026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1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MATRIZ DE DOBLE MATERIALIDAD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57" name="Google Shape;757;p31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8" name="Google Shape;758;p3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59" name="Google Shape;759;p31"/>
          <p:cNvSpPr txBox="1"/>
          <p:nvPr/>
        </p:nvSpPr>
        <p:spPr>
          <a:xfrm>
            <a:off x="8169843" y="2800953"/>
            <a:ext cx="3317862" cy="1938992"/>
          </a:xfrm>
          <a:prstGeom prst="rect">
            <a:avLst/>
          </a:prstGeom>
          <a:noFill/>
          <a:ln cap="flat" cmpd="sng" w="508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cuestión material ha recibido una puntuación de impacto y financiera. La representación cartesiana de esos dos valores es la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Doble Materialidad</a:t>
            </a:r>
            <a:endParaRPr/>
          </a:p>
        </p:txBody>
      </p:sp>
      <p:pic>
        <p:nvPicPr>
          <p:cNvPr id="760" name="Google Shape;7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48" y="1647387"/>
            <a:ext cx="7999285" cy="4676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2"/>
          <p:cNvSpPr txBox="1"/>
          <p:nvPr>
            <p:ph type="title"/>
          </p:nvPr>
        </p:nvSpPr>
        <p:spPr>
          <a:xfrm>
            <a:off x="308148" y="533807"/>
            <a:ext cx="97324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MATRIZ DE DOBLE MATERIALIDAD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66" name="Google Shape;766;p32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7" name="Google Shape;767;p3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768" name="Google Shape;7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990" y="1803754"/>
            <a:ext cx="3723817" cy="3738196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2"/>
          <p:cNvSpPr/>
          <p:nvPr/>
        </p:nvSpPr>
        <p:spPr>
          <a:xfrm rot="-5400000">
            <a:off x="5007578" y="3752790"/>
            <a:ext cx="782216" cy="84223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/>
          <p:nvPr/>
        </p:nvSpPr>
        <p:spPr>
          <a:xfrm>
            <a:off x="6527325" y="2805866"/>
            <a:ext cx="4169434" cy="2736084"/>
          </a:xfrm>
          <a:prstGeom prst="roundRect">
            <a:avLst>
              <a:gd fmla="val 16667" name="adj"/>
            </a:avLst>
          </a:prstGeom>
          <a:solidFill>
            <a:srgbClr val="A8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 cuestiones que figuran en el cuadrante superior derecho son las más relevantes y, por tanto, deben contemplarse para elaborar el </a:t>
            </a:r>
            <a:r>
              <a:rPr b="1" lang="es-ES" sz="2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de Sostenibilidad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EL PLAN DIRECTOR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76" name="Google Shape;776;p33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7" name="Google Shape;777;p3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78" name="Google Shape;778;p33"/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/>
          </a:p>
        </p:txBody>
      </p:sp>
      <p:pic>
        <p:nvPicPr>
          <p:cNvPr id="779" name="Google Shape;7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1355" y="1389056"/>
            <a:ext cx="7573992" cy="476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EL PLAN DIRECTOR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85" name="Google Shape;785;p34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6" name="Google Shape;786;p3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87" name="Google Shape;787;p34"/>
          <p:cNvSpPr/>
          <p:nvPr/>
        </p:nvSpPr>
        <p:spPr>
          <a:xfrm>
            <a:off x="682923" y="2674185"/>
            <a:ext cx="3198962" cy="1325563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Cuestiones Materiales más relevantes</a:t>
            </a:r>
            <a:endParaRPr/>
          </a:p>
        </p:txBody>
      </p:sp>
      <p:sp>
        <p:nvSpPr>
          <p:cNvPr id="788" name="Google Shape;788;p34"/>
          <p:cNvSpPr/>
          <p:nvPr/>
        </p:nvSpPr>
        <p:spPr>
          <a:xfrm rot="-5400000">
            <a:off x="4368401" y="2915847"/>
            <a:ext cx="782216" cy="84223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DA9DB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4"/>
          <p:cNvSpPr/>
          <p:nvPr/>
        </p:nvSpPr>
        <p:spPr>
          <a:xfrm>
            <a:off x="5538156" y="2674185"/>
            <a:ext cx="1932317" cy="132556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Definir iniciativas </a:t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8357091" y="1638953"/>
            <a:ext cx="3198962" cy="1035232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Minimicen Impactos y/o Riesgos</a:t>
            </a:r>
            <a:endParaRPr/>
          </a:p>
        </p:txBody>
      </p:sp>
      <p:sp>
        <p:nvSpPr>
          <p:cNvPr id="791" name="Google Shape;791;p34"/>
          <p:cNvSpPr/>
          <p:nvPr/>
        </p:nvSpPr>
        <p:spPr>
          <a:xfrm>
            <a:off x="8353797" y="3991693"/>
            <a:ext cx="3198962" cy="1035232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Aprovechen Oportunidades</a:t>
            </a:r>
            <a:endParaRPr/>
          </a:p>
        </p:txBody>
      </p:sp>
      <p:cxnSp>
        <p:nvCxnSpPr>
          <p:cNvPr id="792" name="Google Shape;792;p34"/>
          <p:cNvCxnSpPr>
            <a:stCxn id="789" idx="3"/>
            <a:endCxn id="790" idx="1"/>
          </p:cNvCxnSpPr>
          <p:nvPr/>
        </p:nvCxnSpPr>
        <p:spPr>
          <a:xfrm flipH="1" rot="10800000">
            <a:off x="7470473" y="2156467"/>
            <a:ext cx="886500" cy="1180500"/>
          </a:xfrm>
          <a:prstGeom prst="straightConnector1">
            <a:avLst/>
          </a:prstGeom>
          <a:noFill/>
          <a:ln cap="flat" cmpd="sng" w="508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3" name="Google Shape;793;p34"/>
          <p:cNvCxnSpPr>
            <a:endCxn id="791" idx="1"/>
          </p:cNvCxnSpPr>
          <p:nvPr/>
        </p:nvCxnSpPr>
        <p:spPr>
          <a:xfrm>
            <a:off x="7470597" y="3336909"/>
            <a:ext cx="883200" cy="1172400"/>
          </a:xfrm>
          <a:prstGeom prst="straightConnector1">
            <a:avLst/>
          </a:prstGeom>
          <a:noFill/>
          <a:ln cap="flat" cmpd="sng" w="508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4" name="Google Shape;794;p34"/>
          <p:cNvSpPr/>
          <p:nvPr/>
        </p:nvSpPr>
        <p:spPr>
          <a:xfrm rot="-5400000">
            <a:off x="704295" y="4140128"/>
            <a:ext cx="1570007" cy="1603393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8DA9DB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4"/>
          <p:cNvSpPr/>
          <p:nvPr/>
        </p:nvSpPr>
        <p:spPr>
          <a:xfrm>
            <a:off x="2324457" y="4509309"/>
            <a:ext cx="500332" cy="1967121"/>
          </a:xfrm>
          <a:prstGeom prst="leftBrace">
            <a:avLst>
              <a:gd fmla="val 42816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4"/>
          <p:cNvSpPr txBox="1"/>
          <p:nvPr/>
        </p:nvSpPr>
        <p:spPr>
          <a:xfrm>
            <a:off x="2824789" y="4651476"/>
            <a:ext cx="4145354" cy="4001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doble materialidad</a:t>
            </a:r>
            <a:endParaRPr/>
          </a:p>
        </p:txBody>
      </p:sp>
      <p:sp>
        <p:nvSpPr>
          <p:cNvPr id="797" name="Google Shape;797;p34"/>
          <p:cNvSpPr txBox="1"/>
          <p:nvPr/>
        </p:nvSpPr>
        <p:spPr>
          <a:xfrm>
            <a:off x="2824789" y="5341247"/>
            <a:ext cx="4145354" cy="4001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Diagnóstico interno y/o externo</a:t>
            </a:r>
            <a:endParaRPr/>
          </a:p>
        </p:txBody>
      </p:sp>
      <p:sp>
        <p:nvSpPr>
          <p:cNvPr id="798" name="Google Shape;798;p34"/>
          <p:cNvSpPr txBox="1"/>
          <p:nvPr/>
        </p:nvSpPr>
        <p:spPr>
          <a:xfrm>
            <a:off x="2824789" y="6031018"/>
            <a:ext cx="4145354" cy="4001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Pendientes de planes anteriores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EL PLAN DIRECTOR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04" name="Google Shape;804;p35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5" name="Google Shape;805;p3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06" name="Google Shape;806;p35"/>
          <p:cNvSpPr/>
          <p:nvPr/>
        </p:nvSpPr>
        <p:spPr>
          <a:xfrm>
            <a:off x="638821" y="1490158"/>
            <a:ext cx="1512533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924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/>
          </a:p>
        </p:txBody>
      </p:sp>
      <p:sp>
        <p:nvSpPr>
          <p:cNvPr id="807" name="Google Shape;807;p35"/>
          <p:cNvSpPr/>
          <p:nvPr/>
        </p:nvSpPr>
        <p:spPr>
          <a:xfrm>
            <a:off x="1966821" y="2859651"/>
            <a:ext cx="1932317" cy="105242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Consumo de Agua</a:t>
            </a:r>
            <a:endParaRPr/>
          </a:p>
        </p:txBody>
      </p:sp>
      <p:sp>
        <p:nvSpPr>
          <p:cNvPr id="808" name="Google Shape;808;p35"/>
          <p:cNvSpPr/>
          <p:nvPr/>
        </p:nvSpPr>
        <p:spPr>
          <a:xfrm>
            <a:off x="4054420" y="1971130"/>
            <a:ext cx="500332" cy="2829464"/>
          </a:xfrm>
          <a:prstGeom prst="leftBrace">
            <a:avLst>
              <a:gd fmla="val 42816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5"/>
          <p:cNvSpPr txBox="1"/>
          <p:nvPr/>
        </p:nvSpPr>
        <p:spPr>
          <a:xfrm>
            <a:off x="4761780" y="2173851"/>
            <a:ext cx="5773953" cy="369332"/>
          </a:xfrm>
          <a:prstGeom prst="rect">
            <a:avLst/>
          </a:prstGeom>
          <a:noFill/>
          <a:ln cap="flat" cmpd="sng" w="508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Reutilización y/o reciclaje de agua en el proceso productivo</a:t>
            </a:r>
            <a:endParaRPr/>
          </a:p>
        </p:txBody>
      </p:sp>
      <p:sp>
        <p:nvSpPr>
          <p:cNvPr id="810" name="Google Shape;810;p35"/>
          <p:cNvSpPr txBox="1"/>
          <p:nvPr/>
        </p:nvSpPr>
        <p:spPr>
          <a:xfrm>
            <a:off x="4761780" y="2915439"/>
            <a:ext cx="5773953" cy="369332"/>
          </a:xfrm>
          <a:prstGeom prst="rect">
            <a:avLst/>
          </a:prstGeom>
          <a:noFill/>
          <a:ln cap="flat" cmpd="sng" w="508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Restauración y conservación de cuencas hidrográficas</a:t>
            </a:r>
            <a:endParaRPr/>
          </a:p>
        </p:txBody>
      </p:sp>
      <p:sp>
        <p:nvSpPr>
          <p:cNvPr id="811" name="Google Shape;811;p35"/>
          <p:cNvSpPr txBox="1"/>
          <p:nvPr/>
        </p:nvSpPr>
        <p:spPr>
          <a:xfrm>
            <a:off x="4761780" y="3657027"/>
            <a:ext cx="5773953" cy="369332"/>
          </a:xfrm>
          <a:prstGeom prst="rect">
            <a:avLst/>
          </a:prstGeom>
          <a:noFill/>
          <a:ln cap="flat" cmpd="sng" w="508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ahorro y eficiencia</a:t>
            </a:r>
            <a:endParaRPr/>
          </a:p>
        </p:txBody>
      </p:sp>
      <p:pic>
        <p:nvPicPr>
          <p:cNvPr id="812" name="Google Shape;8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083" y="4026359"/>
            <a:ext cx="1371791" cy="1819529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35"/>
          <p:cNvSpPr txBox="1"/>
          <p:nvPr/>
        </p:nvSpPr>
        <p:spPr>
          <a:xfrm>
            <a:off x="4761780" y="4398614"/>
            <a:ext cx="5773953" cy="369332"/>
          </a:xfrm>
          <a:prstGeom prst="rect">
            <a:avLst/>
          </a:prstGeom>
          <a:noFill/>
          <a:ln cap="flat" cmpd="sng" w="508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Supresión de agentes contaminantes en los vertidos</a:t>
            </a:r>
            <a:endParaRPr/>
          </a:p>
        </p:txBody>
      </p:sp>
      <p:sp>
        <p:nvSpPr>
          <p:cNvPr id="814" name="Google Shape;814;p35"/>
          <p:cNvSpPr/>
          <p:nvPr/>
        </p:nvSpPr>
        <p:spPr>
          <a:xfrm>
            <a:off x="7441722" y="4983539"/>
            <a:ext cx="414068" cy="49026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4761780" y="5637529"/>
            <a:ext cx="5773953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924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de factibles son estas medidas?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EL PLAN DE COMUNICACIÓN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21" name="Google Shape;821;p36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2" name="Google Shape;822;p3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23" name="Google Shape;823;p36"/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5</a:t>
            </a:r>
            <a:endParaRPr/>
          </a:p>
        </p:txBody>
      </p:sp>
      <p:pic>
        <p:nvPicPr>
          <p:cNvPr id="824" name="Google Shape;8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6612" y="1411297"/>
            <a:ext cx="8711076" cy="432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EL PLAN DE COMUNICACIÓN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30" name="Google Shape;830;p37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1" name="Google Shape;831;p3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32" name="Google Shape;832;p37"/>
          <p:cNvSpPr/>
          <p:nvPr/>
        </p:nvSpPr>
        <p:spPr>
          <a:xfrm>
            <a:off x="1466491" y="1328467"/>
            <a:ext cx="9202445" cy="5139705"/>
          </a:xfrm>
          <a:prstGeom prst="verticalScroll">
            <a:avLst>
              <a:gd fmla="val 12500" name="adj"/>
            </a:avLst>
          </a:prstGeom>
          <a:solidFill>
            <a:srgbClr val="1390B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DE COMUNICACIÓN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Designación del elemento comunicable.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de interés al que se dirige.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 que se quiere conseguir con la comunicación.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 o qué se quiere comunicar.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Detalles de la actividad.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Mensajes principales.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Responsables de comunicar y de realizar el seguimiento.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Medio o canal empleado.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Lugar de comunicación, físico o virtual.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Duración de la comunicación.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es puntual o periódica. En este último caso se indica la frecuencia.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Recursos económicos y materiales para ejecutarla.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8" name="Google Shape;838;p38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839" name="Google Shape;839;p38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4" name="Google Shape;844;p38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5.3. ESTRATEGIAS DE SEGUIMIENTO Y MEJORA CONTINUA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8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SEGUIMIENTO Y MEJORA CONTINUA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51" name="Google Shape;851;p39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2" name="Google Shape;852;p3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53" name="Google Shape;853;p39"/>
          <p:cNvSpPr/>
          <p:nvPr/>
        </p:nvSpPr>
        <p:spPr>
          <a:xfrm>
            <a:off x="417723" y="2970697"/>
            <a:ext cx="2518913" cy="1587260"/>
          </a:xfrm>
          <a:prstGeom prst="verticalScroll">
            <a:avLst>
              <a:gd fmla="val 125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DE SOSTENIBILIDAD</a:t>
            </a:r>
            <a:endParaRPr/>
          </a:p>
        </p:txBody>
      </p:sp>
      <p:pic>
        <p:nvPicPr>
          <p:cNvPr id="854" name="Google Shape;8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9543" y="2428934"/>
            <a:ext cx="1390165" cy="1242821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39"/>
          <p:cNvSpPr/>
          <p:nvPr/>
        </p:nvSpPr>
        <p:spPr>
          <a:xfrm>
            <a:off x="2889659" y="3461659"/>
            <a:ext cx="1906626" cy="6500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9"/>
          <p:cNvSpPr txBox="1"/>
          <p:nvPr/>
        </p:nvSpPr>
        <p:spPr>
          <a:xfrm>
            <a:off x="2784802" y="3986176"/>
            <a:ext cx="18596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</a:t>
            </a:r>
            <a:endParaRPr/>
          </a:p>
        </p:txBody>
      </p:sp>
      <p:sp>
        <p:nvSpPr>
          <p:cNvPr id="857" name="Google Shape;857;p39"/>
          <p:cNvSpPr/>
          <p:nvPr/>
        </p:nvSpPr>
        <p:spPr>
          <a:xfrm>
            <a:off x="5106832" y="2260121"/>
            <a:ext cx="2122098" cy="56934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B05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LOGROS</a:t>
            </a:r>
            <a:endParaRPr/>
          </a:p>
        </p:txBody>
      </p:sp>
      <p:sp>
        <p:nvSpPr>
          <p:cNvPr id="858" name="Google Shape;858;p39"/>
          <p:cNvSpPr/>
          <p:nvPr/>
        </p:nvSpPr>
        <p:spPr>
          <a:xfrm>
            <a:off x="5106832" y="4743932"/>
            <a:ext cx="2122098" cy="56934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DESVIACIONES</a:t>
            </a:r>
            <a:endParaRPr/>
          </a:p>
        </p:txBody>
      </p:sp>
      <p:sp>
        <p:nvSpPr>
          <p:cNvPr id="859" name="Google Shape;859;p39"/>
          <p:cNvSpPr/>
          <p:nvPr/>
        </p:nvSpPr>
        <p:spPr>
          <a:xfrm>
            <a:off x="7443901" y="3462431"/>
            <a:ext cx="1906626" cy="6500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9"/>
          <p:cNvSpPr/>
          <p:nvPr/>
        </p:nvSpPr>
        <p:spPr>
          <a:xfrm>
            <a:off x="9557563" y="2260120"/>
            <a:ext cx="2122098" cy="56934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CORRECCIONES</a:t>
            </a:r>
            <a:endParaRPr/>
          </a:p>
        </p:txBody>
      </p:sp>
      <p:sp>
        <p:nvSpPr>
          <p:cNvPr id="861" name="Google Shape;861;p39"/>
          <p:cNvSpPr/>
          <p:nvPr/>
        </p:nvSpPr>
        <p:spPr>
          <a:xfrm>
            <a:off x="9557563" y="4749151"/>
            <a:ext cx="2122098" cy="56934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B05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MEJORAS</a:t>
            </a:r>
            <a:endParaRPr/>
          </a:p>
        </p:txBody>
      </p:sp>
      <p:sp>
        <p:nvSpPr>
          <p:cNvPr id="862" name="Google Shape;862;p39"/>
          <p:cNvSpPr txBox="1"/>
          <p:nvPr/>
        </p:nvSpPr>
        <p:spPr>
          <a:xfrm>
            <a:off x="7399701" y="3986176"/>
            <a:ext cx="18596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</a:t>
            </a:r>
            <a:endParaRPr/>
          </a:p>
        </p:txBody>
      </p:sp>
      <p:pic>
        <p:nvPicPr>
          <p:cNvPr id="863" name="Google Shape;86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212" y="2354866"/>
            <a:ext cx="1143117" cy="12405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4" name="Google Shape;864;p39"/>
          <p:cNvCxnSpPr>
            <a:stCxn id="855" idx="3"/>
            <a:endCxn id="857" idx="2"/>
          </p:cNvCxnSpPr>
          <p:nvPr/>
        </p:nvCxnSpPr>
        <p:spPr>
          <a:xfrm flipH="1" rot="10800000">
            <a:off x="4796285" y="2544698"/>
            <a:ext cx="310500" cy="12420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39"/>
          <p:cNvCxnSpPr>
            <a:stCxn id="855" idx="3"/>
            <a:endCxn id="858" idx="2"/>
          </p:cNvCxnSpPr>
          <p:nvPr/>
        </p:nvCxnSpPr>
        <p:spPr>
          <a:xfrm>
            <a:off x="4796285" y="3786698"/>
            <a:ext cx="310500" cy="12420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39"/>
          <p:cNvCxnSpPr>
            <a:stCxn id="859" idx="3"/>
            <a:endCxn id="860" idx="2"/>
          </p:cNvCxnSpPr>
          <p:nvPr/>
        </p:nvCxnSpPr>
        <p:spPr>
          <a:xfrm flipH="1" rot="10800000">
            <a:off x="9350527" y="2544870"/>
            <a:ext cx="207000" cy="12426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7" name="Google Shape;867;p39"/>
          <p:cNvCxnSpPr>
            <a:stCxn id="859" idx="3"/>
            <a:endCxn id="861" idx="2"/>
          </p:cNvCxnSpPr>
          <p:nvPr/>
        </p:nvCxnSpPr>
        <p:spPr>
          <a:xfrm>
            <a:off x="9350527" y="3787470"/>
            <a:ext cx="207000" cy="12465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INDICADORES DE DESEMPEÑO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73" name="Google Shape;873;p40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4" name="Google Shape;874;p4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75" name="Google Shape;875;p40"/>
          <p:cNvSpPr/>
          <p:nvPr/>
        </p:nvSpPr>
        <p:spPr>
          <a:xfrm>
            <a:off x="1449236" y="3184931"/>
            <a:ext cx="2553419" cy="879894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FFC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INDICADORES DE DESEMPEÑO</a:t>
            </a:r>
            <a:endParaRPr/>
          </a:p>
        </p:txBody>
      </p:sp>
      <p:sp>
        <p:nvSpPr>
          <p:cNvPr id="876" name="Google Shape;876;p40"/>
          <p:cNvSpPr txBox="1"/>
          <p:nvPr/>
        </p:nvSpPr>
        <p:spPr>
          <a:xfrm>
            <a:off x="1018385" y="4692977"/>
            <a:ext cx="3433313" cy="1631216"/>
          </a:xfrm>
          <a:prstGeom prst="rect">
            <a:avLst/>
          </a:prstGeom>
          <a:noFill/>
          <a:ln cap="flat" cmpd="sng" w="508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También denominados KPI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Performance Indicator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Son métricas que permitan conocer el grado de consecución de un objetivo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7" name="Google Shape;877;p40"/>
          <p:cNvCxnSpPr>
            <a:stCxn id="875" idx="1"/>
            <a:endCxn id="876" idx="0"/>
          </p:cNvCxnSpPr>
          <p:nvPr/>
        </p:nvCxnSpPr>
        <p:spPr>
          <a:xfrm>
            <a:off x="2725946" y="4064825"/>
            <a:ext cx="9000" cy="6282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8" name="Google Shape;878;p40"/>
          <p:cNvSpPr/>
          <p:nvPr/>
        </p:nvSpPr>
        <p:spPr>
          <a:xfrm>
            <a:off x="4451698" y="2210146"/>
            <a:ext cx="500332" cy="2829464"/>
          </a:xfrm>
          <a:prstGeom prst="leftBrace">
            <a:avLst>
              <a:gd fmla="val 42816" name="adj1"/>
              <a:gd fmla="val 50000" name="adj2"/>
            </a:avLst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0"/>
          <p:cNvSpPr txBox="1"/>
          <p:nvPr/>
        </p:nvSpPr>
        <p:spPr>
          <a:xfrm>
            <a:off x="5111573" y="2409160"/>
            <a:ext cx="5934974" cy="2431435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 relacionados con los objetivos fijados en el Plan director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específicos de la magnitud que quieren medir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Deben compararse con una referencia determinada (se expresarían en %)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INDICADORES DE DESEMPEÑO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85" name="Google Shape;885;p41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6" name="Google Shape;886;p4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87" name="Google Shape;887;p41"/>
          <p:cNvSpPr/>
          <p:nvPr/>
        </p:nvSpPr>
        <p:spPr>
          <a:xfrm>
            <a:off x="838200" y="3293842"/>
            <a:ext cx="2432649" cy="948906"/>
          </a:xfrm>
          <a:prstGeom prst="roundRect">
            <a:avLst>
              <a:gd fmla="val 16667" name="adj"/>
            </a:avLst>
          </a:prstGeom>
          <a:solidFill>
            <a:srgbClr val="833C0B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KPI</a:t>
            </a:r>
            <a:endParaRPr/>
          </a:p>
        </p:txBody>
      </p:sp>
      <p:sp>
        <p:nvSpPr>
          <p:cNvPr id="888" name="Google Shape;888;p41"/>
          <p:cNvSpPr/>
          <p:nvPr/>
        </p:nvSpPr>
        <p:spPr>
          <a:xfrm>
            <a:off x="4356736" y="1937060"/>
            <a:ext cx="1691817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Estratégicos </a:t>
            </a:r>
            <a:endParaRPr/>
          </a:p>
        </p:txBody>
      </p:sp>
      <p:sp>
        <p:nvSpPr>
          <p:cNvPr id="889" name="Google Shape;889;p41"/>
          <p:cNvSpPr/>
          <p:nvPr/>
        </p:nvSpPr>
        <p:spPr>
          <a:xfrm>
            <a:off x="4356736" y="3504191"/>
            <a:ext cx="1691817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Tácticos </a:t>
            </a:r>
            <a:endParaRPr/>
          </a:p>
        </p:txBody>
      </p:sp>
      <p:sp>
        <p:nvSpPr>
          <p:cNvPr id="890" name="Google Shape;890;p41"/>
          <p:cNvSpPr/>
          <p:nvPr/>
        </p:nvSpPr>
        <p:spPr>
          <a:xfrm>
            <a:off x="4356736" y="5105828"/>
            <a:ext cx="1691817" cy="53138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Operativos </a:t>
            </a:r>
            <a:endParaRPr/>
          </a:p>
        </p:txBody>
      </p:sp>
      <p:sp>
        <p:nvSpPr>
          <p:cNvPr id="891" name="Google Shape;891;p41"/>
          <p:cNvSpPr txBox="1"/>
          <p:nvPr/>
        </p:nvSpPr>
        <p:spPr>
          <a:xfrm>
            <a:off x="7010121" y="1741088"/>
            <a:ext cx="4244196" cy="923330"/>
          </a:xfrm>
          <a:prstGeom prst="rect">
            <a:avLst/>
          </a:prstGeom>
          <a:noFill/>
          <a:ln cap="flat" cmpd="sng" w="50800">
            <a:solidFill>
              <a:srgbClr val="833C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Evalúan si se está cumpliendo con la misión y la visión del Plan Director y deben ser definidos por el gobierno corporativo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1"/>
          <p:cNvSpPr txBox="1"/>
          <p:nvPr/>
        </p:nvSpPr>
        <p:spPr>
          <a:xfrm>
            <a:off x="7010121" y="3308219"/>
            <a:ext cx="4244196" cy="923330"/>
          </a:xfrm>
          <a:prstGeom prst="rect">
            <a:avLst/>
          </a:prstGeom>
          <a:noFill/>
          <a:ln cap="flat" cmpd="sng" w="50800">
            <a:solidFill>
              <a:srgbClr val="833C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relacionan con los procesos y deben medir si están cumpliendo con sus objetivos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1"/>
          <p:cNvSpPr txBox="1"/>
          <p:nvPr/>
        </p:nvSpPr>
        <p:spPr>
          <a:xfrm>
            <a:off x="4356736" y="2638772"/>
            <a:ext cx="1691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Largo Plazo</a:t>
            </a:r>
            <a:endParaRPr/>
          </a:p>
        </p:txBody>
      </p:sp>
      <p:sp>
        <p:nvSpPr>
          <p:cNvPr id="894" name="Google Shape;894;p41"/>
          <p:cNvSpPr txBox="1"/>
          <p:nvPr/>
        </p:nvSpPr>
        <p:spPr>
          <a:xfrm>
            <a:off x="4356735" y="4242748"/>
            <a:ext cx="1691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Medio Plazo</a:t>
            </a:r>
            <a:endParaRPr/>
          </a:p>
        </p:txBody>
      </p:sp>
      <p:sp>
        <p:nvSpPr>
          <p:cNvPr id="895" name="Google Shape;895;p41"/>
          <p:cNvSpPr txBox="1"/>
          <p:nvPr/>
        </p:nvSpPr>
        <p:spPr>
          <a:xfrm>
            <a:off x="4356734" y="5801164"/>
            <a:ext cx="1691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Corto Plazo</a:t>
            </a:r>
            <a:endParaRPr/>
          </a:p>
        </p:txBody>
      </p:sp>
      <p:sp>
        <p:nvSpPr>
          <p:cNvPr id="896" name="Google Shape;896;p41"/>
          <p:cNvSpPr txBox="1"/>
          <p:nvPr/>
        </p:nvSpPr>
        <p:spPr>
          <a:xfrm>
            <a:off x="7010121" y="4909856"/>
            <a:ext cx="4244196" cy="923330"/>
          </a:xfrm>
          <a:prstGeom prst="rect">
            <a:avLst/>
          </a:prstGeom>
          <a:noFill/>
          <a:ln cap="flat" cmpd="sng" w="50800">
            <a:solidFill>
              <a:srgbClr val="833C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Orientan en las decisiones a nivel de operación o tareas concretas. Constituyen el último nivel y son más numerosos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7" name="Google Shape;897;p41"/>
          <p:cNvCxnSpPr>
            <a:stCxn id="887" idx="3"/>
            <a:endCxn id="888" idx="2"/>
          </p:cNvCxnSpPr>
          <p:nvPr/>
        </p:nvCxnSpPr>
        <p:spPr>
          <a:xfrm flipH="1" rot="10800000">
            <a:off x="3270849" y="2202895"/>
            <a:ext cx="1086000" cy="1565400"/>
          </a:xfrm>
          <a:prstGeom prst="straightConnector1">
            <a:avLst/>
          </a:prstGeom>
          <a:noFill/>
          <a:ln cap="flat" cmpd="sng" w="50800">
            <a:solidFill>
              <a:srgbClr val="BF9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898" name="Google Shape;898;p41"/>
          <p:cNvCxnSpPr>
            <a:stCxn id="887" idx="3"/>
            <a:endCxn id="889" idx="2"/>
          </p:cNvCxnSpPr>
          <p:nvPr/>
        </p:nvCxnSpPr>
        <p:spPr>
          <a:xfrm>
            <a:off x="3270849" y="3768295"/>
            <a:ext cx="1086000" cy="1500"/>
          </a:xfrm>
          <a:prstGeom prst="straightConnector1">
            <a:avLst/>
          </a:prstGeom>
          <a:noFill/>
          <a:ln cap="flat" cmpd="sng" w="50800">
            <a:solidFill>
              <a:srgbClr val="BF9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899" name="Google Shape;899;p41"/>
          <p:cNvCxnSpPr>
            <a:stCxn id="887" idx="3"/>
            <a:endCxn id="890" idx="2"/>
          </p:cNvCxnSpPr>
          <p:nvPr/>
        </p:nvCxnSpPr>
        <p:spPr>
          <a:xfrm>
            <a:off x="3270849" y="3768295"/>
            <a:ext cx="1086000" cy="1603200"/>
          </a:xfrm>
          <a:prstGeom prst="straightConnector1">
            <a:avLst/>
          </a:prstGeom>
          <a:noFill/>
          <a:ln cap="flat" cmpd="sng" w="50800">
            <a:solidFill>
              <a:srgbClr val="BF9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900" name="Google Shape;900;p41"/>
          <p:cNvCxnSpPr>
            <a:stCxn id="888" idx="0"/>
            <a:endCxn id="891" idx="1"/>
          </p:cNvCxnSpPr>
          <p:nvPr/>
        </p:nvCxnSpPr>
        <p:spPr>
          <a:xfrm>
            <a:off x="6048553" y="2202754"/>
            <a:ext cx="961500" cy="0"/>
          </a:xfrm>
          <a:prstGeom prst="straightConnector1">
            <a:avLst/>
          </a:prstGeom>
          <a:noFill/>
          <a:ln cap="flat" cmpd="sng" w="50800">
            <a:solidFill>
              <a:srgbClr val="BF9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901" name="Google Shape;901;p41"/>
          <p:cNvCxnSpPr/>
          <p:nvPr/>
        </p:nvCxnSpPr>
        <p:spPr>
          <a:xfrm flipH="1" rot="10800000">
            <a:off x="6048553" y="3752170"/>
            <a:ext cx="961568" cy="1"/>
          </a:xfrm>
          <a:prstGeom prst="straightConnector1">
            <a:avLst/>
          </a:prstGeom>
          <a:noFill/>
          <a:ln cap="flat" cmpd="sng" w="50800">
            <a:solidFill>
              <a:srgbClr val="BF9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902" name="Google Shape;902;p41"/>
          <p:cNvCxnSpPr/>
          <p:nvPr/>
        </p:nvCxnSpPr>
        <p:spPr>
          <a:xfrm flipH="1" rot="10800000">
            <a:off x="6048551" y="5371105"/>
            <a:ext cx="961568" cy="1"/>
          </a:xfrm>
          <a:prstGeom prst="straightConnector1">
            <a:avLst/>
          </a:prstGeom>
          <a:noFill/>
          <a:ln cap="flat" cmpd="sng" w="50800">
            <a:solidFill>
              <a:srgbClr val="BF9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903" name="Google Shape;903;p41"/>
          <p:cNvSpPr txBox="1"/>
          <p:nvPr/>
        </p:nvSpPr>
        <p:spPr>
          <a:xfrm>
            <a:off x="456125" y="4763083"/>
            <a:ext cx="2976064" cy="1631216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número de indicadores empleados dependerá del nivel de ambición de la empresa. A más ambición, más indicadores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EVALUACIÓN DEL DESEMPEÑO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09" name="Google Shape;909;p42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0" name="Google Shape;910;p4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cxnSp>
        <p:nvCxnSpPr>
          <p:cNvPr id="911" name="Google Shape;911;p42"/>
          <p:cNvCxnSpPr>
            <a:stCxn id="912" idx="0"/>
            <a:endCxn id="913" idx="1"/>
          </p:cNvCxnSpPr>
          <p:nvPr/>
        </p:nvCxnSpPr>
        <p:spPr>
          <a:xfrm>
            <a:off x="3790950" y="3611186"/>
            <a:ext cx="1172100" cy="904500"/>
          </a:xfrm>
          <a:prstGeom prst="straightConnector1">
            <a:avLst/>
          </a:prstGeom>
          <a:noFill/>
          <a:ln cap="flat" cmpd="sng" w="635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912" name="Google Shape;912;p42"/>
          <p:cNvSpPr/>
          <p:nvPr/>
        </p:nvSpPr>
        <p:spPr>
          <a:xfrm>
            <a:off x="1143000" y="3119651"/>
            <a:ext cx="2647950" cy="983069"/>
          </a:xfrm>
          <a:prstGeom prst="round2DiagRect">
            <a:avLst>
              <a:gd fmla="val 37983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DEL DESEMPEÑO</a:t>
            </a:r>
            <a:endParaRPr/>
          </a:p>
        </p:txBody>
      </p:sp>
      <p:sp>
        <p:nvSpPr>
          <p:cNvPr id="913" name="Google Shape;913;p42"/>
          <p:cNvSpPr/>
          <p:nvPr/>
        </p:nvSpPr>
        <p:spPr>
          <a:xfrm>
            <a:off x="4963172" y="4213119"/>
            <a:ext cx="1994908" cy="605179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Progreso </a:t>
            </a:r>
            <a:endParaRPr/>
          </a:p>
        </p:txBody>
      </p:sp>
      <p:sp>
        <p:nvSpPr>
          <p:cNvPr id="914" name="Google Shape;914;p42"/>
          <p:cNvSpPr/>
          <p:nvPr/>
        </p:nvSpPr>
        <p:spPr>
          <a:xfrm>
            <a:off x="4963172" y="2404073"/>
            <a:ext cx="1994908" cy="605179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Desviaciones</a:t>
            </a:r>
            <a:endParaRPr/>
          </a:p>
        </p:txBody>
      </p:sp>
      <p:cxnSp>
        <p:nvCxnSpPr>
          <p:cNvPr id="915" name="Google Shape;915;p42"/>
          <p:cNvCxnSpPr>
            <a:stCxn id="912" idx="0"/>
            <a:endCxn id="914" idx="1"/>
          </p:cNvCxnSpPr>
          <p:nvPr/>
        </p:nvCxnSpPr>
        <p:spPr>
          <a:xfrm flipH="1" rot="10800000">
            <a:off x="3790950" y="2706686"/>
            <a:ext cx="1172100" cy="904500"/>
          </a:xfrm>
          <a:prstGeom prst="straightConnector1">
            <a:avLst/>
          </a:prstGeom>
          <a:noFill/>
          <a:ln cap="flat" cmpd="sng" w="635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916" name="Google Shape;916;p42"/>
          <p:cNvSpPr txBox="1"/>
          <p:nvPr/>
        </p:nvSpPr>
        <p:spPr>
          <a:xfrm>
            <a:off x="8754399" y="2482523"/>
            <a:ext cx="19949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CAUSAS</a:t>
            </a:r>
            <a:endParaRPr/>
          </a:p>
        </p:txBody>
      </p:sp>
      <p:sp>
        <p:nvSpPr>
          <p:cNvPr id="917" name="Google Shape;917;p42"/>
          <p:cNvSpPr txBox="1"/>
          <p:nvPr/>
        </p:nvSpPr>
        <p:spPr>
          <a:xfrm>
            <a:off x="8130302" y="3066402"/>
            <a:ext cx="3243103" cy="2554545"/>
          </a:xfrm>
          <a:prstGeom prst="rect">
            <a:avLst/>
          </a:prstGeom>
          <a:noFill/>
          <a:ln cap="flat" cmpd="sng" w="635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actividades no han producido los efectos esperados.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recursos desplegados no han sido.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han producido cambios en el contexto, ajenos a la empresa.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8" name="Google Shape;918;p42"/>
          <p:cNvCxnSpPr>
            <a:stCxn id="914" idx="3"/>
            <a:endCxn id="916" idx="1"/>
          </p:cNvCxnSpPr>
          <p:nvPr/>
        </p:nvCxnSpPr>
        <p:spPr>
          <a:xfrm flipH="1" rot="10800000">
            <a:off x="6958080" y="2682663"/>
            <a:ext cx="1796400" cy="24000"/>
          </a:xfrm>
          <a:prstGeom prst="straightConnector1">
            <a:avLst/>
          </a:prstGeom>
          <a:noFill/>
          <a:ln cap="flat" cmpd="sng" w="635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EVALUACIÓN DEL DESEMPEÑO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24" name="Google Shape;924;p43"/>
          <p:cNvCxnSpPr/>
          <p:nvPr/>
        </p:nvCxnSpPr>
        <p:spPr>
          <a:xfrm>
            <a:off x="638822" y="11374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5" name="Google Shape;925;p4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926" name="Google Shape;9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9090" y="5241435"/>
            <a:ext cx="1176416" cy="103443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43"/>
          <p:cNvSpPr/>
          <p:nvPr/>
        </p:nvSpPr>
        <p:spPr>
          <a:xfrm>
            <a:off x="1943100" y="4041694"/>
            <a:ext cx="2647950" cy="983069"/>
          </a:xfrm>
          <a:prstGeom prst="round2DiagRect">
            <a:avLst>
              <a:gd fmla="val 37983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INFORMACIÓN RECABADA</a:t>
            </a:r>
            <a:endParaRPr/>
          </a:p>
        </p:txBody>
      </p:sp>
      <p:sp>
        <p:nvSpPr>
          <p:cNvPr id="928" name="Google Shape;928;p43"/>
          <p:cNvSpPr/>
          <p:nvPr/>
        </p:nvSpPr>
        <p:spPr>
          <a:xfrm>
            <a:off x="5503323" y="4041694"/>
            <a:ext cx="2647950" cy="983069"/>
          </a:xfrm>
          <a:prstGeom prst="round2DiagRect">
            <a:avLst>
              <a:gd fmla="val 37983" name="adj1"/>
              <a:gd fmla="val 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POR LA ALTA DIRECCIÓN</a:t>
            </a:r>
            <a:endParaRPr/>
          </a:p>
        </p:txBody>
      </p:sp>
      <p:sp>
        <p:nvSpPr>
          <p:cNvPr id="929" name="Google Shape;929;p43"/>
          <p:cNvSpPr/>
          <p:nvPr/>
        </p:nvSpPr>
        <p:spPr>
          <a:xfrm>
            <a:off x="9063547" y="4041694"/>
            <a:ext cx="2647950" cy="983069"/>
          </a:xfrm>
          <a:prstGeom prst="round2DiagRect">
            <a:avLst>
              <a:gd fmla="val 37983" name="adj1"/>
              <a:gd fmla="val 0" name="adj2"/>
            </a:avLst>
          </a:prstGeom>
          <a:solidFill>
            <a:srgbClr val="8DA9D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 DE CONCLUSIONES</a:t>
            </a:r>
            <a:endParaRPr/>
          </a:p>
        </p:txBody>
      </p:sp>
      <p:sp>
        <p:nvSpPr>
          <p:cNvPr id="930" name="Google Shape;930;p43"/>
          <p:cNvSpPr/>
          <p:nvPr/>
        </p:nvSpPr>
        <p:spPr>
          <a:xfrm rot="10800000">
            <a:off x="867596" y="2598283"/>
            <a:ext cx="9643965" cy="1440763"/>
          </a:xfrm>
          <a:prstGeom prst="curvedUpArrow">
            <a:avLst>
              <a:gd fmla="val 25000" name="adj1"/>
              <a:gd fmla="val 65994" name="adj2"/>
              <a:gd fmla="val 39544" name="adj3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3"/>
          <p:cNvSpPr/>
          <p:nvPr/>
        </p:nvSpPr>
        <p:spPr>
          <a:xfrm>
            <a:off x="4781550" y="4342728"/>
            <a:ext cx="5334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3"/>
          <p:cNvSpPr/>
          <p:nvPr/>
        </p:nvSpPr>
        <p:spPr>
          <a:xfrm>
            <a:off x="8339646" y="4342728"/>
            <a:ext cx="5334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3"/>
          <p:cNvSpPr txBox="1"/>
          <p:nvPr/>
        </p:nvSpPr>
        <p:spPr>
          <a:xfrm>
            <a:off x="3981450" y="1517775"/>
            <a:ext cx="40005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REFORMULACIÓN DEL PLAN DE SOSTENIBILIDAD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42de7cfbb3_0_532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FIN DE LA UD5</a:t>
            </a:r>
            <a:endParaRPr/>
          </a:p>
        </p:txBody>
      </p:sp>
      <p:sp>
        <p:nvSpPr>
          <p:cNvPr id="940" name="Google Shape;940;g342de7cfbb3_0_532"/>
          <p:cNvSpPr txBox="1"/>
          <p:nvPr/>
        </p:nvSpPr>
        <p:spPr>
          <a:xfrm>
            <a:off x="0" y="6526975"/>
            <a:ext cx="1219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dk2"/>
                </a:solidFill>
              </a:rPr>
              <a:t>Materiales extraídos de SOSTENIBILIDAD APLICADA AL SISTEMA PRODUCTIVO de Asunción León Blasco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2024-04-15T10:19:16Z</dcterms:created>
  <dc:creator>Rosa Castillo</dc:creator>
</cp:coreProperties>
</file>