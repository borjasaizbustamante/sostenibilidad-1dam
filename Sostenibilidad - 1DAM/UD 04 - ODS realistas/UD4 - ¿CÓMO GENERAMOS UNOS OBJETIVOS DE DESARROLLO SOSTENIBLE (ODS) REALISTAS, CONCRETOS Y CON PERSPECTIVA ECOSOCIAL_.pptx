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hKT0qWuWGKknLi4EObWbD3J4mt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avenPro-bold.fntdata"/><Relationship Id="rId23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ba75dc6e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cba75dc6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ba75dc6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cba75dc6e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ba75dc6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cba75dc6e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6390" y="156705"/>
            <a:ext cx="2342520" cy="68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1"/>
          <p:cNvPicPr preferRelativeResize="0"/>
          <p:nvPr/>
        </p:nvPicPr>
        <p:blipFill rotWithShape="1">
          <a:blip r:embed="rId3">
            <a:alphaModFix/>
          </a:blip>
          <a:srcRect b="-16890" l="0" r="-2541" t="0"/>
          <a:stretch/>
        </p:blipFill>
        <p:spPr>
          <a:xfrm>
            <a:off x="6577520" y="203969"/>
            <a:ext cx="19240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1"/>
          <p:cNvSpPr txBox="1"/>
          <p:nvPr>
            <p:ph type="title"/>
          </p:nvPr>
        </p:nvSpPr>
        <p:spPr>
          <a:xfrm>
            <a:off x="1839150" y="1583850"/>
            <a:ext cx="54657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4" name="Google Shape;1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183" y="4552000"/>
            <a:ext cx="112138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1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None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6" name="Google Shape;16;p31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2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9" name="Google Shape;19;p32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" name="Google Shape;20;p32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32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" name="Google Shape;22;p32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3" name="Google Shape;23;p32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32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32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" name="Google Shape;26;p32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7" name="Google Shape;27;p32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2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32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32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" name="Google Shape;31;p32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32" name="Google Shape;32;p32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33" name="Google Shape;33;p32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2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" name="Google Shape;35;p32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36" name="Google Shape;36;p32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32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32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" name="Google Shape;39;p32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40" name="Google Shape;40;p32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2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32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2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" name="Google Shape;44;p32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45" name="Google Shape;45;p32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32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2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2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32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" name="Google Shape;50;p32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3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33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3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8" name="Google Shape;58;p33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SECTION_HEADER_1_1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34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1" name="Google Shape;61;p3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2" name="Google Shape;62;p3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3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" name="Google Shape;64;p3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5" name="Google Shape;65;p3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3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3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9" name="Google Shape;69;p3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3" name="Google Shape;73;p34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4" name="Google Shape;74;p3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5" name="Google Shape;75;p3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3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8" name="Google Shape;78;p3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3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2" name="Google Shape;82;p3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3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7" name="Google Shape;87;p3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2" name="Google Shape;92;p34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3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3">
  <p:cSld name="TITLE_AND_TWO_COLUMNS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35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5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5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SECTION_HEADER_1_2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36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03" name="Google Shape;103;p3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04" name="Google Shape;104;p3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3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" name="Google Shape;106;p3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07" name="Google Shape;107;p3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3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3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3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11" name="Google Shape;111;p3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3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3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3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" name="Google Shape;115;p36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116" name="Google Shape;116;p3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17" name="Google Shape;117;p3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3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3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20" name="Google Shape;120;p3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3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24" name="Google Shape;124;p3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3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" name="Google Shape;128;p3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29" name="Google Shape;129;p3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3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3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3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3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4" name="Google Shape;134;p36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36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2">
  <p:cSld name="TITLE_AND_TWO_COLUMNS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37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9" name="Google Shape;139;p37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7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7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SECTION_HEADER_1_1_1">
    <p:bg>
      <p:bgPr>
        <a:solidFill>
          <a:schemeClr val="accent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38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45" name="Google Shape;145;p38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46" name="Google Shape;146;p38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8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38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49" name="Google Shape;149;p38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8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8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38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53" name="Google Shape;153;p38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38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38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38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7" name="Google Shape;157;p38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158" name="Google Shape;158;p38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59" name="Google Shape;159;p38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38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38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62" name="Google Shape;162;p38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38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38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38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66" name="Google Shape;166;p38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8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38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38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38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71" name="Google Shape;171;p38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8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8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38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38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6" name="Google Shape;176;p38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38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">
  <p:cSld name="TITLE_AND_TWO_COLUMNS_1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0" name="Google Shape;180;p39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39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9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9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 1">
  <p:cSld name="SECTION_HEADER_1_1_1_1">
    <p:bg>
      <p:bgPr>
        <a:solidFill>
          <a:schemeClr val="accent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40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87" name="Google Shape;187;p4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88" name="Google Shape;188;p4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4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91" name="Google Shape;191;p4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4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4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95" name="Google Shape;195;p4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9" name="Google Shape;199;p40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200" name="Google Shape;200;p4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01" name="Google Shape;201;p4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4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04" name="Google Shape;204;p4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4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oogle Shape;207;p4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08" name="Google Shape;208;p4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4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13" name="Google Shape;213;p4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8" name="Google Shape;218;p40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40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 1">
  <p:cSld name="TITLE_AND_TWO_COLUMNS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2" name="Google Shape;222;p41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3" name="Google Shape;223;p41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1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488925" y="1464525"/>
            <a:ext cx="37020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42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2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4" name="Google Shape;234;p42"/>
          <p:cNvSpPr txBox="1"/>
          <p:nvPr>
            <p:ph idx="2" type="body"/>
          </p:nvPr>
        </p:nvSpPr>
        <p:spPr>
          <a:xfrm>
            <a:off x="4929525" y="1464525"/>
            <a:ext cx="37020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536550" y="1279950"/>
            <a:ext cx="3825900" cy="25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4781550" y="1197300"/>
            <a:ext cx="36648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43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3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41" name="Google Shape;24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350" y="18075"/>
            <a:ext cx="2103376" cy="5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3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  <a:defRPr b="1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○"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9" name="Google Shape;249;p1"/>
          <p:cNvSpPr txBox="1"/>
          <p:nvPr>
            <p:ph type="title"/>
          </p:nvPr>
        </p:nvSpPr>
        <p:spPr>
          <a:xfrm>
            <a:off x="1839150" y="1238979"/>
            <a:ext cx="54657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UD4: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¿Cómo generamos ODS realistas, concretos y con perspectiva ecosocial?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50" name="Google Shape;250;p1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Sostenibilidad aplicada al sistema productivo</a:t>
            </a:r>
            <a:endParaRPr/>
          </a:p>
        </p:txBody>
      </p:sp>
      <p:sp>
        <p:nvSpPr>
          <p:cNvPr id="251" name="Google Shape;251;p1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1º DESARROLLO  DE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APLICACIONES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57" name="Google Shape;257;p2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¿Qué son los ODS?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5"/>
          <p:cNvPicPr preferRelativeResize="0"/>
          <p:nvPr/>
        </p:nvPicPr>
        <p:blipFill rotWithShape="1">
          <a:blip r:embed="rId3">
            <a:alphaModFix/>
          </a:blip>
          <a:srcRect b="0" l="26576" r="26509" t="0"/>
          <a:stretch/>
        </p:blipFill>
        <p:spPr>
          <a:xfrm>
            <a:off x="5143500" y="1127211"/>
            <a:ext cx="3381000" cy="34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5"/>
          <p:cNvSpPr txBox="1"/>
          <p:nvPr>
            <p:ph idx="1" type="body"/>
          </p:nvPr>
        </p:nvSpPr>
        <p:spPr>
          <a:xfrm>
            <a:off x="500700" y="1464525"/>
            <a:ext cx="40713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Los Objetivos de Desarrollo Sostenible (ODS) fueron creados el 25 de septiembre del 2015 por la Asamblea General de las Naciones Unidas (ONU) para abordar los grandes retos globales</a:t>
            </a:r>
            <a:endParaRPr/>
          </a:p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</a:pPr>
            <a:r>
              <a:rPr lang="es"/>
              <a:t>Proporcionan metas e indicadores que ofrecen un marco común para planificar y medir avances.</a:t>
            </a:r>
            <a:endParaRPr/>
          </a:p>
        </p:txBody>
      </p:sp>
      <p:sp>
        <p:nvSpPr>
          <p:cNvPr id="264" name="Google Shape;264;p15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¿Qué son los ODS?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 Agenda 2030 organiza 17 ODS en metas e indicadores que facilitan planificar y evaluar la acción pública y privada.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Los ODS buscan integrar dimensiones sociales, ambientales y económicas para orientar decisiones coherentes y comparables a distintos niveles.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 utilidad práctica depende de adaptar las metas al contexto sectorial y territorial, evitando el uso meramente declarativo.</a:t>
            </a:r>
            <a:endParaRPr/>
          </a:p>
        </p:txBody>
      </p:sp>
      <p:sp>
        <p:nvSpPr>
          <p:cNvPr id="270" name="Google Shape;270;p1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Agenda 2030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Diferenciamos indicadores de </a:t>
            </a:r>
            <a:r>
              <a:rPr lang="es">
                <a:solidFill>
                  <a:schemeClr val="dk1"/>
                </a:solidFill>
              </a:rPr>
              <a:t>entrada </a:t>
            </a:r>
            <a:r>
              <a:rPr lang="es"/>
              <a:t>y </a:t>
            </a:r>
            <a:r>
              <a:rPr lang="es">
                <a:solidFill>
                  <a:schemeClr val="dk1"/>
                </a:solidFill>
              </a:rPr>
              <a:t>proceso </a:t>
            </a:r>
            <a:r>
              <a:rPr lang="es"/>
              <a:t>(recursos y ejecución) de indicadores de </a:t>
            </a:r>
            <a:r>
              <a:rPr lang="es">
                <a:solidFill>
                  <a:schemeClr val="dk1"/>
                </a:solidFill>
              </a:rPr>
              <a:t>resultado </a:t>
            </a:r>
            <a:r>
              <a:rPr lang="es"/>
              <a:t>e </a:t>
            </a:r>
            <a:r>
              <a:rPr lang="es">
                <a:solidFill>
                  <a:schemeClr val="dk1"/>
                </a:solidFill>
              </a:rPr>
              <a:t>impacto </a:t>
            </a:r>
            <a:r>
              <a:rPr lang="es"/>
              <a:t>(cambios logrados en la realidad).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Sin una línea base y series temporales es difícil juzgar avances o retrocesos con rigor.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Las fuentes de datos deben definirse desde el inicio, combinando registros internos, estadísticas oficiales y datos comunitarios cuando proceda.</a:t>
            </a:r>
            <a:endParaRPr/>
          </a:p>
        </p:txBody>
      </p:sp>
      <p:sp>
        <p:nvSpPr>
          <p:cNvPr id="276" name="Google Shape;276;p16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Indicadores: tipos, datos y línea base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 amplitud de la Agenda puede diluir prioridades si no se jerarquiza por materialidad (impacto e importancia para grupos de interés).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Una mirada crítica detecta metas poco pertinentes o incompatibles con límites biofísicos y las reorienta hacia lo sustantivo.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 concreción local y la coherencia evitan que ‘todo sea sostenible’ sin cambios reales.</a:t>
            </a:r>
            <a:endParaRPr/>
          </a:p>
        </p:txBody>
      </p:sp>
      <p:sp>
        <p:nvSpPr>
          <p:cNvPr id="282" name="Google Shape;282;p18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Mirada crítica y materialidad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Priorizar por materialidad concentra esfuerzos donde más importan.</a:t>
            </a:r>
            <a:endParaRPr/>
          </a:p>
          <a:p>
            <a:pPr indent="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Concreción local y coherencia con límites ecológicos evitan metas decorativas.</a:t>
            </a:r>
            <a:endParaRPr/>
          </a:p>
        </p:txBody>
      </p:sp>
      <p:sp>
        <p:nvSpPr>
          <p:cNvPr id="288" name="Google Shape;288;p19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Mirada crítica y materialidad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ba75dc6e6_0_1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4" name="Google Shape;294;g3cba75dc6e6_0_1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Estándares y reporting (RSC/ASG)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¿Recordamos los conceptos RSC y ASG?</a:t>
            </a:r>
            <a:endParaRPr/>
          </a:p>
        </p:txBody>
      </p:sp>
      <p:pic>
        <p:nvPicPr>
          <p:cNvPr id="300" name="Google Shape;3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525" y="1370575"/>
            <a:ext cx="5522947" cy="337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ba75dc6e6_0_11"/>
          <p:cNvSpPr txBox="1"/>
          <p:nvPr>
            <p:ph idx="1" type="body"/>
          </p:nvPr>
        </p:nvSpPr>
        <p:spPr>
          <a:xfrm>
            <a:off x="500700" y="1464525"/>
            <a:ext cx="8142600" cy="3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lang="es"/>
              <a:t>La Responsabilidad Social Corporativa (RSC) y los criterios ASG (Ambientales, Sociales y de Gobernanza) son enfoques complementarios para la sostenibilidad empresarial.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RSC (Responsabilidad Social Corporativa)</a:t>
            </a:r>
            <a:r>
              <a:rPr lang="es"/>
              <a:t>: Se centra en la gestión ética y voluntaria del impacto de la empresa en sus grupos de interés (empleados, comunidad, entorno). Es un concepto de gestión empresarial integral.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ASG (Ambientales, Sociales y de Gobernanza)</a:t>
            </a:r>
            <a:r>
              <a:rPr lang="es"/>
              <a:t>: Son los criterios específicos que cuantifican la sostenibilidad para inversores:</a:t>
            </a:r>
            <a:endParaRPr/>
          </a:p>
          <a:p>
            <a:pPr indent="-309562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5383"/>
              <a:buChar char="○"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lang="es"/>
              <a:t>mbiental: Huella de carbono, residuos, eficiencia energética.</a:t>
            </a:r>
            <a:endParaRPr/>
          </a:p>
          <a:p>
            <a:pPr indent="-309562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5383"/>
              <a:buChar char="○"/>
            </a:pPr>
            <a:r>
              <a:rPr lang="es">
                <a:solidFill>
                  <a:schemeClr val="dk1"/>
                </a:solidFill>
              </a:rPr>
              <a:t>S</a:t>
            </a:r>
            <a:r>
              <a:rPr lang="es"/>
              <a:t>ocial: Derechos laborales, seguridad, diversidad, relación con la comunidad.</a:t>
            </a:r>
            <a:endParaRPr/>
          </a:p>
          <a:p>
            <a:pPr indent="-309562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5383"/>
              <a:buChar char="○"/>
            </a:pPr>
            <a:r>
              <a:rPr lang="es">
                <a:solidFill>
                  <a:schemeClr val="dk1"/>
                </a:solidFill>
              </a:rPr>
              <a:t>G</a:t>
            </a:r>
            <a:r>
              <a:rPr lang="es"/>
              <a:t>obernanza: Ética, transparencia, estructura del consejo de administración.</a:t>
            </a:r>
            <a:endParaRPr/>
          </a:p>
        </p:txBody>
      </p:sp>
      <p:sp>
        <p:nvSpPr>
          <p:cNvPr id="306" name="Google Shape;306;g3cba75dc6e6_0_11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¿Recordamos los conceptos RSC y ASG?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ba75dc6e6_0_6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Los estándares de sostenibilidad y los marcos de reporte permiten comparar, aprender y mejorar de forma sistemática.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Su límite aparece cuando el informe sustituye a la transformación: indicadores sesgados o incompletos pueden crear una ilusión de avance.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 verificación independiente y la gobernanza robusta refuerzan credibilidad y aprendizaje.</a:t>
            </a:r>
            <a:endParaRPr/>
          </a:p>
        </p:txBody>
      </p:sp>
      <p:sp>
        <p:nvSpPr>
          <p:cNvPr id="312" name="Google Shape;312;g3cba75dc6e6_0_6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Estándares y reporting (RSC/ASG)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/>
          <p:nvPr>
            <p:ph idx="1" type="body"/>
          </p:nvPr>
        </p:nvSpPr>
        <p:spPr>
          <a:xfrm>
            <a:off x="500700" y="1464525"/>
            <a:ext cx="8142600" cy="2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Una meta </a:t>
            </a:r>
            <a:r>
              <a:rPr lang="es">
                <a:solidFill>
                  <a:schemeClr val="dk1"/>
                </a:solidFill>
              </a:rPr>
              <a:t>SMART </a:t>
            </a:r>
            <a:r>
              <a:rPr lang="es"/>
              <a:t>es específica, medible, alcanzable, relevante y temporal, lo que facilita el seguimiento y la evaluación.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El diseño debe asignar responsables, recursos y riesgos, con medidas de mitigación explícitas para evitar bloqueos.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Los indicadores asociados han de ser trazables a fuentes de datos fiables y verificables.</a:t>
            </a:r>
            <a:endParaRPr/>
          </a:p>
        </p:txBody>
      </p:sp>
      <p:sp>
        <p:nvSpPr>
          <p:cNvPr id="318" name="Google Shape;318;p22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Diseño de metas e indicadores SMART</a:t>
            </a:r>
            <a:endParaRPr/>
          </a:p>
        </p:txBody>
      </p:sp>
      <p:pic>
        <p:nvPicPr>
          <p:cNvPr id="319" name="Google Shape;3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1690" y="3309049"/>
            <a:ext cx="4260625" cy="18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Un tablero de control con periodicidad definida permite detectar desvíos y corregir el rumbo a tiempo.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 evaluación formativa convierte los datos en aprendizaje, ajustando acciones y recursos.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/>
              <a:t>La comunicación transparente con datos verificables fortalece la rendición de cuentas.</a:t>
            </a:r>
            <a:endParaRPr/>
          </a:p>
        </p:txBody>
      </p:sp>
      <p:sp>
        <p:nvSpPr>
          <p:cNvPr id="325" name="Google Shape;325;p2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Seguimiento, evaluación y aprendizaje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