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y="6858000" cx="12192000"/>
  <p:notesSz cx="6858000" cy="9144000"/>
  <p:embeddedFontLst>
    <p:embeddedFont>
      <p:font typeface="Nunito"/>
      <p:regular r:id="rId57"/>
      <p:bold r:id="rId58"/>
      <p:italic r:id="rId59"/>
      <p:boldItalic r:id="rId60"/>
    </p:embeddedFont>
    <p:embeddedFont>
      <p:font typeface="Inter"/>
      <p:regular r:id="rId61"/>
      <p:bold r:id="rId62"/>
      <p:italic r:id="rId63"/>
      <p:boldItalic r:id="rId64"/>
    </p:embeddedFont>
    <p:embeddedFont>
      <p:font typeface="Maven Pro"/>
      <p:regular r:id="rId65"/>
      <p:bold r:id="rId66"/>
    </p:embeddedFont>
    <p:embeddedFont>
      <p:font typeface="Open Sans"/>
      <p:bold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9" roundtripDataSignature="AMtx7mjfALY79QXrUCnlWOSAjps0tJL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Inter-bold.fntdata"/><Relationship Id="rId61" Type="http://schemas.openxmlformats.org/officeDocument/2006/relationships/font" Target="fonts/Inter-regular.fntdata"/><Relationship Id="rId20" Type="http://schemas.openxmlformats.org/officeDocument/2006/relationships/slide" Target="slides/slide16.xml"/><Relationship Id="rId64" Type="http://schemas.openxmlformats.org/officeDocument/2006/relationships/font" Target="fonts/Inter-boldItalic.fntdata"/><Relationship Id="rId63" Type="http://schemas.openxmlformats.org/officeDocument/2006/relationships/font" Target="fonts/Inter-italic.fntdata"/><Relationship Id="rId22" Type="http://schemas.openxmlformats.org/officeDocument/2006/relationships/slide" Target="slides/slide18.xml"/><Relationship Id="rId66" Type="http://schemas.openxmlformats.org/officeDocument/2006/relationships/font" Target="fonts/MavenPro-bold.fntdata"/><Relationship Id="rId21" Type="http://schemas.openxmlformats.org/officeDocument/2006/relationships/slide" Target="slides/slide17.xml"/><Relationship Id="rId65" Type="http://schemas.openxmlformats.org/officeDocument/2006/relationships/font" Target="fonts/MavenPro-regular.fntdata"/><Relationship Id="rId24" Type="http://schemas.openxmlformats.org/officeDocument/2006/relationships/slide" Target="slides/slide20.xml"/><Relationship Id="rId68" Type="http://schemas.openxmlformats.org/officeDocument/2006/relationships/font" Target="fonts/OpenSans-boldItalic.fntdata"/><Relationship Id="rId23" Type="http://schemas.openxmlformats.org/officeDocument/2006/relationships/slide" Target="slides/slide19.xml"/><Relationship Id="rId67" Type="http://schemas.openxmlformats.org/officeDocument/2006/relationships/font" Target="fonts/OpenSans-bold.fntdata"/><Relationship Id="rId60" Type="http://schemas.openxmlformats.org/officeDocument/2006/relationships/font" Target="fonts/Nunito-boldItalic.fntdata"/><Relationship Id="rId26" Type="http://schemas.openxmlformats.org/officeDocument/2006/relationships/slide" Target="slides/slide22.xml"/><Relationship Id="rId25" Type="http://schemas.openxmlformats.org/officeDocument/2006/relationships/slide" Target="slides/slide21.xml"/><Relationship Id="rId69"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Nunito-regular.fntdata"/><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Nunito-italic.fntdata"/><Relationship Id="rId14" Type="http://schemas.openxmlformats.org/officeDocument/2006/relationships/slide" Target="slides/slide10.xml"/><Relationship Id="rId58" Type="http://schemas.openxmlformats.org/officeDocument/2006/relationships/font" Target="fonts/Nunito-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4831896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4831896c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363" name="Google Shape;3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381" name="Google Shape;38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a:t>Para la explicación de cada ODS se cuentan con tres diapositivas con la siguiente estructura:</a:t>
            </a:r>
            <a:endParaRPr/>
          </a:p>
          <a:p>
            <a:pPr indent="-171450" lvl="0" marL="171450" rtl="0" algn="l">
              <a:spcBef>
                <a:spcPts val="0"/>
              </a:spcBef>
              <a:spcAft>
                <a:spcPts val="0"/>
              </a:spcAft>
              <a:buClr>
                <a:schemeClr val="dk1"/>
              </a:buClr>
              <a:buSzPts val="1200"/>
              <a:buFont typeface="Arial"/>
              <a:buChar char="•"/>
            </a:pPr>
            <a:r>
              <a:rPr lang="es-ES"/>
              <a:t>Diapositiva 1: Ofrece la meta u objetivo general de ese ODS en recuadro sombreado del mismo color que la ilustración del ODS. Debajo hay una noticia de algún organismo internacional reconocido que trata de captar la atención sobre la importancia de ese ODS o su grado de consecución actual. A la izquierda se ofrece un elemento gráfico de su evolución o estado actual, en el mundo o en nuestro país. Al fondo de la diapositiva hay un enlace a un vídeo explicativo de ese ODS.</a:t>
            </a:r>
            <a:endParaRPr/>
          </a:p>
          <a:p>
            <a:pPr indent="-171450" lvl="0" marL="171450" rtl="0" algn="l">
              <a:spcBef>
                <a:spcPts val="0"/>
              </a:spcBef>
              <a:spcAft>
                <a:spcPts val="0"/>
              </a:spcAft>
              <a:buClr>
                <a:schemeClr val="dk1"/>
              </a:buClr>
              <a:buSzPts val="1200"/>
              <a:buFont typeface="Arial"/>
              <a:buChar char="•"/>
            </a:pPr>
            <a:r>
              <a:rPr lang="es-ES"/>
              <a:t>Diapositiva 2: A la izquierda resume alguna de las metas más importantes de ese ODS y a la derecha muestra un ejemplo de una aplicación de éxito de una medida relacionada con ese ODS.</a:t>
            </a:r>
            <a:endParaRPr/>
          </a:p>
          <a:p>
            <a:pPr indent="0" lvl="0" marL="0" rtl="0" algn="l">
              <a:spcBef>
                <a:spcPts val="0"/>
              </a:spcBef>
              <a:spcAft>
                <a:spcPts val="0"/>
              </a:spcAft>
              <a:buClr>
                <a:schemeClr val="dk1"/>
              </a:buClr>
              <a:buSzPts val="1200"/>
              <a:buFont typeface="Arial"/>
              <a:buNone/>
            </a:pPr>
            <a:r>
              <a:rPr lang="es-ES"/>
              <a:t>Se puede acceder a todas las fuentes ya que los elementos tienen su vínculo.</a:t>
            </a:r>
            <a:endParaRPr/>
          </a:p>
        </p:txBody>
      </p:sp>
      <p:sp>
        <p:nvSpPr>
          <p:cNvPr id="402" name="Google Shape;4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9" name="Google Shape;90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 name="Google Shape;92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 name="Google Shape;94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958" name="Google Shape;958;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967" name="Google Shape;967;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985" name="Google Shape;98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3" name="Google Shape;99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994" name="Google Shape;99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012" name="Google Shape;1012;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0" name="Google Shape;102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021" name="Google Shape;102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044" name="Google Shape;104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44831896cd_0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44831896cd_0_5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g344831896cd_0_5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jp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jp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3" name="Shape 13"/>
        <p:cNvGrpSpPr/>
        <p:nvPr/>
      </p:nvGrpSpPr>
      <p:grpSpPr>
        <a:xfrm>
          <a:off x="0" y="0"/>
          <a:ext cx="0" cy="0"/>
          <a:chOff x="0" y="0"/>
          <a:chExt cx="0" cy="0"/>
        </a:xfrm>
      </p:grpSpPr>
      <p:sp>
        <p:nvSpPr>
          <p:cNvPr id="14" name="Google Shape;14;g344831896cd_0_258"/>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pic>
        <p:nvPicPr>
          <p:cNvPr id="15" name="Google Shape;15;g344831896cd_0_258"/>
          <p:cNvPicPr preferRelativeResize="0"/>
          <p:nvPr/>
        </p:nvPicPr>
        <p:blipFill rotWithShape="1">
          <a:blip r:embed="rId2">
            <a:alphaModFix/>
          </a:blip>
          <a:srcRect b="0" l="0" r="0" t="0"/>
          <a:stretch/>
        </p:blipFill>
        <p:spPr>
          <a:xfrm>
            <a:off x="541853" y="208940"/>
            <a:ext cx="3123360" cy="913440"/>
          </a:xfrm>
          <a:prstGeom prst="rect">
            <a:avLst/>
          </a:prstGeom>
          <a:noFill/>
          <a:ln>
            <a:noFill/>
          </a:ln>
        </p:spPr>
      </p:pic>
      <p:pic>
        <p:nvPicPr>
          <p:cNvPr id="16" name="Google Shape;16;g344831896cd_0_258"/>
          <p:cNvPicPr preferRelativeResize="0"/>
          <p:nvPr/>
        </p:nvPicPr>
        <p:blipFill rotWithShape="1">
          <a:blip r:embed="rId3">
            <a:alphaModFix/>
          </a:blip>
          <a:srcRect b="-16890" l="0" r="-2543" t="0"/>
          <a:stretch/>
        </p:blipFill>
        <p:spPr>
          <a:xfrm>
            <a:off x="8770027" y="271959"/>
            <a:ext cx="2565400" cy="787400"/>
          </a:xfrm>
          <a:prstGeom prst="rect">
            <a:avLst/>
          </a:prstGeom>
          <a:noFill/>
          <a:ln>
            <a:noFill/>
          </a:ln>
        </p:spPr>
      </p:pic>
      <p:sp>
        <p:nvSpPr>
          <p:cNvPr id="17" name="Google Shape;17;g344831896cd_0_258"/>
          <p:cNvSpPr txBox="1"/>
          <p:nvPr>
            <p:ph type="title"/>
          </p:nvPr>
        </p:nvSpPr>
        <p:spPr>
          <a:xfrm>
            <a:off x="2452200" y="2111800"/>
            <a:ext cx="7287600" cy="2634300"/>
          </a:xfrm>
          <a:prstGeom prst="rect">
            <a:avLst/>
          </a:prstGeom>
        </p:spPr>
        <p:txBody>
          <a:bodyPr anchorCtr="0" anchor="t" bIns="121900" lIns="121900" spcFirstLastPara="1" rIns="121900" wrap="square" tIns="121900">
            <a:normAutofit/>
          </a:bodyPr>
          <a:lstStyle>
            <a:lvl1pPr lvl="0" rtl="0" algn="ctr">
              <a:lnSpc>
                <a:spcPct val="115000"/>
              </a:lnSpc>
              <a:spcBef>
                <a:spcPts val="0"/>
              </a:spcBef>
              <a:spcAft>
                <a:spcPts val="0"/>
              </a:spcAft>
              <a:buClr>
                <a:schemeClr val="dk1"/>
              </a:buClr>
              <a:buSzPts val="4800"/>
              <a:buNone/>
              <a:defRPr sz="4800">
                <a:solidFill>
                  <a:schemeClr val="dk1"/>
                </a:solidFill>
              </a:defRPr>
            </a:lvl1pPr>
            <a:lvl2pPr lvl="1"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pic>
        <p:nvPicPr>
          <p:cNvPr id="18" name="Google Shape;18;g344831896cd_0_258"/>
          <p:cNvPicPr preferRelativeResize="0"/>
          <p:nvPr/>
        </p:nvPicPr>
        <p:blipFill>
          <a:blip r:embed="rId4">
            <a:alphaModFix/>
          </a:blip>
          <a:stretch>
            <a:fillRect/>
          </a:stretch>
        </p:blipFill>
        <p:spPr>
          <a:xfrm>
            <a:off x="9840244" y="6069333"/>
            <a:ext cx="1495185" cy="524800"/>
          </a:xfrm>
          <a:prstGeom prst="rect">
            <a:avLst/>
          </a:prstGeom>
          <a:noFill/>
          <a:ln>
            <a:noFill/>
          </a:ln>
        </p:spPr>
      </p:pic>
      <p:sp>
        <p:nvSpPr>
          <p:cNvPr id="19" name="Google Shape;19;g344831896cd_0_258"/>
          <p:cNvSpPr txBox="1"/>
          <p:nvPr>
            <p:ph idx="2" type="title"/>
          </p:nvPr>
        </p:nvSpPr>
        <p:spPr>
          <a:xfrm>
            <a:off x="2577067" y="5422900"/>
            <a:ext cx="7287600" cy="646500"/>
          </a:xfrm>
          <a:prstGeom prst="rect">
            <a:avLst/>
          </a:prstGeom>
        </p:spPr>
        <p:txBody>
          <a:bodyPr anchorCtr="0" anchor="t" bIns="121900" lIns="121900" spcFirstLastPara="1" rIns="121900" wrap="square" tIns="121900">
            <a:normAutofit/>
          </a:bodyPr>
          <a:lstStyle>
            <a:lvl1pPr lvl="0" rtl="0" algn="ctr">
              <a:lnSpc>
                <a:spcPct val="115000"/>
              </a:lnSpc>
              <a:spcBef>
                <a:spcPts val="0"/>
              </a:spcBef>
              <a:spcAft>
                <a:spcPts val="0"/>
              </a:spcAft>
              <a:buClr>
                <a:schemeClr val="dk2"/>
              </a:buClr>
              <a:buSzPts val="2000"/>
              <a:buFont typeface="Nunito"/>
              <a:buNone/>
              <a:defRPr sz="2000">
                <a:solidFill>
                  <a:schemeClr val="dk2"/>
                </a:solidFill>
                <a:latin typeface="Nunito"/>
                <a:ea typeface="Nunito"/>
                <a:cs typeface="Nunito"/>
                <a:sym typeface="Nunito"/>
              </a:defRPr>
            </a:lvl1pPr>
            <a:lvl2pPr lvl="1"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
        <p:nvSpPr>
          <p:cNvPr id="20" name="Google Shape;20;g344831896cd_0_258"/>
          <p:cNvSpPr txBox="1"/>
          <p:nvPr>
            <p:ph idx="3" type="title"/>
          </p:nvPr>
        </p:nvSpPr>
        <p:spPr>
          <a:xfrm rot="-5400000">
            <a:off x="-2090850" y="3484350"/>
            <a:ext cx="5464500" cy="1282800"/>
          </a:xfrm>
          <a:prstGeom prst="rect">
            <a:avLst/>
          </a:prstGeom>
        </p:spPr>
        <p:txBody>
          <a:bodyPr anchorCtr="0" anchor="t" bIns="121900" lIns="121900" spcFirstLastPara="1" rIns="121900" wrap="square" tIns="121900">
            <a:normAutofit/>
          </a:bodyPr>
          <a:lstStyle>
            <a:lvl1pPr lvl="0" rtl="0" algn="ctr">
              <a:lnSpc>
                <a:spcPct val="115000"/>
              </a:lnSpc>
              <a:spcBef>
                <a:spcPts val="0"/>
              </a:spcBef>
              <a:spcAft>
                <a:spcPts val="0"/>
              </a:spcAft>
              <a:buClr>
                <a:schemeClr val="dk1"/>
              </a:buClr>
              <a:buSzPts val="2000"/>
              <a:buNone/>
              <a:defRPr sz="2000">
                <a:solidFill>
                  <a:schemeClr val="dk1"/>
                </a:solidFill>
              </a:defRPr>
            </a:lvl1pPr>
            <a:lvl2pPr lvl="1"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rt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g344831896cd_0_266"/>
          <p:cNvGrpSpPr/>
          <p:nvPr/>
        </p:nvGrpSpPr>
        <p:grpSpPr>
          <a:xfrm>
            <a:off x="195687" y="4541"/>
            <a:ext cx="1644245" cy="1846001"/>
            <a:chOff x="146769" y="3406"/>
            <a:chExt cx="1233215" cy="1384535"/>
          </a:xfrm>
        </p:grpSpPr>
        <p:grpSp>
          <p:nvGrpSpPr>
            <p:cNvPr id="23" name="Google Shape;23;g344831896cd_0_266"/>
            <p:cNvGrpSpPr/>
            <p:nvPr/>
          </p:nvGrpSpPr>
          <p:grpSpPr>
            <a:xfrm>
              <a:off x="1063183" y="3406"/>
              <a:ext cx="316800" cy="688513"/>
              <a:chOff x="1063183" y="3406"/>
              <a:chExt cx="316800" cy="688513"/>
            </a:xfrm>
          </p:grpSpPr>
          <p:sp>
            <p:nvSpPr>
              <p:cNvPr id="24" name="Google Shape;24;g344831896cd_0_266"/>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344831896cd_0_266"/>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 name="Google Shape;26;g344831896cd_0_266"/>
            <p:cNvGrpSpPr/>
            <p:nvPr/>
          </p:nvGrpSpPr>
          <p:grpSpPr>
            <a:xfrm>
              <a:off x="604976" y="3406"/>
              <a:ext cx="316800" cy="1036524"/>
              <a:chOff x="604976" y="3406"/>
              <a:chExt cx="316800" cy="1036524"/>
            </a:xfrm>
          </p:grpSpPr>
          <p:sp>
            <p:nvSpPr>
              <p:cNvPr id="27" name="Google Shape;27;g344831896cd_0_266"/>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44831896cd_0_266"/>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344831896cd_0_266"/>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30" name="Google Shape;30;g344831896cd_0_266"/>
            <p:cNvGrpSpPr/>
            <p:nvPr/>
          </p:nvGrpSpPr>
          <p:grpSpPr>
            <a:xfrm>
              <a:off x="146769" y="3406"/>
              <a:ext cx="316800" cy="1384535"/>
              <a:chOff x="146769" y="3406"/>
              <a:chExt cx="316800" cy="1384535"/>
            </a:xfrm>
          </p:grpSpPr>
          <p:sp>
            <p:nvSpPr>
              <p:cNvPr id="31" name="Google Shape;31;g344831896cd_0_266"/>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44831896cd_0_266"/>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g344831896cd_0_266"/>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44831896cd_0_266"/>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35" name="Google Shape;35;g344831896cd_0_266"/>
          <p:cNvGrpSpPr/>
          <p:nvPr/>
        </p:nvGrpSpPr>
        <p:grpSpPr>
          <a:xfrm>
            <a:off x="9033219" y="3871914"/>
            <a:ext cx="2914791" cy="2985925"/>
            <a:chOff x="6775084" y="2904008"/>
            <a:chExt cx="2186148" cy="2239500"/>
          </a:xfrm>
        </p:grpSpPr>
        <p:grpSp>
          <p:nvGrpSpPr>
            <p:cNvPr id="36" name="Google Shape;36;g344831896cd_0_266"/>
            <p:cNvGrpSpPr/>
            <p:nvPr/>
          </p:nvGrpSpPr>
          <p:grpSpPr>
            <a:xfrm>
              <a:off x="6775084" y="4253708"/>
              <a:ext cx="409500" cy="889800"/>
              <a:chOff x="6775084" y="4253708"/>
              <a:chExt cx="409500" cy="889800"/>
            </a:xfrm>
          </p:grpSpPr>
          <p:sp>
            <p:nvSpPr>
              <p:cNvPr id="37" name="Google Shape;37;g344831896cd_0_266"/>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44831896cd_0_266"/>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39" name="Google Shape;39;g344831896cd_0_266"/>
            <p:cNvGrpSpPr/>
            <p:nvPr/>
          </p:nvGrpSpPr>
          <p:grpSpPr>
            <a:xfrm>
              <a:off x="7367299" y="3804008"/>
              <a:ext cx="409500" cy="1339500"/>
              <a:chOff x="7367299" y="3804008"/>
              <a:chExt cx="409500" cy="1339500"/>
            </a:xfrm>
          </p:grpSpPr>
          <p:sp>
            <p:nvSpPr>
              <p:cNvPr id="40" name="Google Shape;40;g344831896cd_0_266"/>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44831896cd_0_266"/>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44831896cd_0_266"/>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43" name="Google Shape;43;g344831896cd_0_266"/>
            <p:cNvGrpSpPr/>
            <p:nvPr/>
          </p:nvGrpSpPr>
          <p:grpSpPr>
            <a:xfrm>
              <a:off x="7959516" y="3354008"/>
              <a:ext cx="409500" cy="1789500"/>
              <a:chOff x="7959516" y="3354008"/>
              <a:chExt cx="409500" cy="1789500"/>
            </a:xfrm>
          </p:grpSpPr>
          <p:sp>
            <p:nvSpPr>
              <p:cNvPr id="44" name="Google Shape;44;g344831896cd_0_266"/>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g344831896cd_0_266"/>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g344831896cd_0_266"/>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 name="Google Shape;47;g344831896cd_0_266"/>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48" name="Google Shape;48;g344831896cd_0_266"/>
            <p:cNvGrpSpPr/>
            <p:nvPr/>
          </p:nvGrpSpPr>
          <p:grpSpPr>
            <a:xfrm>
              <a:off x="8551731" y="2904008"/>
              <a:ext cx="409500" cy="2239500"/>
              <a:chOff x="8551731" y="2904008"/>
              <a:chExt cx="409500" cy="2239500"/>
            </a:xfrm>
          </p:grpSpPr>
          <p:sp>
            <p:nvSpPr>
              <p:cNvPr id="49" name="Google Shape;49;g344831896cd_0_266"/>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g344831896cd_0_266"/>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g344831896cd_0_266"/>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g344831896cd_0_266"/>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g344831896cd_0_266"/>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54" name="Google Shape;54;g344831896cd_0_266"/>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5" name="Google Shape;55;g344831896cd_0_266"/>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344831896cd_0_301"/>
          <p:cNvSpPr txBox="1"/>
          <p:nvPr>
            <p:ph idx="1" type="body"/>
          </p:nvPr>
        </p:nvSpPr>
        <p:spPr>
          <a:xfrm>
            <a:off x="667600" y="1952700"/>
            <a:ext cx="10856700" cy="3665100"/>
          </a:xfrm>
          <a:prstGeom prst="rect">
            <a:avLst/>
          </a:prstGeom>
        </p:spPr>
        <p:txBody>
          <a:bodyPr anchorCtr="0" anchor="t" bIns="121900" lIns="121900" spcFirstLastPara="1" rIns="121900" wrap="square" tIns="121900">
            <a:normAutofit/>
          </a:bodyPr>
          <a:lstStyle>
            <a:lvl1pPr indent="-355600" lvl="0" marL="457200">
              <a:spcBef>
                <a:spcPts val="1300"/>
              </a:spcBef>
              <a:spcAft>
                <a:spcPts val="0"/>
              </a:spcAft>
              <a:buSzPts val="2000"/>
              <a:buChar char="●"/>
              <a:defRPr/>
            </a:lvl1pPr>
            <a:lvl2pPr indent="-336550" lvl="1" marL="914400">
              <a:spcBef>
                <a:spcPts val="1300"/>
              </a:spcBef>
              <a:spcAft>
                <a:spcPts val="0"/>
              </a:spcAft>
              <a:buSzPts val="1700"/>
              <a:buChar char="○"/>
              <a:defRPr/>
            </a:lvl2pPr>
            <a:lvl3pPr indent="-323850" lvl="2" marL="1371600">
              <a:spcBef>
                <a:spcPts val="1300"/>
              </a:spcBef>
              <a:spcAft>
                <a:spcPts val="0"/>
              </a:spcAft>
              <a:buSzPts val="1500"/>
              <a:buChar char="■"/>
              <a:defRPr/>
            </a:lvl3pPr>
            <a:lvl4pPr indent="-323850" lvl="3" marL="1828800">
              <a:spcBef>
                <a:spcPts val="1300"/>
              </a:spcBef>
              <a:spcAft>
                <a:spcPts val="0"/>
              </a:spcAft>
              <a:buSzPts val="1500"/>
              <a:buChar char="●"/>
              <a:defRPr/>
            </a:lvl4pPr>
            <a:lvl5pPr indent="-323850" lvl="4" marL="2286000">
              <a:spcBef>
                <a:spcPts val="130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8" name="Google Shape;58;g344831896cd_0_301"/>
          <p:cNvSpPr/>
          <p:nvPr/>
        </p:nvSpPr>
        <p:spPr>
          <a:xfrm>
            <a:off x="0" y="0"/>
            <a:ext cx="12192000" cy="782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59" name="Google Shape;59;g344831896cd_0_301"/>
          <p:cNvSpPr/>
          <p:nvPr/>
        </p:nvSpPr>
        <p:spPr>
          <a:xfrm>
            <a:off x="0" y="6333200"/>
            <a:ext cx="12192000" cy="5247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60" name="Google Shape;60;g344831896cd_0_301"/>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61" name="Google Shape;61;g344831896cd_0_301"/>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
        <p:nvSpPr>
          <p:cNvPr id="62" name="Google Shape;62;g344831896cd_0_301"/>
          <p:cNvSpPr txBox="1"/>
          <p:nvPr>
            <p:ph type="title"/>
          </p:nvPr>
        </p:nvSpPr>
        <p:spPr>
          <a:xfrm>
            <a:off x="6676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SzPts val="3700"/>
              <a:buFont typeface="Arial"/>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g344831896cd_0_308"/>
          <p:cNvSpPr txBox="1"/>
          <p:nvPr>
            <p:ph type="title"/>
          </p:nvPr>
        </p:nvSpPr>
        <p:spPr>
          <a:xfrm>
            <a:off x="6519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65" name="Google Shape;65;g344831896cd_0_308"/>
          <p:cNvSpPr txBox="1"/>
          <p:nvPr>
            <p:ph idx="1" type="body"/>
          </p:nvPr>
        </p:nvSpPr>
        <p:spPr>
          <a:xfrm>
            <a:off x="651900" y="1952700"/>
            <a:ext cx="49359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66" name="Google Shape;66;g344831896cd_0_308"/>
          <p:cNvSpPr/>
          <p:nvPr/>
        </p:nvSpPr>
        <p:spPr>
          <a:xfrm>
            <a:off x="0" y="0"/>
            <a:ext cx="12192000" cy="782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7" name="Google Shape;67;g344831896cd_0_308"/>
          <p:cNvSpPr/>
          <p:nvPr/>
        </p:nvSpPr>
        <p:spPr>
          <a:xfrm>
            <a:off x="0" y="6333200"/>
            <a:ext cx="12192000" cy="5247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68" name="Google Shape;68;g344831896cd_0_308"/>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69" name="Google Shape;69;g344831896cd_0_308"/>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
        <p:nvSpPr>
          <p:cNvPr id="70" name="Google Shape;70;g344831896cd_0_308"/>
          <p:cNvSpPr txBox="1"/>
          <p:nvPr>
            <p:ph idx="2" type="body"/>
          </p:nvPr>
        </p:nvSpPr>
        <p:spPr>
          <a:xfrm>
            <a:off x="6572700" y="1952700"/>
            <a:ext cx="49359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id="72" name="Google Shape;72;g344831896cd_0_316"/>
          <p:cNvSpPr txBox="1"/>
          <p:nvPr>
            <p:ph type="title"/>
          </p:nvPr>
        </p:nvSpPr>
        <p:spPr>
          <a:xfrm>
            <a:off x="715400" y="1706600"/>
            <a:ext cx="5101200" cy="3444900"/>
          </a:xfrm>
          <a:prstGeom prst="rect">
            <a:avLst/>
          </a:prstGeom>
        </p:spPr>
        <p:txBody>
          <a:bodyPr anchorCtr="0" anchor="t" bIns="121900" lIns="121900" spcFirstLastPara="1" rIns="121900" wrap="square" tIns="12190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73" name="Google Shape;73;g344831896cd_0_316"/>
          <p:cNvSpPr txBox="1"/>
          <p:nvPr>
            <p:ph idx="1" type="body"/>
          </p:nvPr>
        </p:nvSpPr>
        <p:spPr>
          <a:xfrm>
            <a:off x="6375400" y="1596400"/>
            <a:ext cx="48864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74" name="Google Shape;74;g344831896cd_0_316"/>
          <p:cNvSpPr/>
          <p:nvPr/>
        </p:nvSpPr>
        <p:spPr>
          <a:xfrm>
            <a:off x="0" y="0"/>
            <a:ext cx="12192000" cy="782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75" name="Google Shape;75;g344831896cd_0_316"/>
          <p:cNvSpPr/>
          <p:nvPr/>
        </p:nvSpPr>
        <p:spPr>
          <a:xfrm>
            <a:off x="0" y="6333200"/>
            <a:ext cx="12192000" cy="5247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76" name="Google Shape;76;g344831896cd_0_316"/>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pic>
        <p:nvPicPr>
          <p:cNvPr id="77" name="Google Shape;77;g344831896cd_0_316"/>
          <p:cNvPicPr preferRelativeResize="0"/>
          <p:nvPr/>
        </p:nvPicPr>
        <p:blipFill>
          <a:blip r:embed="rId2">
            <a:alphaModFix/>
          </a:blip>
          <a:stretch>
            <a:fillRect/>
          </a:stretch>
        </p:blipFill>
        <p:spPr>
          <a:xfrm>
            <a:off x="35133" y="24100"/>
            <a:ext cx="2804501" cy="734200"/>
          </a:xfrm>
          <a:prstGeom prst="rect">
            <a:avLst/>
          </a:prstGeom>
          <a:noFill/>
          <a:ln>
            <a:noFill/>
          </a:ln>
        </p:spPr>
      </p:pic>
      <p:sp>
        <p:nvSpPr>
          <p:cNvPr id="78" name="Google Shape;78;g344831896cd_0_316"/>
          <p:cNvSpPr/>
          <p:nvPr/>
        </p:nvSpPr>
        <p:spPr>
          <a:xfrm>
            <a:off x="0" y="0"/>
            <a:ext cx="12192000" cy="7824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79" name="Google Shape;79;g344831896cd_0_316"/>
          <p:cNvPicPr preferRelativeResize="0"/>
          <p:nvPr/>
        </p:nvPicPr>
        <p:blipFill>
          <a:blip r:embed="rId2">
            <a:alphaModFix/>
          </a:blip>
          <a:stretch>
            <a:fillRect/>
          </a:stretch>
        </p:blipFill>
        <p:spPr>
          <a:xfrm>
            <a:off x="165100" y="73300"/>
            <a:ext cx="2428666" cy="6358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2">
  <p:cSld name="SECTION_HEADER_1_2">
    <p:bg>
      <p:bgPr>
        <a:solidFill>
          <a:schemeClr val="dk2"/>
        </a:solidFill>
      </p:bgPr>
    </p:bg>
    <p:spTree>
      <p:nvGrpSpPr>
        <p:cNvPr id="80" name="Shape 80"/>
        <p:cNvGrpSpPr/>
        <p:nvPr/>
      </p:nvGrpSpPr>
      <p:grpSpPr>
        <a:xfrm>
          <a:off x="0" y="0"/>
          <a:ext cx="0" cy="0"/>
          <a:chOff x="0" y="0"/>
          <a:chExt cx="0" cy="0"/>
        </a:xfrm>
      </p:grpSpPr>
      <p:grpSp>
        <p:nvGrpSpPr>
          <p:cNvPr id="81" name="Google Shape;81;g344831896cd_0_325"/>
          <p:cNvGrpSpPr/>
          <p:nvPr/>
        </p:nvGrpSpPr>
        <p:grpSpPr>
          <a:xfrm>
            <a:off x="195687" y="4541"/>
            <a:ext cx="1644245" cy="1846001"/>
            <a:chOff x="146769" y="3406"/>
            <a:chExt cx="1233215" cy="1384535"/>
          </a:xfrm>
        </p:grpSpPr>
        <p:grpSp>
          <p:nvGrpSpPr>
            <p:cNvPr id="82" name="Google Shape;82;g344831896cd_0_325"/>
            <p:cNvGrpSpPr/>
            <p:nvPr/>
          </p:nvGrpSpPr>
          <p:grpSpPr>
            <a:xfrm>
              <a:off x="1063183" y="3406"/>
              <a:ext cx="316800" cy="688513"/>
              <a:chOff x="1063183" y="3406"/>
              <a:chExt cx="316800" cy="688513"/>
            </a:xfrm>
          </p:grpSpPr>
          <p:sp>
            <p:nvSpPr>
              <p:cNvPr id="83" name="Google Shape;83;g344831896cd_0_325"/>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344831896cd_0_325"/>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5" name="Google Shape;85;g344831896cd_0_325"/>
            <p:cNvGrpSpPr/>
            <p:nvPr/>
          </p:nvGrpSpPr>
          <p:grpSpPr>
            <a:xfrm>
              <a:off x="604976" y="3406"/>
              <a:ext cx="316800" cy="1036524"/>
              <a:chOff x="604976" y="3406"/>
              <a:chExt cx="316800" cy="1036524"/>
            </a:xfrm>
          </p:grpSpPr>
          <p:sp>
            <p:nvSpPr>
              <p:cNvPr id="86" name="Google Shape;86;g344831896cd_0_325"/>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344831896cd_0_325"/>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g344831896cd_0_325"/>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9" name="Google Shape;89;g344831896cd_0_325"/>
            <p:cNvGrpSpPr/>
            <p:nvPr/>
          </p:nvGrpSpPr>
          <p:grpSpPr>
            <a:xfrm>
              <a:off x="146769" y="3406"/>
              <a:ext cx="316800" cy="1384535"/>
              <a:chOff x="146769" y="3406"/>
              <a:chExt cx="316800" cy="1384535"/>
            </a:xfrm>
          </p:grpSpPr>
          <p:sp>
            <p:nvSpPr>
              <p:cNvPr id="90" name="Google Shape;90;g344831896cd_0_325"/>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g344831896cd_0_325"/>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g344831896cd_0_325"/>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 name="Google Shape;93;g344831896cd_0_325"/>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94" name="Google Shape;94;g344831896cd_0_325"/>
          <p:cNvGrpSpPr/>
          <p:nvPr/>
        </p:nvGrpSpPr>
        <p:grpSpPr>
          <a:xfrm>
            <a:off x="9033219" y="3871914"/>
            <a:ext cx="2914791" cy="2985925"/>
            <a:chOff x="6775084" y="2904008"/>
            <a:chExt cx="2186148" cy="2239500"/>
          </a:xfrm>
        </p:grpSpPr>
        <p:grpSp>
          <p:nvGrpSpPr>
            <p:cNvPr id="95" name="Google Shape;95;g344831896cd_0_325"/>
            <p:cNvGrpSpPr/>
            <p:nvPr/>
          </p:nvGrpSpPr>
          <p:grpSpPr>
            <a:xfrm>
              <a:off x="6775084" y="4253708"/>
              <a:ext cx="409500" cy="889800"/>
              <a:chOff x="6775084" y="4253708"/>
              <a:chExt cx="409500" cy="889800"/>
            </a:xfrm>
          </p:grpSpPr>
          <p:sp>
            <p:nvSpPr>
              <p:cNvPr id="96" name="Google Shape;96;g344831896cd_0_325"/>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 name="Google Shape;97;g344831896cd_0_325"/>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98" name="Google Shape;98;g344831896cd_0_325"/>
            <p:cNvGrpSpPr/>
            <p:nvPr/>
          </p:nvGrpSpPr>
          <p:grpSpPr>
            <a:xfrm>
              <a:off x="7367299" y="3804008"/>
              <a:ext cx="409500" cy="1339500"/>
              <a:chOff x="7367299" y="3804008"/>
              <a:chExt cx="409500" cy="1339500"/>
            </a:xfrm>
          </p:grpSpPr>
          <p:sp>
            <p:nvSpPr>
              <p:cNvPr id="99" name="Google Shape;99;g344831896cd_0_325"/>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 name="Google Shape;100;g344831896cd_0_325"/>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 name="Google Shape;101;g344831896cd_0_325"/>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02" name="Google Shape;102;g344831896cd_0_325"/>
            <p:cNvGrpSpPr/>
            <p:nvPr/>
          </p:nvGrpSpPr>
          <p:grpSpPr>
            <a:xfrm>
              <a:off x="7959516" y="3354008"/>
              <a:ext cx="409500" cy="1789500"/>
              <a:chOff x="7959516" y="3354008"/>
              <a:chExt cx="409500" cy="1789500"/>
            </a:xfrm>
          </p:grpSpPr>
          <p:sp>
            <p:nvSpPr>
              <p:cNvPr id="103" name="Google Shape;103;g344831896cd_0_325"/>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 name="Google Shape;104;g344831896cd_0_325"/>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 name="Google Shape;105;g344831896cd_0_325"/>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44831896cd_0_325"/>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07" name="Google Shape;107;g344831896cd_0_325"/>
            <p:cNvGrpSpPr/>
            <p:nvPr/>
          </p:nvGrpSpPr>
          <p:grpSpPr>
            <a:xfrm>
              <a:off x="8551731" y="2904008"/>
              <a:ext cx="409500" cy="2239500"/>
              <a:chOff x="8551731" y="2904008"/>
              <a:chExt cx="409500" cy="2239500"/>
            </a:xfrm>
          </p:grpSpPr>
          <p:sp>
            <p:nvSpPr>
              <p:cNvPr id="108" name="Google Shape;108;g344831896cd_0_325"/>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 name="Google Shape;109;g344831896cd_0_325"/>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 name="Google Shape;110;g344831896cd_0_325"/>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 name="Google Shape;111;g344831896cd_0_325"/>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44831896cd_0_325"/>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13" name="Google Shape;113;g344831896cd_0_325"/>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14" name="Google Shape;114;g344831896cd_0_325"/>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lumnas 2">
  <p:cSld name="TITLE_AND_TWO_COLUMNS_1">
    <p:spTree>
      <p:nvGrpSpPr>
        <p:cNvPr id="115" name="Shape 115"/>
        <p:cNvGrpSpPr/>
        <p:nvPr/>
      </p:nvGrpSpPr>
      <p:grpSpPr>
        <a:xfrm>
          <a:off x="0" y="0"/>
          <a:ext cx="0" cy="0"/>
          <a:chOff x="0" y="0"/>
          <a:chExt cx="0" cy="0"/>
        </a:xfrm>
      </p:grpSpPr>
      <p:sp>
        <p:nvSpPr>
          <p:cNvPr id="116" name="Google Shape;116;g344831896cd_0_360"/>
          <p:cNvSpPr txBox="1"/>
          <p:nvPr>
            <p:ph type="title"/>
          </p:nvPr>
        </p:nvSpPr>
        <p:spPr>
          <a:xfrm>
            <a:off x="6519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Clr>
                <a:schemeClr val="dk2"/>
              </a:buClr>
              <a:buSzPts val="3700"/>
              <a:buNone/>
              <a:defRPr>
                <a:solidFill>
                  <a:schemeClr val="dk2"/>
                </a:solidFill>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17" name="Google Shape;117;g344831896cd_0_360"/>
          <p:cNvSpPr txBox="1"/>
          <p:nvPr>
            <p:ph idx="1" type="body"/>
          </p:nvPr>
        </p:nvSpPr>
        <p:spPr>
          <a:xfrm>
            <a:off x="651900" y="1952700"/>
            <a:ext cx="108567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118" name="Google Shape;118;g344831896cd_0_360"/>
          <p:cNvSpPr/>
          <p:nvPr/>
        </p:nvSpPr>
        <p:spPr>
          <a:xfrm>
            <a:off x="0" y="0"/>
            <a:ext cx="12192000" cy="7824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 name="Google Shape;119;g344831896cd_0_360"/>
          <p:cNvSpPr/>
          <p:nvPr/>
        </p:nvSpPr>
        <p:spPr>
          <a:xfrm>
            <a:off x="0" y="6333200"/>
            <a:ext cx="12192000" cy="524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120" name="Google Shape;120;g344831896cd_0_360"/>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121" name="Google Shape;121;g344831896cd_0_360"/>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3">
  <p:cSld name="SECTION_HEADER_1_1">
    <p:bg>
      <p:bgPr>
        <a:solidFill>
          <a:schemeClr val="lt2"/>
        </a:solidFill>
      </p:bgPr>
    </p:bg>
    <p:spTree>
      <p:nvGrpSpPr>
        <p:cNvPr id="122" name="Shape 122"/>
        <p:cNvGrpSpPr/>
        <p:nvPr/>
      </p:nvGrpSpPr>
      <p:grpSpPr>
        <a:xfrm>
          <a:off x="0" y="0"/>
          <a:ext cx="0" cy="0"/>
          <a:chOff x="0" y="0"/>
          <a:chExt cx="0" cy="0"/>
        </a:xfrm>
      </p:grpSpPr>
      <p:grpSp>
        <p:nvGrpSpPr>
          <p:cNvPr id="123" name="Google Shape;123;g344831896cd_0_367"/>
          <p:cNvGrpSpPr/>
          <p:nvPr/>
        </p:nvGrpSpPr>
        <p:grpSpPr>
          <a:xfrm>
            <a:off x="195687" y="4541"/>
            <a:ext cx="1644245" cy="1846001"/>
            <a:chOff x="146769" y="3406"/>
            <a:chExt cx="1233215" cy="1384535"/>
          </a:xfrm>
        </p:grpSpPr>
        <p:grpSp>
          <p:nvGrpSpPr>
            <p:cNvPr id="124" name="Google Shape;124;g344831896cd_0_367"/>
            <p:cNvGrpSpPr/>
            <p:nvPr/>
          </p:nvGrpSpPr>
          <p:grpSpPr>
            <a:xfrm>
              <a:off x="1063183" y="3406"/>
              <a:ext cx="316800" cy="688513"/>
              <a:chOff x="1063183" y="3406"/>
              <a:chExt cx="316800" cy="688513"/>
            </a:xfrm>
          </p:grpSpPr>
          <p:sp>
            <p:nvSpPr>
              <p:cNvPr id="125" name="Google Shape;125;g344831896cd_0_367"/>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 name="Google Shape;126;g344831896cd_0_367"/>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7" name="Google Shape;127;g344831896cd_0_367"/>
            <p:cNvGrpSpPr/>
            <p:nvPr/>
          </p:nvGrpSpPr>
          <p:grpSpPr>
            <a:xfrm>
              <a:off x="604976" y="3406"/>
              <a:ext cx="316800" cy="1036524"/>
              <a:chOff x="604976" y="3406"/>
              <a:chExt cx="316800" cy="1036524"/>
            </a:xfrm>
          </p:grpSpPr>
          <p:sp>
            <p:nvSpPr>
              <p:cNvPr id="128" name="Google Shape;128;g344831896cd_0_367"/>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 name="Google Shape;129;g344831896cd_0_367"/>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 name="Google Shape;130;g344831896cd_0_367"/>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1" name="Google Shape;131;g344831896cd_0_367"/>
            <p:cNvGrpSpPr/>
            <p:nvPr/>
          </p:nvGrpSpPr>
          <p:grpSpPr>
            <a:xfrm>
              <a:off x="146769" y="3406"/>
              <a:ext cx="316800" cy="1384535"/>
              <a:chOff x="146769" y="3406"/>
              <a:chExt cx="316800" cy="1384535"/>
            </a:xfrm>
          </p:grpSpPr>
          <p:sp>
            <p:nvSpPr>
              <p:cNvPr id="132" name="Google Shape;132;g344831896cd_0_367"/>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 name="Google Shape;133;g344831896cd_0_367"/>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 name="Google Shape;134;g344831896cd_0_367"/>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 name="Google Shape;135;g344831896cd_0_367"/>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136" name="Google Shape;136;g344831896cd_0_367"/>
          <p:cNvGrpSpPr/>
          <p:nvPr/>
        </p:nvGrpSpPr>
        <p:grpSpPr>
          <a:xfrm>
            <a:off x="9033219" y="3871914"/>
            <a:ext cx="2914791" cy="2985925"/>
            <a:chOff x="6775084" y="2904008"/>
            <a:chExt cx="2186148" cy="2239500"/>
          </a:xfrm>
        </p:grpSpPr>
        <p:grpSp>
          <p:nvGrpSpPr>
            <p:cNvPr id="137" name="Google Shape;137;g344831896cd_0_367"/>
            <p:cNvGrpSpPr/>
            <p:nvPr/>
          </p:nvGrpSpPr>
          <p:grpSpPr>
            <a:xfrm>
              <a:off x="6775084" y="4253708"/>
              <a:ext cx="409500" cy="889800"/>
              <a:chOff x="6775084" y="4253708"/>
              <a:chExt cx="409500" cy="889800"/>
            </a:xfrm>
          </p:grpSpPr>
          <p:sp>
            <p:nvSpPr>
              <p:cNvPr id="138" name="Google Shape;138;g344831896cd_0_367"/>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 name="Google Shape;139;g344831896cd_0_367"/>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0" name="Google Shape;140;g344831896cd_0_367"/>
            <p:cNvGrpSpPr/>
            <p:nvPr/>
          </p:nvGrpSpPr>
          <p:grpSpPr>
            <a:xfrm>
              <a:off x="7367299" y="3804008"/>
              <a:ext cx="409500" cy="1339500"/>
              <a:chOff x="7367299" y="3804008"/>
              <a:chExt cx="409500" cy="1339500"/>
            </a:xfrm>
          </p:grpSpPr>
          <p:sp>
            <p:nvSpPr>
              <p:cNvPr id="141" name="Google Shape;141;g344831896cd_0_367"/>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 name="Google Shape;142;g344831896cd_0_367"/>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 name="Google Shape;143;g344831896cd_0_367"/>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4" name="Google Shape;144;g344831896cd_0_367"/>
            <p:cNvGrpSpPr/>
            <p:nvPr/>
          </p:nvGrpSpPr>
          <p:grpSpPr>
            <a:xfrm>
              <a:off x="7959516" y="3354008"/>
              <a:ext cx="409500" cy="1789500"/>
              <a:chOff x="7959516" y="3354008"/>
              <a:chExt cx="409500" cy="1789500"/>
            </a:xfrm>
          </p:grpSpPr>
          <p:sp>
            <p:nvSpPr>
              <p:cNvPr id="145" name="Google Shape;145;g344831896cd_0_367"/>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 name="Google Shape;146;g344831896cd_0_367"/>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 name="Google Shape;147;g344831896cd_0_367"/>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 name="Google Shape;148;g344831896cd_0_367"/>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9" name="Google Shape;149;g344831896cd_0_367"/>
            <p:cNvGrpSpPr/>
            <p:nvPr/>
          </p:nvGrpSpPr>
          <p:grpSpPr>
            <a:xfrm>
              <a:off x="8551731" y="2904008"/>
              <a:ext cx="409500" cy="2239500"/>
              <a:chOff x="8551731" y="2904008"/>
              <a:chExt cx="409500" cy="2239500"/>
            </a:xfrm>
          </p:grpSpPr>
          <p:sp>
            <p:nvSpPr>
              <p:cNvPr id="150" name="Google Shape;150;g344831896cd_0_367"/>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 name="Google Shape;151;g344831896cd_0_367"/>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2" name="Google Shape;152;g344831896cd_0_367"/>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 name="Google Shape;153;g344831896cd_0_367"/>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 name="Google Shape;154;g344831896cd_0_367"/>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55" name="Google Shape;155;g344831896cd_0_367"/>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56" name="Google Shape;156;g344831896cd_0_367"/>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lumnas 3">
  <p:cSld name="TITLE_AND_TWO_COLUMNS_1_1">
    <p:spTree>
      <p:nvGrpSpPr>
        <p:cNvPr id="157" name="Shape 157"/>
        <p:cNvGrpSpPr/>
        <p:nvPr/>
      </p:nvGrpSpPr>
      <p:grpSpPr>
        <a:xfrm>
          <a:off x="0" y="0"/>
          <a:ext cx="0" cy="0"/>
          <a:chOff x="0" y="0"/>
          <a:chExt cx="0" cy="0"/>
        </a:xfrm>
      </p:grpSpPr>
      <p:sp>
        <p:nvSpPr>
          <p:cNvPr id="158" name="Google Shape;158;g344831896cd_0_402"/>
          <p:cNvSpPr txBox="1"/>
          <p:nvPr>
            <p:ph type="title"/>
          </p:nvPr>
        </p:nvSpPr>
        <p:spPr>
          <a:xfrm>
            <a:off x="6519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Clr>
                <a:schemeClr val="accent2"/>
              </a:buClr>
              <a:buSzPts val="3700"/>
              <a:buNone/>
              <a:defRPr>
                <a:solidFill>
                  <a:schemeClr val="accent2"/>
                </a:solidFill>
              </a:defRPr>
            </a:lvl1pPr>
            <a:lvl2pPr lvl="1" rtl="0">
              <a:spcBef>
                <a:spcPts val="0"/>
              </a:spcBef>
              <a:spcAft>
                <a:spcPts val="0"/>
              </a:spcAft>
              <a:buClr>
                <a:schemeClr val="accent2"/>
              </a:buClr>
              <a:buSzPts val="3700"/>
              <a:buNone/>
              <a:defRPr>
                <a:solidFill>
                  <a:schemeClr val="accent2"/>
                </a:solidFill>
              </a:defRPr>
            </a:lvl2pPr>
            <a:lvl3pPr lvl="2" rtl="0">
              <a:spcBef>
                <a:spcPts val="0"/>
              </a:spcBef>
              <a:spcAft>
                <a:spcPts val="0"/>
              </a:spcAft>
              <a:buClr>
                <a:schemeClr val="accent2"/>
              </a:buClr>
              <a:buSzPts val="3700"/>
              <a:buNone/>
              <a:defRPr>
                <a:solidFill>
                  <a:schemeClr val="accent2"/>
                </a:solidFill>
              </a:defRPr>
            </a:lvl3pPr>
            <a:lvl4pPr lvl="3" rtl="0">
              <a:spcBef>
                <a:spcPts val="0"/>
              </a:spcBef>
              <a:spcAft>
                <a:spcPts val="0"/>
              </a:spcAft>
              <a:buClr>
                <a:schemeClr val="accent2"/>
              </a:buClr>
              <a:buSzPts val="3700"/>
              <a:buNone/>
              <a:defRPr>
                <a:solidFill>
                  <a:schemeClr val="accent2"/>
                </a:solidFill>
              </a:defRPr>
            </a:lvl4pPr>
            <a:lvl5pPr lvl="4" rtl="0">
              <a:spcBef>
                <a:spcPts val="0"/>
              </a:spcBef>
              <a:spcAft>
                <a:spcPts val="0"/>
              </a:spcAft>
              <a:buClr>
                <a:schemeClr val="accent2"/>
              </a:buClr>
              <a:buSzPts val="3700"/>
              <a:buNone/>
              <a:defRPr>
                <a:solidFill>
                  <a:schemeClr val="accent2"/>
                </a:solidFill>
              </a:defRPr>
            </a:lvl5pPr>
            <a:lvl6pPr lvl="5" rtl="0">
              <a:spcBef>
                <a:spcPts val="0"/>
              </a:spcBef>
              <a:spcAft>
                <a:spcPts val="0"/>
              </a:spcAft>
              <a:buClr>
                <a:schemeClr val="accent2"/>
              </a:buClr>
              <a:buSzPts val="3700"/>
              <a:buNone/>
              <a:defRPr>
                <a:solidFill>
                  <a:schemeClr val="accent2"/>
                </a:solidFill>
              </a:defRPr>
            </a:lvl6pPr>
            <a:lvl7pPr lvl="6" rtl="0">
              <a:spcBef>
                <a:spcPts val="0"/>
              </a:spcBef>
              <a:spcAft>
                <a:spcPts val="0"/>
              </a:spcAft>
              <a:buClr>
                <a:schemeClr val="accent2"/>
              </a:buClr>
              <a:buSzPts val="3700"/>
              <a:buNone/>
              <a:defRPr>
                <a:solidFill>
                  <a:schemeClr val="accent2"/>
                </a:solidFill>
              </a:defRPr>
            </a:lvl7pPr>
            <a:lvl8pPr lvl="7" rtl="0">
              <a:spcBef>
                <a:spcPts val="0"/>
              </a:spcBef>
              <a:spcAft>
                <a:spcPts val="0"/>
              </a:spcAft>
              <a:buClr>
                <a:schemeClr val="accent2"/>
              </a:buClr>
              <a:buSzPts val="3700"/>
              <a:buNone/>
              <a:defRPr>
                <a:solidFill>
                  <a:schemeClr val="accent2"/>
                </a:solidFill>
              </a:defRPr>
            </a:lvl8pPr>
            <a:lvl9pPr lvl="8" rtl="0">
              <a:spcBef>
                <a:spcPts val="0"/>
              </a:spcBef>
              <a:spcAft>
                <a:spcPts val="0"/>
              </a:spcAft>
              <a:buClr>
                <a:schemeClr val="accent2"/>
              </a:buClr>
              <a:buSzPts val="3700"/>
              <a:buNone/>
              <a:defRPr>
                <a:solidFill>
                  <a:schemeClr val="accent2"/>
                </a:solidFill>
              </a:defRPr>
            </a:lvl9pPr>
          </a:lstStyle>
          <a:p/>
        </p:txBody>
      </p:sp>
      <p:sp>
        <p:nvSpPr>
          <p:cNvPr id="159" name="Google Shape;159;g344831896cd_0_402"/>
          <p:cNvSpPr txBox="1"/>
          <p:nvPr>
            <p:ph idx="1" type="body"/>
          </p:nvPr>
        </p:nvSpPr>
        <p:spPr>
          <a:xfrm>
            <a:off x="651900" y="1952700"/>
            <a:ext cx="108567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160" name="Google Shape;160;g344831896cd_0_402"/>
          <p:cNvSpPr/>
          <p:nvPr/>
        </p:nvSpPr>
        <p:spPr>
          <a:xfrm>
            <a:off x="0" y="0"/>
            <a:ext cx="12192000" cy="7824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61" name="Google Shape;161;g344831896cd_0_402"/>
          <p:cNvSpPr/>
          <p:nvPr/>
        </p:nvSpPr>
        <p:spPr>
          <a:xfrm>
            <a:off x="0" y="6333200"/>
            <a:ext cx="12192000" cy="524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162" name="Google Shape;162;g344831896cd_0_402"/>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163" name="Google Shape;163;g344831896cd_0_402"/>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4">
  <p:cSld name="SECTION_HEADER_1_1_1">
    <p:bg>
      <p:bgPr>
        <a:solidFill>
          <a:schemeClr val="accent4"/>
        </a:solidFill>
      </p:bgPr>
    </p:bg>
    <p:spTree>
      <p:nvGrpSpPr>
        <p:cNvPr id="164" name="Shape 164"/>
        <p:cNvGrpSpPr/>
        <p:nvPr/>
      </p:nvGrpSpPr>
      <p:grpSpPr>
        <a:xfrm>
          <a:off x="0" y="0"/>
          <a:ext cx="0" cy="0"/>
          <a:chOff x="0" y="0"/>
          <a:chExt cx="0" cy="0"/>
        </a:xfrm>
      </p:grpSpPr>
      <p:grpSp>
        <p:nvGrpSpPr>
          <p:cNvPr id="165" name="Google Shape;165;g344831896cd_0_409"/>
          <p:cNvGrpSpPr/>
          <p:nvPr/>
        </p:nvGrpSpPr>
        <p:grpSpPr>
          <a:xfrm>
            <a:off x="195687" y="4541"/>
            <a:ext cx="1644245" cy="1846001"/>
            <a:chOff x="146769" y="3406"/>
            <a:chExt cx="1233215" cy="1384535"/>
          </a:xfrm>
        </p:grpSpPr>
        <p:grpSp>
          <p:nvGrpSpPr>
            <p:cNvPr id="166" name="Google Shape;166;g344831896cd_0_409"/>
            <p:cNvGrpSpPr/>
            <p:nvPr/>
          </p:nvGrpSpPr>
          <p:grpSpPr>
            <a:xfrm>
              <a:off x="1063183" y="3406"/>
              <a:ext cx="316800" cy="688513"/>
              <a:chOff x="1063183" y="3406"/>
              <a:chExt cx="316800" cy="688513"/>
            </a:xfrm>
          </p:grpSpPr>
          <p:sp>
            <p:nvSpPr>
              <p:cNvPr id="167" name="Google Shape;167;g344831896cd_0_409"/>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 name="Google Shape;168;g344831896cd_0_409"/>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9" name="Google Shape;169;g344831896cd_0_409"/>
            <p:cNvGrpSpPr/>
            <p:nvPr/>
          </p:nvGrpSpPr>
          <p:grpSpPr>
            <a:xfrm>
              <a:off x="604976" y="3406"/>
              <a:ext cx="316800" cy="1036524"/>
              <a:chOff x="604976" y="3406"/>
              <a:chExt cx="316800" cy="1036524"/>
            </a:xfrm>
          </p:grpSpPr>
          <p:sp>
            <p:nvSpPr>
              <p:cNvPr id="170" name="Google Shape;170;g344831896cd_0_409"/>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 name="Google Shape;171;g344831896cd_0_409"/>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2" name="Google Shape;172;g344831896cd_0_409"/>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3" name="Google Shape;173;g344831896cd_0_409"/>
            <p:cNvGrpSpPr/>
            <p:nvPr/>
          </p:nvGrpSpPr>
          <p:grpSpPr>
            <a:xfrm>
              <a:off x="146769" y="3406"/>
              <a:ext cx="316800" cy="1384535"/>
              <a:chOff x="146769" y="3406"/>
              <a:chExt cx="316800" cy="1384535"/>
            </a:xfrm>
          </p:grpSpPr>
          <p:sp>
            <p:nvSpPr>
              <p:cNvPr id="174" name="Google Shape;174;g344831896cd_0_409"/>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 name="Google Shape;175;g344831896cd_0_409"/>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 name="Google Shape;176;g344831896cd_0_409"/>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 name="Google Shape;177;g344831896cd_0_409"/>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178" name="Google Shape;178;g344831896cd_0_409"/>
          <p:cNvGrpSpPr/>
          <p:nvPr/>
        </p:nvGrpSpPr>
        <p:grpSpPr>
          <a:xfrm>
            <a:off x="9033219" y="3871914"/>
            <a:ext cx="2914791" cy="2985925"/>
            <a:chOff x="6775084" y="2904008"/>
            <a:chExt cx="2186148" cy="2239500"/>
          </a:xfrm>
        </p:grpSpPr>
        <p:grpSp>
          <p:nvGrpSpPr>
            <p:cNvPr id="179" name="Google Shape;179;g344831896cd_0_409"/>
            <p:cNvGrpSpPr/>
            <p:nvPr/>
          </p:nvGrpSpPr>
          <p:grpSpPr>
            <a:xfrm>
              <a:off x="6775084" y="4253708"/>
              <a:ext cx="409500" cy="889800"/>
              <a:chOff x="6775084" y="4253708"/>
              <a:chExt cx="409500" cy="889800"/>
            </a:xfrm>
          </p:grpSpPr>
          <p:sp>
            <p:nvSpPr>
              <p:cNvPr id="180" name="Google Shape;180;g344831896cd_0_409"/>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 name="Google Shape;181;g344831896cd_0_409"/>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2" name="Google Shape;182;g344831896cd_0_409"/>
            <p:cNvGrpSpPr/>
            <p:nvPr/>
          </p:nvGrpSpPr>
          <p:grpSpPr>
            <a:xfrm>
              <a:off x="7367299" y="3804008"/>
              <a:ext cx="409500" cy="1339500"/>
              <a:chOff x="7367299" y="3804008"/>
              <a:chExt cx="409500" cy="1339500"/>
            </a:xfrm>
          </p:grpSpPr>
          <p:sp>
            <p:nvSpPr>
              <p:cNvPr id="183" name="Google Shape;183;g344831896cd_0_409"/>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4" name="Google Shape;184;g344831896cd_0_409"/>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5" name="Google Shape;185;g344831896cd_0_409"/>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6" name="Google Shape;186;g344831896cd_0_409"/>
            <p:cNvGrpSpPr/>
            <p:nvPr/>
          </p:nvGrpSpPr>
          <p:grpSpPr>
            <a:xfrm>
              <a:off x="7959516" y="3354008"/>
              <a:ext cx="409500" cy="1789500"/>
              <a:chOff x="7959516" y="3354008"/>
              <a:chExt cx="409500" cy="1789500"/>
            </a:xfrm>
          </p:grpSpPr>
          <p:sp>
            <p:nvSpPr>
              <p:cNvPr id="187" name="Google Shape;187;g344831896cd_0_409"/>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 name="Google Shape;188;g344831896cd_0_409"/>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 name="Google Shape;189;g344831896cd_0_409"/>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 name="Google Shape;190;g344831896cd_0_409"/>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1" name="Google Shape;191;g344831896cd_0_409"/>
            <p:cNvGrpSpPr/>
            <p:nvPr/>
          </p:nvGrpSpPr>
          <p:grpSpPr>
            <a:xfrm>
              <a:off x="8551731" y="2904008"/>
              <a:ext cx="409500" cy="2239500"/>
              <a:chOff x="8551731" y="2904008"/>
              <a:chExt cx="409500" cy="2239500"/>
            </a:xfrm>
          </p:grpSpPr>
          <p:sp>
            <p:nvSpPr>
              <p:cNvPr id="192" name="Google Shape;192;g344831896cd_0_409"/>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 name="Google Shape;193;g344831896cd_0_409"/>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4" name="Google Shape;194;g344831896cd_0_409"/>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5" name="Google Shape;195;g344831896cd_0_409"/>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 name="Google Shape;196;g344831896cd_0_409"/>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97" name="Google Shape;197;g344831896cd_0_409"/>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98" name="Google Shape;198;g344831896cd_0_409"/>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lumnas 4">
  <p:cSld name="TITLE_AND_TWO_COLUMNS_1_1_1">
    <p:spTree>
      <p:nvGrpSpPr>
        <p:cNvPr id="199" name="Shape 199"/>
        <p:cNvGrpSpPr/>
        <p:nvPr/>
      </p:nvGrpSpPr>
      <p:grpSpPr>
        <a:xfrm>
          <a:off x="0" y="0"/>
          <a:ext cx="0" cy="0"/>
          <a:chOff x="0" y="0"/>
          <a:chExt cx="0" cy="0"/>
        </a:xfrm>
      </p:grpSpPr>
      <p:sp>
        <p:nvSpPr>
          <p:cNvPr id="200" name="Google Shape;200;g344831896cd_0_444"/>
          <p:cNvSpPr txBox="1"/>
          <p:nvPr>
            <p:ph type="title"/>
          </p:nvPr>
        </p:nvSpPr>
        <p:spPr>
          <a:xfrm>
            <a:off x="6519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Clr>
                <a:schemeClr val="accent4"/>
              </a:buClr>
              <a:buSzPts val="3700"/>
              <a:buNone/>
              <a:defRPr>
                <a:solidFill>
                  <a:schemeClr val="accent4"/>
                </a:solidFill>
              </a:defRPr>
            </a:lvl1pPr>
            <a:lvl2pPr lvl="1" rtl="0">
              <a:spcBef>
                <a:spcPts val="0"/>
              </a:spcBef>
              <a:spcAft>
                <a:spcPts val="0"/>
              </a:spcAft>
              <a:buClr>
                <a:schemeClr val="accent4"/>
              </a:buClr>
              <a:buSzPts val="3700"/>
              <a:buNone/>
              <a:defRPr>
                <a:solidFill>
                  <a:schemeClr val="accent4"/>
                </a:solidFill>
              </a:defRPr>
            </a:lvl2pPr>
            <a:lvl3pPr lvl="2" rtl="0">
              <a:spcBef>
                <a:spcPts val="0"/>
              </a:spcBef>
              <a:spcAft>
                <a:spcPts val="0"/>
              </a:spcAft>
              <a:buClr>
                <a:schemeClr val="accent4"/>
              </a:buClr>
              <a:buSzPts val="3700"/>
              <a:buNone/>
              <a:defRPr>
                <a:solidFill>
                  <a:schemeClr val="accent4"/>
                </a:solidFill>
              </a:defRPr>
            </a:lvl3pPr>
            <a:lvl4pPr lvl="3" rtl="0">
              <a:spcBef>
                <a:spcPts val="0"/>
              </a:spcBef>
              <a:spcAft>
                <a:spcPts val="0"/>
              </a:spcAft>
              <a:buClr>
                <a:schemeClr val="accent4"/>
              </a:buClr>
              <a:buSzPts val="3700"/>
              <a:buNone/>
              <a:defRPr>
                <a:solidFill>
                  <a:schemeClr val="accent4"/>
                </a:solidFill>
              </a:defRPr>
            </a:lvl4pPr>
            <a:lvl5pPr lvl="4" rtl="0">
              <a:spcBef>
                <a:spcPts val="0"/>
              </a:spcBef>
              <a:spcAft>
                <a:spcPts val="0"/>
              </a:spcAft>
              <a:buClr>
                <a:schemeClr val="accent4"/>
              </a:buClr>
              <a:buSzPts val="3700"/>
              <a:buNone/>
              <a:defRPr>
                <a:solidFill>
                  <a:schemeClr val="accent4"/>
                </a:solidFill>
              </a:defRPr>
            </a:lvl5pPr>
            <a:lvl6pPr lvl="5" rtl="0">
              <a:spcBef>
                <a:spcPts val="0"/>
              </a:spcBef>
              <a:spcAft>
                <a:spcPts val="0"/>
              </a:spcAft>
              <a:buClr>
                <a:schemeClr val="accent4"/>
              </a:buClr>
              <a:buSzPts val="3700"/>
              <a:buNone/>
              <a:defRPr>
                <a:solidFill>
                  <a:schemeClr val="accent4"/>
                </a:solidFill>
              </a:defRPr>
            </a:lvl6pPr>
            <a:lvl7pPr lvl="6" rtl="0">
              <a:spcBef>
                <a:spcPts val="0"/>
              </a:spcBef>
              <a:spcAft>
                <a:spcPts val="0"/>
              </a:spcAft>
              <a:buClr>
                <a:schemeClr val="accent4"/>
              </a:buClr>
              <a:buSzPts val="3700"/>
              <a:buNone/>
              <a:defRPr>
                <a:solidFill>
                  <a:schemeClr val="accent4"/>
                </a:solidFill>
              </a:defRPr>
            </a:lvl7pPr>
            <a:lvl8pPr lvl="7" rtl="0">
              <a:spcBef>
                <a:spcPts val="0"/>
              </a:spcBef>
              <a:spcAft>
                <a:spcPts val="0"/>
              </a:spcAft>
              <a:buClr>
                <a:schemeClr val="accent4"/>
              </a:buClr>
              <a:buSzPts val="3700"/>
              <a:buNone/>
              <a:defRPr>
                <a:solidFill>
                  <a:schemeClr val="accent4"/>
                </a:solidFill>
              </a:defRPr>
            </a:lvl8pPr>
            <a:lvl9pPr lvl="8" rtl="0">
              <a:spcBef>
                <a:spcPts val="0"/>
              </a:spcBef>
              <a:spcAft>
                <a:spcPts val="0"/>
              </a:spcAft>
              <a:buClr>
                <a:schemeClr val="accent4"/>
              </a:buClr>
              <a:buSzPts val="3700"/>
              <a:buNone/>
              <a:defRPr>
                <a:solidFill>
                  <a:schemeClr val="accent4"/>
                </a:solidFill>
              </a:defRPr>
            </a:lvl9pPr>
          </a:lstStyle>
          <a:p/>
        </p:txBody>
      </p:sp>
      <p:sp>
        <p:nvSpPr>
          <p:cNvPr id="201" name="Google Shape;201;g344831896cd_0_444"/>
          <p:cNvSpPr txBox="1"/>
          <p:nvPr>
            <p:ph idx="1" type="body"/>
          </p:nvPr>
        </p:nvSpPr>
        <p:spPr>
          <a:xfrm>
            <a:off x="651900" y="1952700"/>
            <a:ext cx="108567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202" name="Google Shape;202;g344831896cd_0_444"/>
          <p:cNvSpPr/>
          <p:nvPr/>
        </p:nvSpPr>
        <p:spPr>
          <a:xfrm>
            <a:off x="0" y="0"/>
            <a:ext cx="12192000" cy="7824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03" name="Google Shape;203;g344831896cd_0_444"/>
          <p:cNvSpPr/>
          <p:nvPr/>
        </p:nvSpPr>
        <p:spPr>
          <a:xfrm>
            <a:off x="0" y="6333200"/>
            <a:ext cx="12192000" cy="5247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204" name="Google Shape;204;g344831896cd_0_444"/>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205" name="Google Shape;205;g344831896cd_0_444"/>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4 1">
  <p:cSld name="SECTION_HEADER_1_1_1_1">
    <p:bg>
      <p:bgPr>
        <a:solidFill>
          <a:schemeClr val="accent5"/>
        </a:solidFill>
      </p:bgPr>
    </p:bg>
    <p:spTree>
      <p:nvGrpSpPr>
        <p:cNvPr id="206" name="Shape 206"/>
        <p:cNvGrpSpPr/>
        <p:nvPr/>
      </p:nvGrpSpPr>
      <p:grpSpPr>
        <a:xfrm>
          <a:off x="0" y="0"/>
          <a:ext cx="0" cy="0"/>
          <a:chOff x="0" y="0"/>
          <a:chExt cx="0" cy="0"/>
        </a:xfrm>
      </p:grpSpPr>
      <p:grpSp>
        <p:nvGrpSpPr>
          <p:cNvPr id="207" name="Google Shape;207;g344831896cd_0_451"/>
          <p:cNvGrpSpPr/>
          <p:nvPr/>
        </p:nvGrpSpPr>
        <p:grpSpPr>
          <a:xfrm>
            <a:off x="195687" y="4541"/>
            <a:ext cx="1644245" cy="1846001"/>
            <a:chOff x="146769" y="3406"/>
            <a:chExt cx="1233215" cy="1384535"/>
          </a:xfrm>
        </p:grpSpPr>
        <p:grpSp>
          <p:nvGrpSpPr>
            <p:cNvPr id="208" name="Google Shape;208;g344831896cd_0_451"/>
            <p:cNvGrpSpPr/>
            <p:nvPr/>
          </p:nvGrpSpPr>
          <p:grpSpPr>
            <a:xfrm>
              <a:off x="1063183" y="3406"/>
              <a:ext cx="316800" cy="688513"/>
              <a:chOff x="1063183" y="3406"/>
              <a:chExt cx="316800" cy="688513"/>
            </a:xfrm>
          </p:grpSpPr>
          <p:sp>
            <p:nvSpPr>
              <p:cNvPr id="209" name="Google Shape;209;g344831896cd_0_451"/>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44831896cd_0_451"/>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1" name="Google Shape;211;g344831896cd_0_451"/>
            <p:cNvGrpSpPr/>
            <p:nvPr/>
          </p:nvGrpSpPr>
          <p:grpSpPr>
            <a:xfrm>
              <a:off x="604976" y="3406"/>
              <a:ext cx="316800" cy="1036524"/>
              <a:chOff x="604976" y="3406"/>
              <a:chExt cx="316800" cy="1036524"/>
            </a:xfrm>
          </p:grpSpPr>
          <p:sp>
            <p:nvSpPr>
              <p:cNvPr id="212" name="Google Shape;212;g344831896cd_0_451"/>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g344831896cd_0_451"/>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g344831896cd_0_451"/>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5" name="Google Shape;215;g344831896cd_0_451"/>
            <p:cNvGrpSpPr/>
            <p:nvPr/>
          </p:nvGrpSpPr>
          <p:grpSpPr>
            <a:xfrm>
              <a:off x="146769" y="3406"/>
              <a:ext cx="316800" cy="1384535"/>
              <a:chOff x="146769" y="3406"/>
              <a:chExt cx="316800" cy="1384535"/>
            </a:xfrm>
          </p:grpSpPr>
          <p:sp>
            <p:nvSpPr>
              <p:cNvPr id="216" name="Google Shape;216;g344831896cd_0_451"/>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7" name="Google Shape;217;g344831896cd_0_451"/>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8" name="Google Shape;218;g344831896cd_0_451"/>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9" name="Google Shape;219;g344831896cd_0_451"/>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220" name="Google Shape;220;g344831896cd_0_451"/>
          <p:cNvGrpSpPr/>
          <p:nvPr/>
        </p:nvGrpSpPr>
        <p:grpSpPr>
          <a:xfrm>
            <a:off x="9033219" y="3871914"/>
            <a:ext cx="2914791" cy="2985925"/>
            <a:chOff x="6775084" y="2904008"/>
            <a:chExt cx="2186148" cy="2239500"/>
          </a:xfrm>
        </p:grpSpPr>
        <p:grpSp>
          <p:nvGrpSpPr>
            <p:cNvPr id="221" name="Google Shape;221;g344831896cd_0_451"/>
            <p:cNvGrpSpPr/>
            <p:nvPr/>
          </p:nvGrpSpPr>
          <p:grpSpPr>
            <a:xfrm>
              <a:off x="6775084" y="4253708"/>
              <a:ext cx="409500" cy="889800"/>
              <a:chOff x="6775084" y="4253708"/>
              <a:chExt cx="409500" cy="889800"/>
            </a:xfrm>
          </p:grpSpPr>
          <p:sp>
            <p:nvSpPr>
              <p:cNvPr id="222" name="Google Shape;222;g344831896cd_0_451"/>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3" name="Google Shape;223;g344831896cd_0_451"/>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4" name="Google Shape;224;g344831896cd_0_451"/>
            <p:cNvGrpSpPr/>
            <p:nvPr/>
          </p:nvGrpSpPr>
          <p:grpSpPr>
            <a:xfrm>
              <a:off x="7367299" y="3804008"/>
              <a:ext cx="409500" cy="1339500"/>
              <a:chOff x="7367299" y="3804008"/>
              <a:chExt cx="409500" cy="1339500"/>
            </a:xfrm>
          </p:grpSpPr>
          <p:sp>
            <p:nvSpPr>
              <p:cNvPr id="225" name="Google Shape;225;g344831896cd_0_451"/>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6" name="Google Shape;226;g344831896cd_0_451"/>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7" name="Google Shape;227;g344831896cd_0_451"/>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8" name="Google Shape;228;g344831896cd_0_451"/>
            <p:cNvGrpSpPr/>
            <p:nvPr/>
          </p:nvGrpSpPr>
          <p:grpSpPr>
            <a:xfrm>
              <a:off x="7959516" y="3354008"/>
              <a:ext cx="409500" cy="1789500"/>
              <a:chOff x="7959516" y="3354008"/>
              <a:chExt cx="409500" cy="1789500"/>
            </a:xfrm>
          </p:grpSpPr>
          <p:sp>
            <p:nvSpPr>
              <p:cNvPr id="229" name="Google Shape;229;g344831896cd_0_451"/>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44831896cd_0_451"/>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1" name="Google Shape;231;g344831896cd_0_451"/>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g344831896cd_0_451"/>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3" name="Google Shape;233;g344831896cd_0_451"/>
            <p:cNvGrpSpPr/>
            <p:nvPr/>
          </p:nvGrpSpPr>
          <p:grpSpPr>
            <a:xfrm>
              <a:off x="8551731" y="2904008"/>
              <a:ext cx="409500" cy="2239500"/>
              <a:chOff x="8551731" y="2904008"/>
              <a:chExt cx="409500" cy="2239500"/>
            </a:xfrm>
          </p:grpSpPr>
          <p:sp>
            <p:nvSpPr>
              <p:cNvPr id="234" name="Google Shape;234;g344831896cd_0_451"/>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5" name="Google Shape;235;g344831896cd_0_451"/>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44831896cd_0_451"/>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7" name="Google Shape;237;g344831896cd_0_451"/>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44831896cd_0_451"/>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239" name="Google Shape;239;g344831896cd_0_451"/>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240" name="Google Shape;240;g344831896cd_0_451"/>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lumnas 4 1">
  <p:cSld name="TITLE_AND_TWO_COLUMNS_1_1_1_1">
    <p:spTree>
      <p:nvGrpSpPr>
        <p:cNvPr id="241" name="Shape 241"/>
        <p:cNvGrpSpPr/>
        <p:nvPr/>
      </p:nvGrpSpPr>
      <p:grpSpPr>
        <a:xfrm>
          <a:off x="0" y="0"/>
          <a:ext cx="0" cy="0"/>
          <a:chOff x="0" y="0"/>
          <a:chExt cx="0" cy="0"/>
        </a:xfrm>
      </p:grpSpPr>
      <p:sp>
        <p:nvSpPr>
          <p:cNvPr id="242" name="Google Shape;242;g344831896cd_0_486"/>
          <p:cNvSpPr txBox="1"/>
          <p:nvPr>
            <p:ph type="title"/>
          </p:nvPr>
        </p:nvSpPr>
        <p:spPr>
          <a:xfrm>
            <a:off x="651900" y="896700"/>
            <a:ext cx="10856700" cy="1056000"/>
          </a:xfrm>
          <a:prstGeom prst="rect">
            <a:avLst/>
          </a:prstGeom>
        </p:spPr>
        <p:txBody>
          <a:bodyPr anchorCtr="0" anchor="t" bIns="121900" lIns="121900" spcFirstLastPara="1" rIns="121900" wrap="square" tIns="121900">
            <a:normAutofit/>
          </a:bodyPr>
          <a:lstStyle>
            <a:lvl1pPr lvl="0" rtl="0">
              <a:spcBef>
                <a:spcPts val="0"/>
              </a:spcBef>
              <a:spcAft>
                <a:spcPts val="0"/>
              </a:spcAft>
              <a:buClr>
                <a:schemeClr val="accent5"/>
              </a:buClr>
              <a:buSzPts val="3700"/>
              <a:buNone/>
              <a:defRPr>
                <a:solidFill>
                  <a:schemeClr val="accent5"/>
                </a:solidFill>
              </a:defRPr>
            </a:lvl1pPr>
            <a:lvl2pPr lvl="1" rtl="0">
              <a:spcBef>
                <a:spcPts val="0"/>
              </a:spcBef>
              <a:spcAft>
                <a:spcPts val="0"/>
              </a:spcAft>
              <a:buClr>
                <a:schemeClr val="accent5"/>
              </a:buClr>
              <a:buSzPts val="3700"/>
              <a:buNone/>
              <a:defRPr>
                <a:solidFill>
                  <a:schemeClr val="accent5"/>
                </a:solidFill>
              </a:defRPr>
            </a:lvl2pPr>
            <a:lvl3pPr lvl="2" rtl="0">
              <a:spcBef>
                <a:spcPts val="0"/>
              </a:spcBef>
              <a:spcAft>
                <a:spcPts val="0"/>
              </a:spcAft>
              <a:buClr>
                <a:schemeClr val="accent5"/>
              </a:buClr>
              <a:buSzPts val="3700"/>
              <a:buNone/>
              <a:defRPr>
                <a:solidFill>
                  <a:schemeClr val="accent5"/>
                </a:solidFill>
              </a:defRPr>
            </a:lvl3pPr>
            <a:lvl4pPr lvl="3" rtl="0">
              <a:spcBef>
                <a:spcPts val="0"/>
              </a:spcBef>
              <a:spcAft>
                <a:spcPts val="0"/>
              </a:spcAft>
              <a:buClr>
                <a:schemeClr val="accent5"/>
              </a:buClr>
              <a:buSzPts val="3700"/>
              <a:buNone/>
              <a:defRPr>
                <a:solidFill>
                  <a:schemeClr val="accent5"/>
                </a:solidFill>
              </a:defRPr>
            </a:lvl4pPr>
            <a:lvl5pPr lvl="4" rtl="0">
              <a:spcBef>
                <a:spcPts val="0"/>
              </a:spcBef>
              <a:spcAft>
                <a:spcPts val="0"/>
              </a:spcAft>
              <a:buClr>
                <a:schemeClr val="accent5"/>
              </a:buClr>
              <a:buSzPts val="3700"/>
              <a:buNone/>
              <a:defRPr>
                <a:solidFill>
                  <a:schemeClr val="accent5"/>
                </a:solidFill>
              </a:defRPr>
            </a:lvl5pPr>
            <a:lvl6pPr lvl="5" rtl="0">
              <a:spcBef>
                <a:spcPts val="0"/>
              </a:spcBef>
              <a:spcAft>
                <a:spcPts val="0"/>
              </a:spcAft>
              <a:buClr>
                <a:schemeClr val="accent5"/>
              </a:buClr>
              <a:buSzPts val="3700"/>
              <a:buNone/>
              <a:defRPr>
                <a:solidFill>
                  <a:schemeClr val="accent5"/>
                </a:solidFill>
              </a:defRPr>
            </a:lvl6pPr>
            <a:lvl7pPr lvl="6" rtl="0">
              <a:spcBef>
                <a:spcPts val="0"/>
              </a:spcBef>
              <a:spcAft>
                <a:spcPts val="0"/>
              </a:spcAft>
              <a:buClr>
                <a:schemeClr val="accent5"/>
              </a:buClr>
              <a:buSzPts val="3700"/>
              <a:buNone/>
              <a:defRPr>
                <a:solidFill>
                  <a:schemeClr val="accent5"/>
                </a:solidFill>
              </a:defRPr>
            </a:lvl7pPr>
            <a:lvl8pPr lvl="7" rtl="0">
              <a:spcBef>
                <a:spcPts val="0"/>
              </a:spcBef>
              <a:spcAft>
                <a:spcPts val="0"/>
              </a:spcAft>
              <a:buClr>
                <a:schemeClr val="accent5"/>
              </a:buClr>
              <a:buSzPts val="3700"/>
              <a:buNone/>
              <a:defRPr>
                <a:solidFill>
                  <a:schemeClr val="accent5"/>
                </a:solidFill>
              </a:defRPr>
            </a:lvl8pPr>
            <a:lvl9pPr lvl="8" rtl="0">
              <a:spcBef>
                <a:spcPts val="0"/>
              </a:spcBef>
              <a:spcAft>
                <a:spcPts val="0"/>
              </a:spcAft>
              <a:buClr>
                <a:schemeClr val="accent5"/>
              </a:buClr>
              <a:buSzPts val="3700"/>
              <a:buNone/>
              <a:defRPr>
                <a:solidFill>
                  <a:schemeClr val="accent5"/>
                </a:solidFill>
              </a:defRPr>
            </a:lvl9pPr>
          </a:lstStyle>
          <a:p/>
        </p:txBody>
      </p:sp>
      <p:sp>
        <p:nvSpPr>
          <p:cNvPr id="243" name="Google Shape;243;g344831896cd_0_486"/>
          <p:cNvSpPr txBox="1"/>
          <p:nvPr>
            <p:ph idx="1" type="body"/>
          </p:nvPr>
        </p:nvSpPr>
        <p:spPr>
          <a:xfrm>
            <a:off x="651900" y="1952700"/>
            <a:ext cx="10856700" cy="3665100"/>
          </a:xfrm>
          <a:prstGeom prst="rect">
            <a:avLst/>
          </a:prstGeom>
        </p:spPr>
        <p:txBody>
          <a:bodyPr anchorCtr="0" anchor="t" bIns="121900" lIns="121900" spcFirstLastPara="1" rIns="121900" wrap="square" tIns="121900">
            <a:normAutofit/>
          </a:bodyPr>
          <a:lstStyle>
            <a:lvl1pPr indent="-355600" lvl="0" marL="457200" rtl="0">
              <a:spcBef>
                <a:spcPts val="1300"/>
              </a:spcBef>
              <a:spcAft>
                <a:spcPts val="0"/>
              </a:spcAft>
              <a:buSzPts val="2000"/>
              <a:buChar char="●"/>
              <a:defRPr/>
            </a:lvl1pPr>
            <a:lvl2pPr indent="-336550" lvl="1" marL="914400" rtl="0">
              <a:spcBef>
                <a:spcPts val="1300"/>
              </a:spcBef>
              <a:spcAft>
                <a:spcPts val="0"/>
              </a:spcAft>
              <a:buSzPts val="1700"/>
              <a:buChar char="○"/>
              <a:defRPr/>
            </a:lvl2pPr>
            <a:lvl3pPr indent="-323850" lvl="2" marL="1371600" rtl="0">
              <a:spcBef>
                <a:spcPts val="1300"/>
              </a:spcBef>
              <a:spcAft>
                <a:spcPts val="0"/>
              </a:spcAft>
              <a:buSzPts val="1500"/>
              <a:buChar char="■"/>
              <a:defRPr/>
            </a:lvl3pPr>
            <a:lvl4pPr indent="-323850" lvl="3" marL="1828800" rtl="0">
              <a:spcBef>
                <a:spcPts val="1300"/>
              </a:spcBef>
              <a:spcAft>
                <a:spcPts val="0"/>
              </a:spcAft>
              <a:buSzPts val="1500"/>
              <a:buChar char="●"/>
              <a:defRPr/>
            </a:lvl4pPr>
            <a:lvl5pPr indent="-323850" lvl="4" marL="2286000" rtl="0">
              <a:spcBef>
                <a:spcPts val="130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244" name="Google Shape;244;g344831896cd_0_486"/>
          <p:cNvSpPr/>
          <p:nvPr/>
        </p:nvSpPr>
        <p:spPr>
          <a:xfrm>
            <a:off x="0" y="0"/>
            <a:ext cx="12192000" cy="7824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5" name="Google Shape;245;g344831896cd_0_486"/>
          <p:cNvSpPr/>
          <p:nvPr/>
        </p:nvSpPr>
        <p:spPr>
          <a:xfrm>
            <a:off x="0" y="6333200"/>
            <a:ext cx="12192000" cy="5247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246" name="Google Shape;246;g344831896cd_0_486"/>
          <p:cNvPicPr preferRelativeResize="0"/>
          <p:nvPr/>
        </p:nvPicPr>
        <p:blipFill>
          <a:blip r:embed="rId2">
            <a:alphaModFix/>
          </a:blip>
          <a:stretch>
            <a:fillRect/>
          </a:stretch>
        </p:blipFill>
        <p:spPr>
          <a:xfrm>
            <a:off x="165100" y="73300"/>
            <a:ext cx="2428666" cy="635800"/>
          </a:xfrm>
          <a:prstGeom prst="rect">
            <a:avLst/>
          </a:prstGeom>
          <a:noFill/>
          <a:ln>
            <a:noFill/>
          </a:ln>
        </p:spPr>
      </p:pic>
      <p:sp>
        <p:nvSpPr>
          <p:cNvPr id="247" name="Google Shape;247;g344831896cd_0_486"/>
          <p:cNvSpPr txBox="1"/>
          <p:nvPr>
            <p:ph idx="12" type="sldNum"/>
          </p:nvPr>
        </p:nvSpPr>
        <p:spPr>
          <a:xfrm>
            <a:off x="11444695" y="6333201"/>
            <a:ext cx="731700" cy="524700"/>
          </a:xfrm>
          <a:prstGeom prst="rect">
            <a:avLst/>
          </a:prstGeom>
        </p:spPr>
        <p:txBody>
          <a:bodyPr anchorCtr="0" anchor="ctr" bIns="121900" lIns="121900" spcFirstLastPara="1" rIns="121900" wrap="square" tIns="12190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solidFill>
          <a:schemeClr val="lt1"/>
        </a:solidFill>
      </p:bgPr>
    </p:bg>
    <p:spTree>
      <p:nvGrpSpPr>
        <p:cNvPr id="248" name="Shape 248"/>
        <p:cNvGrpSpPr/>
        <p:nvPr/>
      </p:nvGrpSpPr>
      <p:grpSpPr>
        <a:xfrm>
          <a:off x="0" y="0"/>
          <a:ext cx="0" cy="0"/>
          <a:chOff x="0" y="0"/>
          <a:chExt cx="0" cy="0"/>
        </a:xfrm>
      </p:grpSpPr>
      <p:sp>
        <p:nvSpPr>
          <p:cNvPr id="249" name="Google Shape;249;g344831896cd_0_493"/>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ES"/>
              <a:t>‹#›</a:t>
            </a:fld>
            <a:endParaRPr/>
          </a:p>
        </p:txBody>
      </p:sp>
      <p:pic>
        <p:nvPicPr>
          <p:cNvPr id="250" name="Google Shape;250;g344831896cd_0_493"/>
          <p:cNvPicPr preferRelativeResize="0"/>
          <p:nvPr/>
        </p:nvPicPr>
        <p:blipFill rotWithShape="1">
          <a:blip r:embed="rId2">
            <a:alphaModFix/>
          </a:blip>
          <a:srcRect b="0" l="0" r="0" t="0"/>
          <a:stretch/>
        </p:blipFill>
        <p:spPr>
          <a:xfrm>
            <a:off x="541853" y="208940"/>
            <a:ext cx="3123360" cy="913440"/>
          </a:xfrm>
          <a:prstGeom prst="rect">
            <a:avLst/>
          </a:prstGeom>
          <a:noFill/>
          <a:ln>
            <a:noFill/>
          </a:ln>
        </p:spPr>
      </p:pic>
      <p:pic>
        <p:nvPicPr>
          <p:cNvPr id="251" name="Google Shape;251;g344831896cd_0_493"/>
          <p:cNvPicPr preferRelativeResize="0"/>
          <p:nvPr/>
        </p:nvPicPr>
        <p:blipFill rotWithShape="1">
          <a:blip r:embed="rId3">
            <a:alphaModFix/>
          </a:blip>
          <a:srcRect b="-16890" l="0" r="-2543" t="0"/>
          <a:stretch/>
        </p:blipFill>
        <p:spPr>
          <a:xfrm>
            <a:off x="8770027" y="271959"/>
            <a:ext cx="2565400" cy="787400"/>
          </a:xfrm>
          <a:prstGeom prst="rect">
            <a:avLst/>
          </a:prstGeom>
          <a:noFill/>
          <a:ln>
            <a:noFill/>
          </a:ln>
        </p:spPr>
      </p:pic>
      <p:sp>
        <p:nvSpPr>
          <p:cNvPr id="252" name="Google Shape;252;g344831896cd_0_493"/>
          <p:cNvSpPr txBox="1"/>
          <p:nvPr>
            <p:ph type="title"/>
          </p:nvPr>
        </p:nvSpPr>
        <p:spPr>
          <a:xfrm>
            <a:off x="2452200" y="2111800"/>
            <a:ext cx="7287600" cy="2634300"/>
          </a:xfrm>
          <a:prstGeom prst="rect">
            <a:avLst/>
          </a:prstGeom>
        </p:spPr>
        <p:txBody>
          <a:bodyPr anchorCtr="0" anchor="t" bIns="121900" lIns="121900" spcFirstLastPara="1" rIns="121900" wrap="square" tIns="121900">
            <a:normAutofit/>
          </a:bodyPr>
          <a:lstStyle>
            <a:lvl1pPr lvl="0" algn="ctr">
              <a:lnSpc>
                <a:spcPct val="115000"/>
              </a:lnSpc>
              <a:spcBef>
                <a:spcPts val="0"/>
              </a:spcBef>
              <a:spcAft>
                <a:spcPts val="0"/>
              </a:spcAft>
              <a:buClr>
                <a:schemeClr val="dk1"/>
              </a:buClr>
              <a:buSzPts val="4800"/>
              <a:buNone/>
              <a:defRPr sz="4800">
                <a:solidFill>
                  <a:schemeClr val="dk1"/>
                </a:solidFill>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pic>
        <p:nvPicPr>
          <p:cNvPr id="253" name="Google Shape;253;g344831896cd_0_493"/>
          <p:cNvPicPr preferRelativeResize="0"/>
          <p:nvPr/>
        </p:nvPicPr>
        <p:blipFill>
          <a:blip r:embed="rId4">
            <a:alphaModFix/>
          </a:blip>
          <a:stretch>
            <a:fillRect/>
          </a:stretch>
        </p:blipFill>
        <p:spPr>
          <a:xfrm>
            <a:off x="9840244" y="6069333"/>
            <a:ext cx="1495185" cy="524800"/>
          </a:xfrm>
          <a:prstGeom prst="rect">
            <a:avLst/>
          </a:prstGeom>
          <a:noFill/>
          <a:ln>
            <a:noFill/>
          </a:ln>
        </p:spPr>
      </p:pic>
      <p:sp>
        <p:nvSpPr>
          <p:cNvPr id="254" name="Google Shape;254;g344831896cd_0_493"/>
          <p:cNvSpPr txBox="1"/>
          <p:nvPr>
            <p:ph idx="2" type="title"/>
          </p:nvPr>
        </p:nvSpPr>
        <p:spPr>
          <a:xfrm>
            <a:off x="2577067" y="5422900"/>
            <a:ext cx="7287600" cy="646500"/>
          </a:xfrm>
          <a:prstGeom prst="rect">
            <a:avLst/>
          </a:prstGeom>
        </p:spPr>
        <p:txBody>
          <a:bodyPr anchorCtr="0" anchor="t" bIns="121900" lIns="121900" spcFirstLastPara="1" rIns="121900" wrap="square" tIns="121900">
            <a:normAutofit/>
          </a:bodyPr>
          <a:lstStyle>
            <a:lvl1pPr lvl="0" algn="ctr">
              <a:lnSpc>
                <a:spcPct val="115000"/>
              </a:lnSpc>
              <a:spcBef>
                <a:spcPts val="0"/>
              </a:spcBef>
              <a:spcAft>
                <a:spcPts val="0"/>
              </a:spcAft>
              <a:buClr>
                <a:schemeClr val="dk2"/>
              </a:buClr>
              <a:buSzPts val="2000"/>
              <a:buFont typeface="Nunito"/>
              <a:buNone/>
              <a:defRPr sz="2000">
                <a:solidFill>
                  <a:schemeClr val="dk2"/>
                </a:solidFill>
                <a:latin typeface="Nunito"/>
                <a:ea typeface="Nunito"/>
                <a:cs typeface="Nunito"/>
                <a:sym typeface="Nunito"/>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
        <p:nvSpPr>
          <p:cNvPr id="255" name="Google Shape;255;g344831896cd_0_493"/>
          <p:cNvSpPr txBox="1"/>
          <p:nvPr>
            <p:ph idx="3" type="title"/>
          </p:nvPr>
        </p:nvSpPr>
        <p:spPr>
          <a:xfrm rot="-5400000">
            <a:off x="-2090850" y="3484350"/>
            <a:ext cx="5464500" cy="1282800"/>
          </a:xfrm>
          <a:prstGeom prst="rect">
            <a:avLst/>
          </a:prstGeom>
        </p:spPr>
        <p:txBody>
          <a:bodyPr anchorCtr="0" anchor="t" bIns="121900" lIns="121900" spcFirstLastPara="1" rIns="121900" wrap="square" tIns="121900">
            <a:normAutofit/>
          </a:bodyPr>
          <a:lstStyle>
            <a:lvl1pPr lvl="0" algn="ctr">
              <a:lnSpc>
                <a:spcPct val="115000"/>
              </a:lnSpc>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6" name="Shape 256"/>
        <p:cNvGrpSpPr/>
        <p:nvPr/>
      </p:nvGrpSpPr>
      <p:grpSpPr>
        <a:xfrm>
          <a:off x="0" y="0"/>
          <a:ext cx="0" cy="0"/>
          <a:chOff x="0" y="0"/>
          <a:chExt cx="0" cy="0"/>
        </a:xfrm>
      </p:grpSpPr>
      <p:sp>
        <p:nvSpPr>
          <p:cNvPr id="257" name="Google Shape;257;g344831896cd_0_50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58" name="Google Shape;258;g344831896cd_0_50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300"/>
              </a:spcBef>
              <a:spcAft>
                <a:spcPts val="0"/>
              </a:spcAft>
              <a:buClr>
                <a:schemeClr val="dk1"/>
              </a:buClr>
              <a:buSzPts val="1800"/>
              <a:buChar char="○"/>
              <a:defRPr/>
            </a:lvl2pPr>
            <a:lvl3pPr indent="-342900" lvl="2" marL="1371600" algn="l">
              <a:lnSpc>
                <a:spcPct val="90000"/>
              </a:lnSpc>
              <a:spcBef>
                <a:spcPts val="1300"/>
              </a:spcBef>
              <a:spcAft>
                <a:spcPts val="0"/>
              </a:spcAft>
              <a:buClr>
                <a:schemeClr val="dk1"/>
              </a:buClr>
              <a:buSzPts val="1800"/>
              <a:buChar char="■"/>
              <a:defRPr/>
            </a:lvl3pPr>
            <a:lvl4pPr indent="-342900" lvl="3" marL="1828800" algn="l">
              <a:lnSpc>
                <a:spcPct val="90000"/>
              </a:lnSpc>
              <a:spcBef>
                <a:spcPts val="1300"/>
              </a:spcBef>
              <a:spcAft>
                <a:spcPts val="0"/>
              </a:spcAft>
              <a:buClr>
                <a:schemeClr val="dk1"/>
              </a:buClr>
              <a:buSzPts val="1800"/>
              <a:buChar char="●"/>
              <a:defRPr/>
            </a:lvl4pPr>
            <a:lvl5pPr indent="-342900" lvl="4" marL="2286000" algn="l">
              <a:lnSpc>
                <a:spcPct val="90000"/>
              </a:lnSpc>
              <a:spcBef>
                <a:spcPts val="1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g344831896cd_0_50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g344831896cd_0_5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g344831896cd_0_5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9" name="Shape 9"/>
        <p:cNvGrpSpPr/>
        <p:nvPr/>
      </p:nvGrpSpPr>
      <p:grpSpPr>
        <a:xfrm>
          <a:off x="0" y="0"/>
          <a:ext cx="0" cy="0"/>
          <a:chOff x="0" y="0"/>
          <a:chExt cx="0" cy="0"/>
        </a:xfrm>
      </p:grpSpPr>
      <p:sp>
        <p:nvSpPr>
          <p:cNvPr id="10" name="Google Shape;10;g344831896cd_0_25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b="1" sz="3700">
                <a:solidFill>
                  <a:schemeClr val="dk1"/>
                </a:solidFill>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
        <p:nvSpPr>
          <p:cNvPr id="11" name="Google Shape;11;g344831896cd_0_25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55600" lvl="0" marL="457200" algn="just">
              <a:lnSpc>
                <a:spcPct val="150000"/>
              </a:lnSpc>
              <a:spcBef>
                <a:spcPts val="1300"/>
              </a:spcBef>
              <a:spcAft>
                <a:spcPts val="0"/>
              </a:spcAft>
              <a:buClr>
                <a:schemeClr val="dk2"/>
              </a:buClr>
              <a:buSzPts val="2000"/>
              <a:buChar char="●"/>
              <a:defRPr b="1" sz="2000">
                <a:solidFill>
                  <a:schemeClr val="dk2"/>
                </a:solidFill>
              </a:defRPr>
            </a:lvl1pPr>
            <a:lvl2pPr indent="-336550" lvl="1" marL="914400" algn="just">
              <a:lnSpc>
                <a:spcPct val="150000"/>
              </a:lnSpc>
              <a:spcBef>
                <a:spcPts val="1300"/>
              </a:spcBef>
              <a:spcAft>
                <a:spcPts val="0"/>
              </a:spcAft>
              <a:buClr>
                <a:schemeClr val="dk2"/>
              </a:buClr>
              <a:buSzPts val="1700"/>
              <a:buChar char="○"/>
              <a:defRPr b="1" sz="1700">
                <a:solidFill>
                  <a:schemeClr val="dk2"/>
                </a:solidFill>
              </a:defRPr>
            </a:lvl2pPr>
            <a:lvl3pPr indent="-323850" lvl="2" marL="1371600" algn="just">
              <a:lnSpc>
                <a:spcPct val="150000"/>
              </a:lnSpc>
              <a:spcBef>
                <a:spcPts val="1300"/>
              </a:spcBef>
              <a:spcAft>
                <a:spcPts val="0"/>
              </a:spcAft>
              <a:buClr>
                <a:schemeClr val="dk2"/>
              </a:buClr>
              <a:buSzPts val="1500"/>
              <a:buChar char="■"/>
              <a:defRPr sz="1500">
                <a:solidFill>
                  <a:schemeClr val="dk2"/>
                </a:solidFill>
              </a:defRPr>
            </a:lvl3pPr>
            <a:lvl4pPr indent="-323850" lvl="3" marL="1828800" algn="just">
              <a:lnSpc>
                <a:spcPct val="150000"/>
              </a:lnSpc>
              <a:spcBef>
                <a:spcPts val="1300"/>
              </a:spcBef>
              <a:spcAft>
                <a:spcPts val="0"/>
              </a:spcAft>
              <a:buClr>
                <a:schemeClr val="dk2"/>
              </a:buClr>
              <a:buSzPts val="1500"/>
              <a:buChar char="●"/>
              <a:defRPr sz="1500">
                <a:solidFill>
                  <a:schemeClr val="dk2"/>
                </a:solidFill>
              </a:defRPr>
            </a:lvl4pPr>
            <a:lvl5pPr indent="-323850" lvl="4" marL="2286000" algn="just">
              <a:lnSpc>
                <a:spcPct val="150000"/>
              </a:lnSpc>
              <a:spcBef>
                <a:spcPts val="1300"/>
              </a:spcBef>
              <a:spcAft>
                <a:spcPts val="0"/>
              </a:spcAft>
              <a:buClr>
                <a:schemeClr val="dk2"/>
              </a:buClr>
              <a:buSzPts val="1500"/>
              <a:buChar char="○"/>
              <a:defRPr sz="1500">
                <a:solidFill>
                  <a:schemeClr val="dk2"/>
                </a:solidFill>
              </a:defRPr>
            </a:lvl5pPr>
            <a:lvl6pPr indent="-323850" lvl="5" marL="2743200" algn="just">
              <a:lnSpc>
                <a:spcPct val="150000"/>
              </a:lnSpc>
              <a:spcBef>
                <a:spcPts val="0"/>
              </a:spcBef>
              <a:spcAft>
                <a:spcPts val="0"/>
              </a:spcAft>
              <a:buClr>
                <a:schemeClr val="dk2"/>
              </a:buClr>
              <a:buSzPts val="1500"/>
              <a:buChar char="■"/>
              <a:defRPr sz="1500">
                <a:solidFill>
                  <a:schemeClr val="dk2"/>
                </a:solidFill>
              </a:defRPr>
            </a:lvl6pPr>
            <a:lvl7pPr indent="-323850" lvl="6" marL="3200400" algn="just">
              <a:lnSpc>
                <a:spcPct val="150000"/>
              </a:lnSpc>
              <a:spcBef>
                <a:spcPts val="0"/>
              </a:spcBef>
              <a:spcAft>
                <a:spcPts val="0"/>
              </a:spcAft>
              <a:buClr>
                <a:schemeClr val="dk2"/>
              </a:buClr>
              <a:buSzPts val="1500"/>
              <a:buChar char="●"/>
              <a:defRPr sz="1500">
                <a:solidFill>
                  <a:schemeClr val="dk2"/>
                </a:solidFill>
              </a:defRPr>
            </a:lvl7pPr>
            <a:lvl8pPr indent="-323850" lvl="7" marL="3657600" algn="just">
              <a:lnSpc>
                <a:spcPct val="150000"/>
              </a:lnSpc>
              <a:spcBef>
                <a:spcPts val="0"/>
              </a:spcBef>
              <a:spcAft>
                <a:spcPts val="0"/>
              </a:spcAft>
              <a:buClr>
                <a:schemeClr val="dk2"/>
              </a:buClr>
              <a:buSzPts val="1500"/>
              <a:buChar char="○"/>
              <a:defRPr sz="1500">
                <a:solidFill>
                  <a:schemeClr val="dk2"/>
                </a:solidFill>
              </a:defRPr>
            </a:lvl8pPr>
            <a:lvl9pPr indent="-323850" lvl="8" marL="4114800" algn="just">
              <a:lnSpc>
                <a:spcPct val="150000"/>
              </a:lnSpc>
              <a:spcBef>
                <a:spcPts val="0"/>
              </a:spcBef>
              <a:spcAft>
                <a:spcPts val="0"/>
              </a:spcAft>
              <a:buClr>
                <a:schemeClr val="dk2"/>
              </a:buClr>
              <a:buSzPts val="1500"/>
              <a:buChar char="■"/>
              <a:defRPr sz="1500">
                <a:solidFill>
                  <a:schemeClr val="dk2"/>
                </a:solidFill>
              </a:defRPr>
            </a:lvl9pPr>
          </a:lstStyle>
          <a:p/>
        </p:txBody>
      </p:sp>
      <p:sp>
        <p:nvSpPr>
          <p:cNvPr id="12" name="Google Shape;12;g344831896cd_0_254"/>
          <p:cNvSpPr txBox="1"/>
          <p:nvPr>
            <p:ph idx="12" type="sldNum"/>
          </p:nvPr>
        </p:nvSpPr>
        <p:spPr>
          <a:xfrm>
            <a:off x="11268061" y="6315968"/>
            <a:ext cx="731700" cy="524700"/>
          </a:xfrm>
          <a:prstGeom prst="rect">
            <a:avLst/>
          </a:prstGeom>
          <a:noFill/>
          <a:ln>
            <a:noFill/>
          </a:ln>
        </p:spPr>
        <p:txBody>
          <a:bodyPr anchorCtr="0" anchor="ctr" bIns="121900" lIns="121900" spcFirstLastPara="1" rIns="121900" wrap="square" tIns="121900">
            <a:normAutofit/>
          </a:bodyPr>
          <a:lstStyle>
            <a:lvl1pPr lvl="0" algn="r">
              <a:buNone/>
              <a:defRPr sz="1200">
                <a:solidFill>
                  <a:schemeClr val="dk2"/>
                </a:solidFill>
                <a:latin typeface="Nunito"/>
                <a:ea typeface="Nunito"/>
                <a:cs typeface="Nunito"/>
                <a:sym typeface="Nunito"/>
              </a:defRPr>
            </a:lvl1pPr>
            <a:lvl2pPr lvl="1" algn="r">
              <a:buNone/>
              <a:defRPr sz="1200">
                <a:solidFill>
                  <a:schemeClr val="dk2"/>
                </a:solidFill>
                <a:latin typeface="Nunito"/>
                <a:ea typeface="Nunito"/>
                <a:cs typeface="Nunito"/>
                <a:sym typeface="Nunito"/>
              </a:defRPr>
            </a:lvl2pPr>
            <a:lvl3pPr lvl="2" algn="r">
              <a:buNone/>
              <a:defRPr sz="1200">
                <a:solidFill>
                  <a:schemeClr val="dk2"/>
                </a:solidFill>
                <a:latin typeface="Nunito"/>
                <a:ea typeface="Nunito"/>
                <a:cs typeface="Nunito"/>
                <a:sym typeface="Nunito"/>
              </a:defRPr>
            </a:lvl3pPr>
            <a:lvl4pPr lvl="3" algn="r">
              <a:buNone/>
              <a:defRPr sz="1200">
                <a:solidFill>
                  <a:schemeClr val="dk2"/>
                </a:solidFill>
                <a:latin typeface="Nunito"/>
                <a:ea typeface="Nunito"/>
                <a:cs typeface="Nunito"/>
                <a:sym typeface="Nunito"/>
              </a:defRPr>
            </a:lvl4pPr>
            <a:lvl5pPr lvl="4" algn="r">
              <a:buNone/>
              <a:defRPr sz="1200">
                <a:solidFill>
                  <a:schemeClr val="dk2"/>
                </a:solidFill>
                <a:latin typeface="Nunito"/>
                <a:ea typeface="Nunito"/>
                <a:cs typeface="Nunito"/>
                <a:sym typeface="Nunito"/>
              </a:defRPr>
            </a:lvl5pPr>
            <a:lvl6pPr lvl="5" algn="r">
              <a:buNone/>
              <a:defRPr sz="1200">
                <a:solidFill>
                  <a:schemeClr val="dk2"/>
                </a:solidFill>
                <a:latin typeface="Nunito"/>
                <a:ea typeface="Nunito"/>
                <a:cs typeface="Nunito"/>
                <a:sym typeface="Nunito"/>
              </a:defRPr>
            </a:lvl6pPr>
            <a:lvl7pPr lvl="6" algn="r">
              <a:buNone/>
              <a:defRPr sz="1200">
                <a:solidFill>
                  <a:schemeClr val="dk2"/>
                </a:solidFill>
                <a:latin typeface="Nunito"/>
                <a:ea typeface="Nunito"/>
                <a:cs typeface="Nunito"/>
                <a:sym typeface="Nunito"/>
              </a:defRPr>
            </a:lvl7pPr>
            <a:lvl8pPr lvl="7" algn="r">
              <a:buNone/>
              <a:defRPr sz="1200">
                <a:solidFill>
                  <a:schemeClr val="dk2"/>
                </a:solidFill>
                <a:latin typeface="Nunito"/>
                <a:ea typeface="Nunito"/>
                <a:cs typeface="Nunito"/>
                <a:sym typeface="Nunito"/>
              </a:defRPr>
            </a:lvl8pPr>
            <a:lvl9pPr lvl="8" algn="r">
              <a:buNone/>
              <a:defRPr sz="12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13.jpg"/><Relationship Id="rId4" Type="http://schemas.openxmlformats.org/officeDocument/2006/relationships/image" Target="../media/image6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4.jpg"/><Relationship Id="rId4" Type="http://schemas.openxmlformats.org/officeDocument/2006/relationships/hyperlink" Target="https://www.youtube.com/watch?v=I4wj61hScU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hyperlink" Target="https://es.wikipedia.org/wiki/Informe_Brundtland" TargetMode="External"/><Relationship Id="rId4" Type="http://schemas.openxmlformats.org/officeDocument/2006/relationships/hyperlink" Target="https://es.wikipedia.org/wiki/Cumbre_de_la_Tierra" TargetMode="External"/><Relationship Id="rId5" Type="http://schemas.openxmlformats.org/officeDocument/2006/relationships/hyperlink" Target="https://www.un.org/es/conferences/environment/newyork2015" TargetMode="External"/><Relationship Id="rId6" Type="http://schemas.openxmlformats.org/officeDocument/2006/relationships/hyperlink" Target="https://es.wikipedia.org/wiki/Cumbre_de_la_Tierr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54.jpg"/><Relationship Id="rId5" Type="http://schemas.openxmlformats.org/officeDocument/2006/relationships/image" Target="../media/image7.png"/><Relationship Id="rId6" Type="http://schemas.openxmlformats.org/officeDocument/2006/relationships/hyperlink" Target="https://www.cop21paris.org/" TargetMode="External"/><Relationship Id="rId7" Type="http://schemas.openxmlformats.org/officeDocument/2006/relationships/hyperlink" Target="https://unfccc.int/sites/default/files/spanish_paris_agreement.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hyperlink" Target="https://openknowledge.worldbank.org/server/api/core/bitstreams/972eca5c-861c-5e4c-9962-717f4cd22e58/content" TargetMode="External"/><Relationship Id="rId7" Type="http://schemas.openxmlformats.org/officeDocument/2006/relationships/hyperlink" Target="https://www.youtube.com/watch?v=PQveU35dxI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hyperlink" Target="https://ophi.org.uk/sites/default/files/2024-07/IsDB-OPHI_B2_Children_(July_2024).pdf" TargetMode="External"/><Relationship Id="rId5" Type="http://schemas.openxmlformats.org/officeDocument/2006/relationships/image" Target="../media/image10.png"/><Relationship Id="rId6"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hyperlink" Target="https://www.youtube.com/watch?v=W_NUWV7qgk0" TargetMode="External"/><Relationship Id="rId9" Type="http://schemas.openxmlformats.org/officeDocument/2006/relationships/hyperlink" Target="https://www.fsinplatform.org/report/global-report-food-crises-2024/" TargetMode="External"/><Relationship Id="rId5" Type="http://schemas.openxmlformats.org/officeDocument/2006/relationships/image" Target="../media/image25.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hyperlink" Target="https://openknowledge.fao.org/server/api/core/bitstreams/9f6ddabc-1dc1-4fb3-b466-03b41b61b339/co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studylib.es/doc/1129449/historias-de-%C3%A9xito-de-la-fao-sobre-la-agricultura-clim%C3%A1ti..." TargetMode="External"/><Relationship Id="rId4" Type="http://schemas.openxmlformats.org/officeDocument/2006/relationships/image" Target="../media/image13.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hyperlink" Target="https://www.youtube.com/watch?v=GdySQGTtNL4" TargetMode="External"/><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hyperlink" Target="https://iris.who.int/bitstream/handle/10665/375631/9789240080430-spa.pdf?sequence=1" TargetMode="External"/><Relationship Id="rId8"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s://www.sanidad.gob.es/ciudadanos/enfLesiones/enfTransmisibles/sida/vigilancia/docs/Mortalidad_por_VIH2021.pdf" TargetMode="External"/><Relationship Id="rId4" Type="http://schemas.openxmlformats.org/officeDocument/2006/relationships/image" Target="../media/image31.png"/><Relationship Id="rId5" Type="http://schemas.openxmlformats.org/officeDocument/2006/relationships/image" Target="../media/image24.png"/><Relationship Id="rId6" Type="http://schemas.openxmlformats.org/officeDocument/2006/relationships/image" Target="../media/image7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26.png"/><Relationship Id="rId9" Type="http://schemas.openxmlformats.org/officeDocument/2006/relationships/hyperlink" Target="https://news.un.org/es/story/2022/07/1511422" TargetMode="External"/><Relationship Id="rId5" Type="http://schemas.openxmlformats.org/officeDocument/2006/relationships/hyperlink" Target="https://education-estimates.org/out-of-school/" TargetMode="External"/><Relationship Id="rId6" Type="http://schemas.openxmlformats.org/officeDocument/2006/relationships/hyperlink" Target="https://www.youtube.com/watch?v=Axrfh2cae7E" TargetMode="External"/><Relationship Id="rId7" Type="http://schemas.openxmlformats.org/officeDocument/2006/relationships/image" Target="../media/image30.png"/><Relationship Id="rId8"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hyperlink" Target="https://www.bancomundial.org/es/news/feature/2024/04/29/building-inclusive-and-resilient-schools-in-honduras" TargetMode="External"/><Relationship Id="rId5" Type="http://schemas.openxmlformats.org/officeDocument/2006/relationships/image" Target="../media/image4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3.png"/><Relationship Id="rId9" Type="http://schemas.openxmlformats.org/officeDocument/2006/relationships/hyperlink" Target="https://www3.weforum.org/docs/WEF_GGGR_2024.pdf" TargetMode="External"/><Relationship Id="rId5" Type="http://schemas.openxmlformats.org/officeDocument/2006/relationships/image" Target="../media/image42.png"/><Relationship Id="rId6" Type="http://schemas.openxmlformats.org/officeDocument/2006/relationships/hyperlink" Target="https://wbl.worldbank.org/en/wbl" TargetMode="External"/><Relationship Id="rId7" Type="http://schemas.openxmlformats.org/officeDocument/2006/relationships/hyperlink" Target="https://www.youtube.com/watch?v=FUbA0VTykRk" TargetMode="External"/><Relationship Id="rId8"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9.png"/><Relationship Id="rId4" Type="http://schemas.openxmlformats.org/officeDocument/2006/relationships/image" Target="../media/image7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48.png"/><Relationship Id="rId9" Type="http://schemas.openxmlformats.org/officeDocument/2006/relationships/hyperlink" Target="https://iris.who.int/bitstream/handle/10665/368975/9789240075085-eng.pdf?sequence=1" TargetMode="External"/><Relationship Id="rId5" Type="http://schemas.openxmlformats.org/officeDocument/2006/relationships/image" Target="../media/image67.png"/><Relationship Id="rId6" Type="http://schemas.openxmlformats.org/officeDocument/2006/relationships/hyperlink" Target="https://www.who.int/publications/i/item/9789240075610" TargetMode="External"/><Relationship Id="rId7" Type="http://schemas.openxmlformats.org/officeDocument/2006/relationships/hyperlink" Target="https://www.youtube.com/watch?v=6kke9YIohQQ" TargetMode="External"/><Relationship Id="rId8"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hyperlink" Target="https://www.corresponsables.com/actualidad/saneamiento-higiene-india/" TargetMode="External"/><Relationship Id="rId5" Type="http://schemas.openxmlformats.org/officeDocument/2006/relationships/image" Target="../media/image4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hyperlink" Target="https://www.youtube.com/watch?v=3LLAvYbsT7Q" TargetMode="External"/><Relationship Id="rId9" Type="http://schemas.openxmlformats.org/officeDocument/2006/relationships/hyperlink" Target="https://trackingsdg7.esmap.org/" TargetMode="External"/><Relationship Id="rId5" Type="http://schemas.openxmlformats.org/officeDocument/2006/relationships/image" Target="../media/image55.png"/><Relationship Id="rId6" Type="http://schemas.openxmlformats.org/officeDocument/2006/relationships/hyperlink" Target="https://datos.bancomundial.org/indicador/EG.ELC.ACCS.ZS" TargetMode="External"/><Relationship Id="rId7" Type="http://schemas.openxmlformats.org/officeDocument/2006/relationships/image" Target="../media/image47.png"/><Relationship Id="rId8"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hyperlink" Target="https://solarsister.org/" TargetMode="External"/><Relationship Id="rId5" Type="http://schemas.openxmlformats.org/officeDocument/2006/relationships/image" Target="../media/image68.jpg"/></Relationships>
</file>

<file path=ppt/slides/_rels/slide25.xml.rels><?xml version="1.0" encoding="UTF-8" standalone="yes"?><Relationships xmlns="http://schemas.openxmlformats.org/package/2006/relationships"><Relationship Id="rId11" Type="http://schemas.openxmlformats.org/officeDocument/2006/relationships/hyperlink" Target="https://news.un.org/es/story/2024/01/1526947" TargetMode="External"/><Relationship Id="rId10" Type="http://schemas.openxmlformats.org/officeDocument/2006/relationships/hyperlink" Target="https://www.ilo.org/es" TargetMode="External"/><Relationship Id="rId12" Type="http://schemas.openxmlformats.org/officeDocument/2006/relationships/hyperlink" Target="https://datos.bancomundial.org/indicador/SL.UEM.TOTL.ZS?end=2023&amp;start=1991&amp;type=shaded&amp;view=chart" TargetMode="External"/><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hyperlink" Target="https://www.youtube.com/watch?v=UnVQRrxwkaQ" TargetMode="External"/><Relationship Id="rId9" Type="http://schemas.openxmlformats.org/officeDocument/2006/relationships/image" Target="../media/image58.png"/><Relationship Id="rId5" Type="http://schemas.openxmlformats.org/officeDocument/2006/relationships/image" Target="../media/image89.png"/><Relationship Id="rId6" Type="http://schemas.openxmlformats.org/officeDocument/2006/relationships/image" Target="../media/image51.png"/><Relationship Id="rId7" Type="http://schemas.openxmlformats.org/officeDocument/2006/relationships/image" Target="../media/image57.png"/><Relationship Id="rId8" Type="http://schemas.openxmlformats.org/officeDocument/2006/relationships/hyperlink" Target="https://datos.bancomundial.org/indicador/SL.UEM.TOTL.ZS?end=2023&amp;start=2023&amp;type=shaded&amp;view=ma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hyperlink" Target="https://www.govet.international/languages/es/index.php" TargetMode="External"/><Relationship Id="rId5" Type="http://schemas.openxmlformats.org/officeDocument/2006/relationships/image" Target="../media/image59.jpg"/></Relationships>
</file>

<file path=ppt/slides/_rels/slide27.xml.rels><?xml version="1.0" encoding="UTF-8" standalone="yes"?><Relationships xmlns="http://schemas.openxmlformats.org/package/2006/relationships"><Relationship Id="rId10" Type="http://schemas.openxmlformats.org/officeDocument/2006/relationships/hyperlink" Target="https://www.youtube.com/watch?v=2xparLO41zQ" TargetMode="External"/><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56.png"/><Relationship Id="rId4" Type="http://schemas.openxmlformats.org/officeDocument/2006/relationships/image" Target="../media/image62.png"/><Relationship Id="rId9" Type="http://schemas.openxmlformats.org/officeDocument/2006/relationships/hyperlink" Target="https://iap.unido.org/data/sdg-9-industry?p=ESP" TargetMode="External"/><Relationship Id="rId5" Type="http://schemas.openxmlformats.org/officeDocument/2006/relationships/image" Target="../media/image63.png"/><Relationship Id="rId6" Type="http://schemas.openxmlformats.org/officeDocument/2006/relationships/hyperlink" Target="https://www.unido.org/news/unido-report-sheds-light-progress-sustainable-development-goal-9" TargetMode="External"/><Relationship Id="rId7" Type="http://schemas.openxmlformats.org/officeDocument/2006/relationships/image" Target="../media/image74.jpg"/><Relationship Id="rId8"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56.png"/><Relationship Id="rId4" Type="http://schemas.openxmlformats.org/officeDocument/2006/relationships/hyperlink" Target="https://hub.unido.org/sites/default/files/publications/Manual%20para%20la%20caja%20de%20herramientas%20de%20la%20ONUDI%20sobre%20parques%20eco-industriales.pdf" TargetMode="External"/><Relationship Id="rId5" Type="http://schemas.openxmlformats.org/officeDocument/2006/relationships/image" Target="../media/image88.png"/></Relationships>
</file>

<file path=ppt/slides/_rels/slide29.xml.rels><?xml version="1.0" encoding="UTF-8" standalone="yes"?><Relationships xmlns="http://schemas.openxmlformats.org/package/2006/relationships"><Relationship Id="rId10" Type="http://schemas.openxmlformats.org/officeDocument/2006/relationships/hyperlink" Target="https://www.youtube.com/watch?v=ojI69FKxqdE" TargetMode="External"/><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hyperlink" Target="https://news.un.org/es/story/2024/03/1528332" TargetMode="External"/><Relationship Id="rId4" Type="http://schemas.openxmlformats.org/officeDocument/2006/relationships/image" Target="../media/image79.png"/><Relationship Id="rId9" Type="http://schemas.openxmlformats.org/officeDocument/2006/relationships/image" Target="../media/image109.png"/><Relationship Id="rId5" Type="http://schemas.openxmlformats.org/officeDocument/2006/relationships/image" Target="../media/image65.png"/><Relationship Id="rId6" Type="http://schemas.openxmlformats.org/officeDocument/2006/relationships/image" Target="../media/image97.png"/><Relationship Id="rId7" Type="http://schemas.openxmlformats.org/officeDocument/2006/relationships/hyperlink" Target="https://www.weforum.org/agenda/2021/12/global-income-inequality-gap-report-rich-poor/" TargetMode="External"/><Relationship Id="rId8" Type="http://schemas.openxmlformats.org/officeDocument/2006/relationships/hyperlink" Target="https://ourworldindata.org/economic-inequalit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65.png"/><Relationship Id="rId4" Type="http://schemas.openxmlformats.org/officeDocument/2006/relationships/hyperlink" Target="https://es.wikipedia.org/wiki/Bolsa_Fam%C3%ADlia" TargetMode="External"/><Relationship Id="rId5" Type="http://schemas.openxmlformats.org/officeDocument/2006/relationships/hyperlink" Target="https://terracoeconomico.com.br/bolsa-familia-evolucao-do-programa-desde-2003/" TargetMode="External"/><Relationship Id="rId6" Type="http://schemas.openxmlformats.org/officeDocument/2006/relationships/image" Target="../media/image77.png"/><Relationship Id="rId7" Type="http://schemas.openxmlformats.org/officeDocument/2006/relationships/image" Target="../media/image8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71.png"/><Relationship Id="rId4" Type="http://schemas.openxmlformats.org/officeDocument/2006/relationships/image" Target="../media/image76.png"/><Relationship Id="rId5" Type="http://schemas.openxmlformats.org/officeDocument/2006/relationships/hyperlink" Target="https://www.youtube.com/watch?v=Xp4LMbRV8_0" TargetMode="External"/><Relationship Id="rId6" Type="http://schemas.openxmlformats.org/officeDocument/2006/relationships/hyperlink" Target="about:blank" TargetMode="External"/><Relationship Id="rId7" Type="http://schemas.openxmlformats.org/officeDocument/2006/relationships/image" Target="../media/image82.png"/><Relationship Id="rId8" Type="http://schemas.openxmlformats.org/officeDocument/2006/relationships/image" Target="../media/image7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hyperlink" Target="https://obtienearchivo.bcn.cl/obtienearchivo?id=repositorio/10221/35764/1/innovacion-y-sostenibilidad-en-gestion-del-agua-singapur.pdf" TargetMode="External"/><Relationship Id="rId5" Type="http://schemas.openxmlformats.org/officeDocument/2006/relationships/image" Target="../media/image90.jpg"/></Relationships>
</file>

<file path=ppt/slides/_rels/slide33.xml.rels><?xml version="1.0" encoding="UTF-8" standalone="yes"?><Relationships xmlns="http://schemas.openxmlformats.org/package/2006/relationships"><Relationship Id="rId10" Type="http://schemas.openxmlformats.org/officeDocument/2006/relationships/image" Target="../media/image81.png"/><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hyperlink" Target="https://ec.europa.eu/eurostat/web/products-eurostat-news/w/ddn-20231114-2?mc_cid=c3a45d7dc2&amp;mc_eid=d06c2ff0f4#:~:text=In%202022%2C%20the%20EU's,came%20from%20recycled%20waste%20materials" TargetMode="External"/><Relationship Id="rId4" Type="http://schemas.openxmlformats.org/officeDocument/2006/relationships/image" Target="../media/image80.png"/><Relationship Id="rId9" Type="http://schemas.openxmlformats.org/officeDocument/2006/relationships/hyperlink" Target="https://www.ellenmacarthurfoundation.org/" TargetMode="External"/><Relationship Id="rId5" Type="http://schemas.openxmlformats.org/officeDocument/2006/relationships/image" Target="../media/image78.png"/><Relationship Id="rId6" Type="http://schemas.openxmlformats.org/officeDocument/2006/relationships/hyperlink" Target="https://www.youtube.com/watch?v=Y2n7xFQWOjo" TargetMode="External"/><Relationship Id="rId7" Type="http://schemas.openxmlformats.org/officeDocument/2006/relationships/hyperlink" Target="https://emf.thirdlight.com/file/24/xTyQj3oxiYNMO1xTFs9xT5LF3C/Towards%20the%20circular%20economy%20Vol%201:%20an%20economic%20and%20business%20rationale%20for%20an%20accelerated%20transition.pdf" TargetMode="External"/><Relationship Id="rId8" Type="http://schemas.openxmlformats.org/officeDocument/2006/relationships/image" Target="../media/image8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78.png"/><Relationship Id="rId4" Type="http://schemas.openxmlformats.org/officeDocument/2006/relationships/hyperlink" Target="https://www.unep.org/explore-topics/resource-efficiency/what-we-do/one-planet-network" TargetMode="External"/><Relationship Id="rId9" Type="http://schemas.openxmlformats.org/officeDocument/2006/relationships/image" Target="../media/image108.png"/><Relationship Id="rId5" Type="http://schemas.openxmlformats.org/officeDocument/2006/relationships/hyperlink" Target="https://www.thecircularlab.com/pais-ejemplar-en-reciclaje/" TargetMode="External"/><Relationship Id="rId6" Type="http://schemas.openxmlformats.org/officeDocument/2006/relationships/hyperlink" Target="https://sweden.se/climate/sustainability/swedish-recycling-and-beyond" TargetMode="External"/><Relationship Id="rId7" Type="http://schemas.openxmlformats.org/officeDocument/2006/relationships/image" Target="../media/image86.png"/><Relationship Id="rId8" Type="http://schemas.openxmlformats.org/officeDocument/2006/relationships/hyperlink" Target="https://studyinsweden.se/blogs/2015/10/07/one-year-in-sweden-has-made-me-more-sustainabl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99.png"/><Relationship Id="rId4" Type="http://schemas.openxmlformats.org/officeDocument/2006/relationships/hyperlink" Target="https://www.youtube.com/watch?v=8ea6N2NS-38" TargetMode="External"/><Relationship Id="rId5" Type="http://schemas.openxmlformats.org/officeDocument/2006/relationships/hyperlink" Target="https://es.weforum.org/agenda/2023/09/cuanto-se-esta-avanzando-en-los-objetivos-de-desarrollo-sostenible-de-la-onu/" TargetMode="External"/><Relationship Id="rId6" Type="http://schemas.openxmlformats.org/officeDocument/2006/relationships/image" Target="../media/image85.png"/><Relationship Id="rId7" Type="http://schemas.openxmlformats.org/officeDocument/2006/relationships/image" Target="../media/image103.png"/><Relationship Id="rId8" Type="http://schemas.openxmlformats.org/officeDocument/2006/relationships/image" Target="../media/image9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99.png"/><Relationship Id="rId4" Type="http://schemas.openxmlformats.org/officeDocument/2006/relationships/hyperlink" Target="https://unfccc.int/resource/docs/convkp/convsp.pdf" TargetMode="External"/><Relationship Id="rId5" Type="http://schemas.openxmlformats.org/officeDocument/2006/relationships/hyperlink" Target="https://wedocs.unep.org/bitstream/handle/20.500.11822/7661/-Plant%20for%20the%20Planet_%20%20The%20Billion%20Tree%20Campaign-2008810.pdf?sequence=5&amp;isAllowed=y" TargetMode="External"/><Relationship Id="rId6" Type="http://schemas.openxmlformats.org/officeDocument/2006/relationships/hyperlink" Target="https://www.plant-for-the-planet.org/" TargetMode="External"/><Relationship Id="rId7" Type="http://schemas.openxmlformats.org/officeDocument/2006/relationships/image" Target="../media/image1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96.png"/><Relationship Id="rId4" Type="http://schemas.openxmlformats.org/officeDocument/2006/relationships/hyperlink" Target="https://www.youtube.com/watch?v=GOSyml_q_Mk" TargetMode="External"/><Relationship Id="rId9" Type="http://schemas.openxmlformats.org/officeDocument/2006/relationships/image" Target="../media/image95.png"/><Relationship Id="rId5" Type="http://schemas.openxmlformats.org/officeDocument/2006/relationships/image" Target="../media/image93.png"/><Relationship Id="rId6" Type="http://schemas.openxmlformats.org/officeDocument/2006/relationships/hyperlink" Target="https://news.un.org/es/story/2024/06/1530306" TargetMode="External"/><Relationship Id="rId7" Type="http://schemas.openxmlformats.org/officeDocument/2006/relationships/image" Target="../media/image98.png"/><Relationship Id="rId8" Type="http://schemas.openxmlformats.org/officeDocument/2006/relationships/hyperlink" Target="https://unesdoc.unesco.org/ark:/48223/pf0000390054.locale=e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96.png"/><Relationship Id="rId4" Type="http://schemas.openxmlformats.org/officeDocument/2006/relationships/image" Target="../media/image101.png"/><Relationship Id="rId5" Type="http://schemas.openxmlformats.org/officeDocument/2006/relationships/image" Target="../media/image125.png"/><Relationship Id="rId6" Type="http://schemas.openxmlformats.org/officeDocument/2006/relationships/hyperlink" Target="https://theoceancleanup.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26.png"/><Relationship Id="rId4" Type="http://schemas.openxmlformats.org/officeDocument/2006/relationships/hyperlink" Target="https://www.youtube.com/watch?v=1peW1UMNq1A" TargetMode="External"/><Relationship Id="rId9" Type="http://schemas.openxmlformats.org/officeDocument/2006/relationships/hyperlink" Target="https://research.wri.org/es/gfr/latest-analysis-deforestation-trends" TargetMode="External"/><Relationship Id="rId5" Type="http://schemas.openxmlformats.org/officeDocument/2006/relationships/hyperlink" Target="https://es.weforum.org/agenda/2023/09/cuanto-se-esta-avanzando-en-los-objetivos-de-desarrollo-sostenible-de-la-onu/" TargetMode="External"/><Relationship Id="rId6" Type="http://schemas.openxmlformats.org/officeDocument/2006/relationships/image" Target="../media/image100.png"/><Relationship Id="rId7" Type="http://schemas.openxmlformats.org/officeDocument/2006/relationships/image" Target="../media/image110.png"/><Relationship Id="rId8" Type="http://schemas.openxmlformats.org/officeDocument/2006/relationships/image" Target="../media/image1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126.png"/><Relationship Id="rId4" Type="http://schemas.openxmlformats.org/officeDocument/2006/relationships/hyperlink" Target="https://www.miteco.gob.es/es/ministerio/planes-estrategias/marco-actuaciones-donana.html" TargetMode="External"/><Relationship Id="rId5" Type="http://schemas.openxmlformats.org/officeDocument/2006/relationships/image" Target="../media/image10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104.png"/><Relationship Id="rId4" Type="http://schemas.openxmlformats.org/officeDocument/2006/relationships/hyperlink" Target="https://www.youtube.com/watch?v=b4BE54p2TPM" TargetMode="External"/><Relationship Id="rId9" Type="http://schemas.openxmlformats.org/officeDocument/2006/relationships/hyperlink" Target="https://unstats.un.org/sdgs/report/2023/The-Sustainable-Development-Goals-Report-2023_Spanish.pdf" TargetMode="External"/><Relationship Id="rId5" Type="http://schemas.openxmlformats.org/officeDocument/2006/relationships/image" Target="../media/image117.png"/><Relationship Id="rId6" Type="http://schemas.openxmlformats.org/officeDocument/2006/relationships/hyperlink" Target="https://news.un.org/es/story/2024/02/1527577" TargetMode="External"/><Relationship Id="rId7" Type="http://schemas.openxmlformats.org/officeDocument/2006/relationships/image" Target="../media/image107.png"/><Relationship Id="rId8" Type="http://schemas.openxmlformats.org/officeDocument/2006/relationships/image" Target="../media/image10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104.png"/><Relationship Id="rId4" Type="http://schemas.openxmlformats.org/officeDocument/2006/relationships/hyperlink" Target="https://www.ipjj.org/fileadmin/data/documents/reports_monitoring_evaluation/DCI_BeyondLawAssessingSierraLeone_2010_EN.pdf" TargetMode="External"/><Relationship Id="rId5" Type="http://schemas.openxmlformats.org/officeDocument/2006/relationships/image" Target="../media/image111.png"/><Relationship Id="rId6" Type="http://schemas.openxmlformats.org/officeDocument/2006/relationships/hyperlink" Target="https://gepud.blogspot.com/2010/09/una-mirada-la-situacion-de-los-ddhh-en.html" TargetMode="External"/></Relationships>
</file>

<file path=ppt/slides/_rels/slide43.xml.rels><?xml version="1.0" encoding="UTF-8" standalone="yes"?><Relationships xmlns="http://schemas.openxmlformats.org/package/2006/relationships"><Relationship Id="rId10" Type="http://schemas.openxmlformats.org/officeDocument/2006/relationships/image" Target="../media/image120.png"/><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118.png"/><Relationship Id="rId4" Type="http://schemas.openxmlformats.org/officeDocument/2006/relationships/hyperlink" Target="https://www.youtube.com/watch?v=7aWdmDxl75k" TargetMode="External"/><Relationship Id="rId9" Type="http://schemas.openxmlformats.org/officeDocument/2006/relationships/hyperlink" Target="https://www.daghammarskjold.se/wp-content/uploads/2022/09/dhf-financing-the-un-development-system-2022.pdf" TargetMode="External"/><Relationship Id="rId5" Type="http://schemas.openxmlformats.org/officeDocument/2006/relationships/hyperlink" Target="https://www.undp.org/es/blog/una-alianza-imprescindible-para-lograr-la-agenda-2030" TargetMode="External"/><Relationship Id="rId6" Type="http://schemas.openxmlformats.org/officeDocument/2006/relationships/image" Target="../media/image116.png"/><Relationship Id="rId7" Type="http://schemas.openxmlformats.org/officeDocument/2006/relationships/hyperlink" Target="https://www.undp.org/es/blog/una-alianza-imprescindible-para-lograr-la-agenda-2030" TargetMode="External"/><Relationship Id="rId8" Type="http://schemas.openxmlformats.org/officeDocument/2006/relationships/image" Target="../media/image1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118.png"/><Relationship Id="rId4" Type="http://schemas.openxmlformats.org/officeDocument/2006/relationships/hyperlink" Target="https://www.un-page.org/" TargetMode="External"/><Relationship Id="rId5" Type="http://schemas.openxmlformats.org/officeDocument/2006/relationships/image" Target="../media/image121.png"/><Relationship Id="rId6" Type="http://schemas.openxmlformats.org/officeDocument/2006/relationships/hyperlink" Target="https://www.un-page.org/static/cb6b670e83399263359893cb1b67960e/page-2023-annual-progress-report-compiled-compressed.pd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1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hyperlink" Target="https://www.undrr.org/es/framework-marco-de-sendai-para-la-reduccion-del-riesgo-de-desastres-2015-2030" TargetMode="External"/><Relationship Id="rId4" Type="http://schemas.openxmlformats.org/officeDocument/2006/relationships/image" Target="../media/image11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1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12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openxmlformats.org/officeDocument/2006/relationships/hyperlink" Target="https://www.undrr.org/es/framework-marco-de-sendai-para-la-reduccion-del-riesgo-de-desastres-2015-2030" TargetMode="External"/><Relationship Id="rId4" Type="http://schemas.openxmlformats.org/officeDocument/2006/relationships/image" Target="../media/image1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hyperlink" Target="https://www.undrr.org/es/framework-marco-de-sendai-para-la-reduccion-del-riesgo-de-desastres-2015-2030" TargetMode="External"/><Relationship Id="rId4" Type="http://schemas.openxmlformats.org/officeDocument/2006/relationships/hyperlink" Target="https://www.youtube.com/watch?v=H0Bp5jo4xic"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44831896cd_0_0"/>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s-ES"/>
              <a:t>‹#›</a:t>
            </a:fld>
            <a:endParaRPr/>
          </a:p>
        </p:txBody>
      </p:sp>
      <p:sp>
        <p:nvSpPr>
          <p:cNvPr id="267" name="Google Shape;267;g344831896cd_0_0"/>
          <p:cNvSpPr txBox="1"/>
          <p:nvPr>
            <p:ph type="title"/>
          </p:nvPr>
        </p:nvSpPr>
        <p:spPr>
          <a:xfrm>
            <a:off x="2452200" y="2111800"/>
            <a:ext cx="7287600" cy="2634300"/>
          </a:xfrm>
          <a:prstGeom prst="rect">
            <a:avLst/>
          </a:prstGeom>
        </p:spPr>
        <p:txBody>
          <a:bodyPr anchorCtr="0" anchor="t" bIns="121900" lIns="121900" spcFirstLastPara="1" rIns="121900" wrap="square" tIns="121900">
            <a:normAutofit fontScale="90000"/>
          </a:bodyPr>
          <a:lstStyle/>
          <a:p>
            <a:pPr indent="0" lvl="0" marL="0" rtl="0" algn="ctr">
              <a:spcBef>
                <a:spcPts val="0"/>
              </a:spcBef>
              <a:spcAft>
                <a:spcPts val="0"/>
              </a:spcAft>
              <a:buNone/>
            </a:pPr>
            <a:r>
              <a:rPr lang="es-ES"/>
              <a:t>UD2:</a:t>
            </a:r>
            <a:endParaRPr/>
          </a:p>
          <a:p>
            <a:pPr indent="0" lvl="0" marL="0" rtl="0" algn="ctr">
              <a:spcBef>
                <a:spcPts val="0"/>
              </a:spcBef>
              <a:spcAft>
                <a:spcPts val="0"/>
              </a:spcAft>
              <a:buNone/>
            </a:pPr>
            <a:r>
              <a:rPr lang="es-ES"/>
              <a:t>La apuesta global por la</a:t>
            </a:r>
            <a:endParaRPr/>
          </a:p>
          <a:p>
            <a:pPr indent="0" lvl="0" marL="0" rtl="0" algn="ctr">
              <a:spcBef>
                <a:spcPts val="0"/>
              </a:spcBef>
              <a:spcAft>
                <a:spcPts val="0"/>
              </a:spcAft>
              <a:buNone/>
            </a:pPr>
            <a:r>
              <a:rPr lang="es-ES"/>
              <a:t>sostenibilidad</a:t>
            </a:r>
            <a:endParaRPr/>
          </a:p>
        </p:txBody>
      </p:sp>
      <p:sp>
        <p:nvSpPr>
          <p:cNvPr id="268" name="Google Shape;268;g344831896cd_0_0"/>
          <p:cNvSpPr txBox="1"/>
          <p:nvPr>
            <p:ph idx="2" type="title"/>
          </p:nvPr>
        </p:nvSpPr>
        <p:spPr>
          <a:xfrm>
            <a:off x="2577067" y="5422900"/>
            <a:ext cx="7287600" cy="646500"/>
          </a:xfrm>
          <a:prstGeom prst="rect">
            <a:avLst/>
          </a:prstGeom>
        </p:spPr>
        <p:txBody>
          <a:bodyPr anchorCtr="0" anchor="t" bIns="121900" lIns="121900" spcFirstLastPara="1" rIns="121900" wrap="square" tIns="121900">
            <a:normAutofit/>
          </a:bodyPr>
          <a:lstStyle/>
          <a:p>
            <a:pPr indent="0" lvl="0" marL="0" rtl="0" algn="ctr">
              <a:spcBef>
                <a:spcPts val="0"/>
              </a:spcBef>
              <a:spcAft>
                <a:spcPts val="0"/>
              </a:spcAft>
              <a:buNone/>
            </a:pPr>
            <a:r>
              <a:rPr lang="es-ES"/>
              <a:t>SOSTENIBILIDAD APLICADA AL SISTEMA PRODUCTIVO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1"/>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74" name="Google Shape;274;p1"/>
          <p:cNvGrpSpPr/>
          <p:nvPr/>
        </p:nvGrpSpPr>
        <p:grpSpPr>
          <a:xfrm>
            <a:off x="1091219" y="3985"/>
            <a:ext cx="9747620" cy="6858000"/>
            <a:chOff x="1318434" y="36937"/>
            <a:chExt cx="9747620" cy="6858000"/>
          </a:xfrm>
        </p:grpSpPr>
        <p:sp>
          <p:nvSpPr>
            <p:cNvPr id="275" name="Google Shape;275;p1"/>
            <p:cNvSpPr/>
            <p:nvPr/>
          </p:nvSpPr>
          <p:spPr>
            <a:xfrm>
              <a:off x="1560551" y="36937"/>
              <a:ext cx="9313016" cy="6858000"/>
            </a:xfrm>
            <a:custGeom>
              <a:rect b="b" l="l" r="r" t="t"/>
              <a:pathLst>
                <a:path extrusionOk="0" h="6858000" w="9313016">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0">
                  <a:srgbClr val="FFFFFF">
                    <a:alpha val="9803"/>
                  </a:srgbClr>
                </a:gs>
                <a:gs pos="2000">
                  <a:srgbClr val="FFFFFF">
                    <a:alpha val="9803"/>
                  </a:srgbClr>
                </a:gs>
                <a:gs pos="16000">
                  <a:srgbClr val="70AD47">
                    <a:alpha val="784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6" name="Google Shape;276;p1"/>
            <p:cNvSpPr/>
            <p:nvPr/>
          </p:nvSpPr>
          <p:spPr>
            <a:xfrm>
              <a:off x="1659468" y="36937"/>
              <a:ext cx="9065550" cy="6858000"/>
            </a:xfrm>
            <a:custGeom>
              <a:rect b="b" l="l" r="r" t="t"/>
              <a:pathLst>
                <a:path extrusionOk="0" h="6858000" w="906555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1"/>
            <p:cNvSpPr/>
            <p:nvPr/>
          </p:nvSpPr>
          <p:spPr>
            <a:xfrm>
              <a:off x="1648217" y="36937"/>
              <a:ext cx="9088051" cy="6858000"/>
            </a:xfrm>
            <a:custGeom>
              <a:rect b="b" l="l" r="r" t="t"/>
              <a:pathLst>
                <a:path extrusionOk="0" h="6858000" w="9088051">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0">
                  <a:srgbClr val="FFFFFF">
                    <a:alpha val="9803"/>
                  </a:srgbClr>
                </a:gs>
                <a:gs pos="2000">
                  <a:srgbClr val="FFFFFF">
                    <a:alpha val="9803"/>
                  </a:srgbClr>
                </a:gs>
                <a:gs pos="16000">
                  <a:srgbClr val="70AD47">
                    <a:alpha val="20000"/>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1"/>
            <p:cNvSpPr/>
            <p:nvPr/>
          </p:nvSpPr>
          <p:spPr>
            <a:xfrm>
              <a:off x="1629061" y="36937"/>
              <a:ext cx="9107210" cy="6858000"/>
            </a:xfrm>
            <a:custGeom>
              <a:rect b="b" l="l" r="r" t="t"/>
              <a:pathLst>
                <a:path extrusionOk="0" h="6858000" w="910721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0">
                  <a:srgbClr val="FFFFFF">
                    <a:alpha val="9803"/>
                  </a:srgbClr>
                </a:gs>
                <a:gs pos="2000">
                  <a:srgbClr val="FFFFFF">
                    <a:alpha val="9803"/>
                  </a:srgbClr>
                </a:gs>
                <a:gs pos="16000">
                  <a:srgbClr val="70AD47">
                    <a:alpha val="784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1"/>
            <p:cNvSpPr/>
            <p:nvPr/>
          </p:nvSpPr>
          <p:spPr>
            <a:xfrm>
              <a:off x="1318434" y="36937"/>
              <a:ext cx="9747620" cy="6858000"/>
            </a:xfrm>
            <a:custGeom>
              <a:rect b="b" l="l" r="r" t="t"/>
              <a:pathLst>
                <a:path extrusionOk="0" h="6858000" w="974762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0">
                  <a:srgbClr val="FFFFFF">
                    <a:alpha val="9803"/>
                  </a:srgbClr>
                </a:gs>
                <a:gs pos="2000">
                  <a:srgbClr val="FFFFFF">
                    <a:alpha val="9803"/>
                  </a:srgbClr>
                </a:gs>
                <a:gs pos="16000">
                  <a:srgbClr val="70AD47">
                    <a:alpha val="20000"/>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80" name="Google Shape;280;p1"/>
          <p:cNvSpPr txBox="1"/>
          <p:nvPr/>
        </p:nvSpPr>
        <p:spPr>
          <a:xfrm>
            <a:off x="3469566" y="2571306"/>
            <a:ext cx="4784525" cy="1325563"/>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Clr>
                <a:schemeClr val="dk1"/>
              </a:buClr>
              <a:buSzPct val="100000"/>
              <a:buFont typeface="Calibri"/>
              <a:buNone/>
            </a:pPr>
            <a:r>
              <a:rPr b="1" i="0" lang="es-ES" sz="5800" u="none" cap="none" strike="noStrike">
                <a:solidFill>
                  <a:schemeClr val="dk1"/>
                </a:solidFill>
                <a:latin typeface="Calibri"/>
                <a:ea typeface="Calibri"/>
                <a:cs typeface="Calibri"/>
                <a:sym typeface="Calibri"/>
              </a:rPr>
              <a:t>2.1. EL CONCEPTO DE SOSTENIBILIDAD</a:t>
            </a:r>
            <a:endParaRPr b="0" i="0" sz="4400" u="none" cap="none" strike="noStrike">
              <a:solidFill>
                <a:schemeClr val="dk1"/>
              </a:solidFill>
              <a:latin typeface="Calibri"/>
              <a:ea typeface="Calibri"/>
              <a:cs typeface="Calibri"/>
              <a:sym typeface="Calibri"/>
            </a:endParaRPr>
          </a:p>
        </p:txBody>
      </p:sp>
      <p:sp>
        <p:nvSpPr>
          <p:cNvPr id="281" name="Google Shape;281;p1"/>
          <p:cNvSpPr txBox="1"/>
          <p:nvPr/>
        </p:nvSpPr>
        <p:spPr>
          <a:xfrm>
            <a:off x="7433263" y="6452911"/>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i="0" lang="es-ES" sz="1400" u="none" cap="none" strike="noStrike">
                <a:solidFill>
                  <a:srgbClr val="BFBFBF"/>
                </a:solidFill>
                <a:latin typeface="Calibri"/>
                <a:ea typeface="Calibri"/>
                <a:cs typeface="Calibri"/>
                <a:sym typeface="Calibri"/>
              </a:rPr>
              <a:t>Sostenibilidad aplicada al sistema productivo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
          <p:cNvSpPr txBox="1"/>
          <p:nvPr>
            <p:ph type="title"/>
          </p:nvPr>
        </p:nvSpPr>
        <p:spPr>
          <a:xfrm>
            <a:off x="838200" y="533807"/>
            <a:ext cx="92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EL CONCEPTO DE SOSTENIBILIDAD</a:t>
            </a:r>
            <a:br>
              <a:rPr b="1" lang="es-ES" sz="4400">
                <a:solidFill>
                  <a:srgbClr val="2F5496"/>
                </a:solidFill>
                <a:latin typeface="Calibri"/>
                <a:ea typeface="Calibri"/>
                <a:cs typeface="Calibri"/>
                <a:sym typeface="Calibri"/>
              </a:rPr>
            </a:br>
            <a:endParaRPr/>
          </a:p>
        </p:txBody>
      </p:sp>
      <p:cxnSp>
        <p:nvCxnSpPr>
          <p:cNvPr id="287" name="Google Shape;287;p2"/>
          <p:cNvCxnSpPr/>
          <p:nvPr/>
        </p:nvCxnSpPr>
        <p:spPr>
          <a:xfrm>
            <a:off x="-8878" y="1251747"/>
            <a:ext cx="8673600" cy="0"/>
          </a:xfrm>
          <a:prstGeom prst="straightConnector1">
            <a:avLst/>
          </a:prstGeom>
          <a:noFill/>
          <a:ln cap="flat" cmpd="sng" w="9525">
            <a:solidFill>
              <a:srgbClr val="B3C544"/>
            </a:solidFill>
            <a:prstDash val="solid"/>
            <a:miter lim="800000"/>
            <a:headEnd len="sm" w="sm" type="none"/>
            <a:tailEnd len="sm" w="sm" type="none"/>
          </a:ln>
        </p:spPr>
      </p:cxnSp>
      <p:sp>
        <p:nvSpPr>
          <p:cNvPr id="288" name="Google Shape;288;p2"/>
          <p:cNvSpPr txBox="1"/>
          <p:nvPr/>
        </p:nvSpPr>
        <p:spPr>
          <a:xfrm>
            <a:off x="6729273" y="6468173"/>
            <a:ext cx="4758300" cy="444000"/>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i="0" lang="es-ES" sz="1400" u="none" cap="none" strike="noStrike">
                <a:solidFill>
                  <a:srgbClr val="BFBFBF"/>
                </a:solidFill>
                <a:latin typeface="Calibri"/>
                <a:ea typeface="Calibri"/>
                <a:cs typeface="Calibri"/>
                <a:sym typeface="Calibri"/>
              </a:rPr>
              <a:t>Sostenibilidad Aplicada al Sistema Productivo</a:t>
            </a:r>
            <a:endParaRPr/>
          </a:p>
        </p:txBody>
      </p:sp>
      <p:pic>
        <p:nvPicPr>
          <p:cNvPr descr="Un dibujo de una persona&#10;&#10;Descripción generada automáticamente con confianza baja" id="289" name="Google Shape;289;p2"/>
          <p:cNvPicPr preferRelativeResize="0"/>
          <p:nvPr/>
        </p:nvPicPr>
        <p:blipFill rotWithShape="1">
          <a:blip r:embed="rId3">
            <a:alphaModFix/>
          </a:blip>
          <a:srcRect b="0" l="0" r="17464" t="0"/>
          <a:stretch/>
        </p:blipFill>
        <p:spPr>
          <a:xfrm>
            <a:off x="190500" y="1715392"/>
            <a:ext cx="7101672" cy="4608801"/>
          </a:xfrm>
          <a:prstGeom prst="rect">
            <a:avLst/>
          </a:prstGeom>
          <a:noFill/>
          <a:ln>
            <a:noFill/>
          </a:ln>
        </p:spPr>
      </p:pic>
      <p:sp>
        <p:nvSpPr>
          <p:cNvPr id="290" name="Google Shape;290;p2"/>
          <p:cNvSpPr txBox="1"/>
          <p:nvPr/>
        </p:nvSpPr>
        <p:spPr>
          <a:xfrm>
            <a:off x="7886700" y="2800350"/>
            <a:ext cx="3600900" cy="3477900"/>
          </a:xfrm>
          <a:prstGeom prst="rect">
            <a:avLst/>
          </a:prstGeom>
          <a:solidFill>
            <a:srgbClr val="8296B0"/>
          </a:solidFill>
          <a:ln>
            <a:noFill/>
          </a:ln>
          <a:effectLst>
            <a:outerShdw blurRad="44450" algn="ctr" dir="5400000" dist="27940">
              <a:srgbClr val="000000">
                <a:alpha val="3176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200" u="none" cap="none" strike="noStrike">
                <a:solidFill>
                  <a:schemeClr val="lt1"/>
                </a:solidFill>
                <a:latin typeface="Calibri"/>
                <a:ea typeface="Calibri"/>
                <a:cs typeface="Calibri"/>
                <a:sym typeface="Calibri"/>
              </a:rPr>
              <a:t>Satisfacer las necesidades de las generaciones actuales sin comprometer las necesidades de las generaciones futuras, al mismo tiempo que se garantiza un equilibrio entre el crecimiento económico, la cohesión social y la protección medioambiental.</a:t>
            </a:r>
            <a:endParaRPr/>
          </a:p>
        </p:txBody>
      </p:sp>
      <p:pic>
        <p:nvPicPr>
          <p:cNvPr descr="Logotipo de la unión europea ilustración vectorial icono de la bandera ..." id="291" name="Google Shape;291;p2"/>
          <p:cNvPicPr preferRelativeResize="0"/>
          <p:nvPr/>
        </p:nvPicPr>
        <p:blipFill rotWithShape="1">
          <a:blip r:embed="rId4">
            <a:alphaModFix/>
          </a:blip>
          <a:srcRect b="0" l="0" r="0" t="0"/>
          <a:stretch/>
        </p:blipFill>
        <p:spPr>
          <a:xfrm>
            <a:off x="8848902" y="1216706"/>
            <a:ext cx="1325563" cy="1325563"/>
          </a:xfrm>
          <a:prstGeom prst="rect">
            <a:avLst/>
          </a:prstGeom>
          <a:noFill/>
          <a:ln>
            <a:noFill/>
          </a:ln>
        </p:spPr>
      </p:pic>
      <p:sp>
        <p:nvSpPr>
          <p:cNvPr id="292" name="Google Shape;292;p2"/>
          <p:cNvSpPr txBox="1"/>
          <p:nvPr/>
        </p:nvSpPr>
        <p:spPr>
          <a:xfrm>
            <a:off x="132735" y="6411354"/>
            <a:ext cx="2142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cap="none" strike="noStrike">
                <a:solidFill>
                  <a:schemeClr val="dk1"/>
                </a:solidFill>
                <a:latin typeface="Calibri"/>
                <a:ea typeface="Calibri"/>
                <a:cs typeface="Calibri"/>
                <a:sym typeface="Calibri"/>
              </a:rPr>
              <a:t>Imagen de Vecteezy</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
          <p:cNvSpPr txBox="1"/>
          <p:nvPr>
            <p:ph type="title"/>
          </p:nvPr>
        </p:nvSpPr>
        <p:spPr>
          <a:xfrm>
            <a:off x="838200" y="533807"/>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EL DESARROLLO SOSTENIBLE</a:t>
            </a:r>
            <a:br>
              <a:rPr b="1" lang="es-ES" sz="4400">
                <a:solidFill>
                  <a:srgbClr val="2F5496"/>
                </a:solidFill>
                <a:latin typeface="Calibri"/>
                <a:ea typeface="Calibri"/>
                <a:cs typeface="Calibri"/>
                <a:sym typeface="Calibri"/>
              </a:rPr>
            </a:br>
            <a:endParaRPr/>
          </a:p>
        </p:txBody>
      </p:sp>
      <p:cxnSp>
        <p:nvCxnSpPr>
          <p:cNvPr id="298" name="Google Shape;298;p3"/>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299" name="Google Shape;299;p3"/>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300" name="Google Shape;300;p3"/>
          <p:cNvSpPr txBox="1"/>
          <p:nvPr/>
        </p:nvSpPr>
        <p:spPr>
          <a:xfrm>
            <a:off x="10034815" y="5908872"/>
            <a:ext cx="21424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Imagen de Vecteezy</a:t>
            </a:r>
            <a:endParaRPr sz="1800">
              <a:solidFill>
                <a:schemeClr val="dk1"/>
              </a:solidFill>
              <a:latin typeface="Calibri"/>
              <a:ea typeface="Calibri"/>
              <a:cs typeface="Calibri"/>
              <a:sym typeface="Calibri"/>
            </a:endParaRPr>
          </a:p>
        </p:txBody>
      </p:sp>
      <p:pic>
        <p:nvPicPr>
          <p:cNvPr descr="Imagen que contiene agua, grande&#10;&#10;Descripción generada automáticamente" id="301" name="Google Shape;301;p3"/>
          <p:cNvPicPr preferRelativeResize="0"/>
          <p:nvPr/>
        </p:nvPicPr>
        <p:blipFill rotWithShape="1">
          <a:blip r:embed="rId3">
            <a:alphaModFix/>
          </a:blip>
          <a:srcRect b="0" l="6198" r="6197" t="0"/>
          <a:stretch/>
        </p:blipFill>
        <p:spPr>
          <a:xfrm>
            <a:off x="5027899" y="1348128"/>
            <a:ext cx="6919452" cy="4512686"/>
          </a:xfrm>
          <a:prstGeom prst="rect">
            <a:avLst/>
          </a:prstGeom>
          <a:noFill/>
          <a:ln>
            <a:noFill/>
          </a:ln>
        </p:spPr>
      </p:pic>
      <p:sp>
        <p:nvSpPr>
          <p:cNvPr id="302" name="Google Shape;302;p3"/>
          <p:cNvSpPr txBox="1"/>
          <p:nvPr/>
        </p:nvSpPr>
        <p:spPr>
          <a:xfrm>
            <a:off x="720216" y="1999184"/>
            <a:ext cx="3601005" cy="3139321"/>
          </a:xfrm>
          <a:prstGeom prst="rect">
            <a:avLst/>
          </a:prstGeom>
          <a:solidFill>
            <a:srgbClr val="8296B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200">
                <a:solidFill>
                  <a:schemeClr val="lt1"/>
                </a:solidFill>
                <a:latin typeface="Calibri"/>
                <a:ea typeface="Calibri"/>
                <a:cs typeface="Calibri"/>
                <a:sym typeface="Calibri"/>
              </a:rPr>
              <a:t>Modelo de progreso y crecimiento que satisface las necesidades de las generaciones presentes sin comprometer las de las generaciones futuras, basado en equilibrar aspectos económicos, sociales y ambientales.</a:t>
            </a:r>
            <a:endParaRPr/>
          </a:p>
        </p:txBody>
      </p:sp>
      <p:sp>
        <p:nvSpPr>
          <p:cNvPr id="303" name="Google Shape;303;p3"/>
          <p:cNvSpPr txBox="1"/>
          <p:nvPr/>
        </p:nvSpPr>
        <p:spPr>
          <a:xfrm>
            <a:off x="3849329" y="6468173"/>
            <a:ext cx="336263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7" name="Shape 307"/>
        <p:cNvGrpSpPr/>
        <p:nvPr/>
      </p:nvGrpSpPr>
      <p:grpSpPr>
        <a:xfrm>
          <a:off x="0" y="0"/>
          <a:ext cx="0" cy="0"/>
          <a:chOff x="0" y="0"/>
          <a:chExt cx="0" cy="0"/>
        </a:xfrm>
      </p:grpSpPr>
      <p:sp>
        <p:nvSpPr>
          <p:cNvPr id="308" name="Google Shape;308;p4"/>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09" name="Google Shape;309;p4"/>
          <p:cNvGrpSpPr/>
          <p:nvPr/>
        </p:nvGrpSpPr>
        <p:grpSpPr>
          <a:xfrm>
            <a:off x="1091219" y="3985"/>
            <a:ext cx="9747620" cy="6858000"/>
            <a:chOff x="1318434" y="36937"/>
            <a:chExt cx="9747620" cy="6858000"/>
          </a:xfrm>
        </p:grpSpPr>
        <p:sp>
          <p:nvSpPr>
            <p:cNvPr id="310" name="Google Shape;310;p4"/>
            <p:cNvSpPr/>
            <p:nvPr/>
          </p:nvSpPr>
          <p:spPr>
            <a:xfrm>
              <a:off x="1560551" y="36937"/>
              <a:ext cx="9313016" cy="6858000"/>
            </a:xfrm>
            <a:custGeom>
              <a:rect b="b" l="l" r="r" t="t"/>
              <a:pathLst>
                <a:path extrusionOk="0" h="6858000" w="9313016">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0">
                  <a:srgbClr val="FFFFFF">
                    <a:alpha val="9803"/>
                  </a:srgbClr>
                </a:gs>
                <a:gs pos="2000">
                  <a:srgbClr val="FFFFFF">
                    <a:alpha val="9803"/>
                  </a:srgbClr>
                </a:gs>
                <a:gs pos="16000">
                  <a:srgbClr val="70AD47">
                    <a:alpha val="784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4"/>
            <p:cNvSpPr/>
            <p:nvPr/>
          </p:nvSpPr>
          <p:spPr>
            <a:xfrm>
              <a:off x="1659468" y="36937"/>
              <a:ext cx="9065550" cy="6858000"/>
            </a:xfrm>
            <a:custGeom>
              <a:rect b="b" l="l" r="r" t="t"/>
              <a:pathLst>
                <a:path extrusionOk="0" h="6858000" w="906555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p4"/>
            <p:cNvSpPr/>
            <p:nvPr/>
          </p:nvSpPr>
          <p:spPr>
            <a:xfrm>
              <a:off x="1648217" y="36937"/>
              <a:ext cx="9088051" cy="6858000"/>
            </a:xfrm>
            <a:custGeom>
              <a:rect b="b" l="l" r="r" t="t"/>
              <a:pathLst>
                <a:path extrusionOk="0" h="6858000" w="9088051">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0">
                  <a:srgbClr val="FFFFFF">
                    <a:alpha val="9803"/>
                  </a:srgbClr>
                </a:gs>
                <a:gs pos="2000">
                  <a:srgbClr val="FFFFFF">
                    <a:alpha val="9803"/>
                  </a:srgbClr>
                </a:gs>
                <a:gs pos="16000">
                  <a:srgbClr val="70AD47">
                    <a:alpha val="20000"/>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4"/>
            <p:cNvSpPr/>
            <p:nvPr/>
          </p:nvSpPr>
          <p:spPr>
            <a:xfrm>
              <a:off x="1629061" y="36937"/>
              <a:ext cx="9107210" cy="6858000"/>
            </a:xfrm>
            <a:custGeom>
              <a:rect b="b" l="l" r="r" t="t"/>
              <a:pathLst>
                <a:path extrusionOk="0" h="6858000" w="910721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0">
                  <a:srgbClr val="FFFFFF">
                    <a:alpha val="9803"/>
                  </a:srgbClr>
                </a:gs>
                <a:gs pos="2000">
                  <a:srgbClr val="FFFFFF">
                    <a:alpha val="9803"/>
                  </a:srgbClr>
                </a:gs>
                <a:gs pos="16000">
                  <a:srgbClr val="70AD47">
                    <a:alpha val="784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4"/>
            <p:cNvSpPr/>
            <p:nvPr/>
          </p:nvSpPr>
          <p:spPr>
            <a:xfrm>
              <a:off x="1318434" y="36937"/>
              <a:ext cx="9747620" cy="6858000"/>
            </a:xfrm>
            <a:custGeom>
              <a:rect b="b" l="l" r="r" t="t"/>
              <a:pathLst>
                <a:path extrusionOk="0" h="6858000" w="974762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0">
                  <a:srgbClr val="FFFFFF">
                    <a:alpha val="9803"/>
                  </a:srgbClr>
                </a:gs>
                <a:gs pos="2000">
                  <a:srgbClr val="FFFFFF">
                    <a:alpha val="9803"/>
                  </a:srgbClr>
                </a:gs>
                <a:gs pos="16000">
                  <a:srgbClr val="70AD47">
                    <a:alpha val="20000"/>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15" name="Google Shape;315;p4"/>
          <p:cNvSpPr txBox="1"/>
          <p:nvPr/>
        </p:nvSpPr>
        <p:spPr>
          <a:xfrm>
            <a:off x="3469566" y="2571306"/>
            <a:ext cx="4784525" cy="1325563"/>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Clr>
                <a:schemeClr val="dk1"/>
              </a:buClr>
              <a:buSzPct val="100000"/>
              <a:buFont typeface="Calibri"/>
              <a:buNone/>
            </a:pPr>
            <a:r>
              <a:rPr b="1" lang="es-ES" sz="5800">
                <a:solidFill>
                  <a:schemeClr val="dk1"/>
                </a:solidFill>
                <a:latin typeface="Calibri"/>
                <a:ea typeface="Calibri"/>
                <a:cs typeface="Calibri"/>
                <a:sym typeface="Calibri"/>
              </a:rPr>
              <a:t>2.2. ACCIONES EN TODO EL MUNDO</a:t>
            </a:r>
            <a:br>
              <a:rPr b="1" lang="es-ES" sz="4400">
                <a:solidFill>
                  <a:srgbClr val="2F5496"/>
                </a:solidFill>
                <a:latin typeface="Calibri"/>
                <a:ea typeface="Calibri"/>
                <a:cs typeface="Calibri"/>
                <a:sym typeface="Calibri"/>
              </a:rPr>
            </a:br>
            <a:endParaRPr sz="4400">
              <a:solidFill>
                <a:schemeClr val="dk1"/>
              </a:solidFill>
              <a:latin typeface="Calibri"/>
              <a:ea typeface="Calibri"/>
              <a:cs typeface="Calibri"/>
              <a:sym typeface="Calibri"/>
            </a:endParaRPr>
          </a:p>
        </p:txBody>
      </p:sp>
      <p:sp>
        <p:nvSpPr>
          <p:cNvPr id="316" name="Google Shape;316;p4"/>
          <p:cNvSpPr txBox="1"/>
          <p:nvPr/>
        </p:nvSpPr>
        <p:spPr>
          <a:xfrm>
            <a:off x="7433263" y="6452911"/>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
          <p:cNvSpPr txBox="1"/>
          <p:nvPr>
            <p:ph type="title"/>
          </p:nvPr>
        </p:nvSpPr>
        <p:spPr>
          <a:xfrm>
            <a:off x="838200" y="533807"/>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sz="4400">
                <a:latin typeface="Calibri"/>
                <a:ea typeface="Calibri"/>
                <a:cs typeface="Calibri"/>
                <a:sym typeface="Calibri"/>
              </a:rPr>
              <a:t>CRONOLOGÍA</a:t>
            </a:r>
            <a:br>
              <a:rPr b="1" lang="es-ES" sz="4400">
                <a:solidFill>
                  <a:srgbClr val="2F5496"/>
                </a:solidFill>
                <a:latin typeface="Calibri"/>
                <a:ea typeface="Calibri"/>
                <a:cs typeface="Calibri"/>
                <a:sym typeface="Calibri"/>
              </a:rPr>
            </a:br>
            <a:endParaRPr/>
          </a:p>
        </p:txBody>
      </p:sp>
      <p:cxnSp>
        <p:nvCxnSpPr>
          <p:cNvPr id="323" name="Google Shape;323;p5"/>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324" name="Google Shape;324;p5"/>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325" name="Google Shape;325;p5"/>
          <p:cNvSpPr/>
          <p:nvPr/>
        </p:nvSpPr>
        <p:spPr>
          <a:xfrm>
            <a:off x="58996" y="3311017"/>
            <a:ext cx="11120281" cy="236146"/>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5"/>
          <p:cNvSpPr/>
          <p:nvPr/>
        </p:nvSpPr>
        <p:spPr>
          <a:xfrm>
            <a:off x="789041" y="3226602"/>
            <a:ext cx="383458" cy="427700"/>
          </a:xfrm>
          <a:prstGeom prst="ellipse">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5"/>
          <p:cNvSpPr txBox="1"/>
          <p:nvPr/>
        </p:nvSpPr>
        <p:spPr>
          <a:xfrm>
            <a:off x="294969" y="2713706"/>
            <a:ext cx="14010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1968</a:t>
            </a:r>
            <a:endParaRPr/>
          </a:p>
        </p:txBody>
      </p:sp>
      <p:sp>
        <p:nvSpPr>
          <p:cNvPr id="328" name="Google Shape;328;p5"/>
          <p:cNvSpPr/>
          <p:nvPr/>
        </p:nvSpPr>
        <p:spPr>
          <a:xfrm>
            <a:off x="58996" y="4203293"/>
            <a:ext cx="1843548" cy="1328351"/>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El Club de Roma encarga al MIT un estudio sobre la situación mundial</a:t>
            </a:r>
            <a:endParaRPr/>
          </a:p>
        </p:txBody>
      </p:sp>
      <p:sp>
        <p:nvSpPr>
          <p:cNvPr id="329" name="Google Shape;329;p5"/>
          <p:cNvSpPr/>
          <p:nvPr/>
        </p:nvSpPr>
        <p:spPr>
          <a:xfrm>
            <a:off x="2863969" y="3226602"/>
            <a:ext cx="383458" cy="427700"/>
          </a:xfrm>
          <a:prstGeom prst="ellipse">
            <a:avLst/>
          </a:prstGeom>
          <a:solidFill>
            <a:srgbClr val="00B05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 name="Google Shape;330;p5"/>
          <p:cNvSpPr/>
          <p:nvPr/>
        </p:nvSpPr>
        <p:spPr>
          <a:xfrm>
            <a:off x="2133595" y="1400266"/>
            <a:ext cx="1843548" cy="1328351"/>
          </a:xfrm>
          <a:prstGeom prst="rect">
            <a:avLst/>
          </a:prstGeom>
          <a:solidFill>
            <a:srgbClr val="00B05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Se publica el informe “Los límites del crecimiento”</a:t>
            </a:r>
            <a:endParaRPr/>
          </a:p>
        </p:txBody>
      </p:sp>
      <p:sp>
        <p:nvSpPr>
          <p:cNvPr id="331" name="Google Shape;331;p5"/>
          <p:cNvSpPr txBox="1"/>
          <p:nvPr/>
        </p:nvSpPr>
        <p:spPr>
          <a:xfrm>
            <a:off x="2354821" y="3754012"/>
            <a:ext cx="14010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1971</a:t>
            </a:r>
            <a:endParaRPr/>
          </a:p>
        </p:txBody>
      </p:sp>
      <p:sp>
        <p:nvSpPr>
          <p:cNvPr id="332" name="Google Shape;332;p5"/>
          <p:cNvSpPr/>
          <p:nvPr/>
        </p:nvSpPr>
        <p:spPr>
          <a:xfrm>
            <a:off x="4931459" y="3226602"/>
            <a:ext cx="383458" cy="427700"/>
          </a:xfrm>
          <a:prstGeom prst="ellipse">
            <a:avLst/>
          </a:prstGeom>
          <a:solidFill>
            <a:srgbClr val="E6E10D"/>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5"/>
          <p:cNvSpPr txBox="1"/>
          <p:nvPr/>
        </p:nvSpPr>
        <p:spPr>
          <a:xfrm>
            <a:off x="4422640" y="2711863"/>
            <a:ext cx="14010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1987</a:t>
            </a:r>
            <a:endParaRPr/>
          </a:p>
        </p:txBody>
      </p:sp>
      <p:sp>
        <p:nvSpPr>
          <p:cNvPr id="334" name="Google Shape;334;p5">
            <a:hlinkClick r:id="rId3"/>
          </p:cNvPr>
          <p:cNvSpPr/>
          <p:nvPr/>
        </p:nvSpPr>
        <p:spPr>
          <a:xfrm>
            <a:off x="4201414" y="4203293"/>
            <a:ext cx="1843548" cy="1328351"/>
          </a:xfrm>
          <a:prstGeom prst="rect">
            <a:avLst/>
          </a:prstGeom>
          <a:solidFill>
            <a:srgbClr val="E6E10D"/>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Presentación del informe “Nuestro Futuro Común” o Informe Brundtland</a:t>
            </a:r>
            <a:endParaRPr/>
          </a:p>
        </p:txBody>
      </p:sp>
      <p:sp>
        <p:nvSpPr>
          <p:cNvPr id="335" name="Google Shape;335;p5"/>
          <p:cNvSpPr/>
          <p:nvPr/>
        </p:nvSpPr>
        <p:spPr>
          <a:xfrm>
            <a:off x="7034040" y="3226602"/>
            <a:ext cx="383458" cy="427700"/>
          </a:xfrm>
          <a:prstGeom prst="ellipse">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5">
            <a:hlinkClick r:id="rId4"/>
          </p:cNvPr>
          <p:cNvSpPr/>
          <p:nvPr/>
        </p:nvSpPr>
        <p:spPr>
          <a:xfrm>
            <a:off x="5926973" y="1400266"/>
            <a:ext cx="2597593" cy="1328351"/>
          </a:xfrm>
          <a:prstGeom prst="rect">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Segunda “Cumbre de la Tierra”. Convenio sobre la Diversidad Biológica y la Convención Marco sobre el Cambio Climático</a:t>
            </a:r>
            <a:endParaRPr/>
          </a:p>
        </p:txBody>
      </p:sp>
      <p:sp>
        <p:nvSpPr>
          <p:cNvPr id="337" name="Google Shape;337;p5"/>
          <p:cNvSpPr txBox="1"/>
          <p:nvPr/>
        </p:nvSpPr>
        <p:spPr>
          <a:xfrm>
            <a:off x="6525221" y="3756171"/>
            <a:ext cx="14010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1992</a:t>
            </a:r>
            <a:endParaRPr/>
          </a:p>
        </p:txBody>
      </p:sp>
      <p:sp>
        <p:nvSpPr>
          <p:cNvPr id="338" name="Google Shape;338;p5"/>
          <p:cNvSpPr/>
          <p:nvPr/>
        </p:nvSpPr>
        <p:spPr>
          <a:xfrm>
            <a:off x="11193451" y="3101844"/>
            <a:ext cx="710381" cy="692966"/>
          </a:xfrm>
          <a:prstGeom prst="ellipse">
            <a:avLst/>
          </a:prstGeom>
          <a:solidFill>
            <a:srgbClr val="BAF4E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200">
                <a:solidFill>
                  <a:srgbClr val="595959"/>
                </a:solidFill>
                <a:latin typeface="Calibri"/>
                <a:ea typeface="Calibri"/>
                <a:cs typeface="Calibri"/>
                <a:sym typeface="Calibri"/>
              </a:rPr>
              <a:t>2015</a:t>
            </a:r>
            <a:endParaRPr/>
          </a:p>
        </p:txBody>
      </p:sp>
      <p:sp>
        <p:nvSpPr>
          <p:cNvPr id="339" name="Google Shape;339;p5">
            <a:hlinkClick r:id="rId5"/>
          </p:cNvPr>
          <p:cNvSpPr/>
          <p:nvPr/>
        </p:nvSpPr>
        <p:spPr>
          <a:xfrm>
            <a:off x="10925231" y="1400266"/>
            <a:ext cx="1246820" cy="1328351"/>
          </a:xfrm>
          <a:prstGeom prst="rect">
            <a:avLst/>
          </a:prstGeom>
          <a:solidFill>
            <a:srgbClr val="BAF4E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rgbClr val="595959"/>
                </a:solidFill>
                <a:latin typeface="Calibri"/>
                <a:ea typeface="Calibri"/>
                <a:cs typeface="Calibri"/>
                <a:sym typeface="Calibri"/>
              </a:rPr>
              <a:t>Cumbre para el Desarrollo Sostenible</a:t>
            </a:r>
            <a:endParaRPr/>
          </a:p>
        </p:txBody>
      </p:sp>
      <p:sp>
        <p:nvSpPr>
          <p:cNvPr id="340" name="Google Shape;340;p5"/>
          <p:cNvSpPr/>
          <p:nvPr/>
        </p:nvSpPr>
        <p:spPr>
          <a:xfrm>
            <a:off x="9059256" y="3226602"/>
            <a:ext cx="383458" cy="427700"/>
          </a:xfrm>
          <a:prstGeom prst="ellipse">
            <a:avLst/>
          </a:prstGeom>
          <a:solidFill>
            <a:srgbClr val="75707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5"/>
          <p:cNvSpPr txBox="1"/>
          <p:nvPr/>
        </p:nvSpPr>
        <p:spPr>
          <a:xfrm>
            <a:off x="8550437" y="2701223"/>
            <a:ext cx="140109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2012</a:t>
            </a:r>
            <a:endParaRPr/>
          </a:p>
        </p:txBody>
      </p:sp>
      <p:sp>
        <p:nvSpPr>
          <p:cNvPr id="342" name="Google Shape;342;p5">
            <a:hlinkClick r:id="rId6"/>
          </p:cNvPr>
          <p:cNvSpPr/>
          <p:nvPr/>
        </p:nvSpPr>
        <p:spPr>
          <a:xfrm>
            <a:off x="8329211" y="4203293"/>
            <a:ext cx="1843548" cy="1328351"/>
          </a:xfrm>
          <a:prstGeom prst="rect">
            <a:avLst/>
          </a:prstGeom>
          <a:solidFill>
            <a:srgbClr val="75707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Tercera “Cumbre de la Tierra”. Conferencia de Desarrollo Sostenible ONU</a:t>
            </a:r>
            <a:endParaRPr/>
          </a:p>
        </p:txBody>
      </p:sp>
      <p:sp>
        <p:nvSpPr>
          <p:cNvPr id="343" name="Google Shape;343;p5"/>
          <p:cNvSpPr/>
          <p:nvPr/>
        </p:nvSpPr>
        <p:spPr>
          <a:xfrm rot="5400000">
            <a:off x="8983344" y="3821578"/>
            <a:ext cx="554255" cy="275995"/>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5"/>
          <p:cNvSpPr/>
          <p:nvPr/>
        </p:nvSpPr>
        <p:spPr>
          <a:xfrm rot="5400000">
            <a:off x="4833946" y="3817075"/>
            <a:ext cx="554255" cy="275995"/>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5"/>
          <p:cNvSpPr/>
          <p:nvPr/>
        </p:nvSpPr>
        <p:spPr>
          <a:xfrm rot="5400000">
            <a:off x="718389" y="3817074"/>
            <a:ext cx="554255" cy="275995"/>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5"/>
          <p:cNvSpPr/>
          <p:nvPr/>
        </p:nvSpPr>
        <p:spPr>
          <a:xfrm flipH="1" rot="5400000">
            <a:off x="6950119" y="2827147"/>
            <a:ext cx="554255" cy="275995"/>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5"/>
          <p:cNvSpPr/>
          <p:nvPr/>
        </p:nvSpPr>
        <p:spPr>
          <a:xfrm flipH="1" rot="5400000">
            <a:off x="2766490" y="2830357"/>
            <a:ext cx="554255" cy="275995"/>
          </a:xfrm>
          <a:prstGeom prst="rightArrow">
            <a:avLst>
              <a:gd fmla="val 50000" name="adj1"/>
              <a:gd fmla="val 87500" name="adj2"/>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5"/>
          <p:cNvSpPr/>
          <p:nvPr/>
        </p:nvSpPr>
        <p:spPr>
          <a:xfrm flipH="1" rot="5400000">
            <a:off x="11372846" y="2767737"/>
            <a:ext cx="368545" cy="290303"/>
          </a:xfrm>
          <a:prstGeom prst="rightArrow">
            <a:avLst>
              <a:gd fmla="val 50000" name="adj1"/>
              <a:gd fmla="val 87500" name="adj2"/>
            </a:avLst>
          </a:prstGeom>
          <a:solidFill>
            <a:srgbClr val="7570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5"/>
          <p:cNvSpPr txBox="1"/>
          <p:nvPr/>
        </p:nvSpPr>
        <p:spPr>
          <a:xfrm>
            <a:off x="58996" y="5855114"/>
            <a:ext cx="786732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Calibri"/>
                <a:ea typeface="Calibri"/>
                <a:cs typeface="Calibri"/>
                <a:sym typeface="Calibri"/>
              </a:rPr>
              <a:t>La preocupación por las cuestiones ambientales desencadenó una serie de cumbres hasta llegar a la </a:t>
            </a:r>
            <a:r>
              <a:rPr b="1" lang="es-ES" sz="2000">
                <a:solidFill>
                  <a:schemeClr val="dk1"/>
                </a:solidFill>
                <a:latin typeface="Calibri"/>
                <a:ea typeface="Calibri"/>
                <a:cs typeface="Calibri"/>
                <a:sym typeface="Calibri"/>
              </a:rPr>
              <a:t>Cumbre para el Desarrollo Sostenible de 2015</a:t>
            </a:r>
            <a:r>
              <a:rPr lang="es-ES" sz="2000">
                <a:solidFill>
                  <a:schemeClr val="dk1"/>
                </a:solidFill>
                <a:latin typeface="Calibri"/>
                <a:ea typeface="Calibri"/>
                <a:cs typeface="Calibri"/>
                <a:sym typeface="Calibri"/>
              </a:rPr>
              <a:t>, cuyo resultado fue la </a:t>
            </a:r>
            <a:r>
              <a:rPr b="1" lang="es-ES" sz="2000">
                <a:solidFill>
                  <a:srgbClr val="C00000"/>
                </a:solidFill>
                <a:latin typeface="Calibri"/>
                <a:ea typeface="Calibri"/>
                <a:cs typeface="Calibri"/>
                <a:sym typeface="Calibri"/>
              </a:rPr>
              <a:t>Agenda 2030. </a:t>
            </a:r>
            <a:endParaRPr/>
          </a:p>
        </p:txBody>
      </p:sp>
      <p:sp>
        <p:nvSpPr>
          <p:cNvPr id="350" name="Google Shape;350;p5"/>
          <p:cNvSpPr txBox="1"/>
          <p:nvPr/>
        </p:nvSpPr>
        <p:spPr>
          <a:xfrm>
            <a:off x="289863" y="1428448"/>
            <a:ext cx="168730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Este informe es crucial para desencadenar la inquietud.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descr="Mapa&#10;&#10;Descripción generada automáticamente" id="356" name="Google Shape;356;p6"/>
          <p:cNvPicPr preferRelativeResize="0"/>
          <p:nvPr/>
        </p:nvPicPr>
        <p:blipFill rotWithShape="1">
          <a:blip r:embed="rId3">
            <a:alphaModFix/>
          </a:blip>
          <a:srcRect b="0" l="0" r="0" t="0"/>
          <a:stretch/>
        </p:blipFill>
        <p:spPr>
          <a:xfrm>
            <a:off x="1205043" y="1251748"/>
            <a:ext cx="9576025" cy="5386514"/>
          </a:xfrm>
          <a:prstGeom prst="rect">
            <a:avLst/>
          </a:prstGeom>
          <a:noFill/>
          <a:ln>
            <a:noFill/>
          </a:ln>
        </p:spPr>
      </p:pic>
      <p:sp>
        <p:nvSpPr>
          <p:cNvPr id="357" name="Google Shape;357;p6"/>
          <p:cNvSpPr txBox="1"/>
          <p:nvPr>
            <p:ph type="title"/>
          </p:nvPr>
        </p:nvSpPr>
        <p:spPr>
          <a:xfrm>
            <a:off x="838200" y="533807"/>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sz="4400">
                <a:latin typeface="Calibri"/>
                <a:ea typeface="Calibri"/>
                <a:cs typeface="Calibri"/>
                <a:sym typeface="Calibri"/>
              </a:rPr>
              <a:t>AGENDA 2030: 4 PUNTOS CLAVE</a:t>
            </a:r>
            <a:br>
              <a:rPr b="1" lang="es-ES" sz="4400">
                <a:solidFill>
                  <a:srgbClr val="2F5496"/>
                </a:solidFill>
                <a:latin typeface="Calibri"/>
                <a:ea typeface="Calibri"/>
                <a:cs typeface="Calibri"/>
                <a:sym typeface="Calibri"/>
              </a:rPr>
            </a:br>
            <a:endParaRPr/>
          </a:p>
        </p:txBody>
      </p:sp>
      <p:cxnSp>
        <p:nvCxnSpPr>
          <p:cNvPr id="358" name="Google Shape;358;p6"/>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359" name="Google Shape;359;p6"/>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7"/>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EL ACUERDO DE PARÍS</a:t>
            </a:r>
            <a:endParaRPr sz="4000"/>
          </a:p>
        </p:txBody>
      </p:sp>
      <p:cxnSp>
        <p:nvCxnSpPr>
          <p:cNvPr id="366" name="Google Shape;366;p7"/>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367" name="Google Shape;367;p7"/>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descr="Diagrama&#10;&#10;Descripción generada automáticamente" id="368" name="Google Shape;368;p7"/>
          <p:cNvPicPr preferRelativeResize="0"/>
          <p:nvPr/>
        </p:nvPicPr>
        <p:blipFill rotWithShape="1">
          <a:blip r:embed="rId3">
            <a:alphaModFix/>
          </a:blip>
          <a:srcRect b="0" l="0" r="0" t="0"/>
          <a:stretch/>
        </p:blipFill>
        <p:spPr>
          <a:xfrm>
            <a:off x="3680020" y="3158059"/>
            <a:ext cx="1295688" cy="1974382"/>
          </a:xfrm>
          <a:prstGeom prst="rect">
            <a:avLst/>
          </a:prstGeom>
          <a:noFill/>
          <a:ln>
            <a:noFill/>
          </a:ln>
        </p:spPr>
      </p:pic>
      <p:pic>
        <p:nvPicPr>
          <p:cNvPr descr="Mapa&#10;&#10;Descripción generada automáticamente" id="369" name="Google Shape;369;p7"/>
          <p:cNvPicPr preferRelativeResize="0"/>
          <p:nvPr/>
        </p:nvPicPr>
        <p:blipFill rotWithShape="1">
          <a:blip r:embed="rId4">
            <a:alphaModFix/>
          </a:blip>
          <a:srcRect b="0" l="0" r="0" t="0"/>
          <a:stretch/>
        </p:blipFill>
        <p:spPr>
          <a:xfrm>
            <a:off x="210317" y="1531969"/>
            <a:ext cx="2183822" cy="2183822"/>
          </a:xfrm>
          <a:prstGeom prst="rect">
            <a:avLst/>
          </a:prstGeom>
          <a:noFill/>
          <a:ln>
            <a:noFill/>
          </a:ln>
        </p:spPr>
      </p:pic>
      <p:sp>
        <p:nvSpPr>
          <p:cNvPr id="370" name="Google Shape;370;p7"/>
          <p:cNvSpPr/>
          <p:nvPr/>
        </p:nvSpPr>
        <p:spPr>
          <a:xfrm>
            <a:off x="373080" y="4734235"/>
            <a:ext cx="1858297" cy="796413"/>
          </a:xfrm>
          <a:prstGeom prst="rect">
            <a:avLst/>
          </a:prstGeom>
          <a:solidFill>
            <a:srgbClr val="1E4E79"/>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193 Estados</a:t>
            </a:r>
            <a:endParaRPr/>
          </a:p>
        </p:txBody>
      </p:sp>
      <p:pic>
        <p:nvPicPr>
          <p:cNvPr descr="Agregar con relleno sólido" id="371" name="Google Shape;371;p7"/>
          <p:cNvPicPr preferRelativeResize="0"/>
          <p:nvPr/>
        </p:nvPicPr>
        <p:blipFill rotWithShape="1">
          <a:blip r:embed="rId5">
            <a:alphaModFix/>
          </a:blip>
          <a:srcRect b="0" l="0" r="0" t="0"/>
          <a:stretch/>
        </p:blipFill>
        <p:spPr>
          <a:xfrm>
            <a:off x="1003573" y="3846595"/>
            <a:ext cx="597310" cy="597310"/>
          </a:xfrm>
          <a:prstGeom prst="rect">
            <a:avLst/>
          </a:prstGeom>
          <a:noFill/>
          <a:ln>
            <a:noFill/>
          </a:ln>
        </p:spPr>
      </p:pic>
      <p:sp>
        <p:nvSpPr>
          <p:cNvPr id="372" name="Google Shape;372;p7"/>
          <p:cNvSpPr txBox="1"/>
          <p:nvPr/>
        </p:nvSpPr>
        <p:spPr>
          <a:xfrm>
            <a:off x="2566219" y="5326041"/>
            <a:ext cx="3529781"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000">
                <a:solidFill>
                  <a:schemeClr val="dk1"/>
                </a:solidFill>
                <a:latin typeface="Calibri"/>
                <a:ea typeface="Calibri"/>
                <a:cs typeface="Calibri"/>
                <a:sym typeface="Calibri"/>
              </a:rPr>
              <a:t>Conferencia de las Naciones Unidas sobre el Cambio Climático (</a:t>
            </a:r>
            <a:r>
              <a:rPr lang="es-ES" sz="2000" u="sng">
                <a:solidFill>
                  <a:schemeClr val="dk1"/>
                </a:solidFill>
                <a:latin typeface="Calibri"/>
                <a:ea typeface="Calibri"/>
                <a:cs typeface="Calibri"/>
                <a:sym typeface="Calibri"/>
                <a:hlinkClick r:id="rId6">
                  <a:extLst>
                    <a:ext uri="{A12FA001-AC4F-418D-AE19-62706E023703}">
                      <ahyp:hlinkClr val="tx"/>
                    </a:ext>
                  </a:extLst>
                </a:hlinkClick>
              </a:rPr>
              <a:t>COP21</a:t>
            </a:r>
            <a:r>
              <a:rPr lang="es-ES" sz="2000">
                <a:solidFill>
                  <a:schemeClr val="dk1"/>
                </a:solidFill>
                <a:latin typeface="Calibri"/>
                <a:ea typeface="Calibri"/>
                <a:cs typeface="Calibri"/>
                <a:sym typeface="Calibri"/>
              </a:rPr>
              <a:t>)</a:t>
            </a:r>
            <a:endParaRPr/>
          </a:p>
        </p:txBody>
      </p:sp>
      <p:sp>
        <p:nvSpPr>
          <p:cNvPr id="373" name="Google Shape;373;p7"/>
          <p:cNvSpPr/>
          <p:nvPr/>
        </p:nvSpPr>
        <p:spPr>
          <a:xfrm>
            <a:off x="2614448" y="3958578"/>
            <a:ext cx="870155" cy="373343"/>
          </a:xfrm>
          <a:prstGeom prst="notchedRightArrow">
            <a:avLst>
              <a:gd fmla="val 50000" name="adj1"/>
              <a:gd fmla="val 50000" name="adj2"/>
            </a:avLst>
          </a:prstGeom>
          <a:solidFill>
            <a:srgbClr val="3A3838"/>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7"/>
          <p:cNvSpPr txBox="1"/>
          <p:nvPr/>
        </p:nvSpPr>
        <p:spPr>
          <a:xfrm>
            <a:off x="3244645" y="2374498"/>
            <a:ext cx="218382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dk1"/>
                </a:solidFill>
                <a:latin typeface="Calibri"/>
                <a:ea typeface="Calibri"/>
                <a:cs typeface="Calibri"/>
                <a:sym typeface="Calibri"/>
              </a:rPr>
              <a:t>12/12/2015</a:t>
            </a:r>
            <a:endParaRPr/>
          </a:p>
        </p:txBody>
      </p:sp>
      <p:sp>
        <p:nvSpPr>
          <p:cNvPr id="375" name="Google Shape;375;p7"/>
          <p:cNvSpPr/>
          <p:nvPr/>
        </p:nvSpPr>
        <p:spPr>
          <a:xfrm>
            <a:off x="5112131" y="3958023"/>
            <a:ext cx="870155" cy="373343"/>
          </a:xfrm>
          <a:prstGeom prst="notchedRightArrow">
            <a:avLst>
              <a:gd fmla="val 50000" name="adj1"/>
              <a:gd fmla="val 50000" name="adj2"/>
            </a:avLst>
          </a:prstGeom>
          <a:solidFill>
            <a:srgbClr val="3A3838"/>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7">
            <a:hlinkClick r:id="rId7"/>
          </p:cNvPr>
          <p:cNvSpPr/>
          <p:nvPr/>
        </p:nvSpPr>
        <p:spPr>
          <a:xfrm>
            <a:off x="6557570" y="3746487"/>
            <a:ext cx="1858297" cy="796413"/>
          </a:xfrm>
          <a:prstGeom prst="rect">
            <a:avLst/>
          </a:prstGeom>
          <a:solidFill>
            <a:srgbClr val="1E4E79"/>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ACUERDO DE PARÍS</a:t>
            </a:r>
            <a:endParaRPr/>
          </a:p>
        </p:txBody>
      </p:sp>
      <p:sp>
        <p:nvSpPr>
          <p:cNvPr id="377" name="Google Shape;377;p7"/>
          <p:cNvSpPr txBox="1"/>
          <p:nvPr/>
        </p:nvSpPr>
        <p:spPr>
          <a:xfrm>
            <a:off x="8664606" y="1946791"/>
            <a:ext cx="3154314" cy="4401205"/>
          </a:xfrm>
          <a:prstGeom prst="rect">
            <a:avLst/>
          </a:prstGeom>
          <a:solidFill>
            <a:srgbClr val="1E4E79"/>
          </a:solidFill>
          <a:ln>
            <a:noFill/>
          </a:ln>
        </p:spPr>
        <p:txBody>
          <a:bodyPr anchorCtr="0" anchor="t" bIns="45700" lIns="91425" spcFirstLastPara="1" rIns="91425" wrap="square" tIns="45700">
            <a:spAutoFit/>
          </a:bodyPr>
          <a:lstStyle/>
          <a:p>
            <a:pPr indent="-127000" lvl="0" marL="0" marR="0" rtl="0" algn="just">
              <a:spcBef>
                <a:spcPts val="0"/>
              </a:spcBef>
              <a:spcAft>
                <a:spcPts val="0"/>
              </a:spcAft>
              <a:buClr>
                <a:schemeClr val="lt1"/>
              </a:buClr>
              <a:buSzPts val="2000"/>
              <a:buFont typeface="Arial"/>
              <a:buChar char="•"/>
            </a:pPr>
            <a:r>
              <a:rPr b="0" i="0" lang="es-ES" sz="2000">
                <a:solidFill>
                  <a:schemeClr val="lt1"/>
                </a:solidFill>
                <a:latin typeface="Calibri"/>
                <a:ea typeface="Calibri"/>
                <a:cs typeface="Calibri"/>
                <a:sym typeface="Calibri"/>
              </a:rPr>
              <a:t> Reducir sustancialmente las emisiones de GEI para limitar el aumento de la temperatura global en este siglo a 2 °C y esforzarse para que no alcance 1,5 °C.</a:t>
            </a:r>
            <a:endParaRPr/>
          </a:p>
          <a:p>
            <a:pPr indent="-127000" lvl="0" marL="0" marR="0" rtl="0" algn="just">
              <a:spcBef>
                <a:spcPts val="120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 R</a:t>
            </a:r>
            <a:r>
              <a:rPr b="0" i="0" lang="es-ES" sz="2000">
                <a:solidFill>
                  <a:schemeClr val="lt1"/>
                </a:solidFill>
                <a:latin typeface="Calibri"/>
                <a:ea typeface="Calibri"/>
                <a:cs typeface="Calibri"/>
                <a:sym typeface="Calibri"/>
              </a:rPr>
              <a:t>evisar los compromisos de los países cada cinco años.</a:t>
            </a:r>
            <a:endParaRPr/>
          </a:p>
          <a:p>
            <a:pPr indent="-127000" lvl="0" marL="0" marR="0" rtl="0" algn="just">
              <a:spcBef>
                <a:spcPts val="120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 O</a:t>
            </a:r>
            <a:r>
              <a:rPr b="0" i="0" lang="es-ES" sz="2000">
                <a:solidFill>
                  <a:schemeClr val="lt1"/>
                </a:solidFill>
                <a:latin typeface="Calibri"/>
                <a:ea typeface="Calibri"/>
                <a:cs typeface="Calibri"/>
                <a:sym typeface="Calibri"/>
              </a:rPr>
              <a:t>frecer financiación a los países en desarrollo para que puedan cumplir con los objetivos.</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¿POR QUÉ EL LÍMITE DE 2 °C?</a:t>
            </a:r>
            <a:endParaRPr sz="4000"/>
          </a:p>
        </p:txBody>
      </p:sp>
      <p:cxnSp>
        <p:nvCxnSpPr>
          <p:cNvPr id="384" name="Google Shape;384;p8"/>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385" name="Google Shape;385;p8"/>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cxnSp>
        <p:nvCxnSpPr>
          <p:cNvPr id="386" name="Google Shape;386;p8"/>
          <p:cNvCxnSpPr/>
          <p:nvPr/>
        </p:nvCxnSpPr>
        <p:spPr>
          <a:xfrm>
            <a:off x="4542494" y="5140117"/>
            <a:ext cx="2925097" cy="0"/>
          </a:xfrm>
          <a:prstGeom prst="straightConnector1">
            <a:avLst/>
          </a:prstGeom>
          <a:noFill/>
          <a:ln cap="flat" cmpd="sng" w="44450">
            <a:solidFill>
              <a:srgbClr val="FF0000"/>
            </a:solidFill>
            <a:prstDash val="solid"/>
            <a:miter lim="800000"/>
            <a:headEnd len="sm" w="sm" type="none"/>
            <a:tailEnd len="sm" w="sm" type="none"/>
          </a:ln>
        </p:spPr>
      </p:cxnSp>
      <p:sp>
        <p:nvSpPr>
          <p:cNvPr id="387" name="Google Shape;387;p8"/>
          <p:cNvSpPr txBox="1"/>
          <p:nvPr/>
        </p:nvSpPr>
        <p:spPr>
          <a:xfrm>
            <a:off x="7890380" y="4909285"/>
            <a:ext cx="20057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F0000"/>
                </a:solidFill>
                <a:latin typeface="Calibri"/>
                <a:ea typeface="Calibri"/>
                <a:cs typeface="Calibri"/>
                <a:sym typeface="Calibri"/>
              </a:rPr>
              <a:t>Umbral Crítico</a:t>
            </a:r>
            <a:endParaRPr/>
          </a:p>
        </p:txBody>
      </p:sp>
      <p:sp>
        <p:nvSpPr>
          <p:cNvPr id="388" name="Google Shape;388;p8"/>
          <p:cNvSpPr txBox="1"/>
          <p:nvPr/>
        </p:nvSpPr>
        <p:spPr>
          <a:xfrm>
            <a:off x="3559268" y="4909284"/>
            <a:ext cx="73742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2 °C</a:t>
            </a:r>
            <a:endParaRPr/>
          </a:p>
        </p:txBody>
      </p:sp>
      <p:pic>
        <p:nvPicPr>
          <p:cNvPr descr="Termómetro con relleno sólido" id="389" name="Google Shape;389;p8"/>
          <p:cNvPicPr preferRelativeResize="0"/>
          <p:nvPr/>
        </p:nvPicPr>
        <p:blipFill rotWithShape="1">
          <a:blip r:embed="rId3">
            <a:alphaModFix/>
          </a:blip>
          <a:srcRect b="0" l="0" r="0" t="0"/>
          <a:stretch/>
        </p:blipFill>
        <p:spPr>
          <a:xfrm>
            <a:off x="5212315" y="4544368"/>
            <a:ext cx="1585453" cy="1585453"/>
          </a:xfrm>
          <a:prstGeom prst="rect">
            <a:avLst/>
          </a:prstGeom>
          <a:noFill/>
          <a:ln>
            <a:noFill/>
          </a:ln>
        </p:spPr>
      </p:pic>
      <p:sp>
        <p:nvSpPr>
          <p:cNvPr id="390" name="Google Shape;390;p8"/>
          <p:cNvSpPr txBox="1"/>
          <p:nvPr/>
        </p:nvSpPr>
        <p:spPr>
          <a:xfrm>
            <a:off x="2944754" y="6154989"/>
            <a:ext cx="612057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000">
                <a:solidFill>
                  <a:schemeClr val="dk1"/>
                </a:solidFill>
                <a:latin typeface="Calibri"/>
                <a:ea typeface="Calibri"/>
                <a:cs typeface="Calibri"/>
                <a:sym typeface="Calibri"/>
              </a:rPr>
              <a:t>AUMENTO DE LA TEMPERATURA MEDIA POR ENCIMA DE NIVELES PREINDUSTRIALES</a:t>
            </a:r>
            <a:endParaRPr/>
          </a:p>
        </p:txBody>
      </p:sp>
      <p:sp>
        <p:nvSpPr>
          <p:cNvPr id="391" name="Google Shape;391;p8"/>
          <p:cNvSpPr/>
          <p:nvPr/>
        </p:nvSpPr>
        <p:spPr>
          <a:xfrm rot="-5400000">
            <a:off x="4204979" y="4366840"/>
            <a:ext cx="942525" cy="476466"/>
          </a:xfrm>
          <a:prstGeom prst="notchedRightArrow">
            <a:avLst>
              <a:gd fmla="val 50000" name="adj1"/>
              <a:gd fmla="val 50000" name="adj2"/>
            </a:avLst>
          </a:prstGeom>
          <a:solidFill>
            <a:srgbClr val="FA3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8"/>
          <p:cNvSpPr/>
          <p:nvPr/>
        </p:nvSpPr>
        <p:spPr>
          <a:xfrm rot="-5400000">
            <a:off x="6862579" y="4366840"/>
            <a:ext cx="942524" cy="476466"/>
          </a:xfrm>
          <a:prstGeom prst="notchedRightArrow">
            <a:avLst>
              <a:gd fmla="val 50000" name="adj1"/>
              <a:gd fmla="val 50000" name="adj2"/>
            </a:avLst>
          </a:prstGeom>
          <a:solidFill>
            <a:srgbClr val="FA3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8"/>
          <p:cNvSpPr/>
          <p:nvPr/>
        </p:nvSpPr>
        <p:spPr>
          <a:xfrm>
            <a:off x="4085292" y="3484669"/>
            <a:ext cx="3819834" cy="559845"/>
          </a:xfrm>
          <a:prstGeom prst="roundRect">
            <a:avLst>
              <a:gd fmla="val 16667" name="adj"/>
            </a:avLst>
          </a:prstGeom>
          <a:solidFill>
            <a:srgbClr val="F61B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EFECTOS EN CASCADA</a:t>
            </a:r>
            <a:endParaRPr/>
          </a:p>
        </p:txBody>
      </p:sp>
      <p:sp>
        <p:nvSpPr>
          <p:cNvPr id="394" name="Google Shape;394;p8"/>
          <p:cNvSpPr/>
          <p:nvPr/>
        </p:nvSpPr>
        <p:spPr>
          <a:xfrm>
            <a:off x="560433" y="3484669"/>
            <a:ext cx="2536723" cy="980766"/>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Extinción de especies mucho mayor</a:t>
            </a:r>
            <a:endParaRPr/>
          </a:p>
        </p:txBody>
      </p:sp>
      <p:sp>
        <p:nvSpPr>
          <p:cNvPr id="395" name="Google Shape;395;p8"/>
          <p:cNvSpPr/>
          <p:nvPr/>
        </p:nvSpPr>
        <p:spPr>
          <a:xfrm>
            <a:off x="1034665" y="1969246"/>
            <a:ext cx="2536723" cy="980766"/>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Desaparición del hielo marino del Ártico</a:t>
            </a:r>
            <a:endParaRPr/>
          </a:p>
        </p:txBody>
      </p:sp>
      <p:sp>
        <p:nvSpPr>
          <p:cNvPr id="396" name="Google Shape;396;p8"/>
          <p:cNvSpPr/>
          <p:nvPr/>
        </p:nvSpPr>
        <p:spPr>
          <a:xfrm>
            <a:off x="4705738" y="1517863"/>
            <a:ext cx="2536723" cy="980766"/>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El Calor extremo sería 3 veces mayor</a:t>
            </a:r>
            <a:endParaRPr/>
          </a:p>
        </p:txBody>
      </p:sp>
      <p:sp>
        <p:nvSpPr>
          <p:cNvPr id="397" name="Google Shape;397;p8"/>
          <p:cNvSpPr/>
          <p:nvPr/>
        </p:nvSpPr>
        <p:spPr>
          <a:xfrm>
            <a:off x="8376811" y="1960671"/>
            <a:ext cx="2536723" cy="980766"/>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Deshielo de Groenlandia y la Antártida y aumento de 2m del nivel del mar</a:t>
            </a:r>
            <a:endParaRPr/>
          </a:p>
        </p:txBody>
      </p:sp>
      <p:sp>
        <p:nvSpPr>
          <p:cNvPr id="398" name="Google Shape;398;p8"/>
          <p:cNvSpPr/>
          <p:nvPr/>
        </p:nvSpPr>
        <p:spPr>
          <a:xfrm>
            <a:off x="8893262" y="3484669"/>
            <a:ext cx="2536723" cy="980766"/>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Desaparición de los arrecifes de coral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9"/>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OBJETIVOS DE DESARROLLO SOSTENIBLE</a:t>
            </a:r>
            <a:endParaRPr sz="4000"/>
          </a:p>
        </p:txBody>
      </p:sp>
      <p:cxnSp>
        <p:nvCxnSpPr>
          <p:cNvPr id="405" name="Google Shape;405;p9"/>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06" name="Google Shape;406;p9"/>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407" name="Google Shape;407;p9"/>
          <p:cNvPicPr preferRelativeResize="0"/>
          <p:nvPr/>
        </p:nvPicPr>
        <p:blipFill rotWithShape="1">
          <a:blip r:embed="rId3">
            <a:alphaModFix/>
          </a:blip>
          <a:srcRect b="0" l="0" r="0" t="0"/>
          <a:stretch/>
        </p:blipFill>
        <p:spPr>
          <a:xfrm>
            <a:off x="1112591" y="1333788"/>
            <a:ext cx="9453164" cy="51109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10"/>
          <p:cNvPicPr preferRelativeResize="0"/>
          <p:nvPr/>
        </p:nvPicPr>
        <p:blipFill rotWithShape="1">
          <a:blip r:embed="rId3">
            <a:alphaModFix/>
          </a:blip>
          <a:srcRect b="0" l="0" r="0" t="0"/>
          <a:stretch/>
        </p:blipFill>
        <p:spPr>
          <a:xfrm>
            <a:off x="232395" y="3534486"/>
            <a:ext cx="5740702" cy="3288602"/>
          </a:xfrm>
          <a:prstGeom prst="rect">
            <a:avLst/>
          </a:prstGeom>
          <a:noFill/>
          <a:ln>
            <a:noFill/>
          </a:ln>
        </p:spPr>
      </p:pic>
      <p:sp>
        <p:nvSpPr>
          <p:cNvPr id="414" name="Google Shape;414;p10"/>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 FIN DE LA POBREZA</a:t>
            </a:r>
            <a:endParaRPr sz="4000"/>
          </a:p>
        </p:txBody>
      </p:sp>
      <p:cxnSp>
        <p:nvCxnSpPr>
          <p:cNvPr id="415" name="Google Shape;415;p10"/>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16" name="Google Shape;416;p10"/>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417" name="Google Shape;417;p10"/>
          <p:cNvPicPr preferRelativeResize="0"/>
          <p:nvPr/>
        </p:nvPicPr>
        <p:blipFill rotWithShape="1">
          <a:blip r:embed="rId4">
            <a:alphaModFix/>
          </a:blip>
          <a:srcRect b="0" l="0" r="0" t="0"/>
          <a:stretch/>
        </p:blipFill>
        <p:spPr>
          <a:xfrm>
            <a:off x="630000" y="1440000"/>
            <a:ext cx="2004068" cy="1980000"/>
          </a:xfrm>
          <a:prstGeom prst="rect">
            <a:avLst/>
          </a:prstGeom>
          <a:noFill/>
          <a:ln>
            <a:noFill/>
          </a:ln>
        </p:spPr>
      </p:pic>
      <p:sp>
        <p:nvSpPr>
          <p:cNvPr id="418" name="Google Shape;418;p10"/>
          <p:cNvSpPr txBox="1"/>
          <p:nvPr/>
        </p:nvSpPr>
        <p:spPr>
          <a:xfrm>
            <a:off x="3566610" y="1482080"/>
            <a:ext cx="7719279" cy="461665"/>
          </a:xfrm>
          <a:prstGeom prst="rect">
            <a:avLst/>
          </a:prstGeom>
          <a:solidFill>
            <a:srgbClr val="D2183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 busca poner fin a la pobreza en todas sus formas </a:t>
            </a:r>
            <a:endParaRPr/>
          </a:p>
        </p:txBody>
      </p:sp>
      <p:pic>
        <p:nvPicPr>
          <p:cNvPr id="419" name="Google Shape;419;p10"/>
          <p:cNvPicPr preferRelativeResize="0"/>
          <p:nvPr/>
        </p:nvPicPr>
        <p:blipFill rotWithShape="1">
          <a:blip r:embed="rId5">
            <a:alphaModFix/>
          </a:blip>
          <a:srcRect b="2817" l="0" r="0" t="0"/>
          <a:stretch/>
        </p:blipFill>
        <p:spPr>
          <a:xfrm>
            <a:off x="3872928" y="2157712"/>
            <a:ext cx="7106642" cy="1999724"/>
          </a:xfrm>
          <a:prstGeom prst="rect">
            <a:avLst/>
          </a:prstGeom>
          <a:noFill/>
          <a:ln>
            <a:noFill/>
          </a:ln>
        </p:spPr>
      </p:pic>
      <p:sp>
        <p:nvSpPr>
          <p:cNvPr id="420" name="Google Shape;420;p10"/>
          <p:cNvSpPr txBox="1"/>
          <p:nvPr/>
        </p:nvSpPr>
        <p:spPr>
          <a:xfrm>
            <a:off x="9108489" y="2551471"/>
            <a:ext cx="18710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11/07/2023</a:t>
            </a:r>
            <a:endParaRPr/>
          </a:p>
        </p:txBody>
      </p:sp>
      <p:sp>
        <p:nvSpPr>
          <p:cNvPr id="421" name="Google Shape;421;p10"/>
          <p:cNvSpPr txBox="1"/>
          <p:nvPr/>
        </p:nvSpPr>
        <p:spPr>
          <a:xfrm>
            <a:off x="6096000" y="4291781"/>
            <a:ext cx="506852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Calibri"/>
                <a:ea typeface="Calibri"/>
                <a:cs typeface="Calibri"/>
                <a:sym typeface="Calibri"/>
              </a:rPr>
              <a:t>Gráfica del informe del Banco Mundial “</a:t>
            </a:r>
            <a:r>
              <a:rPr lang="es-ES" sz="2000" u="sng">
                <a:solidFill>
                  <a:schemeClr val="dk1"/>
                </a:solidFill>
                <a:latin typeface="Calibri"/>
                <a:ea typeface="Calibri"/>
                <a:cs typeface="Calibri"/>
                <a:sym typeface="Calibri"/>
                <a:hlinkClick r:id="rId6">
                  <a:extLst>
                    <a:ext uri="{A12FA001-AC4F-418D-AE19-62706E023703}">
                      <ahyp:hlinkClr val="tx"/>
                    </a:ext>
                  </a:extLst>
                </a:hlinkClick>
              </a:rPr>
              <a:t>La Pobreza y la Prosperidad Compartida 2022</a:t>
            </a:r>
            <a:r>
              <a:rPr lang="es-E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ES" sz="2000">
                <a:solidFill>
                  <a:schemeClr val="dk1"/>
                </a:solidFill>
                <a:latin typeface="Calibri"/>
                <a:ea typeface="Calibri"/>
                <a:cs typeface="Calibri"/>
                <a:sym typeface="Calibri"/>
              </a:rPr>
              <a:t>Se observa como la pandemia del COVID-19 supuso un retroceso en este objetivo.</a:t>
            </a:r>
            <a:endParaRPr/>
          </a:p>
        </p:txBody>
      </p:sp>
      <p:sp>
        <p:nvSpPr>
          <p:cNvPr id="422" name="Google Shape;422;p10"/>
          <p:cNvSpPr txBox="1"/>
          <p:nvPr/>
        </p:nvSpPr>
        <p:spPr>
          <a:xfrm>
            <a:off x="7108723" y="5903453"/>
            <a:ext cx="2380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7">
                  <a:extLst>
                    <a:ext uri="{A12FA001-AC4F-418D-AE19-62706E023703}">
                      <ahyp:hlinkClr val="tx"/>
                    </a:ext>
                  </a:extLst>
                </a:hlinkClick>
              </a:rPr>
              <a:t>Vídeo explicativo ODS1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1"/>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 FIN DE LA POBREZA</a:t>
            </a:r>
            <a:endParaRPr sz="4000"/>
          </a:p>
        </p:txBody>
      </p:sp>
      <p:cxnSp>
        <p:nvCxnSpPr>
          <p:cNvPr id="429" name="Google Shape;429;p11"/>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30" name="Google Shape;430;p11"/>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431" name="Google Shape;431;p11"/>
          <p:cNvPicPr preferRelativeResize="0"/>
          <p:nvPr/>
        </p:nvPicPr>
        <p:blipFill rotWithShape="1">
          <a:blip r:embed="rId3">
            <a:alphaModFix/>
          </a:blip>
          <a:srcRect b="0" l="0" r="0" t="0"/>
          <a:stretch/>
        </p:blipFill>
        <p:spPr>
          <a:xfrm>
            <a:off x="5083983" y="1440000"/>
            <a:ext cx="2004068" cy="1980000"/>
          </a:xfrm>
          <a:prstGeom prst="rect">
            <a:avLst/>
          </a:prstGeom>
          <a:noFill/>
          <a:ln>
            <a:noFill/>
          </a:ln>
        </p:spPr>
      </p:pic>
      <p:sp>
        <p:nvSpPr>
          <p:cNvPr id="432" name="Google Shape;432;p11"/>
          <p:cNvSpPr txBox="1"/>
          <p:nvPr/>
        </p:nvSpPr>
        <p:spPr>
          <a:xfrm>
            <a:off x="662135" y="1547260"/>
            <a:ext cx="3675435" cy="461665"/>
          </a:xfrm>
          <a:prstGeom prst="rect">
            <a:avLst/>
          </a:prstGeom>
          <a:solidFill>
            <a:srgbClr val="D2183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433" name="Google Shape;433;p11"/>
          <p:cNvSpPr txBox="1"/>
          <p:nvPr/>
        </p:nvSpPr>
        <p:spPr>
          <a:xfrm>
            <a:off x="7787110" y="1547260"/>
            <a:ext cx="3675435" cy="461665"/>
          </a:xfrm>
          <a:prstGeom prst="rect">
            <a:avLst/>
          </a:prstGeom>
          <a:solidFill>
            <a:srgbClr val="D2183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434" name="Google Shape;434;p11"/>
          <p:cNvSpPr txBox="1"/>
          <p:nvPr/>
        </p:nvSpPr>
        <p:spPr>
          <a:xfrm>
            <a:off x="324466" y="2503494"/>
            <a:ext cx="4350773" cy="40934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Asegurar un sistema de protección social para todos.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Aumentar la resiliencia de las personas en situaciones vulnerables </a:t>
            </a:r>
            <a:r>
              <a:rPr b="0" i="0" lang="es-ES" sz="2000">
                <a:solidFill>
                  <a:schemeClr val="dk1"/>
                </a:solidFill>
                <a:highlight>
                  <a:srgbClr val="FFFFFF"/>
                </a:highlight>
                <a:latin typeface="Calibri"/>
                <a:ea typeface="Calibri"/>
                <a:cs typeface="Calibri"/>
                <a:sym typeface="Calibri"/>
              </a:rPr>
              <a:t>y reducir su exposición y vulnerabilidad a los fenómenos extremos relacionados con el clima y a otros desastres económicos, sociales y ambientales.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Movilizar recursos de distintas fuentes y mejorar la cooperación para el desarrollo para lograrlo.</a:t>
            </a:r>
            <a:endParaRPr sz="2000">
              <a:solidFill>
                <a:schemeClr val="dk1"/>
              </a:solidFill>
              <a:latin typeface="Calibri"/>
              <a:ea typeface="Calibri"/>
              <a:cs typeface="Calibri"/>
              <a:sym typeface="Calibri"/>
            </a:endParaRPr>
          </a:p>
        </p:txBody>
      </p:sp>
      <p:sp>
        <p:nvSpPr>
          <p:cNvPr id="435" name="Google Shape;435;p11"/>
          <p:cNvSpPr txBox="1"/>
          <p:nvPr/>
        </p:nvSpPr>
        <p:spPr>
          <a:xfrm>
            <a:off x="7787110" y="2235907"/>
            <a:ext cx="3675435"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000">
                <a:solidFill>
                  <a:schemeClr val="dk1"/>
                </a:solidFill>
                <a:latin typeface="Calibri"/>
                <a:ea typeface="Calibri"/>
                <a:cs typeface="Calibri"/>
                <a:sym typeface="Calibri"/>
              </a:rPr>
              <a:t>10 MILLONES DE NIÑOS ABANDONAN LA POBREZA EN BANGLADESH DE 2017 A 2019</a:t>
            </a:r>
            <a:endParaRPr/>
          </a:p>
        </p:txBody>
      </p:sp>
      <p:sp>
        <p:nvSpPr>
          <p:cNvPr id="436" name="Google Shape;436;p11"/>
          <p:cNvSpPr txBox="1"/>
          <p:nvPr/>
        </p:nvSpPr>
        <p:spPr>
          <a:xfrm>
            <a:off x="7865319" y="5862639"/>
            <a:ext cx="35190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Informe de la Universidad de Oxford</a:t>
            </a:r>
            <a:endParaRPr sz="1800">
              <a:solidFill>
                <a:schemeClr val="dk1"/>
              </a:solidFill>
              <a:latin typeface="Calibri"/>
              <a:ea typeface="Calibri"/>
              <a:cs typeface="Calibri"/>
              <a:sym typeface="Calibri"/>
            </a:endParaRPr>
          </a:p>
        </p:txBody>
      </p:sp>
      <p:pic>
        <p:nvPicPr>
          <p:cNvPr id="437" name="Google Shape;437;p11"/>
          <p:cNvPicPr preferRelativeResize="0"/>
          <p:nvPr/>
        </p:nvPicPr>
        <p:blipFill rotWithShape="1">
          <a:blip r:embed="rId5">
            <a:alphaModFix/>
          </a:blip>
          <a:srcRect b="0" l="0" r="0" t="0"/>
          <a:stretch/>
        </p:blipFill>
        <p:spPr>
          <a:xfrm>
            <a:off x="7976755" y="3329424"/>
            <a:ext cx="3296145" cy="2465959"/>
          </a:xfrm>
          <a:prstGeom prst="rect">
            <a:avLst/>
          </a:prstGeom>
          <a:noFill/>
          <a:ln>
            <a:noFill/>
          </a:ln>
        </p:spPr>
      </p:pic>
      <p:pic>
        <p:nvPicPr>
          <p:cNvPr descr="Imagen que contiene persona, edificio, joven, frente&#10;&#10;Descripción generada automáticamente" id="438" name="Google Shape;438;p11"/>
          <p:cNvPicPr preferRelativeResize="0"/>
          <p:nvPr/>
        </p:nvPicPr>
        <p:blipFill rotWithShape="1">
          <a:blip r:embed="rId6">
            <a:alphaModFix/>
          </a:blip>
          <a:srcRect b="0" l="35577" r="11140" t="0"/>
          <a:stretch/>
        </p:blipFill>
        <p:spPr>
          <a:xfrm>
            <a:off x="4927006" y="3930041"/>
            <a:ext cx="2337987" cy="2465960"/>
          </a:xfrm>
          <a:prstGeom prst="rect">
            <a:avLst/>
          </a:prstGeom>
          <a:noFill/>
          <a:ln>
            <a:noFill/>
          </a:ln>
        </p:spPr>
      </p:pic>
      <p:sp>
        <p:nvSpPr>
          <p:cNvPr id="439" name="Google Shape;439;p11"/>
          <p:cNvSpPr txBox="1"/>
          <p:nvPr/>
        </p:nvSpPr>
        <p:spPr>
          <a:xfrm>
            <a:off x="5024761"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2"/>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2: HAMBRE CERO</a:t>
            </a:r>
            <a:endParaRPr sz="4000"/>
          </a:p>
        </p:txBody>
      </p:sp>
      <p:cxnSp>
        <p:nvCxnSpPr>
          <p:cNvPr id="446" name="Google Shape;446;p12"/>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47" name="Google Shape;447;p12"/>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448" name="Google Shape;448;p12"/>
          <p:cNvSpPr txBox="1"/>
          <p:nvPr/>
        </p:nvSpPr>
        <p:spPr>
          <a:xfrm>
            <a:off x="3549534" y="1482080"/>
            <a:ext cx="7719279" cy="461665"/>
          </a:xfrm>
          <a:prstGeom prst="rect">
            <a:avLst/>
          </a:prstGeom>
          <a:solidFill>
            <a:srgbClr val="D2A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2 pretende erradicar el hambre y la malnutrición </a:t>
            </a:r>
            <a:endParaRPr/>
          </a:p>
        </p:txBody>
      </p:sp>
      <p:pic>
        <p:nvPicPr>
          <p:cNvPr id="449" name="Google Shape;449;p12"/>
          <p:cNvPicPr preferRelativeResize="0"/>
          <p:nvPr/>
        </p:nvPicPr>
        <p:blipFill rotWithShape="1">
          <a:blip r:embed="rId3">
            <a:alphaModFix/>
          </a:blip>
          <a:srcRect b="0" l="0" r="0" t="0"/>
          <a:stretch/>
        </p:blipFill>
        <p:spPr>
          <a:xfrm>
            <a:off x="626400" y="1453191"/>
            <a:ext cx="1969087" cy="1980000"/>
          </a:xfrm>
          <a:prstGeom prst="rect">
            <a:avLst/>
          </a:prstGeom>
          <a:noFill/>
          <a:ln>
            <a:noFill/>
          </a:ln>
        </p:spPr>
      </p:pic>
      <p:sp>
        <p:nvSpPr>
          <p:cNvPr id="450" name="Google Shape;450;p12"/>
          <p:cNvSpPr txBox="1"/>
          <p:nvPr/>
        </p:nvSpPr>
        <p:spPr>
          <a:xfrm>
            <a:off x="5132439" y="6468173"/>
            <a:ext cx="24187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ODS2</a:t>
            </a:r>
            <a:endParaRPr sz="1800">
              <a:solidFill>
                <a:schemeClr val="dk1"/>
              </a:solidFill>
              <a:latin typeface="Calibri"/>
              <a:ea typeface="Calibri"/>
              <a:cs typeface="Calibri"/>
              <a:sym typeface="Calibri"/>
            </a:endParaRPr>
          </a:p>
        </p:txBody>
      </p:sp>
      <p:pic>
        <p:nvPicPr>
          <p:cNvPr id="451" name="Google Shape;451;p12"/>
          <p:cNvPicPr preferRelativeResize="0"/>
          <p:nvPr/>
        </p:nvPicPr>
        <p:blipFill rotWithShape="1">
          <a:blip r:embed="rId5">
            <a:alphaModFix/>
          </a:blip>
          <a:srcRect b="0" l="0" r="0" t="0"/>
          <a:stretch/>
        </p:blipFill>
        <p:spPr>
          <a:xfrm>
            <a:off x="389323" y="3843272"/>
            <a:ext cx="4526213" cy="2909709"/>
          </a:xfrm>
          <a:prstGeom prst="rect">
            <a:avLst/>
          </a:prstGeom>
          <a:noFill/>
          <a:ln>
            <a:noFill/>
          </a:ln>
        </p:spPr>
      </p:pic>
      <p:pic>
        <p:nvPicPr>
          <p:cNvPr id="452" name="Google Shape;452;p12"/>
          <p:cNvPicPr preferRelativeResize="0"/>
          <p:nvPr/>
        </p:nvPicPr>
        <p:blipFill rotWithShape="1">
          <a:blip r:embed="rId6">
            <a:alphaModFix/>
          </a:blip>
          <a:srcRect b="0" l="0" r="0" t="0"/>
          <a:stretch/>
        </p:blipFill>
        <p:spPr>
          <a:xfrm>
            <a:off x="3549535" y="2056093"/>
            <a:ext cx="3013498" cy="722625"/>
          </a:xfrm>
          <a:prstGeom prst="rect">
            <a:avLst/>
          </a:prstGeom>
          <a:noFill/>
          <a:ln>
            <a:noFill/>
          </a:ln>
        </p:spPr>
      </p:pic>
      <p:pic>
        <p:nvPicPr>
          <p:cNvPr id="453" name="Google Shape;453;p12"/>
          <p:cNvPicPr preferRelativeResize="0"/>
          <p:nvPr/>
        </p:nvPicPr>
        <p:blipFill rotWithShape="1">
          <a:blip r:embed="rId7">
            <a:alphaModFix/>
          </a:blip>
          <a:srcRect b="0" l="0" r="0" t="0"/>
          <a:stretch/>
        </p:blipFill>
        <p:spPr>
          <a:xfrm>
            <a:off x="3549534" y="2752631"/>
            <a:ext cx="7928842" cy="996368"/>
          </a:xfrm>
          <a:prstGeom prst="rect">
            <a:avLst/>
          </a:prstGeom>
          <a:noFill/>
          <a:ln>
            <a:noFill/>
          </a:ln>
        </p:spPr>
      </p:pic>
      <p:sp>
        <p:nvSpPr>
          <p:cNvPr id="454" name="Google Shape;454;p12"/>
          <p:cNvSpPr txBox="1"/>
          <p:nvPr/>
        </p:nvSpPr>
        <p:spPr>
          <a:xfrm>
            <a:off x="5132439" y="4026310"/>
            <a:ext cx="6136374" cy="163121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Calibri"/>
                <a:ea typeface="Calibri"/>
                <a:cs typeface="Calibri"/>
                <a:sym typeface="Calibri"/>
              </a:rPr>
              <a:t>Según el Informe </a:t>
            </a:r>
            <a:r>
              <a:rPr lang="es-ES" sz="2000" u="sng">
                <a:solidFill>
                  <a:schemeClr val="dk1"/>
                </a:solidFill>
                <a:latin typeface="Calibri"/>
                <a:ea typeface="Calibri"/>
                <a:cs typeface="Calibri"/>
                <a:sym typeface="Calibri"/>
                <a:hlinkClick r:id="rId8">
                  <a:extLst>
                    <a:ext uri="{A12FA001-AC4F-418D-AE19-62706E023703}">
                      <ahyp:hlinkClr val="tx"/>
                    </a:ext>
                  </a:extLst>
                </a:hlinkClick>
              </a:rPr>
              <a:t>sobre El estado de la seguridad alimentaria y la nutrición en el mundo</a:t>
            </a:r>
            <a:r>
              <a:rPr lang="es-ES" sz="2000">
                <a:solidFill>
                  <a:schemeClr val="dk1"/>
                </a:solidFill>
                <a:latin typeface="Calibri"/>
                <a:ea typeface="Calibri"/>
                <a:cs typeface="Calibri"/>
                <a:sym typeface="Calibri"/>
              </a:rPr>
              <a:t> de la FAO, en 2021 el hambre global en el mundo y su persistencia siguió la tendencia creciente del año anterior. La pandemia de COVID-19 ha supuesto un retroceso para este ODS.</a:t>
            </a:r>
            <a:endParaRPr/>
          </a:p>
        </p:txBody>
      </p:sp>
      <p:sp>
        <p:nvSpPr>
          <p:cNvPr id="455" name="Google Shape;455;p12"/>
          <p:cNvSpPr txBox="1"/>
          <p:nvPr/>
        </p:nvSpPr>
        <p:spPr>
          <a:xfrm>
            <a:off x="5294671" y="5869858"/>
            <a:ext cx="61147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9">
                  <a:extLst>
                    <a:ext uri="{A12FA001-AC4F-418D-AE19-62706E023703}">
                      <ahyp:hlinkClr val="tx"/>
                    </a:ext>
                  </a:extLst>
                </a:hlinkClick>
              </a:rPr>
              <a:t>Enlace al Global Report On Food Crisis 2024</a:t>
            </a:r>
            <a:r>
              <a:rPr lang="es-ES" sz="1800">
                <a:solidFill>
                  <a:schemeClr val="dk1"/>
                </a:solidFill>
                <a:latin typeface="Calibri"/>
                <a:ea typeface="Calibri"/>
                <a:cs typeface="Calibri"/>
                <a:sym typeface="Calibri"/>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3"/>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2: HAMBRE CERO</a:t>
            </a:r>
            <a:endParaRPr sz="4000"/>
          </a:p>
        </p:txBody>
      </p:sp>
      <p:cxnSp>
        <p:nvCxnSpPr>
          <p:cNvPr id="462" name="Google Shape;462;p13"/>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63" name="Google Shape;463;p13"/>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464" name="Google Shape;464;p13"/>
          <p:cNvSpPr txBox="1"/>
          <p:nvPr/>
        </p:nvSpPr>
        <p:spPr>
          <a:xfrm>
            <a:off x="662135" y="1547260"/>
            <a:ext cx="3675435" cy="461665"/>
          </a:xfrm>
          <a:prstGeom prst="rect">
            <a:avLst/>
          </a:prstGeom>
          <a:solidFill>
            <a:srgbClr val="D2A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465" name="Google Shape;465;p13"/>
          <p:cNvSpPr txBox="1"/>
          <p:nvPr/>
        </p:nvSpPr>
        <p:spPr>
          <a:xfrm>
            <a:off x="7787110" y="1547260"/>
            <a:ext cx="3675435" cy="461665"/>
          </a:xfrm>
          <a:prstGeom prst="rect">
            <a:avLst/>
          </a:prstGeom>
          <a:solidFill>
            <a:srgbClr val="D2A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466" name="Google Shape;466;p13"/>
          <p:cNvSpPr txBox="1"/>
          <p:nvPr/>
        </p:nvSpPr>
        <p:spPr>
          <a:xfrm>
            <a:off x="324466" y="2503494"/>
            <a:ext cx="4350773" cy="393954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Para 2030, duplicar la productividad agrícola y los ingresos de los pequeños productores.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Aplicar prácticas resilientes en la agricultura para mejorar la productividad.</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Preservar la diversidad genética de semillas y animales de granja.</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Corregir y prevenir las distorsiones comerciales en los mercados de alimentos.</a:t>
            </a:r>
            <a:endParaRPr sz="2000">
              <a:solidFill>
                <a:schemeClr val="dk1"/>
              </a:solidFill>
              <a:latin typeface="Calibri"/>
              <a:ea typeface="Calibri"/>
              <a:cs typeface="Calibri"/>
              <a:sym typeface="Calibri"/>
            </a:endParaRPr>
          </a:p>
        </p:txBody>
      </p:sp>
      <p:sp>
        <p:nvSpPr>
          <p:cNvPr id="467" name="Google Shape;467;p13"/>
          <p:cNvSpPr txBox="1"/>
          <p:nvPr/>
        </p:nvSpPr>
        <p:spPr>
          <a:xfrm>
            <a:off x="7787110" y="2191663"/>
            <a:ext cx="3675435"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AGRICULTURA CLIMÁTICAMENTE INTELIGENTE </a:t>
            </a:r>
            <a:endParaRPr/>
          </a:p>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PARA PEQUEÑOS AGRICULTORES</a:t>
            </a:r>
            <a:endParaRPr/>
          </a:p>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EN KENYA Y TANZANIA</a:t>
            </a:r>
            <a:endParaRPr/>
          </a:p>
        </p:txBody>
      </p:sp>
      <p:sp>
        <p:nvSpPr>
          <p:cNvPr id="468" name="Google Shape;468;p13"/>
          <p:cNvSpPr txBox="1"/>
          <p:nvPr/>
        </p:nvSpPr>
        <p:spPr>
          <a:xfrm>
            <a:off x="7865319" y="5862639"/>
            <a:ext cx="35190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3">
                  <a:extLst>
                    <a:ext uri="{A12FA001-AC4F-418D-AE19-62706E023703}">
                      <ahyp:hlinkClr val="tx"/>
                    </a:ext>
                  </a:extLst>
                </a:hlinkClick>
              </a:rPr>
              <a:t>Historias de Éxito de la FAO</a:t>
            </a:r>
            <a:endParaRPr sz="1800">
              <a:solidFill>
                <a:schemeClr val="dk1"/>
              </a:solidFill>
              <a:latin typeface="Calibri"/>
              <a:ea typeface="Calibri"/>
              <a:cs typeface="Calibri"/>
              <a:sym typeface="Calibri"/>
            </a:endParaRPr>
          </a:p>
        </p:txBody>
      </p:sp>
      <p:pic>
        <p:nvPicPr>
          <p:cNvPr id="469" name="Google Shape;469;p13"/>
          <p:cNvPicPr preferRelativeResize="0"/>
          <p:nvPr/>
        </p:nvPicPr>
        <p:blipFill rotWithShape="1">
          <a:blip r:embed="rId4">
            <a:alphaModFix/>
          </a:blip>
          <a:srcRect b="0" l="0" r="0" t="0"/>
          <a:stretch/>
        </p:blipFill>
        <p:spPr>
          <a:xfrm>
            <a:off x="5040000" y="1440000"/>
            <a:ext cx="1969087" cy="1980000"/>
          </a:xfrm>
          <a:prstGeom prst="rect">
            <a:avLst/>
          </a:prstGeom>
          <a:noFill/>
          <a:ln>
            <a:noFill/>
          </a:ln>
        </p:spPr>
      </p:pic>
      <p:pic>
        <p:nvPicPr>
          <p:cNvPr id="470" name="Google Shape;470;p13"/>
          <p:cNvPicPr preferRelativeResize="0"/>
          <p:nvPr/>
        </p:nvPicPr>
        <p:blipFill rotWithShape="1">
          <a:blip r:embed="rId5">
            <a:alphaModFix/>
          </a:blip>
          <a:srcRect b="0" l="0" r="0" t="0"/>
          <a:stretch/>
        </p:blipFill>
        <p:spPr>
          <a:xfrm>
            <a:off x="5068306" y="3953920"/>
            <a:ext cx="1991003" cy="2695951"/>
          </a:xfrm>
          <a:prstGeom prst="rect">
            <a:avLst/>
          </a:prstGeom>
          <a:noFill/>
          <a:ln>
            <a:noFill/>
          </a:ln>
        </p:spPr>
      </p:pic>
      <p:sp>
        <p:nvSpPr>
          <p:cNvPr id="471" name="Google Shape;471;p13"/>
          <p:cNvSpPr txBox="1"/>
          <p:nvPr/>
        </p:nvSpPr>
        <p:spPr>
          <a:xfrm>
            <a:off x="7993626" y="3642852"/>
            <a:ext cx="3259393"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Unos 2500 agricultores, el 46% de ellos mujeres, se formaron en Kenia y Tanzania, con lo que mejoraron sus beneficios, su productividad y su sostenibilidad ambiental. </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Se generaron</a:t>
            </a:r>
            <a:endParaRPr/>
          </a:p>
        </p:txBody>
      </p:sp>
      <p:sp>
        <p:nvSpPr>
          <p:cNvPr id="472" name="Google Shape;472;p13"/>
          <p:cNvSpPr/>
          <p:nvPr/>
        </p:nvSpPr>
        <p:spPr>
          <a:xfrm>
            <a:off x="7053082" y="3953920"/>
            <a:ext cx="453812" cy="2695951"/>
          </a:xfrm>
          <a:prstGeom prst="rightBrace">
            <a:avLst>
              <a:gd fmla="val 44082" name="adj1"/>
              <a:gd fmla="val 50000" name="adj2"/>
            </a:avLst>
          </a:prstGeom>
          <a:no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73" name="Google Shape;473;p13"/>
          <p:cNvCxnSpPr>
            <a:endCxn id="472" idx="1"/>
          </p:cNvCxnSpPr>
          <p:nvPr/>
        </p:nvCxnSpPr>
        <p:spPr>
          <a:xfrm rot="10800000">
            <a:off x="7506894" y="5301896"/>
            <a:ext cx="486600" cy="140400"/>
          </a:xfrm>
          <a:prstGeom prst="straightConnector1">
            <a:avLst/>
          </a:prstGeom>
          <a:noFill/>
          <a:ln cap="flat" cmpd="sng" w="22225">
            <a:solidFill>
              <a:schemeClr val="accent2"/>
            </a:solidFill>
            <a:prstDash val="solid"/>
            <a:miter lim="800000"/>
            <a:headEnd len="sm" w="sm" type="none"/>
            <a:tailEnd len="lg" w="lg"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4"/>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3: SALUD Y BIENESTAR</a:t>
            </a:r>
            <a:endParaRPr sz="4000"/>
          </a:p>
        </p:txBody>
      </p:sp>
      <p:cxnSp>
        <p:nvCxnSpPr>
          <p:cNvPr id="480" name="Google Shape;480;p14"/>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81" name="Google Shape;481;p14"/>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482" name="Google Shape;482;p14"/>
          <p:cNvPicPr preferRelativeResize="0"/>
          <p:nvPr/>
        </p:nvPicPr>
        <p:blipFill rotWithShape="1">
          <a:blip r:embed="rId3">
            <a:alphaModFix/>
          </a:blip>
          <a:srcRect b="0" l="0" r="0" t="0"/>
          <a:stretch/>
        </p:blipFill>
        <p:spPr>
          <a:xfrm>
            <a:off x="626400" y="1440000"/>
            <a:ext cx="2002721" cy="1980000"/>
          </a:xfrm>
          <a:prstGeom prst="rect">
            <a:avLst/>
          </a:prstGeom>
          <a:noFill/>
          <a:ln>
            <a:noFill/>
          </a:ln>
        </p:spPr>
      </p:pic>
      <p:sp>
        <p:nvSpPr>
          <p:cNvPr id="483" name="Google Shape;483;p14"/>
          <p:cNvSpPr txBox="1"/>
          <p:nvPr/>
        </p:nvSpPr>
        <p:spPr>
          <a:xfrm>
            <a:off x="3549534" y="1482080"/>
            <a:ext cx="7719279" cy="830997"/>
          </a:xfrm>
          <a:prstGeom prst="rect">
            <a:avLst/>
          </a:prstGeom>
          <a:solidFill>
            <a:srgbClr val="548135"/>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3 pretende mejorar la salud y el bienestar de la humanidad</a:t>
            </a:r>
            <a:endParaRPr/>
          </a:p>
        </p:txBody>
      </p:sp>
      <p:sp>
        <p:nvSpPr>
          <p:cNvPr id="484" name="Google Shape;484;p14"/>
          <p:cNvSpPr txBox="1"/>
          <p:nvPr/>
        </p:nvSpPr>
        <p:spPr>
          <a:xfrm>
            <a:off x="5279923" y="6405329"/>
            <a:ext cx="23449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ODS3</a:t>
            </a:r>
            <a:endParaRPr sz="1800">
              <a:solidFill>
                <a:schemeClr val="dk1"/>
              </a:solidFill>
              <a:latin typeface="Calibri"/>
              <a:ea typeface="Calibri"/>
              <a:cs typeface="Calibri"/>
              <a:sym typeface="Calibri"/>
            </a:endParaRPr>
          </a:p>
        </p:txBody>
      </p:sp>
      <p:pic>
        <p:nvPicPr>
          <p:cNvPr id="485" name="Google Shape;485;p14"/>
          <p:cNvPicPr preferRelativeResize="0"/>
          <p:nvPr/>
        </p:nvPicPr>
        <p:blipFill rotWithShape="1">
          <a:blip r:embed="rId5">
            <a:alphaModFix/>
          </a:blip>
          <a:srcRect b="0" l="0" r="0" t="0"/>
          <a:stretch/>
        </p:blipFill>
        <p:spPr>
          <a:xfrm>
            <a:off x="6231190" y="2491385"/>
            <a:ext cx="4553067" cy="1334520"/>
          </a:xfrm>
          <a:prstGeom prst="rect">
            <a:avLst/>
          </a:prstGeom>
          <a:noFill/>
          <a:ln>
            <a:noFill/>
          </a:ln>
        </p:spPr>
      </p:pic>
      <p:pic>
        <p:nvPicPr>
          <p:cNvPr id="486" name="Google Shape;486;p14"/>
          <p:cNvPicPr preferRelativeResize="0"/>
          <p:nvPr/>
        </p:nvPicPr>
        <p:blipFill rotWithShape="1">
          <a:blip r:embed="rId6">
            <a:alphaModFix/>
          </a:blip>
          <a:srcRect b="0" l="0" r="0" t="0"/>
          <a:stretch/>
        </p:blipFill>
        <p:spPr>
          <a:xfrm>
            <a:off x="3760045" y="2491385"/>
            <a:ext cx="2471145" cy="972151"/>
          </a:xfrm>
          <a:prstGeom prst="rect">
            <a:avLst/>
          </a:prstGeom>
          <a:noFill/>
          <a:ln>
            <a:noFill/>
          </a:ln>
        </p:spPr>
      </p:pic>
      <p:sp>
        <p:nvSpPr>
          <p:cNvPr id="487" name="Google Shape;487;p14"/>
          <p:cNvSpPr txBox="1"/>
          <p:nvPr/>
        </p:nvSpPr>
        <p:spPr>
          <a:xfrm>
            <a:off x="6319678" y="4144297"/>
            <a:ext cx="4758432"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Según </a:t>
            </a:r>
            <a:r>
              <a:rPr lang="es-ES" sz="1800" u="sng">
                <a:solidFill>
                  <a:schemeClr val="dk1"/>
                </a:solidFill>
                <a:latin typeface="Calibri"/>
                <a:ea typeface="Calibri"/>
                <a:cs typeface="Calibri"/>
                <a:sym typeface="Calibri"/>
                <a:hlinkClick r:id="rId7">
                  <a:extLst>
                    <a:ext uri="{A12FA001-AC4F-418D-AE19-62706E023703}">
                      <ahyp:hlinkClr val="tx"/>
                    </a:ext>
                  </a:extLst>
                </a:hlinkClick>
              </a:rPr>
              <a:t>el informe de la OMS de monitoreo mundial 2023</a:t>
            </a:r>
            <a:r>
              <a:rPr lang="es-ES" sz="1800">
                <a:solidFill>
                  <a:schemeClr val="dk1"/>
                </a:solidFill>
                <a:latin typeface="Calibri"/>
                <a:ea typeface="Calibri"/>
                <a:cs typeface="Calibri"/>
                <a:sym typeface="Calibri"/>
              </a:rPr>
              <a:t>, en 2021 aproximadamente la mitad de la población mundial (4500 millones de personas) no estaba cubierta por servicios de salud esenciales</a:t>
            </a:r>
            <a:endParaRPr/>
          </a:p>
        </p:txBody>
      </p:sp>
      <p:pic>
        <p:nvPicPr>
          <p:cNvPr id="488" name="Google Shape;488;p14"/>
          <p:cNvPicPr preferRelativeResize="0"/>
          <p:nvPr/>
        </p:nvPicPr>
        <p:blipFill rotWithShape="1">
          <a:blip r:embed="rId8">
            <a:alphaModFix/>
          </a:blip>
          <a:srcRect b="0" l="0" r="0" t="0"/>
          <a:stretch/>
        </p:blipFill>
        <p:spPr>
          <a:xfrm>
            <a:off x="1252954" y="3686014"/>
            <a:ext cx="4026969" cy="30716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15"/>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3: SALUD Y BIENESTAR</a:t>
            </a:r>
            <a:endParaRPr sz="4000"/>
          </a:p>
        </p:txBody>
      </p:sp>
      <p:cxnSp>
        <p:nvCxnSpPr>
          <p:cNvPr id="495" name="Google Shape;495;p15"/>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496" name="Google Shape;496;p15"/>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497" name="Google Shape;497;p15"/>
          <p:cNvSpPr txBox="1"/>
          <p:nvPr/>
        </p:nvSpPr>
        <p:spPr>
          <a:xfrm>
            <a:off x="662135" y="1547260"/>
            <a:ext cx="3675435" cy="461665"/>
          </a:xfrm>
          <a:prstGeom prst="rect">
            <a:avLst/>
          </a:prstGeom>
          <a:solidFill>
            <a:srgbClr val="548135"/>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498" name="Google Shape;498;p15"/>
          <p:cNvSpPr txBox="1"/>
          <p:nvPr/>
        </p:nvSpPr>
        <p:spPr>
          <a:xfrm>
            <a:off x="7787110" y="1547260"/>
            <a:ext cx="3675435" cy="461665"/>
          </a:xfrm>
          <a:prstGeom prst="rect">
            <a:avLst/>
          </a:prstGeom>
          <a:solidFill>
            <a:srgbClr val="548135"/>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499" name="Google Shape;499;p15"/>
          <p:cNvSpPr txBox="1"/>
          <p:nvPr/>
        </p:nvSpPr>
        <p:spPr>
          <a:xfrm>
            <a:off x="324466" y="2459952"/>
            <a:ext cx="4350773" cy="440120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Reducir la mortalidad materna y de los menores de 5 años.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Fortalecer la prevención y el tratamiento de consumo de sustancias adictivas.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Reducir las muertes por epidemias (SIDA, Malaria, etc.), accidentes de tráfico, etc.</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Lograr la cobertura sanitaria universal.</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Apoyar la investigación del desarrollo de vacunas y medicamentos.</a:t>
            </a:r>
            <a:endParaRPr sz="2000">
              <a:solidFill>
                <a:schemeClr val="dk1"/>
              </a:solidFill>
              <a:latin typeface="Calibri"/>
              <a:ea typeface="Calibri"/>
              <a:cs typeface="Calibri"/>
              <a:sym typeface="Calibri"/>
            </a:endParaRPr>
          </a:p>
        </p:txBody>
      </p:sp>
      <p:sp>
        <p:nvSpPr>
          <p:cNvPr id="500" name="Google Shape;500;p15"/>
          <p:cNvSpPr txBox="1"/>
          <p:nvPr/>
        </p:nvSpPr>
        <p:spPr>
          <a:xfrm>
            <a:off x="7806310" y="2191663"/>
            <a:ext cx="367543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1800">
                <a:solidFill>
                  <a:schemeClr val="dk1"/>
                </a:solidFill>
                <a:highlight>
                  <a:srgbClr val="FFFFFF"/>
                </a:highlight>
                <a:latin typeface="Calibri"/>
                <a:ea typeface="Calibri"/>
                <a:cs typeface="Calibri"/>
                <a:sym typeface="Calibri"/>
              </a:rPr>
              <a:t>LA TASA DE MORTANDAD POR SIDA Y VIH SE HA REDUCIDO EN ESPAÑA EN LOS ÚLTIMOS AÑOS</a:t>
            </a:r>
            <a:endParaRPr b="1" i="0" sz="1800">
              <a:solidFill>
                <a:schemeClr val="dk1"/>
              </a:solidFill>
              <a:highlight>
                <a:srgbClr val="FFFFFF"/>
              </a:highlight>
              <a:latin typeface="Calibri"/>
              <a:ea typeface="Calibri"/>
              <a:cs typeface="Calibri"/>
              <a:sym typeface="Calibri"/>
            </a:endParaRPr>
          </a:p>
        </p:txBody>
      </p:sp>
      <p:sp>
        <p:nvSpPr>
          <p:cNvPr id="501" name="Google Shape;501;p15"/>
          <p:cNvSpPr txBox="1"/>
          <p:nvPr/>
        </p:nvSpPr>
        <p:spPr>
          <a:xfrm>
            <a:off x="7884519" y="5862639"/>
            <a:ext cx="35190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3">
                  <a:extLst>
                    <a:ext uri="{A12FA001-AC4F-418D-AE19-62706E023703}">
                      <ahyp:hlinkClr val="tx"/>
                    </a:ext>
                  </a:extLst>
                </a:hlinkClick>
              </a:rPr>
              <a:t>Ministerio de Sanidad</a:t>
            </a:r>
            <a:endParaRPr sz="1800">
              <a:solidFill>
                <a:schemeClr val="dk1"/>
              </a:solidFill>
              <a:latin typeface="Calibri"/>
              <a:ea typeface="Calibri"/>
              <a:cs typeface="Calibri"/>
              <a:sym typeface="Calibri"/>
            </a:endParaRPr>
          </a:p>
        </p:txBody>
      </p:sp>
      <p:pic>
        <p:nvPicPr>
          <p:cNvPr id="502" name="Google Shape;502;p15"/>
          <p:cNvPicPr preferRelativeResize="0"/>
          <p:nvPr/>
        </p:nvPicPr>
        <p:blipFill rotWithShape="1">
          <a:blip r:embed="rId4">
            <a:alphaModFix/>
          </a:blip>
          <a:srcRect b="0" l="0" r="0" t="0"/>
          <a:stretch/>
        </p:blipFill>
        <p:spPr>
          <a:xfrm>
            <a:off x="5040000" y="1440000"/>
            <a:ext cx="2002721" cy="1980000"/>
          </a:xfrm>
          <a:prstGeom prst="rect">
            <a:avLst/>
          </a:prstGeom>
          <a:noFill/>
          <a:ln>
            <a:noFill/>
          </a:ln>
        </p:spPr>
      </p:pic>
      <p:pic>
        <p:nvPicPr>
          <p:cNvPr id="503" name="Google Shape;503;p15"/>
          <p:cNvPicPr preferRelativeResize="0"/>
          <p:nvPr/>
        </p:nvPicPr>
        <p:blipFill rotWithShape="1">
          <a:blip r:embed="rId5">
            <a:alphaModFix/>
          </a:blip>
          <a:srcRect b="0" l="0" r="0" t="0"/>
          <a:stretch/>
        </p:blipFill>
        <p:spPr>
          <a:xfrm>
            <a:off x="7660309" y="3174423"/>
            <a:ext cx="3967436" cy="2688216"/>
          </a:xfrm>
          <a:prstGeom prst="rect">
            <a:avLst/>
          </a:prstGeom>
          <a:noFill/>
          <a:ln>
            <a:noFill/>
          </a:ln>
        </p:spPr>
      </p:pic>
      <p:pic>
        <p:nvPicPr>
          <p:cNvPr descr="Forma&#10;&#10;Descripción generada automáticamente" id="504" name="Google Shape;504;p15"/>
          <p:cNvPicPr preferRelativeResize="0"/>
          <p:nvPr/>
        </p:nvPicPr>
        <p:blipFill rotWithShape="1">
          <a:blip r:embed="rId6">
            <a:alphaModFix/>
          </a:blip>
          <a:srcRect b="0" l="0" r="0" t="0"/>
          <a:stretch/>
        </p:blipFill>
        <p:spPr>
          <a:xfrm>
            <a:off x="4681402" y="3858712"/>
            <a:ext cx="2831427" cy="28314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6"/>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4 : EDUCACIÓN DE CALIDAD</a:t>
            </a:r>
            <a:endParaRPr sz="4000"/>
          </a:p>
        </p:txBody>
      </p:sp>
      <p:cxnSp>
        <p:nvCxnSpPr>
          <p:cNvPr id="511" name="Google Shape;511;p16"/>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12" name="Google Shape;512;p16"/>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13" name="Google Shape;513;p16"/>
          <p:cNvPicPr preferRelativeResize="0"/>
          <p:nvPr/>
        </p:nvPicPr>
        <p:blipFill rotWithShape="1">
          <a:blip r:embed="rId3">
            <a:alphaModFix/>
          </a:blip>
          <a:srcRect b="0" l="0" r="0" t="0"/>
          <a:stretch/>
        </p:blipFill>
        <p:spPr>
          <a:xfrm>
            <a:off x="626400" y="1453088"/>
            <a:ext cx="2005626" cy="1980000"/>
          </a:xfrm>
          <a:prstGeom prst="rect">
            <a:avLst/>
          </a:prstGeom>
          <a:noFill/>
          <a:ln>
            <a:noFill/>
          </a:ln>
        </p:spPr>
      </p:pic>
      <p:sp>
        <p:nvSpPr>
          <p:cNvPr id="514" name="Google Shape;514;p16"/>
          <p:cNvSpPr txBox="1"/>
          <p:nvPr/>
        </p:nvSpPr>
        <p:spPr>
          <a:xfrm>
            <a:off x="3549534" y="1482080"/>
            <a:ext cx="7719279" cy="830997"/>
          </a:xfrm>
          <a:prstGeom prst="rect">
            <a:avLst/>
          </a:prstGeom>
          <a:solidFill>
            <a:srgbClr val="C00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4 aspira a que todos los menores del mundo cursen la educación primaria y secundaria gratuita y de calidad</a:t>
            </a:r>
            <a:endParaRPr/>
          </a:p>
        </p:txBody>
      </p:sp>
      <p:pic>
        <p:nvPicPr>
          <p:cNvPr id="515" name="Google Shape;515;p16"/>
          <p:cNvPicPr preferRelativeResize="0"/>
          <p:nvPr/>
        </p:nvPicPr>
        <p:blipFill rotWithShape="1">
          <a:blip r:embed="rId4">
            <a:alphaModFix/>
          </a:blip>
          <a:srcRect b="0" l="0" r="0" t="0"/>
          <a:stretch/>
        </p:blipFill>
        <p:spPr>
          <a:xfrm>
            <a:off x="19501" y="3985803"/>
            <a:ext cx="4879436" cy="2872198"/>
          </a:xfrm>
          <a:prstGeom prst="rect">
            <a:avLst/>
          </a:prstGeom>
          <a:noFill/>
          <a:ln>
            <a:noFill/>
          </a:ln>
        </p:spPr>
      </p:pic>
      <p:sp>
        <p:nvSpPr>
          <p:cNvPr id="516" name="Google Shape;516;p16"/>
          <p:cNvSpPr txBox="1"/>
          <p:nvPr/>
        </p:nvSpPr>
        <p:spPr>
          <a:xfrm>
            <a:off x="0" y="3659804"/>
            <a:ext cx="499970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5">
                  <a:extLst>
                    <a:ext uri="{A12FA001-AC4F-418D-AE19-62706E023703}">
                      <ahyp:hlinkClr val="tx"/>
                    </a:ext>
                  </a:extLst>
                </a:hlinkClick>
              </a:rPr>
              <a:t>Millones de menores sin escolarizar en el mundo</a:t>
            </a:r>
            <a:endParaRPr sz="1800">
              <a:solidFill>
                <a:schemeClr val="dk1"/>
              </a:solidFill>
              <a:latin typeface="Calibri"/>
              <a:ea typeface="Calibri"/>
              <a:cs typeface="Calibri"/>
              <a:sym typeface="Calibri"/>
            </a:endParaRPr>
          </a:p>
        </p:txBody>
      </p:sp>
      <p:sp>
        <p:nvSpPr>
          <p:cNvPr id="517" name="Google Shape;517;p16"/>
          <p:cNvSpPr txBox="1"/>
          <p:nvPr/>
        </p:nvSpPr>
        <p:spPr>
          <a:xfrm>
            <a:off x="4764298" y="6250540"/>
            <a:ext cx="272597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6">
                  <a:extLst>
                    <a:ext uri="{A12FA001-AC4F-418D-AE19-62706E023703}">
                      <ahyp:hlinkClr val="tx"/>
                    </a:ext>
                  </a:extLst>
                </a:hlinkClick>
              </a:rPr>
              <a:t>Vídeo Explicativo ODS4</a:t>
            </a:r>
            <a:endParaRPr sz="1800">
              <a:solidFill>
                <a:schemeClr val="dk1"/>
              </a:solidFill>
              <a:latin typeface="Calibri"/>
              <a:ea typeface="Calibri"/>
              <a:cs typeface="Calibri"/>
              <a:sym typeface="Calibri"/>
            </a:endParaRPr>
          </a:p>
        </p:txBody>
      </p:sp>
      <p:pic>
        <p:nvPicPr>
          <p:cNvPr id="518" name="Google Shape;518;p16"/>
          <p:cNvPicPr preferRelativeResize="0"/>
          <p:nvPr/>
        </p:nvPicPr>
        <p:blipFill rotWithShape="1">
          <a:blip r:embed="rId7">
            <a:alphaModFix/>
          </a:blip>
          <a:srcRect b="0" l="0" r="0" t="0"/>
          <a:stretch/>
        </p:blipFill>
        <p:spPr>
          <a:xfrm>
            <a:off x="5625751" y="2587891"/>
            <a:ext cx="4156438" cy="784472"/>
          </a:xfrm>
          <a:prstGeom prst="rect">
            <a:avLst/>
          </a:prstGeom>
          <a:noFill/>
          <a:ln>
            <a:noFill/>
          </a:ln>
        </p:spPr>
      </p:pic>
      <p:pic>
        <p:nvPicPr>
          <p:cNvPr id="519" name="Google Shape;519;p16"/>
          <p:cNvPicPr preferRelativeResize="0"/>
          <p:nvPr/>
        </p:nvPicPr>
        <p:blipFill rotWithShape="1">
          <a:blip r:embed="rId8">
            <a:alphaModFix/>
          </a:blip>
          <a:srcRect b="0" l="0" r="0" t="0"/>
          <a:stretch/>
        </p:blipFill>
        <p:spPr>
          <a:xfrm>
            <a:off x="5692877" y="3246136"/>
            <a:ext cx="5465232" cy="667778"/>
          </a:xfrm>
          <a:prstGeom prst="rect">
            <a:avLst/>
          </a:prstGeom>
          <a:noFill/>
          <a:ln>
            <a:noFill/>
          </a:ln>
        </p:spPr>
      </p:pic>
      <p:sp>
        <p:nvSpPr>
          <p:cNvPr id="520" name="Google Shape;520;p16"/>
          <p:cNvSpPr txBox="1"/>
          <p:nvPr/>
        </p:nvSpPr>
        <p:spPr>
          <a:xfrm>
            <a:off x="9782189" y="2767987"/>
            <a:ext cx="13726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7/07/2022</a:t>
            </a:r>
            <a:endParaRPr/>
          </a:p>
        </p:txBody>
      </p:sp>
      <p:sp>
        <p:nvSpPr>
          <p:cNvPr id="521" name="Google Shape;521;p16"/>
          <p:cNvSpPr txBox="1"/>
          <p:nvPr/>
        </p:nvSpPr>
        <p:spPr>
          <a:xfrm>
            <a:off x="6000565" y="4191580"/>
            <a:ext cx="4758432"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En esa misma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noticia</a:t>
            </a:r>
            <a:r>
              <a:rPr lang="es-ES" sz="1800">
                <a:solidFill>
                  <a:schemeClr val="dk1"/>
                </a:solidFill>
                <a:latin typeface="Calibri"/>
                <a:ea typeface="Calibri"/>
                <a:cs typeface="Calibri"/>
                <a:sym typeface="Calibri"/>
              </a:rPr>
              <a:t>, se reseña que 300 millones de niños carecerán de las habilidades básicas de lectura y aritmética. Además, tan solo el 15 % de los países lograrán que sus alumnos acaben la educación secundaria.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7"/>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4 : EDUCACIÓN DE CALIDAD</a:t>
            </a:r>
            <a:endParaRPr sz="4000"/>
          </a:p>
        </p:txBody>
      </p:sp>
      <p:cxnSp>
        <p:nvCxnSpPr>
          <p:cNvPr id="528" name="Google Shape;528;p17"/>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29" name="Google Shape;529;p17"/>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30" name="Google Shape;530;p17"/>
          <p:cNvPicPr preferRelativeResize="0"/>
          <p:nvPr/>
        </p:nvPicPr>
        <p:blipFill rotWithShape="1">
          <a:blip r:embed="rId3">
            <a:alphaModFix/>
          </a:blip>
          <a:srcRect b="0" l="0" r="0" t="0"/>
          <a:stretch/>
        </p:blipFill>
        <p:spPr>
          <a:xfrm>
            <a:off x="5078437" y="1440000"/>
            <a:ext cx="2005626" cy="1980000"/>
          </a:xfrm>
          <a:prstGeom prst="rect">
            <a:avLst/>
          </a:prstGeom>
          <a:noFill/>
          <a:ln>
            <a:noFill/>
          </a:ln>
        </p:spPr>
      </p:pic>
      <p:sp>
        <p:nvSpPr>
          <p:cNvPr id="531" name="Google Shape;531;p17"/>
          <p:cNvSpPr txBox="1"/>
          <p:nvPr/>
        </p:nvSpPr>
        <p:spPr>
          <a:xfrm>
            <a:off x="662135" y="1547260"/>
            <a:ext cx="3675435" cy="461665"/>
          </a:xfrm>
          <a:prstGeom prst="rect">
            <a:avLst/>
          </a:prstGeom>
          <a:solidFill>
            <a:srgbClr val="C00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532" name="Google Shape;532;p17"/>
          <p:cNvSpPr txBox="1"/>
          <p:nvPr/>
        </p:nvSpPr>
        <p:spPr>
          <a:xfrm>
            <a:off x="7787110" y="1547260"/>
            <a:ext cx="3675435" cy="461665"/>
          </a:xfrm>
          <a:prstGeom prst="rect">
            <a:avLst/>
          </a:prstGeom>
          <a:solidFill>
            <a:srgbClr val="C000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533" name="Google Shape;533;p17"/>
          <p:cNvSpPr txBox="1"/>
          <p:nvPr/>
        </p:nvSpPr>
        <p:spPr>
          <a:xfrm>
            <a:off x="324466" y="2503494"/>
            <a:ext cx="4350773" cy="3785652"/>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Garantizar el acceso igualitario a formación técnica y superior.</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Aumentar la competencia de jóvenes para tener acceso a empleo de calidad y emprendimiento.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Adquirir conocimientos para promover el desarrollo sostenible.</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Adaptar escuelas a la discapacidad.</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Aumentar las becas para los países en desarrollo.</a:t>
            </a:r>
            <a:endParaRPr sz="2000">
              <a:solidFill>
                <a:schemeClr val="dk1"/>
              </a:solidFill>
              <a:latin typeface="Calibri"/>
              <a:ea typeface="Calibri"/>
              <a:cs typeface="Calibri"/>
              <a:sym typeface="Calibri"/>
            </a:endParaRPr>
          </a:p>
        </p:txBody>
      </p:sp>
      <p:sp>
        <p:nvSpPr>
          <p:cNvPr id="534" name="Google Shape;534;p17"/>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1800">
                <a:solidFill>
                  <a:schemeClr val="dk1"/>
                </a:solidFill>
                <a:highlight>
                  <a:srgbClr val="FFFFFF"/>
                </a:highlight>
                <a:latin typeface="Calibri"/>
                <a:ea typeface="Calibri"/>
                <a:cs typeface="Calibri"/>
                <a:sym typeface="Calibri"/>
              </a:rPr>
              <a:t>ESCUELAS RESILIENTES E INCLUSIVAS EN HONDURAS</a:t>
            </a:r>
            <a:endParaRPr b="1" i="0" sz="1800">
              <a:solidFill>
                <a:schemeClr val="dk1"/>
              </a:solidFill>
              <a:highlight>
                <a:srgbClr val="FFFFFF"/>
              </a:highlight>
              <a:latin typeface="Calibri"/>
              <a:ea typeface="Calibri"/>
              <a:cs typeface="Calibri"/>
              <a:sym typeface="Calibri"/>
            </a:endParaRPr>
          </a:p>
        </p:txBody>
      </p:sp>
      <p:sp>
        <p:nvSpPr>
          <p:cNvPr id="535" name="Google Shape;535;p17"/>
          <p:cNvSpPr txBox="1"/>
          <p:nvPr/>
        </p:nvSpPr>
        <p:spPr>
          <a:xfrm>
            <a:off x="7995131" y="3055463"/>
            <a:ext cx="3259393"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En Comayagua (Honduras) se ha realizado adaptaciones en escuelas para que niños y niñas con discapacidad puedan ir a clase. En esta región, el analfabetismo es 5 veces mayor entre las personas con discapacidad.</a:t>
            </a:r>
            <a:endParaRPr/>
          </a:p>
        </p:txBody>
      </p:sp>
      <p:sp>
        <p:nvSpPr>
          <p:cNvPr id="536" name="Google Shape;536;p17"/>
          <p:cNvSpPr txBox="1"/>
          <p:nvPr/>
        </p:nvSpPr>
        <p:spPr>
          <a:xfrm>
            <a:off x="7995130" y="5796116"/>
            <a:ext cx="325939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Banco Mundial</a:t>
            </a:r>
            <a:endParaRPr sz="1800">
              <a:solidFill>
                <a:schemeClr val="dk1"/>
              </a:solidFill>
              <a:latin typeface="Calibri"/>
              <a:ea typeface="Calibri"/>
              <a:cs typeface="Calibri"/>
              <a:sym typeface="Calibri"/>
            </a:endParaRPr>
          </a:p>
        </p:txBody>
      </p:sp>
      <p:pic>
        <p:nvPicPr>
          <p:cNvPr descr="Pies de una persona&#10;&#10;Descripción generada automáticamente con confianza media" id="537" name="Google Shape;537;p17"/>
          <p:cNvPicPr preferRelativeResize="0"/>
          <p:nvPr/>
        </p:nvPicPr>
        <p:blipFill rotWithShape="1">
          <a:blip r:embed="rId5">
            <a:alphaModFix/>
          </a:blip>
          <a:srcRect b="0" l="12570" r="26922" t="0"/>
          <a:stretch/>
        </p:blipFill>
        <p:spPr>
          <a:xfrm>
            <a:off x="4819058" y="3971211"/>
            <a:ext cx="2524385" cy="2347501"/>
          </a:xfrm>
          <a:prstGeom prst="rect">
            <a:avLst/>
          </a:prstGeom>
          <a:noFill/>
          <a:ln>
            <a:noFill/>
          </a:ln>
        </p:spPr>
      </p:pic>
      <p:sp>
        <p:nvSpPr>
          <p:cNvPr id="538" name="Google Shape;538;p17"/>
          <p:cNvSpPr txBox="1"/>
          <p:nvPr/>
        </p:nvSpPr>
        <p:spPr>
          <a:xfrm>
            <a:off x="5010012"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18"/>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5: IGUALDAD DE GÉNERO</a:t>
            </a:r>
            <a:endParaRPr sz="4000"/>
          </a:p>
        </p:txBody>
      </p:sp>
      <p:cxnSp>
        <p:nvCxnSpPr>
          <p:cNvPr id="545" name="Google Shape;545;p18"/>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46" name="Google Shape;546;p18"/>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47" name="Google Shape;547;p18"/>
          <p:cNvPicPr preferRelativeResize="0"/>
          <p:nvPr/>
        </p:nvPicPr>
        <p:blipFill rotWithShape="1">
          <a:blip r:embed="rId3">
            <a:alphaModFix/>
          </a:blip>
          <a:srcRect b="0" l="0" r="0" t="0"/>
          <a:stretch/>
        </p:blipFill>
        <p:spPr>
          <a:xfrm>
            <a:off x="626400" y="1440000"/>
            <a:ext cx="1980000" cy="1980000"/>
          </a:xfrm>
          <a:prstGeom prst="rect">
            <a:avLst/>
          </a:prstGeom>
          <a:noFill/>
          <a:ln>
            <a:noFill/>
          </a:ln>
        </p:spPr>
      </p:pic>
      <p:sp>
        <p:nvSpPr>
          <p:cNvPr id="548" name="Google Shape;548;p18"/>
          <p:cNvSpPr txBox="1"/>
          <p:nvPr/>
        </p:nvSpPr>
        <p:spPr>
          <a:xfrm>
            <a:off x="3549534" y="1482080"/>
            <a:ext cx="7719279" cy="830997"/>
          </a:xfrm>
          <a:prstGeom prst="rect">
            <a:avLst/>
          </a:prstGeom>
          <a:solidFill>
            <a:srgbClr val="FA170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5 pretende lograr la igualdad de género y empoderar a todas las mujeres y niñas</a:t>
            </a:r>
            <a:endParaRPr/>
          </a:p>
        </p:txBody>
      </p:sp>
      <p:pic>
        <p:nvPicPr>
          <p:cNvPr id="549" name="Google Shape;549;p18"/>
          <p:cNvPicPr preferRelativeResize="0"/>
          <p:nvPr/>
        </p:nvPicPr>
        <p:blipFill rotWithShape="1">
          <a:blip r:embed="rId4">
            <a:alphaModFix/>
          </a:blip>
          <a:srcRect b="0" l="0" r="11167" t="0"/>
          <a:stretch/>
        </p:blipFill>
        <p:spPr>
          <a:xfrm>
            <a:off x="3561997" y="2653708"/>
            <a:ext cx="1945336" cy="551585"/>
          </a:xfrm>
          <a:prstGeom prst="rect">
            <a:avLst/>
          </a:prstGeom>
          <a:noFill/>
          <a:ln>
            <a:noFill/>
          </a:ln>
        </p:spPr>
      </p:pic>
      <p:pic>
        <p:nvPicPr>
          <p:cNvPr id="550" name="Google Shape;550;p18"/>
          <p:cNvPicPr preferRelativeResize="0"/>
          <p:nvPr/>
        </p:nvPicPr>
        <p:blipFill rotWithShape="1">
          <a:blip r:embed="rId5">
            <a:alphaModFix/>
          </a:blip>
          <a:srcRect b="0" l="0" r="0" t="0"/>
          <a:stretch/>
        </p:blipFill>
        <p:spPr>
          <a:xfrm>
            <a:off x="5587001" y="2430000"/>
            <a:ext cx="5681812" cy="999000"/>
          </a:xfrm>
          <a:prstGeom prst="rect">
            <a:avLst/>
          </a:prstGeom>
          <a:noFill/>
          <a:ln>
            <a:noFill/>
          </a:ln>
        </p:spPr>
      </p:pic>
      <p:sp>
        <p:nvSpPr>
          <p:cNvPr id="551" name="Google Shape;551;p18"/>
          <p:cNvSpPr txBox="1"/>
          <p:nvPr/>
        </p:nvSpPr>
        <p:spPr>
          <a:xfrm>
            <a:off x="5507332" y="3976914"/>
            <a:ext cx="5761481"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Según un informe del Banco Mundial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La mujer, la empresa y el Derecho 2022</a:t>
            </a:r>
            <a:r>
              <a:rPr lang="es-ES" sz="1800">
                <a:solidFill>
                  <a:schemeClr val="dk1"/>
                </a:solidFill>
                <a:latin typeface="Calibri"/>
                <a:ea typeface="Calibri"/>
                <a:cs typeface="Calibri"/>
                <a:sym typeface="Calibri"/>
              </a:rPr>
              <a:t>”, en 178 países continúan con barreras legales que les impiden participar plenamente en la economía. En 86 países, las mujeres se enfrentan algún tipo de restricción laboral, y 95 países no garantizan la igualdad de remuneración por un trabajo de igual valor</a:t>
            </a:r>
            <a:endParaRPr/>
          </a:p>
        </p:txBody>
      </p:sp>
      <p:sp>
        <p:nvSpPr>
          <p:cNvPr id="552" name="Google Shape;552;p18"/>
          <p:cNvSpPr txBox="1"/>
          <p:nvPr/>
        </p:nvSpPr>
        <p:spPr>
          <a:xfrm>
            <a:off x="5462728" y="6361688"/>
            <a:ext cx="2438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7">
                  <a:extLst>
                    <a:ext uri="{A12FA001-AC4F-418D-AE19-62706E023703}">
                      <ahyp:hlinkClr val="tx"/>
                    </a:ext>
                  </a:extLst>
                </a:hlinkClick>
              </a:rPr>
              <a:t>Vídeo Explicativo ODS5</a:t>
            </a:r>
            <a:endParaRPr sz="1800">
              <a:solidFill>
                <a:schemeClr val="dk1"/>
              </a:solidFill>
              <a:latin typeface="Calibri"/>
              <a:ea typeface="Calibri"/>
              <a:cs typeface="Calibri"/>
              <a:sym typeface="Calibri"/>
            </a:endParaRPr>
          </a:p>
        </p:txBody>
      </p:sp>
      <p:pic>
        <p:nvPicPr>
          <p:cNvPr id="553" name="Google Shape;553;p18"/>
          <p:cNvPicPr preferRelativeResize="0"/>
          <p:nvPr/>
        </p:nvPicPr>
        <p:blipFill rotWithShape="1">
          <a:blip r:embed="rId8">
            <a:alphaModFix/>
          </a:blip>
          <a:srcRect b="0" l="0" r="0" t="0"/>
          <a:stretch/>
        </p:blipFill>
        <p:spPr>
          <a:xfrm>
            <a:off x="0" y="4163897"/>
            <a:ext cx="5297714" cy="2667380"/>
          </a:xfrm>
          <a:prstGeom prst="rect">
            <a:avLst/>
          </a:prstGeom>
          <a:noFill/>
          <a:ln>
            <a:noFill/>
          </a:ln>
        </p:spPr>
      </p:pic>
      <p:sp>
        <p:nvSpPr>
          <p:cNvPr id="554" name="Google Shape;554;p18"/>
          <p:cNvSpPr txBox="1"/>
          <p:nvPr/>
        </p:nvSpPr>
        <p:spPr>
          <a:xfrm>
            <a:off x="130629" y="3788229"/>
            <a:ext cx="5167085" cy="3756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9">
                  <a:extLst>
                    <a:ext uri="{A12FA001-AC4F-418D-AE19-62706E023703}">
                      <ahyp:hlinkClr val="tx"/>
                    </a:ext>
                  </a:extLst>
                </a:hlinkClick>
              </a:rPr>
              <a:t>Evolución de los índices de igualdad de género</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9"/>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5: IGUALDAD DE GÉNERO</a:t>
            </a:r>
            <a:endParaRPr sz="4000"/>
          </a:p>
        </p:txBody>
      </p:sp>
      <p:cxnSp>
        <p:nvCxnSpPr>
          <p:cNvPr id="561" name="Google Shape;561;p19"/>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62" name="Google Shape;562;p19"/>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63" name="Google Shape;563;p19"/>
          <p:cNvPicPr preferRelativeResize="0"/>
          <p:nvPr/>
        </p:nvPicPr>
        <p:blipFill rotWithShape="1">
          <a:blip r:embed="rId3">
            <a:alphaModFix/>
          </a:blip>
          <a:srcRect b="0" l="0" r="0" t="0"/>
          <a:stretch/>
        </p:blipFill>
        <p:spPr>
          <a:xfrm>
            <a:off x="5040000" y="1440000"/>
            <a:ext cx="1980000" cy="1980000"/>
          </a:xfrm>
          <a:prstGeom prst="rect">
            <a:avLst/>
          </a:prstGeom>
          <a:noFill/>
          <a:ln>
            <a:noFill/>
          </a:ln>
        </p:spPr>
      </p:pic>
      <p:sp>
        <p:nvSpPr>
          <p:cNvPr id="564" name="Google Shape;564;p19"/>
          <p:cNvSpPr txBox="1"/>
          <p:nvPr/>
        </p:nvSpPr>
        <p:spPr>
          <a:xfrm>
            <a:off x="662135" y="1547260"/>
            <a:ext cx="3675435" cy="461665"/>
          </a:xfrm>
          <a:prstGeom prst="rect">
            <a:avLst/>
          </a:prstGeom>
          <a:solidFill>
            <a:srgbClr val="FA170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565" name="Google Shape;565;p19"/>
          <p:cNvSpPr txBox="1"/>
          <p:nvPr/>
        </p:nvSpPr>
        <p:spPr>
          <a:xfrm>
            <a:off x="7787110" y="1547260"/>
            <a:ext cx="3675435" cy="461665"/>
          </a:xfrm>
          <a:prstGeom prst="rect">
            <a:avLst/>
          </a:prstGeom>
          <a:solidFill>
            <a:srgbClr val="FA170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566" name="Google Shape;566;p19"/>
          <p:cNvSpPr txBox="1"/>
          <p:nvPr/>
        </p:nvSpPr>
        <p:spPr>
          <a:xfrm>
            <a:off x="324466" y="2503494"/>
            <a:ext cx="4350773" cy="40934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Eliminar la violencia contra mujeres y niñas.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Erradicar el matrimonio infantil, forzado y la mutilación genital.</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Lograr el acceso a la salud sexual y reproductiva universal.</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Asegurar la participación plena en igualdad de oportunidades en el liderazgo.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Aplicar políticas y aprobar leyes que promuevan la igualdad de género.</a:t>
            </a:r>
            <a:endParaRPr sz="2000">
              <a:solidFill>
                <a:schemeClr val="dk1"/>
              </a:solidFill>
              <a:latin typeface="Calibri"/>
              <a:ea typeface="Calibri"/>
              <a:cs typeface="Calibri"/>
              <a:sym typeface="Calibri"/>
            </a:endParaRPr>
          </a:p>
        </p:txBody>
      </p:sp>
      <p:sp>
        <p:nvSpPr>
          <p:cNvPr id="567" name="Google Shape;567;p19"/>
          <p:cNvSpPr txBox="1"/>
          <p:nvPr/>
        </p:nvSpPr>
        <p:spPr>
          <a:xfrm>
            <a:off x="7787110" y="2191663"/>
            <a:ext cx="367543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EL MOVIMIENTO #MeToo SIRVE PARA DENUNCIAR SITUACIONES DE ACOSO Y AGRESIÓN SEXUAL</a:t>
            </a:r>
            <a:endParaRPr/>
          </a:p>
        </p:txBody>
      </p:sp>
      <p:sp>
        <p:nvSpPr>
          <p:cNvPr id="568" name="Google Shape;568;p19"/>
          <p:cNvSpPr txBox="1"/>
          <p:nvPr/>
        </p:nvSpPr>
        <p:spPr>
          <a:xfrm>
            <a:off x="7995131" y="3418321"/>
            <a:ext cx="3259393"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A raíz de las denuncias presentadas contra Harvey Weinstein, a través de un hashtag, la actriz Alyssa Milano inició un movimiento viral de dimensión mundial donde se denuncian estas situaciones.</a:t>
            </a:r>
            <a:endParaRPr/>
          </a:p>
        </p:txBody>
      </p:sp>
      <p:pic>
        <p:nvPicPr>
          <p:cNvPr descr="Una persona con una camisa azul&#10;&#10;Descripción generada automáticamente" id="569" name="Google Shape;569;p19"/>
          <p:cNvPicPr preferRelativeResize="0"/>
          <p:nvPr/>
        </p:nvPicPr>
        <p:blipFill rotWithShape="1">
          <a:blip r:embed="rId4">
            <a:alphaModFix/>
          </a:blip>
          <a:srcRect b="0" l="0" r="0" t="0"/>
          <a:stretch/>
        </p:blipFill>
        <p:spPr>
          <a:xfrm>
            <a:off x="5144341" y="3760105"/>
            <a:ext cx="1788575" cy="2682863"/>
          </a:xfrm>
          <a:prstGeom prst="rect">
            <a:avLst/>
          </a:prstGeom>
          <a:noFill/>
          <a:ln>
            <a:noFill/>
          </a:ln>
        </p:spPr>
      </p:pic>
      <p:sp>
        <p:nvSpPr>
          <p:cNvPr id="570" name="Google Shape;570;p19"/>
          <p:cNvSpPr txBox="1"/>
          <p:nvPr/>
        </p:nvSpPr>
        <p:spPr>
          <a:xfrm>
            <a:off x="4995498"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20"/>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6: AGUA LIMPIA Y SANEAMIENTO</a:t>
            </a:r>
            <a:endParaRPr sz="4000"/>
          </a:p>
        </p:txBody>
      </p:sp>
      <p:cxnSp>
        <p:nvCxnSpPr>
          <p:cNvPr id="577" name="Google Shape;577;p20"/>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78" name="Google Shape;578;p20"/>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79" name="Google Shape;579;p20"/>
          <p:cNvPicPr preferRelativeResize="0"/>
          <p:nvPr/>
        </p:nvPicPr>
        <p:blipFill rotWithShape="1">
          <a:blip r:embed="rId3">
            <a:alphaModFix/>
          </a:blip>
          <a:srcRect b="0" l="0" r="0" t="0"/>
          <a:stretch/>
        </p:blipFill>
        <p:spPr>
          <a:xfrm>
            <a:off x="626400" y="1440000"/>
            <a:ext cx="2028010" cy="1980000"/>
          </a:xfrm>
          <a:prstGeom prst="rect">
            <a:avLst/>
          </a:prstGeom>
          <a:noFill/>
          <a:ln>
            <a:noFill/>
          </a:ln>
        </p:spPr>
      </p:pic>
      <p:sp>
        <p:nvSpPr>
          <p:cNvPr id="580" name="Google Shape;580;p20"/>
          <p:cNvSpPr txBox="1"/>
          <p:nvPr/>
        </p:nvSpPr>
        <p:spPr>
          <a:xfrm>
            <a:off x="3549534" y="1482080"/>
            <a:ext cx="7719279" cy="830997"/>
          </a:xfrm>
          <a:prstGeom prst="rect">
            <a:avLst/>
          </a:prstGeom>
          <a:solidFill>
            <a:srgbClr val="00B0F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6 trata de garantizar la disponibilidad de agua y su gestión sostenible y el saneamiento para todos</a:t>
            </a:r>
            <a:endParaRPr/>
          </a:p>
        </p:txBody>
      </p:sp>
      <p:pic>
        <p:nvPicPr>
          <p:cNvPr id="581" name="Google Shape;581;p20"/>
          <p:cNvPicPr preferRelativeResize="0"/>
          <p:nvPr/>
        </p:nvPicPr>
        <p:blipFill rotWithShape="1">
          <a:blip r:embed="rId4">
            <a:alphaModFix/>
          </a:blip>
          <a:srcRect b="0" l="0" r="0" t="0"/>
          <a:stretch/>
        </p:blipFill>
        <p:spPr>
          <a:xfrm>
            <a:off x="3883362" y="2659438"/>
            <a:ext cx="3765666" cy="723054"/>
          </a:xfrm>
          <a:prstGeom prst="rect">
            <a:avLst/>
          </a:prstGeom>
          <a:noFill/>
          <a:ln>
            <a:noFill/>
          </a:ln>
        </p:spPr>
      </p:pic>
      <p:pic>
        <p:nvPicPr>
          <p:cNvPr id="582" name="Google Shape;582;p20"/>
          <p:cNvPicPr preferRelativeResize="0"/>
          <p:nvPr/>
        </p:nvPicPr>
        <p:blipFill rotWithShape="1">
          <a:blip r:embed="rId5">
            <a:alphaModFix/>
          </a:blip>
          <a:srcRect b="0" l="0" r="0" t="0"/>
          <a:stretch/>
        </p:blipFill>
        <p:spPr>
          <a:xfrm>
            <a:off x="3883362" y="3273882"/>
            <a:ext cx="7214367" cy="765606"/>
          </a:xfrm>
          <a:prstGeom prst="rect">
            <a:avLst/>
          </a:prstGeom>
          <a:noFill/>
          <a:ln>
            <a:noFill/>
          </a:ln>
        </p:spPr>
      </p:pic>
      <p:sp>
        <p:nvSpPr>
          <p:cNvPr id="583" name="Google Shape;583;p20"/>
          <p:cNvSpPr txBox="1"/>
          <p:nvPr/>
        </p:nvSpPr>
        <p:spPr>
          <a:xfrm>
            <a:off x="8664606" y="2846797"/>
            <a:ext cx="20033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23/06/2023</a:t>
            </a:r>
            <a:endParaRPr/>
          </a:p>
        </p:txBody>
      </p:sp>
      <p:sp>
        <p:nvSpPr>
          <p:cNvPr id="584" name="Google Shape;584;p20"/>
          <p:cNvSpPr txBox="1"/>
          <p:nvPr/>
        </p:nvSpPr>
        <p:spPr>
          <a:xfrm>
            <a:off x="5507332" y="4339768"/>
            <a:ext cx="5761481"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Según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un informe de la OMS</a:t>
            </a:r>
            <a:r>
              <a:rPr lang="es-ES" sz="1800">
                <a:solidFill>
                  <a:schemeClr val="dk1"/>
                </a:solidFill>
                <a:latin typeface="Calibri"/>
                <a:ea typeface="Calibri"/>
                <a:cs typeface="Calibri"/>
                <a:sym typeface="Calibri"/>
              </a:rPr>
              <a:t>, las enfermedades diarreicas y las infecciones respiratorias agudas causadas por una higiene de manos inadecuada causaron la mayoría de las muertes en 2019 y afectan sobre todo a países de ingresos bajos.</a:t>
            </a:r>
            <a:endParaRPr/>
          </a:p>
        </p:txBody>
      </p:sp>
      <p:sp>
        <p:nvSpPr>
          <p:cNvPr id="585" name="Google Shape;585;p20"/>
          <p:cNvSpPr txBox="1"/>
          <p:nvPr/>
        </p:nvSpPr>
        <p:spPr>
          <a:xfrm>
            <a:off x="4891314" y="6507920"/>
            <a:ext cx="24819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7">
                  <a:extLst>
                    <a:ext uri="{A12FA001-AC4F-418D-AE19-62706E023703}">
                      <ahyp:hlinkClr val="tx"/>
                    </a:ext>
                  </a:extLst>
                </a:hlinkClick>
              </a:rPr>
              <a:t>Vídeo Explicativo ODS6</a:t>
            </a:r>
            <a:endParaRPr sz="1800">
              <a:solidFill>
                <a:schemeClr val="dk1"/>
              </a:solidFill>
              <a:latin typeface="Calibri"/>
              <a:ea typeface="Calibri"/>
              <a:cs typeface="Calibri"/>
              <a:sym typeface="Calibri"/>
            </a:endParaRPr>
          </a:p>
        </p:txBody>
      </p:sp>
      <p:pic>
        <p:nvPicPr>
          <p:cNvPr id="586" name="Google Shape;586;p20"/>
          <p:cNvPicPr preferRelativeResize="0"/>
          <p:nvPr/>
        </p:nvPicPr>
        <p:blipFill rotWithShape="1">
          <a:blip r:embed="rId8">
            <a:alphaModFix/>
          </a:blip>
          <a:srcRect b="0" l="0" r="0" t="0"/>
          <a:stretch/>
        </p:blipFill>
        <p:spPr>
          <a:xfrm>
            <a:off x="704295" y="3888978"/>
            <a:ext cx="3090110" cy="2946687"/>
          </a:xfrm>
          <a:prstGeom prst="rect">
            <a:avLst/>
          </a:prstGeom>
          <a:noFill/>
          <a:ln>
            <a:noFill/>
          </a:ln>
        </p:spPr>
      </p:pic>
      <p:sp>
        <p:nvSpPr>
          <p:cNvPr id="587" name="Google Shape;587;p20"/>
          <p:cNvSpPr txBox="1"/>
          <p:nvPr/>
        </p:nvSpPr>
        <p:spPr>
          <a:xfrm>
            <a:off x="166914" y="3496054"/>
            <a:ext cx="35495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Acceso al agua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informe OMS 2023</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1"/>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6: AGUA LIMPIA Y SANEAMIENTO</a:t>
            </a:r>
            <a:endParaRPr sz="4000"/>
          </a:p>
        </p:txBody>
      </p:sp>
      <p:cxnSp>
        <p:nvCxnSpPr>
          <p:cNvPr id="594" name="Google Shape;594;p21"/>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595" name="Google Shape;595;p21"/>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596" name="Google Shape;596;p21"/>
          <p:cNvPicPr preferRelativeResize="0"/>
          <p:nvPr/>
        </p:nvPicPr>
        <p:blipFill rotWithShape="1">
          <a:blip r:embed="rId3">
            <a:alphaModFix/>
          </a:blip>
          <a:srcRect b="0" l="0" r="0" t="0"/>
          <a:stretch/>
        </p:blipFill>
        <p:spPr>
          <a:xfrm>
            <a:off x="5040000" y="1440000"/>
            <a:ext cx="2028010" cy="1980000"/>
          </a:xfrm>
          <a:prstGeom prst="rect">
            <a:avLst/>
          </a:prstGeom>
          <a:noFill/>
          <a:ln>
            <a:noFill/>
          </a:ln>
        </p:spPr>
      </p:pic>
      <p:sp>
        <p:nvSpPr>
          <p:cNvPr id="597" name="Google Shape;597;p21"/>
          <p:cNvSpPr txBox="1"/>
          <p:nvPr/>
        </p:nvSpPr>
        <p:spPr>
          <a:xfrm>
            <a:off x="662135" y="1547260"/>
            <a:ext cx="3675435" cy="461665"/>
          </a:xfrm>
          <a:prstGeom prst="rect">
            <a:avLst/>
          </a:prstGeom>
          <a:solidFill>
            <a:srgbClr val="00B0F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598" name="Google Shape;598;p21"/>
          <p:cNvSpPr txBox="1"/>
          <p:nvPr/>
        </p:nvSpPr>
        <p:spPr>
          <a:xfrm>
            <a:off x="7787110" y="1547260"/>
            <a:ext cx="3675435" cy="461665"/>
          </a:xfrm>
          <a:prstGeom prst="rect">
            <a:avLst/>
          </a:prstGeom>
          <a:solidFill>
            <a:srgbClr val="00B0F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599" name="Google Shape;599;p21"/>
          <p:cNvSpPr txBox="1"/>
          <p:nvPr/>
        </p:nvSpPr>
        <p:spPr>
          <a:xfrm>
            <a:off x="324466" y="2445438"/>
            <a:ext cx="4350773" cy="440120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Mejorar la calidad del agua reduciendo la contaminación.</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Aumentar la eficiencia en el uso de los recursos hídricos.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Aumentar la cooperación internacional y el apoyo a países en desarrollo.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Apoyar a las comunidades locales en la mejora de la gestión del agua y del saneamiento.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Proteger y recuperar los ecosistemas relacionados con el agua.</a:t>
            </a:r>
            <a:endParaRPr sz="2000">
              <a:solidFill>
                <a:schemeClr val="dk1"/>
              </a:solidFill>
              <a:latin typeface="Calibri"/>
              <a:ea typeface="Calibri"/>
              <a:cs typeface="Calibri"/>
              <a:sym typeface="Calibri"/>
            </a:endParaRPr>
          </a:p>
        </p:txBody>
      </p:sp>
      <p:sp>
        <p:nvSpPr>
          <p:cNvPr id="600" name="Google Shape;600;p21"/>
          <p:cNvSpPr txBox="1"/>
          <p:nvPr/>
        </p:nvSpPr>
        <p:spPr>
          <a:xfrm>
            <a:off x="7787110" y="2191663"/>
            <a:ext cx="3675435"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LA FUNDACIÓN “WE ARE WATER” LLEVA EL SANEAMIENTO Y LA HIGIENE A MÁS DE 170.000 BENEFICIARIOS EN LA INDIA</a:t>
            </a:r>
            <a:endParaRPr/>
          </a:p>
        </p:txBody>
      </p:sp>
      <p:sp>
        <p:nvSpPr>
          <p:cNvPr id="601" name="Google Shape;601;p21"/>
          <p:cNvSpPr txBox="1"/>
          <p:nvPr/>
        </p:nvSpPr>
        <p:spPr>
          <a:xfrm>
            <a:off x="7995131" y="3752150"/>
            <a:ext cx="3259393"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Este proyecto se ha dirigido a persona de la casta de los “intocables” de la aldea india de P. Thimmapuram, que ahora cuentan con un grifo y un inodoro en sus casas.</a:t>
            </a:r>
            <a:endParaRPr/>
          </a:p>
        </p:txBody>
      </p:sp>
      <p:sp>
        <p:nvSpPr>
          <p:cNvPr id="602" name="Google Shape;602;p21"/>
          <p:cNvSpPr txBox="1"/>
          <p:nvPr/>
        </p:nvSpPr>
        <p:spPr>
          <a:xfrm>
            <a:off x="8418286" y="5849257"/>
            <a:ext cx="248194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endParaRPr sz="1800">
              <a:solidFill>
                <a:schemeClr val="dk1"/>
              </a:solidFill>
              <a:latin typeface="Calibri"/>
              <a:ea typeface="Calibri"/>
              <a:cs typeface="Calibri"/>
              <a:sym typeface="Calibri"/>
            </a:endParaRPr>
          </a:p>
        </p:txBody>
      </p:sp>
      <p:pic>
        <p:nvPicPr>
          <p:cNvPr descr="Icono&#10;&#10;Descripción generada automáticamente" id="603" name="Google Shape;603;p21"/>
          <p:cNvPicPr preferRelativeResize="0"/>
          <p:nvPr/>
        </p:nvPicPr>
        <p:blipFill rotWithShape="1">
          <a:blip r:embed="rId5">
            <a:alphaModFix/>
          </a:blip>
          <a:srcRect b="0" l="0" r="0" t="0"/>
          <a:stretch/>
        </p:blipFill>
        <p:spPr>
          <a:xfrm>
            <a:off x="5040000" y="3781651"/>
            <a:ext cx="2028010" cy="2730561"/>
          </a:xfrm>
          <a:prstGeom prst="rect">
            <a:avLst/>
          </a:prstGeom>
          <a:noFill/>
          <a:ln>
            <a:noFill/>
          </a:ln>
        </p:spPr>
      </p:pic>
      <p:sp>
        <p:nvSpPr>
          <p:cNvPr id="604" name="Google Shape;604;p21"/>
          <p:cNvSpPr txBox="1"/>
          <p:nvPr/>
        </p:nvSpPr>
        <p:spPr>
          <a:xfrm>
            <a:off x="4995498"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22"/>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7: ENERGÍA ASEQUIBLE Y NO CONTAMINANTE</a:t>
            </a:r>
            <a:endParaRPr sz="3200"/>
          </a:p>
        </p:txBody>
      </p:sp>
      <p:cxnSp>
        <p:nvCxnSpPr>
          <p:cNvPr id="611" name="Google Shape;611;p22"/>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12" name="Google Shape;612;p22"/>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13" name="Google Shape;613;p22"/>
          <p:cNvPicPr preferRelativeResize="0"/>
          <p:nvPr/>
        </p:nvPicPr>
        <p:blipFill rotWithShape="1">
          <a:blip r:embed="rId3">
            <a:alphaModFix/>
          </a:blip>
          <a:srcRect b="0" l="0" r="0" t="0"/>
          <a:stretch/>
        </p:blipFill>
        <p:spPr>
          <a:xfrm>
            <a:off x="626400" y="1438164"/>
            <a:ext cx="1980000" cy="1980000"/>
          </a:xfrm>
          <a:prstGeom prst="rect">
            <a:avLst/>
          </a:prstGeom>
          <a:noFill/>
          <a:ln>
            <a:noFill/>
          </a:ln>
        </p:spPr>
      </p:pic>
      <p:sp>
        <p:nvSpPr>
          <p:cNvPr id="614" name="Google Shape;614;p22"/>
          <p:cNvSpPr txBox="1"/>
          <p:nvPr/>
        </p:nvSpPr>
        <p:spPr>
          <a:xfrm>
            <a:off x="3549534" y="1482080"/>
            <a:ext cx="7719279" cy="830997"/>
          </a:xfrm>
          <a:prstGeom prst="rect">
            <a:avLst/>
          </a:prstGeom>
          <a:solidFill>
            <a:srgbClr val="FFCA2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7 busca garantizar el acceso a una energía asequible, fiable, sostenible y moderna para todos</a:t>
            </a:r>
            <a:endParaRPr/>
          </a:p>
        </p:txBody>
      </p:sp>
      <p:sp>
        <p:nvSpPr>
          <p:cNvPr id="615" name="Google Shape;615;p22"/>
          <p:cNvSpPr txBox="1"/>
          <p:nvPr/>
        </p:nvSpPr>
        <p:spPr>
          <a:xfrm>
            <a:off x="4695002" y="6435206"/>
            <a:ext cx="271417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ODS7</a:t>
            </a:r>
            <a:endParaRPr sz="1800">
              <a:solidFill>
                <a:schemeClr val="dk1"/>
              </a:solidFill>
              <a:latin typeface="Calibri"/>
              <a:ea typeface="Calibri"/>
              <a:cs typeface="Calibri"/>
              <a:sym typeface="Calibri"/>
            </a:endParaRPr>
          </a:p>
        </p:txBody>
      </p:sp>
      <p:pic>
        <p:nvPicPr>
          <p:cNvPr id="616" name="Google Shape;616;p22"/>
          <p:cNvPicPr preferRelativeResize="0"/>
          <p:nvPr/>
        </p:nvPicPr>
        <p:blipFill rotWithShape="1">
          <a:blip r:embed="rId5">
            <a:alphaModFix/>
          </a:blip>
          <a:srcRect b="0" l="0" r="0" t="0"/>
          <a:stretch/>
        </p:blipFill>
        <p:spPr>
          <a:xfrm>
            <a:off x="-8878" y="4170452"/>
            <a:ext cx="4609906" cy="2635906"/>
          </a:xfrm>
          <a:prstGeom prst="rect">
            <a:avLst/>
          </a:prstGeom>
          <a:noFill/>
          <a:ln>
            <a:noFill/>
          </a:ln>
        </p:spPr>
      </p:pic>
      <p:sp>
        <p:nvSpPr>
          <p:cNvPr id="617" name="Google Shape;617;p22"/>
          <p:cNvSpPr txBox="1"/>
          <p:nvPr/>
        </p:nvSpPr>
        <p:spPr>
          <a:xfrm>
            <a:off x="-1" y="3464851"/>
            <a:ext cx="460102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Porcentaje de la población mundial con acceso a la electricidad. Fuente: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Banco Mundial</a:t>
            </a:r>
            <a:endParaRPr sz="1800">
              <a:solidFill>
                <a:schemeClr val="dk1"/>
              </a:solidFill>
              <a:latin typeface="Calibri"/>
              <a:ea typeface="Calibri"/>
              <a:cs typeface="Calibri"/>
              <a:sym typeface="Calibri"/>
            </a:endParaRPr>
          </a:p>
        </p:txBody>
      </p:sp>
      <p:pic>
        <p:nvPicPr>
          <p:cNvPr id="618" name="Google Shape;618;p22"/>
          <p:cNvPicPr preferRelativeResize="0"/>
          <p:nvPr/>
        </p:nvPicPr>
        <p:blipFill rotWithShape="1">
          <a:blip r:embed="rId7">
            <a:alphaModFix/>
          </a:blip>
          <a:srcRect b="0" l="0" r="0" t="0"/>
          <a:stretch/>
        </p:blipFill>
        <p:spPr>
          <a:xfrm>
            <a:off x="5493950" y="2376965"/>
            <a:ext cx="2162477" cy="600159"/>
          </a:xfrm>
          <a:prstGeom prst="rect">
            <a:avLst/>
          </a:prstGeom>
          <a:noFill/>
          <a:ln>
            <a:noFill/>
          </a:ln>
        </p:spPr>
      </p:pic>
      <p:pic>
        <p:nvPicPr>
          <p:cNvPr id="619" name="Google Shape;619;p22"/>
          <p:cNvPicPr preferRelativeResize="0"/>
          <p:nvPr/>
        </p:nvPicPr>
        <p:blipFill rotWithShape="1">
          <a:blip r:embed="rId8">
            <a:alphaModFix/>
          </a:blip>
          <a:srcRect b="0" l="0" r="0" t="0"/>
          <a:stretch/>
        </p:blipFill>
        <p:spPr>
          <a:xfrm>
            <a:off x="5433797" y="2981778"/>
            <a:ext cx="5835016" cy="832050"/>
          </a:xfrm>
          <a:prstGeom prst="rect">
            <a:avLst/>
          </a:prstGeom>
          <a:noFill/>
          <a:ln>
            <a:noFill/>
          </a:ln>
        </p:spPr>
      </p:pic>
      <p:sp>
        <p:nvSpPr>
          <p:cNvPr id="620" name="Google Shape;620;p22"/>
          <p:cNvSpPr txBox="1"/>
          <p:nvPr/>
        </p:nvSpPr>
        <p:spPr>
          <a:xfrm>
            <a:off x="5433798" y="4328692"/>
            <a:ext cx="5835000" cy="1477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Un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informe</a:t>
            </a:r>
            <a:r>
              <a:rPr lang="es-ES" sz="1800">
                <a:solidFill>
                  <a:schemeClr val="dk1"/>
                </a:solidFill>
                <a:latin typeface="Calibri"/>
                <a:ea typeface="Calibri"/>
                <a:cs typeface="Calibri"/>
                <a:sym typeface="Calibri"/>
              </a:rPr>
              <a:t> de varias agencias internacionales relacionadas con la energía revela que, en el año 2022, 685 millones de personas carecían de acceso a la electricidad, 10 millones menos que en 2021, debido fundamentalmente al aumento de la población en el África Subsahariana.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23"/>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7: ENERGÍA ASEQUIBLE Y NO CONTAMINANTE</a:t>
            </a:r>
            <a:endParaRPr sz="3200"/>
          </a:p>
        </p:txBody>
      </p:sp>
      <p:cxnSp>
        <p:nvCxnSpPr>
          <p:cNvPr id="627" name="Google Shape;627;p23"/>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28" name="Google Shape;628;p23"/>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29" name="Google Shape;629;p23"/>
          <p:cNvPicPr preferRelativeResize="0"/>
          <p:nvPr/>
        </p:nvPicPr>
        <p:blipFill rotWithShape="1">
          <a:blip r:embed="rId3">
            <a:alphaModFix/>
          </a:blip>
          <a:srcRect b="0" l="0" r="0" t="0"/>
          <a:stretch/>
        </p:blipFill>
        <p:spPr>
          <a:xfrm>
            <a:off x="5040000" y="1438164"/>
            <a:ext cx="1980000" cy="1980000"/>
          </a:xfrm>
          <a:prstGeom prst="rect">
            <a:avLst/>
          </a:prstGeom>
          <a:noFill/>
          <a:ln>
            <a:noFill/>
          </a:ln>
        </p:spPr>
      </p:pic>
      <p:sp>
        <p:nvSpPr>
          <p:cNvPr id="630" name="Google Shape;630;p23"/>
          <p:cNvSpPr txBox="1"/>
          <p:nvPr/>
        </p:nvSpPr>
        <p:spPr>
          <a:xfrm>
            <a:off x="662135" y="1547260"/>
            <a:ext cx="3675435" cy="461665"/>
          </a:xfrm>
          <a:prstGeom prst="rect">
            <a:avLst/>
          </a:prstGeom>
          <a:solidFill>
            <a:srgbClr val="FFCA2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631" name="Google Shape;631;p23"/>
          <p:cNvSpPr txBox="1"/>
          <p:nvPr/>
        </p:nvSpPr>
        <p:spPr>
          <a:xfrm>
            <a:off x="7787110" y="1547260"/>
            <a:ext cx="3675435" cy="461665"/>
          </a:xfrm>
          <a:prstGeom prst="rect">
            <a:avLst/>
          </a:prstGeom>
          <a:solidFill>
            <a:srgbClr val="FFCA2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632" name="Google Shape;632;p23"/>
          <p:cNvSpPr txBox="1"/>
          <p:nvPr/>
        </p:nvSpPr>
        <p:spPr>
          <a:xfrm>
            <a:off x="324466" y="2503494"/>
            <a:ext cx="4350773" cy="40934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Aumentar la proporción de energías limpias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Mejorar la eficiencia energética.</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highlight>
                  <a:srgbClr val="FFFFFF"/>
                </a:highlight>
                <a:latin typeface="Calibri"/>
                <a:ea typeface="Calibri"/>
                <a:cs typeface="Calibri"/>
                <a:sym typeface="Calibri"/>
              </a:rPr>
              <a:t>Apoyar a la investigación en energías y la cooperación internacional.</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Invertir y mejorar las infraestructuras y tecnología en los países en desarrollo y más desfavorecidos para que tengan servicios energéticos modernos y sostenibles.</a:t>
            </a:r>
            <a:endParaRPr/>
          </a:p>
          <a:p>
            <a:pPr indent="-158750" lvl="0" marL="285750" marR="0" rtl="0" algn="just">
              <a:spcBef>
                <a:spcPts val="12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
        <p:nvSpPr>
          <p:cNvPr id="633" name="Google Shape;633;p23"/>
          <p:cNvSpPr txBox="1"/>
          <p:nvPr/>
        </p:nvSpPr>
        <p:spPr>
          <a:xfrm>
            <a:off x="7787110" y="2191663"/>
            <a:ext cx="367543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LA ONG “SOLAR SISTER” CAPACITA A LAS MUJERES DEL ÁFRICA RURAL PARA VENDER ENERGÍA SOLAR</a:t>
            </a:r>
            <a:endParaRPr/>
          </a:p>
        </p:txBody>
      </p:sp>
      <p:sp>
        <p:nvSpPr>
          <p:cNvPr id="634" name="Google Shape;634;p23"/>
          <p:cNvSpPr txBox="1"/>
          <p:nvPr/>
        </p:nvSpPr>
        <p:spPr>
          <a:xfrm>
            <a:off x="7995131" y="3752150"/>
            <a:ext cx="3259393"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Esta ONG busca empoderar a las mujeres y posibilitarles unos ingresos económicos con la venta e instalación de energías limpias que posibilitan el acceso a la electricidad limpia en el entorno. Fuente: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Solar Sister</a:t>
            </a:r>
            <a:endParaRPr sz="1800">
              <a:solidFill>
                <a:schemeClr val="dk1"/>
              </a:solidFill>
              <a:latin typeface="Calibri"/>
              <a:ea typeface="Calibri"/>
              <a:cs typeface="Calibri"/>
              <a:sym typeface="Calibri"/>
            </a:endParaRPr>
          </a:p>
        </p:txBody>
      </p:sp>
      <p:pic>
        <p:nvPicPr>
          <p:cNvPr descr="Casa de madera en el campo&#10;&#10;Descripción generada automáticamente con confianza media" id="635" name="Google Shape;635;p23"/>
          <p:cNvPicPr preferRelativeResize="0"/>
          <p:nvPr/>
        </p:nvPicPr>
        <p:blipFill rotWithShape="1">
          <a:blip r:embed="rId5">
            <a:alphaModFix/>
          </a:blip>
          <a:srcRect b="0" l="2871" r="36350" t="0"/>
          <a:stretch/>
        </p:blipFill>
        <p:spPr>
          <a:xfrm>
            <a:off x="4782456" y="3677661"/>
            <a:ext cx="2627087" cy="2847751"/>
          </a:xfrm>
          <a:prstGeom prst="rect">
            <a:avLst/>
          </a:prstGeom>
          <a:noFill/>
          <a:ln>
            <a:noFill/>
          </a:ln>
        </p:spPr>
      </p:pic>
      <p:sp>
        <p:nvSpPr>
          <p:cNvPr id="636" name="Google Shape;636;p23"/>
          <p:cNvSpPr txBox="1"/>
          <p:nvPr/>
        </p:nvSpPr>
        <p:spPr>
          <a:xfrm>
            <a:off x="4995498"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24"/>
          <p:cNvSpPr txBox="1"/>
          <p:nvPr>
            <p:ph type="title"/>
          </p:nvPr>
        </p:nvSpPr>
        <p:spPr>
          <a:xfrm>
            <a:off x="648929" y="422794"/>
            <a:ext cx="971918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8: TRABAJO DECENTE Y CRECIMIENTO ECONÓMICO</a:t>
            </a:r>
            <a:endParaRPr sz="3200"/>
          </a:p>
        </p:txBody>
      </p:sp>
      <p:cxnSp>
        <p:nvCxnSpPr>
          <p:cNvPr id="643" name="Google Shape;643;p24"/>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44" name="Google Shape;644;p24"/>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45" name="Google Shape;645;p24"/>
          <p:cNvPicPr preferRelativeResize="0"/>
          <p:nvPr/>
        </p:nvPicPr>
        <p:blipFill rotWithShape="1">
          <a:blip r:embed="rId3">
            <a:alphaModFix/>
          </a:blip>
          <a:srcRect b="0" l="0" r="0" t="0"/>
          <a:stretch/>
        </p:blipFill>
        <p:spPr>
          <a:xfrm>
            <a:off x="626400" y="1584000"/>
            <a:ext cx="1968939" cy="1980000"/>
          </a:xfrm>
          <a:prstGeom prst="rect">
            <a:avLst/>
          </a:prstGeom>
          <a:noFill/>
          <a:ln>
            <a:noFill/>
          </a:ln>
        </p:spPr>
      </p:pic>
      <p:sp>
        <p:nvSpPr>
          <p:cNvPr id="646" name="Google Shape;646;p24"/>
          <p:cNvSpPr txBox="1"/>
          <p:nvPr/>
        </p:nvSpPr>
        <p:spPr>
          <a:xfrm>
            <a:off x="3549534" y="1482080"/>
            <a:ext cx="7719279" cy="830997"/>
          </a:xfrm>
          <a:prstGeom prst="rect">
            <a:avLst/>
          </a:prstGeom>
          <a:solidFill>
            <a:srgbClr val="C02A6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8 promueve el crecimiento económico inclusivo y sostenible, el empleo pleno, productivo decente</a:t>
            </a:r>
            <a:endParaRPr/>
          </a:p>
        </p:txBody>
      </p:sp>
      <p:sp>
        <p:nvSpPr>
          <p:cNvPr id="647" name="Google Shape;647;p24"/>
          <p:cNvSpPr txBox="1"/>
          <p:nvPr/>
        </p:nvSpPr>
        <p:spPr>
          <a:xfrm>
            <a:off x="5352164" y="6435206"/>
            <a:ext cx="236840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ODS8</a:t>
            </a:r>
            <a:endParaRPr sz="1800">
              <a:solidFill>
                <a:schemeClr val="dk1"/>
              </a:solidFill>
              <a:latin typeface="Calibri"/>
              <a:ea typeface="Calibri"/>
              <a:cs typeface="Calibri"/>
              <a:sym typeface="Calibri"/>
            </a:endParaRPr>
          </a:p>
        </p:txBody>
      </p:sp>
      <p:pic>
        <p:nvPicPr>
          <p:cNvPr id="648" name="Google Shape;648;p24"/>
          <p:cNvPicPr preferRelativeResize="0"/>
          <p:nvPr/>
        </p:nvPicPr>
        <p:blipFill rotWithShape="1">
          <a:blip r:embed="rId5">
            <a:alphaModFix/>
          </a:blip>
          <a:srcRect b="0" l="0" r="0" t="0"/>
          <a:stretch/>
        </p:blipFill>
        <p:spPr>
          <a:xfrm>
            <a:off x="3549534" y="2395225"/>
            <a:ext cx="3514943" cy="558098"/>
          </a:xfrm>
          <a:prstGeom prst="rect">
            <a:avLst/>
          </a:prstGeom>
          <a:noFill/>
          <a:ln>
            <a:noFill/>
          </a:ln>
        </p:spPr>
      </p:pic>
      <p:pic>
        <p:nvPicPr>
          <p:cNvPr id="649" name="Google Shape;649;p24"/>
          <p:cNvPicPr preferRelativeResize="0"/>
          <p:nvPr/>
        </p:nvPicPr>
        <p:blipFill rotWithShape="1">
          <a:blip r:embed="rId6">
            <a:alphaModFix/>
          </a:blip>
          <a:srcRect b="0" l="0" r="0" t="0"/>
          <a:stretch/>
        </p:blipFill>
        <p:spPr>
          <a:xfrm>
            <a:off x="3549534" y="2920149"/>
            <a:ext cx="6140156" cy="526954"/>
          </a:xfrm>
          <a:prstGeom prst="rect">
            <a:avLst/>
          </a:prstGeom>
          <a:noFill/>
          <a:ln>
            <a:noFill/>
          </a:ln>
        </p:spPr>
      </p:pic>
      <p:pic>
        <p:nvPicPr>
          <p:cNvPr id="650" name="Google Shape;650;p24"/>
          <p:cNvPicPr preferRelativeResize="0"/>
          <p:nvPr/>
        </p:nvPicPr>
        <p:blipFill rotWithShape="1">
          <a:blip r:embed="rId7">
            <a:alphaModFix/>
          </a:blip>
          <a:srcRect b="0" l="0" r="0" t="0"/>
          <a:stretch/>
        </p:blipFill>
        <p:spPr>
          <a:xfrm>
            <a:off x="3296" y="3935356"/>
            <a:ext cx="5011156" cy="2922643"/>
          </a:xfrm>
          <a:prstGeom prst="rect">
            <a:avLst/>
          </a:prstGeom>
          <a:noFill/>
          <a:ln>
            <a:noFill/>
          </a:ln>
        </p:spPr>
      </p:pic>
      <p:sp>
        <p:nvSpPr>
          <p:cNvPr id="651" name="Google Shape;651;p24"/>
          <p:cNvSpPr txBox="1"/>
          <p:nvPr/>
        </p:nvSpPr>
        <p:spPr>
          <a:xfrm>
            <a:off x="0" y="3564000"/>
            <a:ext cx="5011156" cy="3713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8">
                  <a:extLst>
                    <a:ext uri="{A12FA001-AC4F-418D-AE19-62706E023703}">
                      <ahyp:hlinkClr val="tx"/>
                    </a:ext>
                  </a:extLst>
                </a:hlinkClick>
              </a:rPr>
              <a:t>Tasas de desempleo en el mundo en 2023</a:t>
            </a:r>
            <a:endParaRPr sz="1800">
              <a:solidFill>
                <a:schemeClr val="dk1"/>
              </a:solidFill>
              <a:latin typeface="Calibri"/>
              <a:ea typeface="Calibri"/>
              <a:cs typeface="Calibri"/>
              <a:sym typeface="Calibri"/>
            </a:endParaRPr>
          </a:p>
        </p:txBody>
      </p:sp>
      <p:pic>
        <p:nvPicPr>
          <p:cNvPr id="652" name="Google Shape;652;p24"/>
          <p:cNvPicPr preferRelativeResize="0"/>
          <p:nvPr/>
        </p:nvPicPr>
        <p:blipFill rotWithShape="1">
          <a:blip r:embed="rId9">
            <a:alphaModFix/>
          </a:blip>
          <a:srcRect b="0" l="0" r="0" t="0"/>
          <a:stretch/>
        </p:blipFill>
        <p:spPr>
          <a:xfrm>
            <a:off x="8014028" y="3924976"/>
            <a:ext cx="3739085" cy="2405398"/>
          </a:xfrm>
          <a:prstGeom prst="rect">
            <a:avLst/>
          </a:prstGeom>
          <a:noFill/>
          <a:ln>
            <a:noFill/>
          </a:ln>
        </p:spPr>
      </p:pic>
      <p:sp>
        <p:nvSpPr>
          <p:cNvPr id="653" name="Google Shape;653;p24"/>
          <p:cNvSpPr txBox="1"/>
          <p:nvPr/>
        </p:nvSpPr>
        <p:spPr>
          <a:xfrm>
            <a:off x="5352164" y="3935351"/>
            <a:ext cx="2368402"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Un estudio de la </a:t>
            </a:r>
            <a:r>
              <a:rPr lang="es-ES" sz="1800" u="sng">
                <a:solidFill>
                  <a:schemeClr val="dk1"/>
                </a:solidFill>
                <a:latin typeface="Calibri"/>
                <a:ea typeface="Calibri"/>
                <a:cs typeface="Calibri"/>
                <a:sym typeface="Calibri"/>
                <a:hlinkClick r:id="rId10">
                  <a:extLst>
                    <a:ext uri="{A12FA001-AC4F-418D-AE19-62706E023703}">
                      <ahyp:hlinkClr val="tx"/>
                    </a:ext>
                  </a:extLst>
                </a:hlinkClick>
              </a:rPr>
              <a:t>OIT</a:t>
            </a:r>
            <a:r>
              <a:rPr lang="es-ES" sz="1800">
                <a:solidFill>
                  <a:schemeClr val="dk1"/>
                </a:solidFill>
                <a:latin typeface="Calibri"/>
                <a:ea typeface="Calibri"/>
                <a:cs typeface="Calibri"/>
                <a:sym typeface="Calibri"/>
              </a:rPr>
              <a:t> apunta a que, en 2024, 2 millones de personas más buscarán trabajo y las desigualdades aumentarán. Fuente: </a:t>
            </a:r>
            <a:r>
              <a:rPr lang="es-ES" sz="1800" u="sng">
                <a:solidFill>
                  <a:schemeClr val="dk1"/>
                </a:solidFill>
                <a:latin typeface="Calibri"/>
                <a:ea typeface="Calibri"/>
                <a:cs typeface="Calibri"/>
                <a:sym typeface="Calibri"/>
                <a:hlinkClick r:id="rId11">
                  <a:extLst>
                    <a:ext uri="{A12FA001-AC4F-418D-AE19-62706E023703}">
                      <ahyp:hlinkClr val="tx"/>
                    </a:ext>
                  </a:extLst>
                </a:hlinkClick>
              </a:rPr>
              <a:t>Noticia ONU</a:t>
            </a:r>
            <a:endParaRPr sz="1800">
              <a:solidFill>
                <a:schemeClr val="dk1"/>
              </a:solidFill>
              <a:latin typeface="Calibri"/>
              <a:ea typeface="Calibri"/>
              <a:cs typeface="Calibri"/>
              <a:sym typeface="Calibri"/>
            </a:endParaRPr>
          </a:p>
        </p:txBody>
      </p:sp>
      <p:sp>
        <p:nvSpPr>
          <p:cNvPr id="654" name="Google Shape;654;p24"/>
          <p:cNvSpPr txBox="1"/>
          <p:nvPr/>
        </p:nvSpPr>
        <p:spPr>
          <a:xfrm>
            <a:off x="7905134" y="3447104"/>
            <a:ext cx="4034053" cy="3539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700" u="sng">
                <a:solidFill>
                  <a:schemeClr val="dk1"/>
                </a:solidFill>
                <a:latin typeface="Calibri"/>
                <a:ea typeface="Calibri"/>
                <a:cs typeface="Calibri"/>
                <a:sym typeface="Calibri"/>
                <a:hlinkClick r:id="rId12">
                  <a:extLst>
                    <a:ext uri="{A12FA001-AC4F-418D-AE19-62706E023703}">
                      <ahyp:hlinkClr val="tx"/>
                    </a:ext>
                  </a:extLst>
                </a:hlinkClick>
              </a:rPr>
              <a:t>Evolución de la tasa de desempleo mundial</a:t>
            </a:r>
            <a:endParaRPr sz="1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25"/>
          <p:cNvSpPr txBox="1"/>
          <p:nvPr>
            <p:ph type="title"/>
          </p:nvPr>
        </p:nvSpPr>
        <p:spPr>
          <a:xfrm>
            <a:off x="648929" y="422794"/>
            <a:ext cx="971918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8: TRABAJO DECENTE Y CRECIMIENTO ECONÓMICO</a:t>
            </a:r>
            <a:endParaRPr sz="3200"/>
          </a:p>
        </p:txBody>
      </p:sp>
      <p:cxnSp>
        <p:nvCxnSpPr>
          <p:cNvPr id="661" name="Google Shape;661;p25"/>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62" name="Google Shape;662;p25"/>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63" name="Google Shape;663;p25"/>
          <p:cNvPicPr preferRelativeResize="0"/>
          <p:nvPr/>
        </p:nvPicPr>
        <p:blipFill rotWithShape="1">
          <a:blip r:embed="rId3">
            <a:alphaModFix/>
          </a:blip>
          <a:srcRect b="0" l="0" r="0" t="0"/>
          <a:stretch/>
        </p:blipFill>
        <p:spPr>
          <a:xfrm>
            <a:off x="5040000" y="1584000"/>
            <a:ext cx="1968939" cy="1980000"/>
          </a:xfrm>
          <a:prstGeom prst="rect">
            <a:avLst/>
          </a:prstGeom>
          <a:noFill/>
          <a:ln>
            <a:noFill/>
          </a:ln>
        </p:spPr>
      </p:pic>
      <p:sp>
        <p:nvSpPr>
          <p:cNvPr id="664" name="Google Shape;664;p25"/>
          <p:cNvSpPr txBox="1"/>
          <p:nvPr/>
        </p:nvSpPr>
        <p:spPr>
          <a:xfrm>
            <a:off x="662135" y="1547260"/>
            <a:ext cx="3675435" cy="461665"/>
          </a:xfrm>
          <a:prstGeom prst="rect">
            <a:avLst/>
          </a:prstGeom>
          <a:solidFill>
            <a:srgbClr val="C02A6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665" name="Google Shape;665;p25"/>
          <p:cNvSpPr txBox="1"/>
          <p:nvPr/>
        </p:nvSpPr>
        <p:spPr>
          <a:xfrm>
            <a:off x="7787110" y="1547260"/>
            <a:ext cx="3675435" cy="461665"/>
          </a:xfrm>
          <a:prstGeom prst="rect">
            <a:avLst/>
          </a:prstGeom>
          <a:solidFill>
            <a:srgbClr val="C02A6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666" name="Google Shape;666;p25"/>
          <p:cNvSpPr txBox="1"/>
          <p:nvPr/>
        </p:nvSpPr>
        <p:spPr>
          <a:xfrm>
            <a:off x="4995498"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
        <p:nvSpPr>
          <p:cNvPr id="667" name="Google Shape;667;p25"/>
          <p:cNvSpPr txBox="1"/>
          <p:nvPr/>
        </p:nvSpPr>
        <p:spPr>
          <a:xfrm>
            <a:off x="324466" y="2503494"/>
            <a:ext cx="4350773" cy="40934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Lograr empleos de calidad y sostenidos.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Alcanzar tasas de crecimiento del PIB  del 7% en países más desfavorecidos.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Mejorar la producción y la eficiencia para desvincular el crecimiento económico a la degradación del medio ambiente.</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Erradicar el trabajo forzoso y la sobrexplotación.</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Proteger los derechos laborales.</a:t>
            </a:r>
            <a:endParaRPr/>
          </a:p>
        </p:txBody>
      </p:sp>
      <p:sp>
        <p:nvSpPr>
          <p:cNvPr id="668" name="Google Shape;668;p25"/>
          <p:cNvSpPr txBox="1"/>
          <p:nvPr/>
        </p:nvSpPr>
        <p:spPr>
          <a:xfrm>
            <a:off x="7787110" y="2191663"/>
            <a:ext cx="367543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EL MODELO DE FP DUAL ALEMÁN POSIBILITA EL ACCESO AL EMPLEO DE CALIDAD A LOS JÓVENES</a:t>
            </a:r>
            <a:endParaRPr/>
          </a:p>
        </p:txBody>
      </p:sp>
      <p:sp>
        <p:nvSpPr>
          <p:cNvPr id="669" name="Google Shape;669;p25"/>
          <p:cNvSpPr txBox="1"/>
          <p:nvPr/>
        </p:nvSpPr>
        <p:spPr>
          <a:xfrm>
            <a:off x="7995131" y="3679580"/>
            <a:ext cx="3259393"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a:solidFill>
                  <a:srgbClr val="1C1F22"/>
                </a:solidFill>
                <a:highlight>
                  <a:srgbClr val="FFFFFF"/>
                </a:highlight>
                <a:latin typeface="Inter"/>
                <a:ea typeface="Inter"/>
                <a:cs typeface="Inter"/>
                <a:sym typeface="Inter"/>
              </a:rPr>
              <a:t>Un </a:t>
            </a:r>
            <a:r>
              <a:rPr b="0" i="0" lang="es-ES" sz="1800" u="sng">
                <a:solidFill>
                  <a:srgbClr val="1C1F22"/>
                </a:solidFill>
                <a:highlight>
                  <a:srgbClr val="FFFFFF"/>
                </a:highlight>
                <a:latin typeface="Inter"/>
                <a:ea typeface="Inter"/>
                <a:cs typeface="Inter"/>
                <a:sym typeface="Inter"/>
                <a:hlinkClick r:id="rId4">
                  <a:extLst>
                    <a:ext uri="{A12FA001-AC4F-418D-AE19-62706E023703}">
                      <ahyp:hlinkClr val="tx"/>
                    </a:ext>
                  </a:extLst>
                </a:hlinkClick>
              </a:rPr>
              <a:t>estudio de la OCDE </a:t>
            </a:r>
            <a:r>
              <a:rPr b="0" i="0" lang="es-ES" sz="1800">
                <a:solidFill>
                  <a:srgbClr val="1C1F22"/>
                </a:solidFill>
                <a:highlight>
                  <a:srgbClr val="FFFFFF"/>
                </a:highlight>
                <a:latin typeface="Inter"/>
                <a:ea typeface="Inter"/>
                <a:cs typeface="Inter"/>
                <a:sym typeface="Inter"/>
              </a:rPr>
              <a:t>del 2020 subraya el éxito del enfoque de FP dual alemán: la tasa de empleo de los jóvenes de 25 a 34 años con cualificación intermedia en Alemania es del 88%, por encima de la media de la OCDE (82%)</a:t>
            </a:r>
            <a:endParaRPr sz="1800">
              <a:solidFill>
                <a:schemeClr val="dk1"/>
              </a:solidFill>
              <a:latin typeface="Calibri"/>
              <a:ea typeface="Calibri"/>
              <a:cs typeface="Calibri"/>
              <a:sym typeface="Calibri"/>
            </a:endParaRPr>
          </a:p>
        </p:txBody>
      </p:sp>
      <p:pic>
        <p:nvPicPr>
          <p:cNvPr descr="Persona preparando comida en una mesa de madera&#10;&#10;Descripción generada automáticamente con confianza media" id="670" name="Google Shape;670;p25"/>
          <p:cNvPicPr preferRelativeResize="0"/>
          <p:nvPr/>
        </p:nvPicPr>
        <p:blipFill rotWithShape="1">
          <a:blip r:embed="rId5">
            <a:alphaModFix/>
          </a:blip>
          <a:srcRect b="0" l="0" r="0" t="0"/>
          <a:stretch/>
        </p:blipFill>
        <p:spPr>
          <a:xfrm>
            <a:off x="5220448" y="3832105"/>
            <a:ext cx="1692575" cy="253886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26"/>
          <p:cNvSpPr txBox="1"/>
          <p:nvPr>
            <p:ph type="title"/>
          </p:nvPr>
        </p:nvSpPr>
        <p:spPr>
          <a:xfrm>
            <a:off x="589936" y="422794"/>
            <a:ext cx="95186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9: INDUSTRIA, INNOVACIÓN E INFRAESTRUCTURA</a:t>
            </a:r>
            <a:endParaRPr sz="3200"/>
          </a:p>
        </p:txBody>
      </p:sp>
      <p:cxnSp>
        <p:nvCxnSpPr>
          <p:cNvPr id="677" name="Google Shape;677;p26"/>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78" name="Google Shape;678;p26"/>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79" name="Google Shape;679;p26"/>
          <p:cNvPicPr preferRelativeResize="0"/>
          <p:nvPr/>
        </p:nvPicPr>
        <p:blipFill rotWithShape="1">
          <a:blip r:embed="rId3">
            <a:alphaModFix/>
          </a:blip>
          <a:srcRect b="0" l="0" r="0" t="0"/>
          <a:stretch/>
        </p:blipFill>
        <p:spPr>
          <a:xfrm>
            <a:off x="626400" y="1440000"/>
            <a:ext cx="1980000" cy="1980000"/>
          </a:xfrm>
          <a:prstGeom prst="rect">
            <a:avLst/>
          </a:prstGeom>
          <a:noFill/>
          <a:ln>
            <a:noFill/>
          </a:ln>
        </p:spPr>
      </p:pic>
      <p:sp>
        <p:nvSpPr>
          <p:cNvPr id="680" name="Google Shape;680;p26"/>
          <p:cNvSpPr txBox="1"/>
          <p:nvPr/>
        </p:nvSpPr>
        <p:spPr>
          <a:xfrm>
            <a:off x="3549534" y="1482080"/>
            <a:ext cx="7719279" cy="830997"/>
          </a:xfrm>
          <a:prstGeom prst="rect">
            <a:avLst/>
          </a:prstGeom>
          <a:solidFill>
            <a:srgbClr val="EC6B24"/>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9 se enfoca en construir infraestructuras resilientes, promover la industrialización sostenible y la innovación</a:t>
            </a:r>
            <a:endParaRPr/>
          </a:p>
        </p:txBody>
      </p:sp>
      <p:pic>
        <p:nvPicPr>
          <p:cNvPr id="681" name="Google Shape;681;p26"/>
          <p:cNvPicPr preferRelativeResize="0"/>
          <p:nvPr/>
        </p:nvPicPr>
        <p:blipFill rotWithShape="1">
          <a:blip r:embed="rId4">
            <a:alphaModFix/>
          </a:blip>
          <a:srcRect b="0" l="0" r="0" t="0"/>
          <a:stretch/>
        </p:blipFill>
        <p:spPr>
          <a:xfrm>
            <a:off x="4078486" y="2431353"/>
            <a:ext cx="2381582" cy="752580"/>
          </a:xfrm>
          <a:prstGeom prst="rect">
            <a:avLst/>
          </a:prstGeom>
          <a:noFill/>
          <a:ln>
            <a:noFill/>
          </a:ln>
        </p:spPr>
      </p:pic>
      <p:pic>
        <p:nvPicPr>
          <p:cNvPr id="682" name="Google Shape;682;p26"/>
          <p:cNvPicPr preferRelativeResize="0"/>
          <p:nvPr/>
        </p:nvPicPr>
        <p:blipFill rotWithShape="1">
          <a:blip r:embed="rId5">
            <a:alphaModFix/>
          </a:blip>
          <a:srcRect b="0" l="0" r="0" t="0"/>
          <a:stretch/>
        </p:blipFill>
        <p:spPr>
          <a:xfrm>
            <a:off x="6460068" y="2455044"/>
            <a:ext cx="4758433" cy="972526"/>
          </a:xfrm>
          <a:prstGeom prst="rect">
            <a:avLst/>
          </a:prstGeom>
          <a:noFill/>
          <a:ln>
            <a:noFill/>
          </a:ln>
        </p:spPr>
      </p:pic>
      <p:pic>
        <p:nvPicPr>
          <p:cNvPr descr="SDG9 progress" id="683" name="Google Shape;683;p26">
            <a:hlinkClick r:id="rId6"/>
          </p:cNvPr>
          <p:cNvPicPr preferRelativeResize="0"/>
          <p:nvPr/>
        </p:nvPicPr>
        <p:blipFill rotWithShape="1">
          <a:blip r:embed="rId7">
            <a:alphaModFix/>
          </a:blip>
          <a:srcRect b="15939" l="5806" r="3033" t="13493"/>
          <a:stretch/>
        </p:blipFill>
        <p:spPr>
          <a:xfrm>
            <a:off x="5652642" y="3471600"/>
            <a:ext cx="5565859" cy="3048162"/>
          </a:xfrm>
          <a:prstGeom prst="rect">
            <a:avLst/>
          </a:prstGeom>
          <a:noFill/>
          <a:ln>
            <a:noFill/>
          </a:ln>
        </p:spPr>
      </p:pic>
      <p:pic>
        <p:nvPicPr>
          <p:cNvPr id="684" name="Google Shape;684;p26"/>
          <p:cNvPicPr preferRelativeResize="0"/>
          <p:nvPr/>
        </p:nvPicPr>
        <p:blipFill rotWithShape="1">
          <a:blip r:embed="rId8">
            <a:alphaModFix/>
          </a:blip>
          <a:srcRect b="0" l="0" r="0" t="0"/>
          <a:stretch/>
        </p:blipFill>
        <p:spPr>
          <a:xfrm>
            <a:off x="105201" y="3896252"/>
            <a:ext cx="3786352" cy="2936354"/>
          </a:xfrm>
          <a:prstGeom prst="rect">
            <a:avLst/>
          </a:prstGeom>
          <a:noFill/>
          <a:ln>
            <a:noFill/>
          </a:ln>
        </p:spPr>
      </p:pic>
      <p:sp>
        <p:nvSpPr>
          <p:cNvPr id="685" name="Google Shape;685;p26"/>
          <p:cNvSpPr txBox="1"/>
          <p:nvPr/>
        </p:nvSpPr>
        <p:spPr>
          <a:xfrm>
            <a:off x="250723" y="3687097"/>
            <a:ext cx="3298811" cy="38345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9">
                  <a:extLst>
                    <a:ext uri="{A12FA001-AC4F-418D-AE19-62706E023703}">
                      <ahyp:hlinkClr val="tx"/>
                    </a:ext>
                  </a:extLst>
                </a:hlinkClick>
              </a:rPr>
              <a:t>Estado del ODS 9 en España</a:t>
            </a:r>
            <a:endParaRPr sz="1800">
              <a:solidFill>
                <a:schemeClr val="dk1"/>
              </a:solidFill>
              <a:latin typeface="Calibri"/>
              <a:ea typeface="Calibri"/>
              <a:cs typeface="Calibri"/>
              <a:sym typeface="Calibri"/>
            </a:endParaRPr>
          </a:p>
        </p:txBody>
      </p:sp>
      <p:sp>
        <p:nvSpPr>
          <p:cNvPr id="686" name="Google Shape;686;p26"/>
          <p:cNvSpPr txBox="1"/>
          <p:nvPr/>
        </p:nvSpPr>
        <p:spPr>
          <a:xfrm>
            <a:off x="3687097" y="6490266"/>
            <a:ext cx="25102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10">
                  <a:extLst>
                    <a:ext uri="{A12FA001-AC4F-418D-AE19-62706E023703}">
                      <ahyp:hlinkClr val="tx"/>
                    </a:ext>
                  </a:extLst>
                </a:hlinkClick>
              </a:rPr>
              <a:t>Vídeo Explicativo ODS9</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27"/>
          <p:cNvSpPr txBox="1"/>
          <p:nvPr>
            <p:ph type="title"/>
          </p:nvPr>
        </p:nvSpPr>
        <p:spPr>
          <a:xfrm>
            <a:off x="589936" y="422794"/>
            <a:ext cx="95186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9: INDUSTRIA, INNOVACIÓN E INFRAESTRUCTURA</a:t>
            </a:r>
            <a:endParaRPr sz="3200"/>
          </a:p>
        </p:txBody>
      </p:sp>
      <p:cxnSp>
        <p:nvCxnSpPr>
          <p:cNvPr id="693" name="Google Shape;693;p27"/>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694" name="Google Shape;694;p27"/>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695" name="Google Shape;695;p27"/>
          <p:cNvPicPr preferRelativeResize="0"/>
          <p:nvPr/>
        </p:nvPicPr>
        <p:blipFill rotWithShape="1">
          <a:blip r:embed="rId3">
            <a:alphaModFix/>
          </a:blip>
          <a:srcRect b="0" l="0" r="0" t="0"/>
          <a:stretch/>
        </p:blipFill>
        <p:spPr>
          <a:xfrm>
            <a:off x="5040000" y="1440000"/>
            <a:ext cx="1980000" cy="1980000"/>
          </a:xfrm>
          <a:prstGeom prst="rect">
            <a:avLst/>
          </a:prstGeom>
          <a:noFill/>
          <a:ln>
            <a:noFill/>
          </a:ln>
        </p:spPr>
      </p:pic>
      <p:sp>
        <p:nvSpPr>
          <p:cNvPr id="696" name="Google Shape;696;p27"/>
          <p:cNvSpPr txBox="1"/>
          <p:nvPr/>
        </p:nvSpPr>
        <p:spPr>
          <a:xfrm>
            <a:off x="662135" y="1547260"/>
            <a:ext cx="3675435" cy="461665"/>
          </a:xfrm>
          <a:prstGeom prst="rect">
            <a:avLst/>
          </a:prstGeom>
          <a:solidFill>
            <a:srgbClr val="EC6B24"/>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697" name="Google Shape;697;p27"/>
          <p:cNvSpPr txBox="1"/>
          <p:nvPr/>
        </p:nvSpPr>
        <p:spPr>
          <a:xfrm>
            <a:off x="7787110" y="1547260"/>
            <a:ext cx="3675435" cy="461665"/>
          </a:xfrm>
          <a:prstGeom prst="rect">
            <a:avLst/>
          </a:prstGeom>
          <a:solidFill>
            <a:srgbClr val="EC6B24"/>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698" name="Google Shape;698;p27"/>
          <p:cNvSpPr txBox="1"/>
          <p:nvPr/>
        </p:nvSpPr>
        <p:spPr>
          <a:xfrm>
            <a:off x="324466" y="2503494"/>
            <a:ext cx="4350773" cy="393954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Desarrollar infraestructuras fiables, sostenibles y resilientes.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Promover una industrialización inclusiva y sostenible como motor de empleo de calidad.</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Modernizar infraestructuras y reconvertir empresas para que sean sostenibles.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Apoyar el desarrollo de industria e infraestructuras en países menos desarrollados.</a:t>
            </a:r>
            <a:endParaRPr/>
          </a:p>
        </p:txBody>
      </p:sp>
      <p:sp>
        <p:nvSpPr>
          <p:cNvPr id="699" name="Google Shape;699;p27"/>
          <p:cNvSpPr txBox="1"/>
          <p:nvPr/>
        </p:nvSpPr>
        <p:spPr>
          <a:xfrm>
            <a:off x="7787110" y="2191663"/>
            <a:ext cx="3675435"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EL PROGRAMA GLOBAL DE PARQUES ECOINDUSTRIALES DE LA ONUDI POSIBILITA LA CREACIÓN DE ZONAS INDUSTRIALES SOSTENIBLES EN ETIOPÍA</a:t>
            </a:r>
            <a:endParaRPr/>
          </a:p>
        </p:txBody>
      </p:sp>
      <p:sp>
        <p:nvSpPr>
          <p:cNvPr id="700" name="Google Shape;700;p27"/>
          <p:cNvSpPr txBox="1"/>
          <p:nvPr/>
        </p:nvSpPr>
        <p:spPr>
          <a:xfrm>
            <a:off x="7787111" y="3967583"/>
            <a:ext cx="3622328"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Estos parques industriales han posibilitado la creación de empleo, han atraído a inversores locales y extranjeros y han mejorado la economía de la región, todo ello con criterios de sostenibilidad. Fuente: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ONUDI</a:t>
            </a:r>
            <a:r>
              <a:rPr lang="es-ES" sz="1800">
                <a:solidFill>
                  <a:schemeClr val="dk1"/>
                </a:solidFill>
                <a:latin typeface="Calibri"/>
                <a:ea typeface="Calibri"/>
                <a:cs typeface="Calibri"/>
                <a:sym typeface="Calibri"/>
              </a:rPr>
              <a:t>.</a:t>
            </a:r>
            <a:endParaRPr/>
          </a:p>
        </p:txBody>
      </p:sp>
      <p:pic>
        <p:nvPicPr>
          <p:cNvPr id="701" name="Google Shape;701;p27"/>
          <p:cNvPicPr preferRelativeResize="0"/>
          <p:nvPr/>
        </p:nvPicPr>
        <p:blipFill rotWithShape="1">
          <a:blip r:embed="rId5">
            <a:alphaModFix/>
          </a:blip>
          <a:srcRect b="0" l="0" r="0" t="0"/>
          <a:stretch/>
        </p:blipFill>
        <p:spPr>
          <a:xfrm>
            <a:off x="5114767" y="3608252"/>
            <a:ext cx="1830466" cy="322619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28"/>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ODS 10: REDUCCIÓN DE LAS DESIGUALDADES</a:t>
            </a:r>
            <a:endParaRPr sz="3600"/>
          </a:p>
        </p:txBody>
      </p:sp>
      <p:cxnSp>
        <p:nvCxnSpPr>
          <p:cNvPr id="708" name="Google Shape;708;p28"/>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09" name="Google Shape;709;p28"/>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10" name="Google Shape;710;p28">
            <a:hlinkClick r:id="rId3"/>
          </p:cNvPr>
          <p:cNvPicPr preferRelativeResize="0"/>
          <p:nvPr/>
        </p:nvPicPr>
        <p:blipFill rotWithShape="1">
          <a:blip r:embed="rId4">
            <a:alphaModFix/>
          </a:blip>
          <a:srcRect b="0" l="0" r="0" t="0"/>
          <a:stretch/>
        </p:blipFill>
        <p:spPr>
          <a:xfrm>
            <a:off x="4466432" y="2283259"/>
            <a:ext cx="6777461" cy="1721636"/>
          </a:xfrm>
          <a:prstGeom prst="rect">
            <a:avLst/>
          </a:prstGeom>
          <a:noFill/>
          <a:ln>
            <a:noFill/>
          </a:ln>
        </p:spPr>
      </p:pic>
      <p:pic>
        <p:nvPicPr>
          <p:cNvPr id="711" name="Google Shape;711;p28"/>
          <p:cNvPicPr preferRelativeResize="0"/>
          <p:nvPr/>
        </p:nvPicPr>
        <p:blipFill rotWithShape="1">
          <a:blip r:embed="rId5">
            <a:alphaModFix/>
          </a:blip>
          <a:srcRect b="0" l="0" r="0" t="0"/>
          <a:stretch/>
        </p:blipFill>
        <p:spPr>
          <a:xfrm>
            <a:off x="626400" y="1440000"/>
            <a:ext cx="1993424" cy="1980000"/>
          </a:xfrm>
          <a:prstGeom prst="rect">
            <a:avLst/>
          </a:prstGeom>
          <a:noFill/>
          <a:ln>
            <a:noFill/>
          </a:ln>
        </p:spPr>
      </p:pic>
      <p:sp>
        <p:nvSpPr>
          <p:cNvPr id="712" name="Google Shape;712;p28"/>
          <p:cNvSpPr txBox="1"/>
          <p:nvPr/>
        </p:nvSpPr>
        <p:spPr>
          <a:xfrm>
            <a:off x="3549534" y="1482080"/>
            <a:ext cx="7719279" cy="830997"/>
          </a:xfrm>
          <a:prstGeom prst="rect">
            <a:avLst/>
          </a:prstGeom>
          <a:solidFill>
            <a:srgbClr val="D3397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10 busca reducir las desigualdades dentro y entre países, y la inclusión social, económica y política</a:t>
            </a:r>
            <a:endParaRPr/>
          </a:p>
        </p:txBody>
      </p:sp>
      <p:pic>
        <p:nvPicPr>
          <p:cNvPr id="713" name="Google Shape;713;p28"/>
          <p:cNvPicPr preferRelativeResize="0"/>
          <p:nvPr/>
        </p:nvPicPr>
        <p:blipFill rotWithShape="1">
          <a:blip r:embed="rId6">
            <a:alphaModFix/>
          </a:blip>
          <a:srcRect b="0" l="0" r="0" t="0"/>
          <a:stretch/>
        </p:blipFill>
        <p:spPr>
          <a:xfrm>
            <a:off x="0" y="4014753"/>
            <a:ext cx="4466432" cy="2836303"/>
          </a:xfrm>
          <a:prstGeom prst="rect">
            <a:avLst/>
          </a:prstGeom>
          <a:noFill/>
          <a:ln>
            <a:noFill/>
          </a:ln>
        </p:spPr>
      </p:pic>
      <p:sp>
        <p:nvSpPr>
          <p:cNvPr id="714" name="Google Shape;714;p28"/>
          <p:cNvSpPr txBox="1"/>
          <p:nvPr/>
        </p:nvSpPr>
        <p:spPr>
          <a:xfrm>
            <a:off x="29496" y="3495371"/>
            <a:ext cx="432127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7">
                  <a:extLst>
                    <a:ext uri="{A12FA001-AC4F-418D-AE19-62706E023703}">
                      <ahyp:hlinkClr val="tx"/>
                    </a:ext>
                  </a:extLst>
                </a:hlinkClick>
              </a:rPr>
              <a:t>Concentración de la riqueza y los ingresos en el mundo en 2021</a:t>
            </a:r>
            <a:endParaRPr sz="1800">
              <a:solidFill>
                <a:schemeClr val="dk1"/>
              </a:solidFill>
              <a:latin typeface="Calibri"/>
              <a:ea typeface="Calibri"/>
              <a:cs typeface="Calibri"/>
              <a:sym typeface="Calibri"/>
            </a:endParaRPr>
          </a:p>
        </p:txBody>
      </p:sp>
      <p:pic>
        <p:nvPicPr>
          <p:cNvPr id="715" name="Google Shape;715;p28">
            <a:hlinkClick r:id="rId8"/>
          </p:cNvPr>
          <p:cNvPicPr preferRelativeResize="0"/>
          <p:nvPr/>
        </p:nvPicPr>
        <p:blipFill rotWithShape="1">
          <a:blip r:embed="rId9">
            <a:alphaModFix/>
          </a:blip>
          <a:srcRect b="0" l="0" r="0" t="0"/>
          <a:stretch/>
        </p:blipFill>
        <p:spPr>
          <a:xfrm>
            <a:off x="5417743" y="4004895"/>
            <a:ext cx="5826150" cy="2752695"/>
          </a:xfrm>
          <a:prstGeom prst="rect">
            <a:avLst/>
          </a:prstGeom>
          <a:noFill/>
          <a:ln>
            <a:noFill/>
          </a:ln>
        </p:spPr>
      </p:pic>
      <p:sp>
        <p:nvSpPr>
          <p:cNvPr id="716" name="Google Shape;716;p28"/>
          <p:cNvSpPr txBox="1"/>
          <p:nvPr/>
        </p:nvSpPr>
        <p:spPr>
          <a:xfrm>
            <a:off x="4466432" y="6468173"/>
            <a:ext cx="24653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10">
                  <a:extLst>
                    <a:ext uri="{A12FA001-AC4F-418D-AE19-62706E023703}">
                      <ahyp:hlinkClr val="tx"/>
                    </a:ext>
                  </a:extLst>
                </a:hlinkClick>
              </a:rPr>
              <a:t>Vídeo Explicativo ODS10</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29"/>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ODS 10: REDUCCIÓN DE LAS DESIGUALDADES</a:t>
            </a:r>
            <a:endParaRPr sz="3600"/>
          </a:p>
        </p:txBody>
      </p:sp>
      <p:cxnSp>
        <p:nvCxnSpPr>
          <p:cNvPr id="723" name="Google Shape;723;p29"/>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24" name="Google Shape;724;p29"/>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25" name="Google Shape;725;p29"/>
          <p:cNvPicPr preferRelativeResize="0"/>
          <p:nvPr/>
        </p:nvPicPr>
        <p:blipFill rotWithShape="1">
          <a:blip r:embed="rId3">
            <a:alphaModFix/>
          </a:blip>
          <a:srcRect b="0" l="0" r="0" t="0"/>
          <a:stretch/>
        </p:blipFill>
        <p:spPr>
          <a:xfrm>
            <a:off x="5040000" y="1440000"/>
            <a:ext cx="1993424" cy="1980000"/>
          </a:xfrm>
          <a:prstGeom prst="rect">
            <a:avLst/>
          </a:prstGeom>
          <a:noFill/>
          <a:ln>
            <a:noFill/>
          </a:ln>
        </p:spPr>
      </p:pic>
      <p:sp>
        <p:nvSpPr>
          <p:cNvPr id="726" name="Google Shape;726;p29"/>
          <p:cNvSpPr txBox="1"/>
          <p:nvPr/>
        </p:nvSpPr>
        <p:spPr>
          <a:xfrm>
            <a:off x="662135" y="1547260"/>
            <a:ext cx="3675435" cy="461665"/>
          </a:xfrm>
          <a:prstGeom prst="rect">
            <a:avLst/>
          </a:prstGeom>
          <a:solidFill>
            <a:srgbClr val="D3397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727" name="Google Shape;727;p29"/>
          <p:cNvSpPr txBox="1"/>
          <p:nvPr/>
        </p:nvSpPr>
        <p:spPr>
          <a:xfrm>
            <a:off x="7787110" y="1547260"/>
            <a:ext cx="3675435" cy="461665"/>
          </a:xfrm>
          <a:prstGeom prst="rect">
            <a:avLst/>
          </a:prstGeom>
          <a:solidFill>
            <a:srgbClr val="D3397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728" name="Google Shape;728;p29"/>
          <p:cNvSpPr txBox="1"/>
          <p:nvPr/>
        </p:nvSpPr>
        <p:spPr>
          <a:xfrm>
            <a:off x="324466" y="2503494"/>
            <a:ext cx="4350773" cy="393954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Lograr progresivamente y mantener el crecimiento de los ingresos del 40% más pobre.</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Garantizar la igualdad de oportunidades.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Dotar de mayor representación e intervención en las decisiones internacionales a los países en vías de desarrollo.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Facilitar la migración y movilidad ordenada.</a:t>
            </a:r>
            <a:endParaRPr/>
          </a:p>
        </p:txBody>
      </p:sp>
      <p:sp>
        <p:nvSpPr>
          <p:cNvPr id="729" name="Google Shape;729;p29"/>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PROGRAMA “BOLSA FAMILIA” DE BRASIL</a:t>
            </a:r>
            <a:endParaRPr/>
          </a:p>
        </p:txBody>
      </p:sp>
      <p:sp>
        <p:nvSpPr>
          <p:cNvPr id="730" name="Google Shape;730;p29"/>
          <p:cNvSpPr txBox="1"/>
          <p:nvPr/>
        </p:nvSpPr>
        <p:spPr>
          <a:xfrm>
            <a:off x="7787110" y="2995936"/>
            <a:ext cx="3700595"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Transfiere ayuda financiera a las familias más pobres de Brasil a cambio de que sus hijos asistan a la escuela y cumplan con el calendario de vacunación.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r>
              <a:rPr lang="es-ES" sz="1800">
                <a:solidFill>
                  <a:schemeClr val="dk1"/>
                </a:solidFill>
                <a:latin typeface="Calibri"/>
                <a:ea typeface="Calibri"/>
                <a:cs typeface="Calibri"/>
                <a:sym typeface="Calibri"/>
              </a:rPr>
              <a:t>.</a:t>
            </a:r>
            <a:endParaRPr/>
          </a:p>
        </p:txBody>
      </p:sp>
      <p:pic>
        <p:nvPicPr>
          <p:cNvPr id="731" name="Google Shape;731;p29">
            <a:hlinkClick r:id="rId5"/>
          </p:cNvPr>
          <p:cNvPicPr preferRelativeResize="0"/>
          <p:nvPr/>
        </p:nvPicPr>
        <p:blipFill rotWithShape="1">
          <a:blip r:embed="rId6">
            <a:alphaModFix/>
          </a:blip>
          <a:srcRect b="0" l="0" r="0" t="0"/>
          <a:stretch/>
        </p:blipFill>
        <p:spPr>
          <a:xfrm>
            <a:off x="8092128" y="4570793"/>
            <a:ext cx="3047910" cy="1864413"/>
          </a:xfrm>
          <a:prstGeom prst="rect">
            <a:avLst/>
          </a:prstGeom>
          <a:noFill/>
          <a:ln>
            <a:noFill/>
          </a:ln>
        </p:spPr>
      </p:pic>
      <p:pic>
        <p:nvPicPr>
          <p:cNvPr id="732" name="Google Shape;732;p29"/>
          <p:cNvPicPr preferRelativeResize="0"/>
          <p:nvPr/>
        </p:nvPicPr>
        <p:blipFill rotWithShape="1">
          <a:blip r:embed="rId7">
            <a:alphaModFix/>
          </a:blip>
          <a:srcRect b="0" l="0" r="0" t="0"/>
          <a:stretch/>
        </p:blipFill>
        <p:spPr>
          <a:xfrm>
            <a:off x="5052867" y="4299921"/>
            <a:ext cx="2086266" cy="194337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30"/>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11: CIUDADES Y COMUNIDADES SOSTENIBLES</a:t>
            </a:r>
            <a:endParaRPr sz="3200"/>
          </a:p>
        </p:txBody>
      </p:sp>
      <p:cxnSp>
        <p:nvCxnSpPr>
          <p:cNvPr id="739" name="Google Shape;739;p30"/>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40" name="Google Shape;740;p30"/>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41" name="Google Shape;741;p30"/>
          <p:cNvPicPr preferRelativeResize="0"/>
          <p:nvPr/>
        </p:nvPicPr>
        <p:blipFill rotWithShape="1">
          <a:blip r:embed="rId3">
            <a:alphaModFix/>
          </a:blip>
          <a:srcRect b="0" l="0" r="0" t="0"/>
          <a:stretch/>
        </p:blipFill>
        <p:spPr>
          <a:xfrm>
            <a:off x="626400" y="1440000"/>
            <a:ext cx="1968144" cy="1980000"/>
          </a:xfrm>
          <a:prstGeom prst="rect">
            <a:avLst/>
          </a:prstGeom>
          <a:noFill/>
          <a:ln>
            <a:noFill/>
          </a:ln>
        </p:spPr>
      </p:pic>
      <p:sp>
        <p:nvSpPr>
          <p:cNvPr id="742" name="Google Shape;742;p30"/>
          <p:cNvSpPr txBox="1"/>
          <p:nvPr/>
        </p:nvSpPr>
        <p:spPr>
          <a:xfrm>
            <a:off x="3549534" y="1482080"/>
            <a:ext cx="7719279" cy="830997"/>
          </a:xfrm>
          <a:prstGeom prst="rect">
            <a:avLst/>
          </a:prstGeom>
          <a:solidFill>
            <a:srgbClr val="EF873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11 persigue que las ciudades y otras poblaciones sean inclusivos, seguros, resilientes y sostenibles</a:t>
            </a:r>
            <a:endParaRPr/>
          </a:p>
        </p:txBody>
      </p:sp>
      <p:pic>
        <p:nvPicPr>
          <p:cNvPr id="743" name="Google Shape;743;p30"/>
          <p:cNvPicPr preferRelativeResize="0"/>
          <p:nvPr/>
        </p:nvPicPr>
        <p:blipFill rotWithShape="1">
          <a:blip r:embed="rId4">
            <a:alphaModFix/>
          </a:blip>
          <a:srcRect b="0" l="0" r="0" t="0"/>
          <a:stretch/>
        </p:blipFill>
        <p:spPr>
          <a:xfrm>
            <a:off x="309483" y="4164456"/>
            <a:ext cx="4195962" cy="2666184"/>
          </a:xfrm>
          <a:prstGeom prst="rect">
            <a:avLst/>
          </a:prstGeom>
          <a:noFill/>
          <a:ln>
            <a:noFill/>
          </a:ln>
        </p:spPr>
      </p:pic>
      <p:sp>
        <p:nvSpPr>
          <p:cNvPr id="744" name="Google Shape;744;p30"/>
          <p:cNvSpPr txBox="1"/>
          <p:nvPr/>
        </p:nvSpPr>
        <p:spPr>
          <a:xfrm>
            <a:off x="4896465"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5">
                  <a:extLst>
                    <a:ext uri="{A12FA001-AC4F-418D-AE19-62706E023703}">
                      <ahyp:hlinkClr val="tx"/>
                    </a:ext>
                  </a:extLst>
                </a:hlinkClick>
              </a:rPr>
              <a:t>Vídeo Explicativo ODS11</a:t>
            </a:r>
            <a:endParaRPr sz="1800">
              <a:solidFill>
                <a:schemeClr val="dk1"/>
              </a:solidFill>
              <a:latin typeface="Calibri"/>
              <a:ea typeface="Calibri"/>
              <a:cs typeface="Calibri"/>
              <a:sym typeface="Calibri"/>
            </a:endParaRPr>
          </a:p>
        </p:txBody>
      </p:sp>
      <p:pic>
        <p:nvPicPr>
          <p:cNvPr id="745" name="Google Shape;745;p30">
            <a:hlinkClick r:id="rId6"/>
          </p:cNvPr>
          <p:cNvPicPr preferRelativeResize="0"/>
          <p:nvPr/>
        </p:nvPicPr>
        <p:blipFill rotWithShape="1">
          <a:blip r:embed="rId7">
            <a:alphaModFix/>
          </a:blip>
          <a:srcRect b="0" l="0" r="0" t="0"/>
          <a:stretch/>
        </p:blipFill>
        <p:spPr>
          <a:xfrm>
            <a:off x="5044779" y="2807643"/>
            <a:ext cx="4983294" cy="3499415"/>
          </a:xfrm>
          <a:prstGeom prst="rect">
            <a:avLst/>
          </a:prstGeom>
          <a:noFill/>
          <a:ln>
            <a:noFill/>
          </a:ln>
        </p:spPr>
      </p:pic>
      <p:pic>
        <p:nvPicPr>
          <p:cNvPr id="746" name="Google Shape;746;p30"/>
          <p:cNvPicPr preferRelativeResize="0"/>
          <p:nvPr/>
        </p:nvPicPr>
        <p:blipFill rotWithShape="1">
          <a:blip r:embed="rId8">
            <a:alphaModFix/>
          </a:blip>
          <a:srcRect b="0" l="0" r="0" t="0"/>
          <a:stretch/>
        </p:blipFill>
        <p:spPr>
          <a:xfrm>
            <a:off x="5044779" y="2531003"/>
            <a:ext cx="948920" cy="367706"/>
          </a:xfrm>
          <a:prstGeom prst="rect">
            <a:avLst/>
          </a:prstGeom>
          <a:noFill/>
          <a:ln>
            <a:noFill/>
          </a:ln>
        </p:spPr>
      </p:pic>
      <p:sp>
        <p:nvSpPr>
          <p:cNvPr id="747" name="Google Shape;747;p30"/>
          <p:cNvSpPr txBox="1"/>
          <p:nvPr/>
        </p:nvSpPr>
        <p:spPr>
          <a:xfrm>
            <a:off x="372187" y="3524870"/>
            <a:ext cx="407055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Previsión de la población que habitará en ciudades en 2050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31"/>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11: CIUDADES Y COMUNIDADES SOSTENIBLES</a:t>
            </a:r>
            <a:endParaRPr sz="3200"/>
          </a:p>
        </p:txBody>
      </p:sp>
      <p:cxnSp>
        <p:nvCxnSpPr>
          <p:cNvPr id="754" name="Google Shape;754;p31"/>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55" name="Google Shape;755;p31"/>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56" name="Google Shape;756;p31"/>
          <p:cNvPicPr preferRelativeResize="0"/>
          <p:nvPr/>
        </p:nvPicPr>
        <p:blipFill rotWithShape="1">
          <a:blip r:embed="rId3">
            <a:alphaModFix/>
          </a:blip>
          <a:srcRect b="0" l="0" r="0" t="0"/>
          <a:stretch/>
        </p:blipFill>
        <p:spPr>
          <a:xfrm>
            <a:off x="5239069" y="1440000"/>
            <a:ext cx="1968144" cy="1980000"/>
          </a:xfrm>
          <a:prstGeom prst="rect">
            <a:avLst/>
          </a:prstGeom>
          <a:noFill/>
          <a:ln>
            <a:noFill/>
          </a:ln>
        </p:spPr>
      </p:pic>
      <p:sp>
        <p:nvSpPr>
          <p:cNvPr id="757" name="Google Shape;757;p31"/>
          <p:cNvSpPr txBox="1"/>
          <p:nvPr/>
        </p:nvSpPr>
        <p:spPr>
          <a:xfrm>
            <a:off x="662135" y="1547260"/>
            <a:ext cx="3675435" cy="461665"/>
          </a:xfrm>
          <a:prstGeom prst="rect">
            <a:avLst/>
          </a:prstGeom>
          <a:solidFill>
            <a:srgbClr val="EF873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758" name="Google Shape;758;p31"/>
          <p:cNvSpPr txBox="1"/>
          <p:nvPr/>
        </p:nvSpPr>
        <p:spPr>
          <a:xfrm>
            <a:off x="7787110" y="1547260"/>
            <a:ext cx="3675435" cy="461665"/>
          </a:xfrm>
          <a:prstGeom prst="rect">
            <a:avLst/>
          </a:prstGeom>
          <a:solidFill>
            <a:srgbClr val="EF8731"/>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759" name="Google Shape;759;p31"/>
          <p:cNvSpPr txBox="1"/>
          <p:nvPr/>
        </p:nvSpPr>
        <p:spPr>
          <a:xfrm>
            <a:off x="29500" y="2503494"/>
            <a:ext cx="4877768" cy="4247317"/>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Lograr el acceso de la población a una vivienda asequible y segura.</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Proporcionar acceso a sistemas de transporte seguros, asequibles, accesibles y sostenibles.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Aumentar la urbanización inclusiva y sostenible y sus zonas verdes.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Aumentar el número de ciudades con políticas y planes para promover la inclusión, la eficiencia de los recursos, la mitigación y adaptación al cambio climático y la resiliencia ante los desastres.</a:t>
            </a:r>
            <a:endParaRPr/>
          </a:p>
        </p:txBody>
      </p:sp>
      <p:sp>
        <p:nvSpPr>
          <p:cNvPr id="760" name="Google Shape;760;p31"/>
          <p:cNvSpPr txBox="1"/>
          <p:nvPr/>
        </p:nvSpPr>
        <p:spPr>
          <a:xfrm>
            <a:off x="7787110" y="2191663"/>
            <a:ext cx="367543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EN SINGAPOR, LAS AGUAS RESIDUALES SE TRANSFORMAN EN AGUA POTABLE</a:t>
            </a:r>
            <a:endParaRPr/>
          </a:p>
        </p:txBody>
      </p:sp>
      <p:sp>
        <p:nvSpPr>
          <p:cNvPr id="761" name="Google Shape;761;p31"/>
          <p:cNvSpPr txBox="1"/>
          <p:nvPr/>
        </p:nvSpPr>
        <p:spPr>
          <a:xfrm>
            <a:off x="7787110" y="3349896"/>
            <a:ext cx="3700595"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La ciudad cuenta con escasos recursos hídricos. Para avanzar hacia la autosuficiencia, se ha desarrollado un sistema de canalización y plantas de alta tecnología que abastecen el 40 % de las necesidades de la ciudad y se espera que lleguen al 55 % en 2060.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r>
              <a:rPr lang="es-ES" sz="1800">
                <a:solidFill>
                  <a:schemeClr val="dk1"/>
                </a:solidFill>
                <a:latin typeface="Calibri"/>
                <a:ea typeface="Calibri"/>
                <a:cs typeface="Calibri"/>
                <a:sym typeface="Calibri"/>
              </a:rPr>
              <a:t>.</a:t>
            </a:r>
            <a:endParaRPr/>
          </a:p>
        </p:txBody>
      </p:sp>
      <p:pic>
        <p:nvPicPr>
          <p:cNvPr descr="Vista aérea de una ciudad&#10;&#10;Descripción generada automáticamente" id="762" name="Google Shape;762;p31"/>
          <p:cNvPicPr preferRelativeResize="0"/>
          <p:nvPr/>
        </p:nvPicPr>
        <p:blipFill rotWithShape="1">
          <a:blip r:embed="rId5">
            <a:alphaModFix/>
          </a:blip>
          <a:srcRect b="0" l="0" r="0" t="0"/>
          <a:stretch/>
        </p:blipFill>
        <p:spPr>
          <a:xfrm>
            <a:off x="5027913" y="4205798"/>
            <a:ext cx="2390457" cy="1594435"/>
          </a:xfrm>
          <a:prstGeom prst="rect">
            <a:avLst/>
          </a:prstGeom>
          <a:noFill/>
          <a:ln>
            <a:noFill/>
          </a:ln>
        </p:spPr>
      </p:pic>
      <p:sp>
        <p:nvSpPr>
          <p:cNvPr id="763" name="Google Shape;763;p31"/>
          <p:cNvSpPr txBox="1"/>
          <p:nvPr/>
        </p:nvSpPr>
        <p:spPr>
          <a:xfrm>
            <a:off x="5128230" y="6505473"/>
            <a:ext cx="21424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600">
                <a:solidFill>
                  <a:schemeClr val="dk1"/>
                </a:solidFill>
                <a:latin typeface="Calibri"/>
                <a:ea typeface="Calibri"/>
                <a:cs typeface="Calibri"/>
                <a:sym typeface="Calibri"/>
              </a:rPr>
              <a:t>Imagen de Vecteezy</a:t>
            </a:r>
            <a:endParaRPr sz="16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pic>
        <p:nvPicPr>
          <p:cNvPr id="769" name="Google Shape;769;p32">
            <a:hlinkClick r:id="rId3"/>
          </p:cNvPr>
          <p:cNvPicPr preferRelativeResize="0"/>
          <p:nvPr/>
        </p:nvPicPr>
        <p:blipFill rotWithShape="1">
          <a:blip r:embed="rId4">
            <a:alphaModFix/>
          </a:blip>
          <a:srcRect b="0" l="0" r="0" t="0"/>
          <a:stretch/>
        </p:blipFill>
        <p:spPr>
          <a:xfrm>
            <a:off x="5397910" y="1923361"/>
            <a:ext cx="6502866" cy="2692315"/>
          </a:xfrm>
          <a:prstGeom prst="rect">
            <a:avLst/>
          </a:prstGeom>
          <a:noFill/>
          <a:ln>
            <a:noFill/>
          </a:ln>
        </p:spPr>
      </p:pic>
      <p:sp>
        <p:nvSpPr>
          <p:cNvPr id="770" name="Google Shape;770;p32"/>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12: PRODUCCIÓN Y CONSUMO RESPONSABLE</a:t>
            </a:r>
            <a:endParaRPr sz="3200"/>
          </a:p>
        </p:txBody>
      </p:sp>
      <p:cxnSp>
        <p:nvCxnSpPr>
          <p:cNvPr id="771" name="Google Shape;771;p32"/>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72" name="Google Shape;772;p32"/>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73" name="Google Shape;773;p32"/>
          <p:cNvPicPr preferRelativeResize="0"/>
          <p:nvPr/>
        </p:nvPicPr>
        <p:blipFill rotWithShape="1">
          <a:blip r:embed="rId5">
            <a:alphaModFix/>
          </a:blip>
          <a:srcRect b="0" l="0" r="0" t="0"/>
          <a:stretch/>
        </p:blipFill>
        <p:spPr>
          <a:xfrm>
            <a:off x="626400" y="1440000"/>
            <a:ext cx="1967724" cy="1980000"/>
          </a:xfrm>
          <a:prstGeom prst="rect">
            <a:avLst/>
          </a:prstGeom>
          <a:noFill/>
          <a:ln>
            <a:noFill/>
          </a:ln>
        </p:spPr>
      </p:pic>
      <p:sp>
        <p:nvSpPr>
          <p:cNvPr id="774" name="Google Shape;774;p32"/>
          <p:cNvSpPr txBox="1"/>
          <p:nvPr/>
        </p:nvSpPr>
        <p:spPr>
          <a:xfrm>
            <a:off x="3549534" y="1482080"/>
            <a:ext cx="7719279" cy="461665"/>
          </a:xfrm>
          <a:prstGeom prst="rect">
            <a:avLst/>
          </a:prstGeom>
          <a:solidFill>
            <a:srgbClr val="B88C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12 promueve consumo y producción sostenibles</a:t>
            </a:r>
            <a:endParaRPr/>
          </a:p>
        </p:txBody>
      </p:sp>
      <p:sp>
        <p:nvSpPr>
          <p:cNvPr id="775" name="Google Shape;775;p32"/>
          <p:cNvSpPr txBox="1"/>
          <p:nvPr/>
        </p:nvSpPr>
        <p:spPr>
          <a:xfrm>
            <a:off x="4896465"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6">
                  <a:extLst>
                    <a:ext uri="{A12FA001-AC4F-418D-AE19-62706E023703}">
                      <ahyp:hlinkClr val="tx"/>
                    </a:ext>
                  </a:extLst>
                </a:hlinkClick>
              </a:rPr>
              <a:t>Vídeo Explicativo ODS12</a:t>
            </a:r>
            <a:endParaRPr sz="1800">
              <a:solidFill>
                <a:schemeClr val="dk1"/>
              </a:solidFill>
              <a:latin typeface="Calibri"/>
              <a:ea typeface="Calibri"/>
              <a:cs typeface="Calibri"/>
              <a:sym typeface="Calibri"/>
            </a:endParaRPr>
          </a:p>
        </p:txBody>
      </p:sp>
      <p:pic>
        <p:nvPicPr>
          <p:cNvPr id="776" name="Google Shape;776;p32">
            <a:hlinkClick r:id="rId7"/>
          </p:cNvPr>
          <p:cNvPicPr preferRelativeResize="0"/>
          <p:nvPr/>
        </p:nvPicPr>
        <p:blipFill rotWithShape="1">
          <a:blip r:embed="rId8">
            <a:alphaModFix/>
          </a:blip>
          <a:srcRect b="0" l="0" r="0" t="0"/>
          <a:stretch/>
        </p:blipFill>
        <p:spPr>
          <a:xfrm>
            <a:off x="97568" y="3608252"/>
            <a:ext cx="2963951" cy="3249748"/>
          </a:xfrm>
          <a:prstGeom prst="rect">
            <a:avLst/>
          </a:prstGeom>
          <a:noFill/>
          <a:ln>
            <a:noFill/>
          </a:ln>
        </p:spPr>
      </p:pic>
      <p:sp>
        <p:nvSpPr>
          <p:cNvPr id="777" name="Google Shape;777;p32"/>
          <p:cNvSpPr txBox="1"/>
          <p:nvPr/>
        </p:nvSpPr>
        <p:spPr>
          <a:xfrm>
            <a:off x="3168650" y="3827817"/>
            <a:ext cx="1704624" cy="286232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Previsión de la reducción del consumo de materias primas y tamaño de vertederos con la economía circular.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Fuente Ellen Macarthur Foundation</a:t>
            </a:r>
            <a:endParaRPr sz="1800">
              <a:solidFill>
                <a:schemeClr val="dk1"/>
              </a:solidFill>
              <a:latin typeface="Calibri"/>
              <a:ea typeface="Calibri"/>
              <a:cs typeface="Calibri"/>
              <a:sym typeface="Calibri"/>
            </a:endParaRPr>
          </a:p>
        </p:txBody>
      </p:sp>
      <p:pic>
        <p:nvPicPr>
          <p:cNvPr id="778" name="Google Shape;778;p32"/>
          <p:cNvPicPr preferRelativeResize="0"/>
          <p:nvPr/>
        </p:nvPicPr>
        <p:blipFill rotWithShape="1">
          <a:blip r:embed="rId10">
            <a:alphaModFix/>
          </a:blip>
          <a:srcRect b="0" l="0" r="0" t="0"/>
          <a:stretch/>
        </p:blipFill>
        <p:spPr>
          <a:xfrm>
            <a:off x="6997498" y="4672327"/>
            <a:ext cx="3334216" cy="18623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33"/>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12: PRODUCCIÓN Y CONSUMO RESPONSABLE</a:t>
            </a:r>
            <a:endParaRPr sz="3200"/>
          </a:p>
        </p:txBody>
      </p:sp>
      <p:cxnSp>
        <p:nvCxnSpPr>
          <p:cNvPr id="785" name="Google Shape;785;p33"/>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786" name="Google Shape;786;p33"/>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787" name="Google Shape;787;p33"/>
          <p:cNvPicPr preferRelativeResize="0"/>
          <p:nvPr/>
        </p:nvPicPr>
        <p:blipFill rotWithShape="1">
          <a:blip r:embed="rId3">
            <a:alphaModFix/>
          </a:blip>
          <a:srcRect b="0" l="0" r="0" t="0"/>
          <a:stretch/>
        </p:blipFill>
        <p:spPr>
          <a:xfrm>
            <a:off x="5040000" y="1440000"/>
            <a:ext cx="1967724" cy="1980000"/>
          </a:xfrm>
          <a:prstGeom prst="rect">
            <a:avLst/>
          </a:prstGeom>
          <a:noFill/>
          <a:ln>
            <a:noFill/>
          </a:ln>
        </p:spPr>
      </p:pic>
      <p:sp>
        <p:nvSpPr>
          <p:cNvPr id="788" name="Google Shape;788;p33"/>
          <p:cNvSpPr txBox="1"/>
          <p:nvPr/>
        </p:nvSpPr>
        <p:spPr>
          <a:xfrm>
            <a:off x="662135" y="1547260"/>
            <a:ext cx="3675435" cy="461665"/>
          </a:xfrm>
          <a:prstGeom prst="rect">
            <a:avLst/>
          </a:prstGeom>
          <a:solidFill>
            <a:srgbClr val="B88C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789" name="Google Shape;789;p33"/>
          <p:cNvSpPr txBox="1"/>
          <p:nvPr/>
        </p:nvSpPr>
        <p:spPr>
          <a:xfrm>
            <a:off x="7787110" y="1547260"/>
            <a:ext cx="3675435" cy="461665"/>
          </a:xfrm>
          <a:prstGeom prst="rect">
            <a:avLst/>
          </a:prstGeom>
          <a:solidFill>
            <a:srgbClr val="B88C00"/>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790" name="Google Shape;790;p33"/>
          <p:cNvSpPr txBox="1"/>
          <p:nvPr/>
        </p:nvSpPr>
        <p:spPr>
          <a:xfrm>
            <a:off x="324466" y="2503494"/>
            <a:ext cx="4350773" cy="4247317"/>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Aplicar el </a:t>
            </a:r>
            <a:r>
              <a:rPr lang="es-ES" sz="2000" u="sng">
                <a:solidFill>
                  <a:schemeClr val="dk1"/>
                </a:solidFill>
                <a:latin typeface="Calibri"/>
                <a:ea typeface="Calibri"/>
                <a:cs typeface="Calibri"/>
                <a:sym typeface="Calibri"/>
                <a:hlinkClick r:id="rId4">
                  <a:extLst>
                    <a:ext uri="{A12FA001-AC4F-418D-AE19-62706E023703}">
                      <ahyp:hlinkClr val="tx"/>
                    </a:ext>
                  </a:extLst>
                </a:hlinkClick>
              </a:rPr>
              <a:t>Marco Decenal de Programas sobre Modalidades de Consumo y Producción Sostenibles</a:t>
            </a:r>
            <a:r>
              <a:rPr lang="es-ES" sz="2000">
                <a:solidFill>
                  <a:schemeClr val="dk1"/>
                </a:solidFill>
                <a:latin typeface="Calibri"/>
                <a:ea typeface="Calibri"/>
                <a:cs typeface="Calibri"/>
                <a:sym typeface="Calibri"/>
              </a:rPr>
              <a:t>.</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Lograr un uso eficiente y sostenible de los recursos naturales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Reducir el desperdicio alimentario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Conseguir la reducción y la gestión ecológica de desechos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Reducir las subvenciones a los combustibles fósiles.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Ayudar a los países en desarrollo.</a:t>
            </a:r>
            <a:endParaRPr/>
          </a:p>
        </p:txBody>
      </p:sp>
      <p:sp>
        <p:nvSpPr>
          <p:cNvPr id="791" name="Google Shape;791;p33"/>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SUECIA RECICLA EL 99% DE SUS RESIDUOS</a:t>
            </a:r>
            <a:endParaRPr/>
          </a:p>
        </p:txBody>
      </p:sp>
      <p:sp>
        <p:nvSpPr>
          <p:cNvPr id="792" name="Google Shape;792;p33"/>
          <p:cNvSpPr txBox="1"/>
          <p:nvPr/>
        </p:nvSpPr>
        <p:spPr>
          <a:xfrm>
            <a:off x="7830712" y="2844960"/>
            <a:ext cx="3700500" cy="1754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Gracias a la </a:t>
            </a:r>
            <a:r>
              <a:rPr i="1" lang="es-ES" sz="1800">
                <a:solidFill>
                  <a:schemeClr val="dk1"/>
                </a:solidFill>
                <a:latin typeface="Calibri"/>
                <a:ea typeface="Calibri"/>
                <a:cs typeface="Calibri"/>
                <a:sym typeface="Calibri"/>
              </a:rPr>
              <a:t>Swedish Recycling Revolution, </a:t>
            </a:r>
            <a:r>
              <a:rPr lang="es-ES" sz="1800">
                <a:solidFill>
                  <a:schemeClr val="dk1"/>
                </a:solidFill>
                <a:latin typeface="Calibri"/>
                <a:ea typeface="Calibri"/>
                <a:cs typeface="Calibri"/>
                <a:sym typeface="Calibri"/>
              </a:rPr>
              <a:t>el país ha pasado de reciclar el 38 % de sus basuras en 1975 al 99% en 2016, todo ello gracias al trabajo colectivo y la concienciación. </a:t>
            </a:r>
            <a:r>
              <a:rPr lang="es-ES" sz="1800" u="sng">
                <a:solidFill>
                  <a:schemeClr val="dk1"/>
                </a:solidFill>
                <a:latin typeface="Calibri"/>
                <a:ea typeface="Calibri"/>
                <a:cs typeface="Calibri"/>
                <a:sym typeface="Calibri"/>
                <a:hlinkClick r:id="rId5">
                  <a:extLst>
                    <a:ext uri="{A12FA001-AC4F-418D-AE19-62706E023703}">
                      <ahyp:hlinkClr val="tx"/>
                    </a:ext>
                  </a:extLst>
                </a:hlinkClick>
              </a:rPr>
              <a:t>Más información.</a:t>
            </a:r>
            <a:endParaRPr sz="1800">
              <a:solidFill>
                <a:schemeClr val="dk1"/>
              </a:solidFill>
              <a:latin typeface="Calibri"/>
              <a:ea typeface="Calibri"/>
              <a:cs typeface="Calibri"/>
              <a:sym typeface="Calibri"/>
            </a:endParaRPr>
          </a:p>
        </p:txBody>
      </p:sp>
      <p:pic>
        <p:nvPicPr>
          <p:cNvPr id="793" name="Google Shape;793;p33">
            <a:hlinkClick r:id="rId6"/>
          </p:cNvPr>
          <p:cNvPicPr preferRelativeResize="0"/>
          <p:nvPr/>
        </p:nvPicPr>
        <p:blipFill rotWithShape="1">
          <a:blip r:embed="rId7">
            <a:alphaModFix/>
          </a:blip>
          <a:srcRect b="0" l="0" r="0" t="0"/>
          <a:stretch/>
        </p:blipFill>
        <p:spPr>
          <a:xfrm>
            <a:off x="4860453" y="4603804"/>
            <a:ext cx="2536964" cy="1828529"/>
          </a:xfrm>
          <a:prstGeom prst="rect">
            <a:avLst/>
          </a:prstGeom>
          <a:noFill/>
          <a:ln>
            <a:noFill/>
          </a:ln>
        </p:spPr>
      </p:pic>
      <p:pic>
        <p:nvPicPr>
          <p:cNvPr id="794" name="Google Shape;794;p33">
            <a:hlinkClick r:id="rId8"/>
          </p:cNvPr>
          <p:cNvPicPr preferRelativeResize="0"/>
          <p:nvPr/>
        </p:nvPicPr>
        <p:blipFill rotWithShape="1">
          <a:blip r:embed="rId9">
            <a:alphaModFix/>
          </a:blip>
          <a:srcRect b="0" l="0" r="0" t="0"/>
          <a:stretch/>
        </p:blipFill>
        <p:spPr>
          <a:xfrm>
            <a:off x="8259913" y="4603804"/>
            <a:ext cx="2842191" cy="185633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4"/>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13: ACCIÓN POR EL CLIMA</a:t>
            </a:r>
            <a:endParaRPr sz="4000"/>
          </a:p>
        </p:txBody>
      </p:sp>
      <p:cxnSp>
        <p:nvCxnSpPr>
          <p:cNvPr id="801" name="Google Shape;801;p34"/>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02" name="Google Shape;802;p34"/>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03" name="Google Shape;803;p34"/>
          <p:cNvPicPr preferRelativeResize="0"/>
          <p:nvPr/>
        </p:nvPicPr>
        <p:blipFill rotWithShape="1">
          <a:blip r:embed="rId3">
            <a:alphaModFix/>
          </a:blip>
          <a:srcRect b="0" l="0" r="0" t="0"/>
          <a:stretch/>
        </p:blipFill>
        <p:spPr>
          <a:xfrm>
            <a:off x="626400" y="1440000"/>
            <a:ext cx="1980000" cy="1980000"/>
          </a:xfrm>
          <a:prstGeom prst="rect">
            <a:avLst/>
          </a:prstGeom>
          <a:noFill/>
          <a:ln>
            <a:noFill/>
          </a:ln>
        </p:spPr>
      </p:pic>
      <p:sp>
        <p:nvSpPr>
          <p:cNvPr id="804" name="Google Shape;804;p34"/>
          <p:cNvSpPr txBox="1"/>
          <p:nvPr/>
        </p:nvSpPr>
        <p:spPr>
          <a:xfrm>
            <a:off x="3611594" y="1482080"/>
            <a:ext cx="7719279" cy="830997"/>
          </a:xfrm>
          <a:prstGeom prst="rect">
            <a:avLst/>
          </a:prstGeom>
          <a:solidFill>
            <a:srgbClr val="327E4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13 adoptar medidas urgentes para combatir el cambio climático y sus efectos</a:t>
            </a:r>
            <a:endParaRPr/>
          </a:p>
        </p:txBody>
      </p:sp>
      <p:sp>
        <p:nvSpPr>
          <p:cNvPr id="805" name="Google Shape;805;p34"/>
          <p:cNvSpPr txBox="1"/>
          <p:nvPr/>
        </p:nvSpPr>
        <p:spPr>
          <a:xfrm>
            <a:off x="4896465"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ODS13</a:t>
            </a:r>
            <a:endParaRPr sz="1800">
              <a:solidFill>
                <a:schemeClr val="dk1"/>
              </a:solidFill>
              <a:latin typeface="Calibri"/>
              <a:ea typeface="Calibri"/>
              <a:cs typeface="Calibri"/>
              <a:sym typeface="Calibri"/>
            </a:endParaRPr>
          </a:p>
        </p:txBody>
      </p:sp>
      <p:pic>
        <p:nvPicPr>
          <p:cNvPr id="806" name="Google Shape;806;p34">
            <a:hlinkClick r:id="rId5"/>
          </p:cNvPr>
          <p:cNvPicPr preferRelativeResize="0"/>
          <p:nvPr/>
        </p:nvPicPr>
        <p:blipFill rotWithShape="1">
          <a:blip r:embed="rId6">
            <a:alphaModFix/>
          </a:blip>
          <a:srcRect b="0" l="0" r="0" t="0"/>
          <a:stretch/>
        </p:blipFill>
        <p:spPr>
          <a:xfrm>
            <a:off x="35750" y="4161268"/>
            <a:ext cx="3172446" cy="2654907"/>
          </a:xfrm>
          <a:prstGeom prst="rect">
            <a:avLst/>
          </a:prstGeom>
          <a:noFill/>
          <a:ln>
            <a:noFill/>
          </a:ln>
        </p:spPr>
      </p:pic>
      <p:sp>
        <p:nvSpPr>
          <p:cNvPr id="807" name="Google Shape;807;p34"/>
          <p:cNvSpPr txBox="1"/>
          <p:nvPr/>
        </p:nvSpPr>
        <p:spPr>
          <a:xfrm>
            <a:off x="0" y="3556003"/>
            <a:ext cx="320819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Evolución de la temperatura media mundial</a:t>
            </a:r>
            <a:endParaRPr/>
          </a:p>
        </p:txBody>
      </p:sp>
      <p:pic>
        <p:nvPicPr>
          <p:cNvPr id="808" name="Google Shape;808;p34"/>
          <p:cNvPicPr preferRelativeResize="0"/>
          <p:nvPr/>
        </p:nvPicPr>
        <p:blipFill rotWithShape="1">
          <a:blip r:embed="rId7">
            <a:alphaModFix/>
          </a:blip>
          <a:srcRect b="0" l="0" r="0" t="0"/>
          <a:stretch/>
        </p:blipFill>
        <p:spPr>
          <a:xfrm>
            <a:off x="3774969" y="2423204"/>
            <a:ext cx="7392529" cy="2156455"/>
          </a:xfrm>
          <a:prstGeom prst="rect">
            <a:avLst/>
          </a:prstGeom>
          <a:noFill/>
          <a:ln>
            <a:noFill/>
          </a:ln>
        </p:spPr>
      </p:pic>
      <p:pic>
        <p:nvPicPr>
          <p:cNvPr id="809" name="Google Shape;809;p34"/>
          <p:cNvPicPr preferRelativeResize="0"/>
          <p:nvPr/>
        </p:nvPicPr>
        <p:blipFill rotWithShape="1">
          <a:blip r:embed="rId8">
            <a:alphaModFix/>
          </a:blip>
          <a:srcRect b="0" l="0" r="0" t="0"/>
          <a:stretch/>
        </p:blipFill>
        <p:spPr>
          <a:xfrm>
            <a:off x="3527985" y="4744177"/>
            <a:ext cx="7886497" cy="144231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35"/>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13: ACCIÓN POR EL CLIMA</a:t>
            </a:r>
            <a:endParaRPr sz="4000"/>
          </a:p>
        </p:txBody>
      </p:sp>
      <p:cxnSp>
        <p:nvCxnSpPr>
          <p:cNvPr id="816" name="Google Shape;816;p35"/>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17" name="Google Shape;817;p35"/>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18" name="Google Shape;818;p35"/>
          <p:cNvPicPr preferRelativeResize="0"/>
          <p:nvPr/>
        </p:nvPicPr>
        <p:blipFill rotWithShape="1">
          <a:blip r:embed="rId3">
            <a:alphaModFix/>
          </a:blip>
          <a:srcRect b="0" l="0" r="0" t="0"/>
          <a:stretch/>
        </p:blipFill>
        <p:spPr>
          <a:xfrm>
            <a:off x="5040000" y="1440000"/>
            <a:ext cx="1980000" cy="1980000"/>
          </a:xfrm>
          <a:prstGeom prst="rect">
            <a:avLst/>
          </a:prstGeom>
          <a:noFill/>
          <a:ln>
            <a:noFill/>
          </a:ln>
        </p:spPr>
      </p:pic>
      <p:sp>
        <p:nvSpPr>
          <p:cNvPr id="819" name="Google Shape;819;p35"/>
          <p:cNvSpPr txBox="1"/>
          <p:nvPr/>
        </p:nvSpPr>
        <p:spPr>
          <a:xfrm>
            <a:off x="662135" y="1547260"/>
            <a:ext cx="3675435" cy="461665"/>
          </a:xfrm>
          <a:prstGeom prst="rect">
            <a:avLst/>
          </a:prstGeom>
          <a:solidFill>
            <a:srgbClr val="327E4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820" name="Google Shape;820;p35"/>
          <p:cNvSpPr txBox="1"/>
          <p:nvPr/>
        </p:nvSpPr>
        <p:spPr>
          <a:xfrm>
            <a:off x="7787110" y="1547260"/>
            <a:ext cx="3675435" cy="461665"/>
          </a:xfrm>
          <a:prstGeom prst="rect">
            <a:avLst/>
          </a:prstGeom>
          <a:solidFill>
            <a:srgbClr val="327E46"/>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821" name="Google Shape;821;p35"/>
          <p:cNvSpPr txBox="1"/>
          <p:nvPr/>
        </p:nvSpPr>
        <p:spPr>
          <a:xfrm>
            <a:off x="324466" y="2503494"/>
            <a:ext cx="4350773" cy="347787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Fortalecer la resiliencia y la capacidad de adaptación a los riesgos relacionados con el clima y los desastres.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Mejorar la educación y la sensibilización en la mitigación y adaptación al cambio climático.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Cumplir los países desarrollados con la  </a:t>
            </a:r>
            <a:r>
              <a:rPr lang="es-ES" sz="2000" u="sng">
                <a:solidFill>
                  <a:srgbClr val="0070C0"/>
                </a:solidFill>
                <a:latin typeface="Calibri"/>
                <a:ea typeface="Calibri"/>
                <a:cs typeface="Calibri"/>
                <a:sym typeface="Calibri"/>
                <a:hlinkClick r:id="rId4">
                  <a:extLst>
                    <a:ext uri="{A12FA001-AC4F-418D-AE19-62706E023703}">
                      <ahyp:hlinkClr val="tx"/>
                    </a:ext>
                  </a:extLst>
                </a:hlinkClick>
              </a:rPr>
              <a:t>Convención Marco de las Naciones Unidas sobre el Cambio Climático</a:t>
            </a:r>
            <a:r>
              <a:rPr lang="es-ES" sz="2000">
                <a:solidFill>
                  <a:srgbClr val="0070C0"/>
                </a:solidFill>
                <a:latin typeface="Calibri"/>
                <a:ea typeface="Calibri"/>
                <a:cs typeface="Calibri"/>
                <a:sym typeface="Calibri"/>
              </a:rPr>
              <a:t>.</a:t>
            </a:r>
            <a:endParaRPr/>
          </a:p>
        </p:txBody>
      </p:sp>
      <p:sp>
        <p:nvSpPr>
          <p:cNvPr id="822" name="Google Shape;822;p35"/>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ES" sz="1800">
                <a:solidFill>
                  <a:schemeClr val="dk1"/>
                </a:solidFill>
                <a:highlight>
                  <a:srgbClr val="FFFFFF"/>
                </a:highlight>
                <a:latin typeface="Calibri"/>
                <a:ea typeface="Calibri"/>
                <a:cs typeface="Calibri"/>
                <a:sym typeface="Calibri"/>
              </a:rPr>
              <a:t>THE BILLION TREE CAMPAING </a:t>
            </a:r>
            <a:r>
              <a:rPr b="1" lang="es-ES" sz="1800">
                <a:solidFill>
                  <a:schemeClr val="dk1"/>
                </a:solidFill>
                <a:highlight>
                  <a:srgbClr val="FFFFFF"/>
                </a:highlight>
                <a:latin typeface="Calibri"/>
                <a:ea typeface="Calibri"/>
                <a:cs typeface="Calibri"/>
                <a:sym typeface="Calibri"/>
              </a:rPr>
              <a:t>DE NACIONES UNIDAS </a:t>
            </a:r>
            <a:endParaRPr b="1" i="0" sz="1800">
              <a:solidFill>
                <a:schemeClr val="dk1"/>
              </a:solidFill>
              <a:highlight>
                <a:srgbClr val="FFFFFF"/>
              </a:highlight>
              <a:latin typeface="Calibri"/>
              <a:ea typeface="Calibri"/>
              <a:cs typeface="Calibri"/>
              <a:sym typeface="Calibri"/>
            </a:endParaRPr>
          </a:p>
        </p:txBody>
      </p:sp>
      <p:sp>
        <p:nvSpPr>
          <p:cNvPr id="823" name="Google Shape;823;p35"/>
          <p:cNvSpPr txBox="1"/>
          <p:nvPr/>
        </p:nvSpPr>
        <p:spPr>
          <a:xfrm>
            <a:off x="7728118" y="3276164"/>
            <a:ext cx="3700595"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La </a:t>
            </a:r>
            <a:r>
              <a:rPr lang="es-ES" sz="1800" u="sng">
                <a:solidFill>
                  <a:schemeClr val="dk1"/>
                </a:solidFill>
                <a:latin typeface="Calibri"/>
                <a:ea typeface="Calibri"/>
                <a:cs typeface="Calibri"/>
                <a:sym typeface="Calibri"/>
                <a:hlinkClick r:id="rId5">
                  <a:extLst>
                    <a:ext uri="{A12FA001-AC4F-418D-AE19-62706E023703}">
                      <ahyp:hlinkClr val="tx"/>
                    </a:ext>
                  </a:extLst>
                </a:hlinkClick>
              </a:rPr>
              <a:t>campaña de los mil millones de árboles de Naciones Unidas </a:t>
            </a:r>
            <a:r>
              <a:rPr lang="es-ES" sz="1800">
                <a:solidFill>
                  <a:schemeClr val="dk1"/>
                </a:solidFill>
                <a:latin typeface="Calibri"/>
                <a:ea typeface="Calibri"/>
                <a:cs typeface="Calibri"/>
                <a:sym typeface="Calibri"/>
              </a:rPr>
              <a:t>pretende plantar mil millones de árboles en el mundo (que son los que caben sin perder tierras de cultivo) para compensar las emisiones de CO</a:t>
            </a:r>
            <a:r>
              <a:rPr baseline="-25000" lang="es-ES" sz="1800">
                <a:solidFill>
                  <a:schemeClr val="dk1"/>
                </a:solidFill>
                <a:latin typeface="Calibri"/>
                <a:ea typeface="Calibri"/>
                <a:cs typeface="Calibri"/>
                <a:sym typeface="Calibri"/>
              </a:rPr>
              <a:t>2</a:t>
            </a:r>
            <a:r>
              <a:rPr lang="es-ES" sz="1800">
                <a:solidFill>
                  <a:schemeClr val="dk1"/>
                </a:solidFill>
                <a:latin typeface="Calibri"/>
                <a:ea typeface="Calibri"/>
                <a:cs typeface="Calibri"/>
                <a:sym typeface="Calibri"/>
              </a:rPr>
              <a:t>. Este proyecto surgió de la organización </a:t>
            </a:r>
            <a:r>
              <a:rPr i="1" lang="es-ES" sz="1800" u="sng">
                <a:solidFill>
                  <a:schemeClr val="dk1"/>
                </a:solidFill>
                <a:latin typeface="Calibri"/>
                <a:ea typeface="Calibri"/>
                <a:cs typeface="Calibri"/>
                <a:sym typeface="Calibri"/>
                <a:hlinkClick r:id="rId6">
                  <a:extLst>
                    <a:ext uri="{A12FA001-AC4F-418D-AE19-62706E023703}">
                      <ahyp:hlinkClr val="tx"/>
                    </a:ext>
                  </a:extLst>
                </a:hlinkClick>
              </a:rPr>
              <a:t>Plant for the Planet</a:t>
            </a:r>
            <a:r>
              <a:rPr i="1" lang="es-ES" sz="1800">
                <a:solidFill>
                  <a:schemeClr val="dk1"/>
                </a:solidFill>
                <a:latin typeface="Calibri"/>
                <a:ea typeface="Calibri"/>
                <a:cs typeface="Calibri"/>
                <a:sym typeface="Calibri"/>
              </a:rPr>
              <a:t>, </a:t>
            </a:r>
            <a:r>
              <a:rPr lang="es-ES" sz="1800">
                <a:solidFill>
                  <a:schemeClr val="dk1"/>
                </a:solidFill>
                <a:latin typeface="Calibri"/>
                <a:ea typeface="Calibri"/>
                <a:cs typeface="Calibri"/>
                <a:sym typeface="Calibri"/>
              </a:rPr>
              <a:t>que lleva años plantando árboles por todo el mundo como medida de mitigación del cambio climático</a:t>
            </a:r>
            <a:r>
              <a:rPr i="1" lang="es-ES" sz="1800">
                <a:solidFill>
                  <a:schemeClr val="dk1"/>
                </a:solidFill>
                <a:latin typeface="Calibri"/>
                <a:ea typeface="Calibri"/>
                <a:cs typeface="Calibri"/>
                <a:sym typeface="Calibri"/>
              </a:rPr>
              <a:t>.</a:t>
            </a:r>
            <a:endParaRPr/>
          </a:p>
        </p:txBody>
      </p:sp>
      <p:pic>
        <p:nvPicPr>
          <p:cNvPr id="824" name="Google Shape;824;p35"/>
          <p:cNvPicPr preferRelativeResize="0"/>
          <p:nvPr/>
        </p:nvPicPr>
        <p:blipFill rotWithShape="1">
          <a:blip r:embed="rId7">
            <a:alphaModFix/>
          </a:blip>
          <a:srcRect b="0" l="0" r="0" t="0"/>
          <a:stretch/>
        </p:blipFill>
        <p:spPr>
          <a:xfrm>
            <a:off x="4989258" y="4186243"/>
            <a:ext cx="2095500" cy="2143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36"/>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14: VIDA SUBMARINA</a:t>
            </a:r>
            <a:endParaRPr sz="4000"/>
          </a:p>
        </p:txBody>
      </p:sp>
      <p:cxnSp>
        <p:nvCxnSpPr>
          <p:cNvPr id="831" name="Google Shape;831;p36"/>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32" name="Google Shape;832;p36"/>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33" name="Google Shape;833;p36"/>
          <p:cNvPicPr preferRelativeResize="0"/>
          <p:nvPr/>
        </p:nvPicPr>
        <p:blipFill rotWithShape="1">
          <a:blip r:embed="rId3">
            <a:alphaModFix/>
          </a:blip>
          <a:srcRect b="0" l="0" r="0" t="0"/>
          <a:stretch/>
        </p:blipFill>
        <p:spPr>
          <a:xfrm>
            <a:off x="626400" y="1440000"/>
            <a:ext cx="1980000" cy="1980000"/>
          </a:xfrm>
          <a:prstGeom prst="rect">
            <a:avLst/>
          </a:prstGeom>
          <a:noFill/>
          <a:ln>
            <a:noFill/>
          </a:ln>
        </p:spPr>
      </p:pic>
      <p:sp>
        <p:nvSpPr>
          <p:cNvPr id="834" name="Google Shape;834;p36"/>
          <p:cNvSpPr txBox="1"/>
          <p:nvPr/>
        </p:nvSpPr>
        <p:spPr>
          <a:xfrm>
            <a:off x="3549534" y="1482080"/>
            <a:ext cx="7719279" cy="830997"/>
          </a:xfrm>
          <a:prstGeom prst="rect">
            <a:avLst/>
          </a:prstGeom>
          <a:solidFill>
            <a:srgbClr val="0390E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14  pretende conservar y usar de manera sostenible los océanos, los mares y los recursos marinos</a:t>
            </a:r>
            <a:endParaRPr/>
          </a:p>
        </p:txBody>
      </p:sp>
      <p:sp>
        <p:nvSpPr>
          <p:cNvPr id="835" name="Google Shape;835;p36"/>
          <p:cNvSpPr txBox="1"/>
          <p:nvPr/>
        </p:nvSpPr>
        <p:spPr>
          <a:xfrm>
            <a:off x="4896465"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ODS14</a:t>
            </a:r>
            <a:endParaRPr sz="1800">
              <a:solidFill>
                <a:schemeClr val="dk1"/>
              </a:solidFill>
              <a:latin typeface="Calibri"/>
              <a:ea typeface="Calibri"/>
              <a:cs typeface="Calibri"/>
              <a:sym typeface="Calibri"/>
            </a:endParaRPr>
          </a:p>
        </p:txBody>
      </p:sp>
      <p:pic>
        <p:nvPicPr>
          <p:cNvPr id="836" name="Google Shape;836;p36"/>
          <p:cNvPicPr preferRelativeResize="0"/>
          <p:nvPr/>
        </p:nvPicPr>
        <p:blipFill rotWithShape="1">
          <a:blip r:embed="rId5">
            <a:alphaModFix/>
          </a:blip>
          <a:srcRect b="0" l="0" r="0" t="0"/>
          <a:stretch/>
        </p:blipFill>
        <p:spPr>
          <a:xfrm>
            <a:off x="4980124" y="2543409"/>
            <a:ext cx="3382208" cy="557339"/>
          </a:xfrm>
          <a:prstGeom prst="rect">
            <a:avLst/>
          </a:prstGeom>
          <a:noFill/>
          <a:ln>
            <a:noFill/>
          </a:ln>
        </p:spPr>
      </p:pic>
      <p:pic>
        <p:nvPicPr>
          <p:cNvPr id="837" name="Google Shape;837;p36">
            <a:hlinkClick r:id="rId6"/>
          </p:cNvPr>
          <p:cNvPicPr preferRelativeResize="0"/>
          <p:nvPr/>
        </p:nvPicPr>
        <p:blipFill rotWithShape="1">
          <a:blip r:embed="rId7">
            <a:alphaModFix/>
          </a:blip>
          <a:srcRect b="0" l="0" r="0" t="0"/>
          <a:stretch/>
        </p:blipFill>
        <p:spPr>
          <a:xfrm>
            <a:off x="4980124" y="3045375"/>
            <a:ext cx="5343743" cy="475754"/>
          </a:xfrm>
          <a:prstGeom prst="rect">
            <a:avLst/>
          </a:prstGeom>
          <a:noFill/>
          <a:ln>
            <a:noFill/>
          </a:ln>
        </p:spPr>
      </p:pic>
      <p:sp>
        <p:nvSpPr>
          <p:cNvPr id="838" name="Google Shape;838;p36"/>
          <p:cNvSpPr txBox="1"/>
          <p:nvPr/>
        </p:nvSpPr>
        <p:spPr>
          <a:xfrm>
            <a:off x="8478930" y="2655797"/>
            <a:ext cx="16296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4/06/2024</a:t>
            </a:r>
            <a:endParaRPr/>
          </a:p>
        </p:txBody>
      </p:sp>
      <p:sp>
        <p:nvSpPr>
          <p:cNvPr id="839" name="Google Shape;839;p36"/>
          <p:cNvSpPr txBox="1"/>
          <p:nvPr/>
        </p:nvSpPr>
        <p:spPr>
          <a:xfrm>
            <a:off x="4896465" y="3548901"/>
            <a:ext cx="6372348"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Según un </a:t>
            </a:r>
            <a:r>
              <a:rPr lang="es-ES" sz="1800" u="sng">
                <a:solidFill>
                  <a:schemeClr val="dk1"/>
                </a:solidFill>
                <a:latin typeface="Calibri"/>
                <a:ea typeface="Calibri"/>
                <a:cs typeface="Calibri"/>
                <a:sym typeface="Calibri"/>
                <a:hlinkClick r:id="rId8">
                  <a:extLst>
                    <a:ext uri="{A12FA001-AC4F-418D-AE19-62706E023703}">
                      <ahyp:hlinkClr val="tx"/>
                    </a:ext>
                  </a:extLst>
                </a:hlinkClick>
              </a:rPr>
              <a:t>reciente estudio </a:t>
            </a:r>
            <a:r>
              <a:rPr lang="es-ES" sz="1800">
                <a:solidFill>
                  <a:schemeClr val="dk1"/>
                </a:solidFill>
                <a:latin typeface="Calibri"/>
                <a:ea typeface="Calibri"/>
                <a:cs typeface="Calibri"/>
                <a:sym typeface="Calibri"/>
              </a:rPr>
              <a:t>de la UNESCO, el océano se está calentando ahora al doble del ritmo de hace veinte años y su temperatura ya ha aumentado 1,45 °C respecto valores preindustriales. En el Mediterráneo, el Océano Atlántico Tropical y el Océano Meridional se han hallado puntos en los que la subida supera los 2°C. Las áreas costeras son las más afectadas por el calentamiento, con especies que sufren para respirar, y ya se han identificado hasta 500 zonas muertas donde ya casi no queda vida. Por otro lado, su acidez se ha incrementado entre un 25 y un 30% debido a la absorción de CO</a:t>
            </a:r>
            <a:r>
              <a:rPr baseline="-25000" lang="es-ES" sz="1800">
                <a:solidFill>
                  <a:schemeClr val="dk1"/>
                </a:solidFill>
                <a:latin typeface="Calibri"/>
                <a:ea typeface="Calibri"/>
                <a:cs typeface="Calibri"/>
                <a:sym typeface="Calibri"/>
              </a:rPr>
              <a:t>2</a:t>
            </a:r>
            <a:r>
              <a:rPr lang="es-ES" sz="1800">
                <a:solidFill>
                  <a:schemeClr val="dk1"/>
                </a:solidFill>
                <a:latin typeface="Calibri"/>
                <a:ea typeface="Calibri"/>
                <a:cs typeface="Calibri"/>
                <a:sym typeface="Calibri"/>
              </a:rPr>
              <a:t>.</a:t>
            </a:r>
            <a:endParaRPr/>
          </a:p>
        </p:txBody>
      </p:sp>
      <p:pic>
        <p:nvPicPr>
          <p:cNvPr id="840" name="Google Shape;840;p36"/>
          <p:cNvPicPr preferRelativeResize="0"/>
          <p:nvPr/>
        </p:nvPicPr>
        <p:blipFill rotWithShape="1">
          <a:blip r:embed="rId9">
            <a:alphaModFix/>
          </a:blip>
          <a:srcRect b="0" l="0" r="0" t="0"/>
          <a:stretch/>
        </p:blipFill>
        <p:spPr>
          <a:xfrm>
            <a:off x="90032" y="4114891"/>
            <a:ext cx="4806433" cy="2617226"/>
          </a:xfrm>
          <a:prstGeom prst="rect">
            <a:avLst/>
          </a:prstGeom>
          <a:noFill/>
          <a:ln>
            <a:noFill/>
          </a:ln>
        </p:spPr>
      </p:pic>
      <p:sp>
        <p:nvSpPr>
          <p:cNvPr id="841" name="Google Shape;841;p36"/>
          <p:cNvSpPr txBox="1"/>
          <p:nvPr/>
        </p:nvSpPr>
        <p:spPr>
          <a:xfrm>
            <a:off x="261257" y="3686629"/>
            <a:ext cx="439782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Evolución del calentamiento de los océanos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37"/>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ODS 14: VIDA SUBMARINA</a:t>
            </a:r>
            <a:endParaRPr sz="4000"/>
          </a:p>
        </p:txBody>
      </p:sp>
      <p:cxnSp>
        <p:nvCxnSpPr>
          <p:cNvPr id="848" name="Google Shape;848;p37"/>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49" name="Google Shape;849;p37"/>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50" name="Google Shape;850;p37"/>
          <p:cNvPicPr preferRelativeResize="0"/>
          <p:nvPr/>
        </p:nvPicPr>
        <p:blipFill rotWithShape="1">
          <a:blip r:embed="rId3">
            <a:alphaModFix/>
          </a:blip>
          <a:srcRect b="0" l="0" r="0" t="0"/>
          <a:stretch/>
        </p:blipFill>
        <p:spPr>
          <a:xfrm>
            <a:off x="5039703" y="1440000"/>
            <a:ext cx="1980000" cy="1980000"/>
          </a:xfrm>
          <a:prstGeom prst="rect">
            <a:avLst/>
          </a:prstGeom>
          <a:noFill/>
          <a:ln>
            <a:noFill/>
          </a:ln>
        </p:spPr>
      </p:pic>
      <p:sp>
        <p:nvSpPr>
          <p:cNvPr id="851" name="Google Shape;851;p37"/>
          <p:cNvSpPr txBox="1"/>
          <p:nvPr/>
        </p:nvSpPr>
        <p:spPr>
          <a:xfrm>
            <a:off x="662135" y="1547260"/>
            <a:ext cx="3675435" cy="461665"/>
          </a:xfrm>
          <a:prstGeom prst="rect">
            <a:avLst/>
          </a:prstGeom>
          <a:solidFill>
            <a:srgbClr val="0390E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852" name="Google Shape;852;p37"/>
          <p:cNvSpPr txBox="1"/>
          <p:nvPr/>
        </p:nvSpPr>
        <p:spPr>
          <a:xfrm>
            <a:off x="7787110" y="1547260"/>
            <a:ext cx="3675435" cy="461665"/>
          </a:xfrm>
          <a:prstGeom prst="rect">
            <a:avLst/>
          </a:prstGeom>
          <a:solidFill>
            <a:srgbClr val="0390E7"/>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853" name="Google Shape;853;p37"/>
          <p:cNvSpPr txBox="1"/>
          <p:nvPr/>
        </p:nvSpPr>
        <p:spPr>
          <a:xfrm>
            <a:off x="324466" y="2503494"/>
            <a:ext cx="4350773" cy="40934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Prevenir y reducir la contaminación marina.</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Proteger y gestionar sosteniblemente los ecosistemas marinos.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Conservar al menos el 10% de los hábitats costeros y marinos.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Prohibir subvenciones a formas de pesca que superen la biocapacidad.</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Apoyar la investigación científica y transferencia del conocimiento para mejorar la salud de los océanos.</a:t>
            </a:r>
            <a:endParaRPr/>
          </a:p>
        </p:txBody>
      </p:sp>
      <p:sp>
        <p:nvSpPr>
          <p:cNvPr id="854" name="Google Shape;854;p37"/>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EL PROYECTO </a:t>
            </a:r>
            <a:r>
              <a:rPr b="1" i="1" lang="es-ES" sz="1800">
                <a:solidFill>
                  <a:schemeClr val="dk1"/>
                </a:solidFill>
                <a:highlight>
                  <a:srgbClr val="FFFFFF"/>
                </a:highlight>
                <a:latin typeface="Calibri"/>
                <a:ea typeface="Calibri"/>
                <a:cs typeface="Calibri"/>
                <a:sym typeface="Calibri"/>
              </a:rPr>
              <a:t>THE OCEAN CLEANUP</a:t>
            </a:r>
            <a:endParaRPr/>
          </a:p>
          <a:p>
            <a:pPr indent="0" lvl="0" marL="0" marR="0" rtl="0" algn="ctr">
              <a:spcBef>
                <a:spcPts val="0"/>
              </a:spcBef>
              <a:spcAft>
                <a:spcPts val="0"/>
              </a:spcAft>
              <a:buNone/>
            </a:pPr>
            <a:r>
              <a:rPr b="1" lang="es-ES" sz="1800">
                <a:solidFill>
                  <a:schemeClr val="dk1"/>
                </a:solidFill>
                <a:highlight>
                  <a:srgbClr val="FFFFFF"/>
                </a:highlight>
                <a:latin typeface="Calibri"/>
                <a:ea typeface="Calibri"/>
                <a:cs typeface="Calibri"/>
                <a:sym typeface="Calibri"/>
              </a:rPr>
              <a:t>RETIRA LOS PLÁSTICOS DEL MAR</a:t>
            </a:r>
            <a:endParaRPr b="1" sz="1800">
              <a:solidFill>
                <a:schemeClr val="dk1"/>
              </a:solidFill>
              <a:highlight>
                <a:srgbClr val="FFFFFF"/>
              </a:highlight>
              <a:latin typeface="Calibri"/>
              <a:ea typeface="Calibri"/>
              <a:cs typeface="Calibri"/>
              <a:sym typeface="Calibri"/>
            </a:endParaRPr>
          </a:p>
        </p:txBody>
      </p:sp>
      <p:sp>
        <p:nvSpPr>
          <p:cNvPr id="855" name="Google Shape;855;p37"/>
          <p:cNvSpPr txBox="1"/>
          <p:nvPr/>
        </p:nvSpPr>
        <p:spPr>
          <a:xfrm>
            <a:off x="7728118" y="2892716"/>
            <a:ext cx="3700595"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Gracias a la iniciativa de un estudiante de ingeniería holandés en 2013, la organización ha desarrollado la tecnología para retirar plásticos de los océanos, que tanto perjudican a la vida marina, y pretenden retirar el 90 % de los plásticos de aquí a 2040.</a:t>
            </a:r>
            <a:endParaRPr i="1" sz="1800">
              <a:solidFill>
                <a:schemeClr val="dk1"/>
              </a:solidFill>
              <a:latin typeface="Calibri"/>
              <a:ea typeface="Calibri"/>
              <a:cs typeface="Calibri"/>
              <a:sym typeface="Calibri"/>
            </a:endParaRPr>
          </a:p>
        </p:txBody>
      </p:sp>
      <p:pic>
        <p:nvPicPr>
          <p:cNvPr id="856" name="Google Shape;856;p37"/>
          <p:cNvPicPr preferRelativeResize="0"/>
          <p:nvPr/>
        </p:nvPicPr>
        <p:blipFill rotWithShape="1">
          <a:blip r:embed="rId4">
            <a:alphaModFix/>
          </a:blip>
          <a:srcRect b="0" l="0" r="0" t="0"/>
          <a:stretch/>
        </p:blipFill>
        <p:spPr>
          <a:xfrm>
            <a:off x="7987737" y="4974296"/>
            <a:ext cx="3274180" cy="1835465"/>
          </a:xfrm>
          <a:prstGeom prst="rect">
            <a:avLst/>
          </a:prstGeom>
          <a:noFill/>
          <a:ln>
            <a:noFill/>
          </a:ln>
        </p:spPr>
      </p:pic>
      <p:pic>
        <p:nvPicPr>
          <p:cNvPr id="857" name="Google Shape;857;p37"/>
          <p:cNvPicPr preferRelativeResize="0"/>
          <p:nvPr/>
        </p:nvPicPr>
        <p:blipFill rotWithShape="1">
          <a:blip r:embed="rId5">
            <a:alphaModFix/>
          </a:blip>
          <a:srcRect b="0" l="0" r="0" t="0"/>
          <a:stretch/>
        </p:blipFill>
        <p:spPr>
          <a:xfrm>
            <a:off x="4849663" y="3657601"/>
            <a:ext cx="2360081" cy="2772475"/>
          </a:xfrm>
          <a:prstGeom prst="rect">
            <a:avLst/>
          </a:prstGeom>
          <a:noFill/>
          <a:ln>
            <a:noFill/>
          </a:ln>
        </p:spPr>
      </p:pic>
      <p:sp>
        <p:nvSpPr>
          <p:cNvPr id="858" name="Google Shape;858;p37"/>
          <p:cNvSpPr txBox="1"/>
          <p:nvPr/>
        </p:nvSpPr>
        <p:spPr>
          <a:xfrm>
            <a:off x="4439266" y="6478938"/>
            <a:ext cx="324894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The Ocean Cleanup</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38"/>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ODS 15: VIDA DE ECOSISTEMAS TERRESTRES</a:t>
            </a:r>
            <a:endParaRPr sz="3600"/>
          </a:p>
        </p:txBody>
      </p:sp>
      <p:cxnSp>
        <p:nvCxnSpPr>
          <p:cNvPr id="865" name="Google Shape;865;p38"/>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66" name="Google Shape;866;p38"/>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67" name="Google Shape;867;p38"/>
          <p:cNvPicPr preferRelativeResize="0"/>
          <p:nvPr/>
        </p:nvPicPr>
        <p:blipFill rotWithShape="1">
          <a:blip r:embed="rId3">
            <a:alphaModFix/>
          </a:blip>
          <a:srcRect b="0" l="0" r="0" t="0"/>
          <a:stretch/>
        </p:blipFill>
        <p:spPr>
          <a:xfrm>
            <a:off x="626400" y="1440000"/>
            <a:ext cx="1805023" cy="1980000"/>
          </a:xfrm>
          <a:prstGeom prst="rect">
            <a:avLst/>
          </a:prstGeom>
          <a:noFill/>
          <a:ln>
            <a:noFill/>
          </a:ln>
        </p:spPr>
      </p:pic>
      <p:sp>
        <p:nvSpPr>
          <p:cNvPr id="868" name="Google Shape;868;p38"/>
          <p:cNvSpPr txBox="1"/>
          <p:nvPr/>
        </p:nvSpPr>
        <p:spPr>
          <a:xfrm>
            <a:off x="3549534" y="1482080"/>
            <a:ext cx="7719279" cy="830997"/>
          </a:xfrm>
          <a:prstGeom prst="rect">
            <a:avLst/>
          </a:prstGeom>
          <a:solidFill>
            <a:srgbClr val="03B53A"/>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15 lucha por la protección, restauración y la explotación sostenible de los ecosistemas terrestres</a:t>
            </a:r>
            <a:endParaRPr/>
          </a:p>
        </p:txBody>
      </p:sp>
      <p:sp>
        <p:nvSpPr>
          <p:cNvPr id="869" name="Google Shape;869;p38"/>
          <p:cNvSpPr txBox="1"/>
          <p:nvPr/>
        </p:nvSpPr>
        <p:spPr>
          <a:xfrm>
            <a:off x="4896465"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ODS15</a:t>
            </a:r>
            <a:endParaRPr sz="1800">
              <a:solidFill>
                <a:schemeClr val="dk1"/>
              </a:solidFill>
              <a:latin typeface="Calibri"/>
              <a:ea typeface="Calibri"/>
              <a:cs typeface="Calibri"/>
              <a:sym typeface="Calibri"/>
            </a:endParaRPr>
          </a:p>
        </p:txBody>
      </p:sp>
      <p:pic>
        <p:nvPicPr>
          <p:cNvPr id="870" name="Google Shape;870;p38">
            <a:hlinkClick r:id="rId5"/>
          </p:cNvPr>
          <p:cNvPicPr preferRelativeResize="0"/>
          <p:nvPr/>
        </p:nvPicPr>
        <p:blipFill rotWithShape="1">
          <a:blip r:embed="rId6">
            <a:alphaModFix/>
          </a:blip>
          <a:srcRect b="0" l="0" r="0" t="0"/>
          <a:stretch/>
        </p:blipFill>
        <p:spPr>
          <a:xfrm>
            <a:off x="122857" y="3809316"/>
            <a:ext cx="4537633" cy="3015977"/>
          </a:xfrm>
          <a:prstGeom prst="rect">
            <a:avLst/>
          </a:prstGeom>
          <a:noFill/>
          <a:ln>
            <a:noFill/>
          </a:ln>
        </p:spPr>
      </p:pic>
      <p:sp>
        <p:nvSpPr>
          <p:cNvPr id="871" name="Google Shape;871;p38"/>
          <p:cNvSpPr txBox="1"/>
          <p:nvPr/>
        </p:nvSpPr>
        <p:spPr>
          <a:xfrm>
            <a:off x="417824" y="3429000"/>
            <a:ext cx="394769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Evolución de los bosques en el mundo</a:t>
            </a:r>
            <a:endParaRPr/>
          </a:p>
        </p:txBody>
      </p:sp>
      <p:pic>
        <p:nvPicPr>
          <p:cNvPr id="872" name="Google Shape;872;p38"/>
          <p:cNvPicPr preferRelativeResize="0"/>
          <p:nvPr/>
        </p:nvPicPr>
        <p:blipFill rotWithShape="1">
          <a:blip r:embed="rId7">
            <a:alphaModFix/>
          </a:blip>
          <a:srcRect b="0" l="0" r="0" t="0"/>
          <a:stretch/>
        </p:blipFill>
        <p:spPr>
          <a:xfrm>
            <a:off x="5254190" y="2383819"/>
            <a:ext cx="4309966" cy="1183895"/>
          </a:xfrm>
          <a:prstGeom prst="rect">
            <a:avLst/>
          </a:prstGeom>
          <a:noFill/>
          <a:ln>
            <a:noFill/>
          </a:ln>
        </p:spPr>
      </p:pic>
      <p:pic>
        <p:nvPicPr>
          <p:cNvPr id="873" name="Google Shape;873;p38"/>
          <p:cNvPicPr preferRelativeResize="0"/>
          <p:nvPr/>
        </p:nvPicPr>
        <p:blipFill rotWithShape="1">
          <a:blip r:embed="rId8">
            <a:alphaModFix/>
          </a:blip>
          <a:srcRect b="0" l="0" r="0" t="0"/>
          <a:stretch/>
        </p:blipFill>
        <p:spPr>
          <a:xfrm>
            <a:off x="5254190" y="3638456"/>
            <a:ext cx="3289088" cy="2741828"/>
          </a:xfrm>
          <a:prstGeom prst="rect">
            <a:avLst/>
          </a:prstGeom>
          <a:noFill/>
          <a:ln>
            <a:noFill/>
          </a:ln>
        </p:spPr>
      </p:pic>
      <p:sp>
        <p:nvSpPr>
          <p:cNvPr id="874" name="Google Shape;874;p38"/>
          <p:cNvSpPr txBox="1"/>
          <p:nvPr/>
        </p:nvSpPr>
        <p:spPr>
          <a:xfrm>
            <a:off x="8834284" y="3809316"/>
            <a:ext cx="2434529"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A 6 años del 2030, aunque en Brasil y Colombia parece que alcanzarán los compromisos, No sucede lo mismo en otras partes del mundo.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Más información</a:t>
            </a:r>
            <a:r>
              <a:rPr lang="es-ES" sz="1800">
                <a:solidFill>
                  <a:schemeClr val="dk1"/>
                </a:solidFill>
                <a:latin typeface="Calibri"/>
                <a:ea typeface="Calibri"/>
                <a:cs typeface="Calibri"/>
                <a:sym typeface="Calibri"/>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39"/>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s-ES" sz="3600">
                <a:latin typeface="Calibri"/>
                <a:ea typeface="Calibri"/>
                <a:cs typeface="Calibri"/>
                <a:sym typeface="Calibri"/>
              </a:rPr>
              <a:t>ODS 15: VIDA DE ECOSISTEMAS TERRESTRES</a:t>
            </a:r>
            <a:endParaRPr sz="3600"/>
          </a:p>
        </p:txBody>
      </p:sp>
      <p:cxnSp>
        <p:nvCxnSpPr>
          <p:cNvPr id="881" name="Google Shape;881;p39"/>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82" name="Google Shape;882;p39"/>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83" name="Google Shape;883;p39"/>
          <p:cNvPicPr preferRelativeResize="0"/>
          <p:nvPr/>
        </p:nvPicPr>
        <p:blipFill rotWithShape="1">
          <a:blip r:embed="rId3">
            <a:alphaModFix/>
          </a:blip>
          <a:srcRect b="0" l="0" r="0" t="0"/>
          <a:stretch/>
        </p:blipFill>
        <p:spPr>
          <a:xfrm>
            <a:off x="5040000" y="1440000"/>
            <a:ext cx="1805023" cy="1980000"/>
          </a:xfrm>
          <a:prstGeom prst="rect">
            <a:avLst/>
          </a:prstGeom>
          <a:noFill/>
          <a:ln>
            <a:noFill/>
          </a:ln>
        </p:spPr>
      </p:pic>
      <p:sp>
        <p:nvSpPr>
          <p:cNvPr id="884" name="Google Shape;884;p39"/>
          <p:cNvSpPr txBox="1"/>
          <p:nvPr/>
        </p:nvSpPr>
        <p:spPr>
          <a:xfrm>
            <a:off x="662135" y="1547260"/>
            <a:ext cx="3675435" cy="461665"/>
          </a:xfrm>
          <a:prstGeom prst="rect">
            <a:avLst/>
          </a:prstGeom>
          <a:solidFill>
            <a:srgbClr val="03B53A"/>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885" name="Google Shape;885;p39"/>
          <p:cNvSpPr txBox="1"/>
          <p:nvPr/>
        </p:nvSpPr>
        <p:spPr>
          <a:xfrm>
            <a:off x="7787110" y="1547260"/>
            <a:ext cx="3675435" cy="461665"/>
          </a:xfrm>
          <a:prstGeom prst="rect">
            <a:avLst/>
          </a:prstGeom>
          <a:solidFill>
            <a:srgbClr val="03B53A"/>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886" name="Google Shape;886;p39"/>
          <p:cNvSpPr txBox="1"/>
          <p:nvPr/>
        </p:nvSpPr>
        <p:spPr>
          <a:xfrm>
            <a:off x="324466" y="2503494"/>
            <a:ext cx="4350900" cy="42474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Poner fin a la deforestación y a la desertificación.</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Recuperar los entornos degradados.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Abogar por una gestión sostenible de los ecosistemas terrestres y de agua dulce.</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Adoptar medidas urgentes contra la pérdida de biodiversidad.</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Aumentar de manera significativa los recursos financieros.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Luchar contra la caza furtiva.</a:t>
            </a:r>
            <a:endParaRPr/>
          </a:p>
        </p:txBody>
      </p:sp>
      <p:sp>
        <p:nvSpPr>
          <p:cNvPr id="887" name="Google Shape;887;p39"/>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1800">
                <a:solidFill>
                  <a:schemeClr val="dk1"/>
                </a:solidFill>
                <a:highlight>
                  <a:srgbClr val="FFFFFF"/>
                </a:highlight>
                <a:latin typeface="Calibri"/>
                <a:ea typeface="Calibri"/>
                <a:cs typeface="Calibri"/>
                <a:sym typeface="Calibri"/>
              </a:rPr>
              <a:t>RESTAURACIÓN DEL HUMEDAL DEL PARQUE NATURALDE DOÑANA </a:t>
            </a:r>
            <a:endParaRPr b="1" i="0" sz="1800">
              <a:solidFill>
                <a:schemeClr val="dk1"/>
              </a:solidFill>
              <a:highlight>
                <a:srgbClr val="FFFFFF"/>
              </a:highlight>
              <a:latin typeface="Calibri"/>
              <a:ea typeface="Calibri"/>
              <a:cs typeface="Calibri"/>
              <a:sym typeface="Calibri"/>
            </a:endParaRPr>
          </a:p>
        </p:txBody>
      </p:sp>
      <p:sp>
        <p:nvSpPr>
          <p:cNvPr id="888" name="Google Shape;888;p39"/>
          <p:cNvSpPr txBox="1"/>
          <p:nvPr/>
        </p:nvSpPr>
        <p:spPr>
          <a:xfrm>
            <a:off x="7728118" y="3246668"/>
            <a:ext cx="3700595"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Este proyecto es el resultado de la colaboración de varias instituciones públicas y ONG ambientales y pretenden restaurar el humedal que ha sido seriamente dañado por el cambio climático y la actividad humana, proteger las especies de flora y fauna del ecosistema, muchas de ellas en peligro, y promover la gestión sostenible del agua en la zona.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r>
              <a:rPr lang="es-ES" sz="1800">
                <a:solidFill>
                  <a:schemeClr val="dk1"/>
                </a:solidFill>
                <a:latin typeface="Calibri"/>
                <a:ea typeface="Calibri"/>
                <a:cs typeface="Calibri"/>
                <a:sym typeface="Calibri"/>
              </a:rPr>
              <a:t>.  </a:t>
            </a:r>
            <a:endParaRPr/>
          </a:p>
        </p:txBody>
      </p:sp>
      <p:pic>
        <p:nvPicPr>
          <p:cNvPr id="889" name="Google Shape;889;p39"/>
          <p:cNvPicPr preferRelativeResize="0"/>
          <p:nvPr/>
        </p:nvPicPr>
        <p:blipFill rotWithShape="1">
          <a:blip r:embed="rId5">
            <a:alphaModFix/>
          </a:blip>
          <a:srcRect b="0" l="0" r="0" t="0"/>
          <a:stretch/>
        </p:blipFill>
        <p:spPr>
          <a:xfrm>
            <a:off x="4900622" y="3746129"/>
            <a:ext cx="2083777" cy="283158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40"/>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16: PAZ, JUSTICIA E INSTITUCIONES SÓLIDAS</a:t>
            </a:r>
            <a:endParaRPr sz="3200"/>
          </a:p>
        </p:txBody>
      </p:sp>
      <p:cxnSp>
        <p:nvCxnSpPr>
          <p:cNvPr id="896" name="Google Shape;896;p40"/>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897" name="Google Shape;897;p40"/>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898" name="Google Shape;898;p40"/>
          <p:cNvPicPr preferRelativeResize="0"/>
          <p:nvPr/>
        </p:nvPicPr>
        <p:blipFill rotWithShape="1">
          <a:blip r:embed="rId3">
            <a:alphaModFix/>
          </a:blip>
          <a:srcRect b="0" l="0" r="0" t="0"/>
          <a:stretch/>
        </p:blipFill>
        <p:spPr>
          <a:xfrm>
            <a:off x="626400" y="1440000"/>
            <a:ext cx="1778138" cy="1980000"/>
          </a:xfrm>
          <a:prstGeom prst="rect">
            <a:avLst/>
          </a:prstGeom>
          <a:noFill/>
          <a:ln>
            <a:noFill/>
          </a:ln>
        </p:spPr>
      </p:pic>
      <p:sp>
        <p:nvSpPr>
          <p:cNvPr id="899" name="Google Shape;899;p40"/>
          <p:cNvSpPr txBox="1"/>
          <p:nvPr/>
        </p:nvSpPr>
        <p:spPr>
          <a:xfrm>
            <a:off x="3549534" y="1482080"/>
            <a:ext cx="7719279" cy="461665"/>
          </a:xfrm>
          <a:prstGeom prst="rect">
            <a:avLst/>
          </a:prstGeom>
          <a:solidFill>
            <a:srgbClr val="215483"/>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16 defiende sociedades pacíficas, justas e inclusivas</a:t>
            </a:r>
            <a:endParaRPr/>
          </a:p>
        </p:txBody>
      </p:sp>
      <p:sp>
        <p:nvSpPr>
          <p:cNvPr id="900" name="Google Shape;900;p40"/>
          <p:cNvSpPr txBox="1"/>
          <p:nvPr/>
        </p:nvSpPr>
        <p:spPr>
          <a:xfrm>
            <a:off x="5176677"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ODS16</a:t>
            </a:r>
            <a:endParaRPr sz="1800">
              <a:solidFill>
                <a:schemeClr val="dk1"/>
              </a:solidFill>
              <a:latin typeface="Calibri"/>
              <a:ea typeface="Calibri"/>
              <a:cs typeface="Calibri"/>
              <a:sym typeface="Calibri"/>
            </a:endParaRPr>
          </a:p>
        </p:txBody>
      </p:sp>
      <p:pic>
        <p:nvPicPr>
          <p:cNvPr id="901" name="Google Shape;901;p40"/>
          <p:cNvPicPr preferRelativeResize="0"/>
          <p:nvPr/>
        </p:nvPicPr>
        <p:blipFill rotWithShape="1">
          <a:blip r:embed="rId5">
            <a:alphaModFix/>
          </a:blip>
          <a:srcRect b="0" l="0" r="0" t="0"/>
          <a:stretch/>
        </p:blipFill>
        <p:spPr>
          <a:xfrm>
            <a:off x="4375438" y="2109804"/>
            <a:ext cx="4009956" cy="755697"/>
          </a:xfrm>
          <a:prstGeom prst="rect">
            <a:avLst/>
          </a:prstGeom>
          <a:noFill/>
          <a:ln>
            <a:noFill/>
          </a:ln>
        </p:spPr>
      </p:pic>
      <p:pic>
        <p:nvPicPr>
          <p:cNvPr id="902" name="Google Shape;902;p40">
            <a:hlinkClick r:id="rId6"/>
          </p:cNvPr>
          <p:cNvPicPr preferRelativeResize="0"/>
          <p:nvPr/>
        </p:nvPicPr>
        <p:blipFill rotWithShape="1">
          <a:blip r:embed="rId7">
            <a:alphaModFix/>
          </a:blip>
          <a:srcRect b="0" l="0" r="0" t="0"/>
          <a:stretch/>
        </p:blipFill>
        <p:spPr>
          <a:xfrm>
            <a:off x="4375438" y="2814045"/>
            <a:ext cx="6442466" cy="523517"/>
          </a:xfrm>
          <a:prstGeom prst="rect">
            <a:avLst/>
          </a:prstGeom>
          <a:noFill/>
          <a:ln>
            <a:noFill/>
          </a:ln>
        </p:spPr>
      </p:pic>
      <p:sp>
        <p:nvSpPr>
          <p:cNvPr id="903" name="Google Shape;903;p40"/>
          <p:cNvSpPr txBox="1"/>
          <p:nvPr/>
        </p:nvSpPr>
        <p:spPr>
          <a:xfrm>
            <a:off x="6096000" y="3774013"/>
            <a:ext cx="4539540"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Actualmente hay millones de personas en el mundo atrapadas en conflictos bélicos para las cuales la vida es una pesadilla. El contexto actual va desde las oleadas de terrorismo que azotan el Sahel y las guerras en Gaza, Sudán y Ucrania hasta los grupos armados en el este de la República Democrática del Congo y las bandas que asolan Haití.</a:t>
            </a:r>
            <a:endParaRPr/>
          </a:p>
        </p:txBody>
      </p:sp>
      <p:sp>
        <p:nvSpPr>
          <p:cNvPr id="904" name="Google Shape;904;p40"/>
          <p:cNvSpPr txBox="1"/>
          <p:nvPr/>
        </p:nvSpPr>
        <p:spPr>
          <a:xfrm>
            <a:off x="8716291" y="2212966"/>
            <a:ext cx="23449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7/02/2024</a:t>
            </a:r>
            <a:endParaRPr/>
          </a:p>
        </p:txBody>
      </p:sp>
      <p:pic>
        <p:nvPicPr>
          <p:cNvPr id="905" name="Google Shape;905;p40"/>
          <p:cNvPicPr preferRelativeResize="0"/>
          <p:nvPr/>
        </p:nvPicPr>
        <p:blipFill rotWithShape="1">
          <a:blip r:embed="rId8">
            <a:alphaModFix/>
          </a:blip>
          <a:srcRect b="4859" l="0" r="0" t="0"/>
          <a:stretch/>
        </p:blipFill>
        <p:spPr>
          <a:xfrm>
            <a:off x="104231" y="3845098"/>
            <a:ext cx="4963433" cy="2991128"/>
          </a:xfrm>
          <a:prstGeom prst="rect">
            <a:avLst/>
          </a:prstGeom>
          <a:noFill/>
          <a:ln>
            <a:noFill/>
          </a:ln>
        </p:spPr>
      </p:pic>
      <p:sp>
        <p:nvSpPr>
          <p:cNvPr id="906" name="Google Shape;906;p40"/>
          <p:cNvSpPr txBox="1"/>
          <p:nvPr/>
        </p:nvSpPr>
        <p:spPr>
          <a:xfrm>
            <a:off x="365483" y="3376792"/>
            <a:ext cx="452978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9">
                  <a:extLst>
                    <a:ext uri="{A12FA001-AC4F-418D-AE19-62706E023703}">
                      <ahyp:hlinkClr val="tx"/>
                    </a:ext>
                  </a:extLst>
                </a:hlinkClick>
              </a:rPr>
              <a:t>En el 2022 se produjo un aumento porcentual de las muertes de civiles en conflictos bélicos</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41"/>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16: PAZ, JUSTICIA E INSTITUCIONES SÓLIDAS</a:t>
            </a:r>
            <a:endParaRPr sz="3200"/>
          </a:p>
        </p:txBody>
      </p:sp>
      <p:cxnSp>
        <p:nvCxnSpPr>
          <p:cNvPr id="913" name="Google Shape;913;p41"/>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14" name="Google Shape;914;p41"/>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915" name="Google Shape;915;p41"/>
          <p:cNvPicPr preferRelativeResize="0"/>
          <p:nvPr/>
        </p:nvPicPr>
        <p:blipFill rotWithShape="1">
          <a:blip r:embed="rId3">
            <a:alphaModFix/>
          </a:blip>
          <a:srcRect b="0" l="0" r="0" t="0"/>
          <a:stretch/>
        </p:blipFill>
        <p:spPr>
          <a:xfrm>
            <a:off x="5040000" y="1440000"/>
            <a:ext cx="1778138" cy="1980000"/>
          </a:xfrm>
          <a:prstGeom prst="rect">
            <a:avLst/>
          </a:prstGeom>
          <a:noFill/>
          <a:ln>
            <a:noFill/>
          </a:ln>
        </p:spPr>
      </p:pic>
      <p:sp>
        <p:nvSpPr>
          <p:cNvPr id="916" name="Google Shape;916;p41"/>
          <p:cNvSpPr txBox="1"/>
          <p:nvPr/>
        </p:nvSpPr>
        <p:spPr>
          <a:xfrm>
            <a:off x="662135" y="1547260"/>
            <a:ext cx="3675435" cy="461665"/>
          </a:xfrm>
          <a:prstGeom prst="rect">
            <a:avLst/>
          </a:prstGeom>
          <a:solidFill>
            <a:srgbClr val="215483"/>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917" name="Google Shape;917;p41"/>
          <p:cNvSpPr txBox="1"/>
          <p:nvPr/>
        </p:nvSpPr>
        <p:spPr>
          <a:xfrm>
            <a:off x="7787110" y="1547260"/>
            <a:ext cx="3675435" cy="461665"/>
          </a:xfrm>
          <a:prstGeom prst="rect">
            <a:avLst/>
          </a:prstGeom>
          <a:solidFill>
            <a:srgbClr val="215483"/>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918" name="Google Shape;918;p41"/>
          <p:cNvSpPr txBox="1"/>
          <p:nvPr/>
        </p:nvSpPr>
        <p:spPr>
          <a:xfrm>
            <a:off x="324466" y="2503494"/>
            <a:ext cx="4350773" cy="4247317"/>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Reducir la violencia.</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Poner fin al maltrato, la explotación, la trata. </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Promover los estados de derecho y el acceso universal a la justicia. </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Combatir la corrupción y el soborno.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Frenar el tráfico de armas y las corrientes de capital ilícitos.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Ampliar la participación de los países en desarrollo en las instituciones de gobernanza mundial.</a:t>
            </a:r>
            <a:endParaRPr/>
          </a:p>
        </p:txBody>
      </p:sp>
      <p:sp>
        <p:nvSpPr>
          <p:cNvPr id="919" name="Google Shape;919;p41"/>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1800">
                <a:solidFill>
                  <a:schemeClr val="dk1"/>
                </a:solidFill>
                <a:highlight>
                  <a:srgbClr val="FFFFFF"/>
                </a:highlight>
                <a:latin typeface="Calibri"/>
                <a:ea typeface="Calibri"/>
                <a:cs typeface="Calibri"/>
                <a:sym typeface="Calibri"/>
              </a:rPr>
              <a:t>EL PROGRAMA DE “JUSTICIA JUVENIL” DE SIERRA LEONA </a:t>
            </a:r>
            <a:endParaRPr b="1" i="0" sz="1800">
              <a:solidFill>
                <a:schemeClr val="dk1"/>
              </a:solidFill>
              <a:highlight>
                <a:srgbClr val="FFFFFF"/>
              </a:highlight>
              <a:latin typeface="Calibri"/>
              <a:ea typeface="Calibri"/>
              <a:cs typeface="Calibri"/>
              <a:sym typeface="Calibri"/>
            </a:endParaRPr>
          </a:p>
        </p:txBody>
      </p:sp>
      <p:sp>
        <p:nvSpPr>
          <p:cNvPr id="920" name="Google Shape;920;p41"/>
          <p:cNvSpPr txBox="1"/>
          <p:nvPr/>
        </p:nvSpPr>
        <p:spPr>
          <a:xfrm>
            <a:off x="7728118" y="3246668"/>
            <a:ext cx="3700595"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Tras la guerra, la violencia juvenil en Sierra Leona era un grave problema. Gracias a la colaboración de diferentes ONG e instituciones, se puso en marcha este programa centrado en rehabilitar a los jóvenes involucrados en la violencia y el crimen mediante programas educativos, apoyo psicológico y oportunidades laborales.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r>
              <a:rPr lang="es-ES" sz="1800">
                <a:solidFill>
                  <a:schemeClr val="dk1"/>
                </a:solidFill>
                <a:latin typeface="Calibri"/>
                <a:ea typeface="Calibri"/>
                <a:cs typeface="Calibri"/>
                <a:sym typeface="Calibri"/>
              </a:rPr>
              <a:t>. </a:t>
            </a:r>
            <a:endParaRPr/>
          </a:p>
        </p:txBody>
      </p:sp>
      <p:pic>
        <p:nvPicPr>
          <p:cNvPr id="921" name="Google Shape;921;p41"/>
          <p:cNvPicPr preferRelativeResize="0"/>
          <p:nvPr/>
        </p:nvPicPr>
        <p:blipFill rotWithShape="1">
          <a:blip r:embed="rId5">
            <a:alphaModFix/>
          </a:blip>
          <a:srcRect b="4606" l="0" r="0" t="0"/>
          <a:stretch/>
        </p:blipFill>
        <p:spPr>
          <a:xfrm>
            <a:off x="4907897" y="3649547"/>
            <a:ext cx="2042344" cy="2785659"/>
          </a:xfrm>
          <a:prstGeom prst="rect">
            <a:avLst/>
          </a:prstGeom>
          <a:noFill/>
          <a:ln>
            <a:noFill/>
          </a:ln>
        </p:spPr>
      </p:pic>
      <p:sp>
        <p:nvSpPr>
          <p:cNvPr id="922" name="Google Shape;922;p41"/>
          <p:cNvSpPr txBox="1"/>
          <p:nvPr/>
        </p:nvSpPr>
        <p:spPr>
          <a:xfrm>
            <a:off x="4907897" y="6468173"/>
            <a:ext cx="204234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Fuente: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GEPUD</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42"/>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17: ALIANZAS PARA LOGRAR LOS OBJETIVOS</a:t>
            </a:r>
            <a:endParaRPr sz="3200"/>
          </a:p>
        </p:txBody>
      </p:sp>
      <p:cxnSp>
        <p:nvCxnSpPr>
          <p:cNvPr id="929" name="Google Shape;929;p42"/>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30" name="Google Shape;930;p42"/>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931" name="Google Shape;931;p42"/>
          <p:cNvPicPr preferRelativeResize="0"/>
          <p:nvPr/>
        </p:nvPicPr>
        <p:blipFill rotWithShape="1">
          <a:blip r:embed="rId3">
            <a:alphaModFix/>
          </a:blip>
          <a:srcRect b="0" l="0" r="0" t="0"/>
          <a:stretch/>
        </p:blipFill>
        <p:spPr>
          <a:xfrm>
            <a:off x="626400" y="1461026"/>
            <a:ext cx="1796190" cy="1987200"/>
          </a:xfrm>
          <a:prstGeom prst="rect">
            <a:avLst/>
          </a:prstGeom>
          <a:noFill/>
          <a:ln>
            <a:noFill/>
          </a:ln>
        </p:spPr>
      </p:pic>
      <p:sp>
        <p:nvSpPr>
          <p:cNvPr id="932" name="Google Shape;932;p42"/>
          <p:cNvSpPr txBox="1"/>
          <p:nvPr/>
        </p:nvSpPr>
        <p:spPr>
          <a:xfrm>
            <a:off x="3549534" y="1482080"/>
            <a:ext cx="7719279" cy="830997"/>
          </a:xfrm>
          <a:prstGeom prst="rect">
            <a:avLst/>
          </a:prstGeom>
          <a:solidFill>
            <a:srgbClr val="1B2A6B"/>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El ODS 17 potencia las alianzas de todo tipo para lograr los Objetivos de Desarrollo Sostenible</a:t>
            </a:r>
            <a:endParaRPr/>
          </a:p>
        </p:txBody>
      </p:sp>
      <p:sp>
        <p:nvSpPr>
          <p:cNvPr id="933" name="Google Shape;933;p42"/>
          <p:cNvSpPr txBox="1"/>
          <p:nvPr/>
        </p:nvSpPr>
        <p:spPr>
          <a:xfrm>
            <a:off x="5294666" y="6474545"/>
            <a:ext cx="2639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 ODS17</a:t>
            </a:r>
            <a:endParaRPr sz="1800">
              <a:solidFill>
                <a:schemeClr val="dk1"/>
              </a:solidFill>
              <a:latin typeface="Calibri"/>
              <a:ea typeface="Calibri"/>
              <a:cs typeface="Calibri"/>
              <a:sym typeface="Calibri"/>
            </a:endParaRPr>
          </a:p>
        </p:txBody>
      </p:sp>
      <p:pic>
        <p:nvPicPr>
          <p:cNvPr id="934" name="Google Shape;934;p42">
            <a:hlinkClick r:id="rId5"/>
          </p:cNvPr>
          <p:cNvPicPr preferRelativeResize="0"/>
          <p:nvPr/>
        </p:nvPicPr>
        <p:blipFill rotWithShape="1">
          <a:blip r:embed="rId6">
            <a:alphaModFix/>
          </a:blip>
          <a:srcRect b="0" l="0" r="0" t="0"/>
          <a:stretch/>
        </p:blipFill>
        <p:spPr>
          <a:xfrm>
            <a:off x="5191422" y="2571631"/>
            <a:ext cx="6122922" cy="1123472"/>
          </a:xfrm>
          <a:prstGeom prst="rect">
            <a:avLst/>
          </a:prstGeom>
          <a:noFill/>
          <a:ln>
            <a:noFill/>
          </a:ln>
        </p:spPr>
      </p:pic>
      <p:sp>
        <p:nvSpPr>
          <p:cNvPr id="935" name="Google Shape;935;p42"/>
          <p:cNvSpPr txBox="1"/>
          <p:nvPr/>
        </p:nvSpPr>
        <p:spPr>
          <a:xfrm>
            <a:off x="5215116" y="3820925"/>
            <a:ext cx="6194323"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Se estimó que el mundo necesitaba invertir entre 3 y 5 billones de dólares para alcanzar los ODS. Con la pandemia de COVID 19, se requieren 2 bollones adicionales. </a:t>
            </a:r>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Actualmente la economía internacional no pasa por su mejor momento, a lo que hay que añadir los impactos del cambio climático y las tensiones geopolíticas. </a:t>
            </a:r>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Por ello, las alianzas entre instituciones como la ONU y las Instituciones Financieras Internacionales (IFI) deben fortalecerse para hacer frente a este desafío. </a:t>
            </a:r>
            <a:r>
              <a:rPr lang="es-ES" sz="1800" u="sng">
                <a:solidFill>
                  <a:schemeClr val="dk1"/>
                </a:solidFill>
                <a:latin typeface="Calibri"/>
                <a:ea typeface="Calibri"/>
                <a:cs typeface="Calibri"/>
                <a:sym typeface="Calibri"/>
                <a:hlinkClick r:id="rId7">
                  <a:extLst>
                    <a:ext uri="{A12FA001-AC4F-418D-AE19-62706E023703}">
                      <ahyp:hlinkClr val="tx"/>
                    </a:ext>
                  </a:extLst>
                </a:hlinkClick>
              </a:rPr>
              <a:t>Más información</a:t>
            </a:r>
            <a:r>
              <a:rPr lang="es-ES" sz="1800">
                <a:solidFill>
                  <a:schemeClr val="dk1"/>
                </a:solidFill>
                <a:latin typeface="Calibri"/>
                <a:ea typeface="Calibri"/>
                <a:cs typeface="Calibri"/>
                <a:sym typeface="Calibri"/>
              </a:rPr>
              <a:t>.</a:t>
            </a:r>
            <a:endParaRPr/>
          </a:p>
        </p:txBody>
      </p:sp>
      <p:pic>
        <p:nvPicPr>
          <p:cNvPr id="936" name="Google Shape;936;p42"/>
          <p:cNvPicPr preferRelativeResize="0"/>
          <p:nvPr/>
        </p:nvPicPr>
        <p:blipFill rotWithShape="1">
          <a:blip r:embed="rId8">
            <a:alphaModFix/>
          </a:blip>
          <a:srcRect b="0" l="0" r="0" t="0"/>
          <a:stretch/>
        </p:blipFill>
        <p:spPr>
          <a:xfrm>
            <a:off x="322359" y="4015656"/>
            <a:ext cx="4401164" cy="2762636"/>
          </a:xfrm>
          <a:prstGeom prst="rect">
            <a:avLst/>
          </a:prstGeom>
          <a:noFill/>
          <a:ln>
            <a:noFill/>
          </a:ln>
        </p:spPr>
      </p:pic>
      <p:sp>
        <p:nvSpPr>
          <p:cNvPr id="937" name="Google Shape;937;p42"/>
          <p:cNvSpPr txBox="1"/>
          <p:nvPr/>
        </p:nvSpPr>
        <p:spPr>
          <a:xfrm>
            <a:off x="176981" y="3448226"/>
            <a:ext cx="429581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9">
                  <a:extLst>
                    <a:ext uri="{A12FA001-AC4F-418D-AE19-62706E023703}">
                      <ahyp:hlinkClr val="tx"/>
                    </a:ext>
                  </a:extLst>
                </a:hlinkClick>
              </a:rPr>
              <a:t>Gasto de las organizaciones de Naciones Unidas en ayuda al desarrollo y humanitaria</a:t>
            </a:r>
            <a:endParaRPr sz="1800">
              <a:solidFill>
                <a:schemeClr val="dk1"/>
              </a:solidFill>
              <a:latin typeface="Calibri"/>
              <a:ea typeface="Calibri"/>
              <a:cs typeface="Calibri"/>
              <a:sym typeface="Calibri"/>
            </a:endParaRPr>
          </a:p>
        </p:txBody>
      </p:sp>
      <p:pic>
        <p:nvPicPr>
          <p:cNvPr id="938" name="Google Shape;938;p42"/>
          <p:cNvPicPr preferRelativeResize="0"/>
          <p:nvPr/>
        </p:nvPicPr>
        <p:blipFill rotWithShape="1">
          <a:blip r:embed="rId10">
            <a:alphaModFix/>
          </a:blip>
          <a:srcRect b="0" l="0" r="0" t="0"/>
          <a:stretch/>
        </p:blipFill>
        <p:spPr>
          <a:xfrm>
            <a:off x="4683794" y="2621365"/>
            <a:ext cx="523948" cy="108600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43"/>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s-ES" sz="3200">
                <a:latin typeface="Calibri"/>
                <a:ea typeface="Calibri"/>
                <a:cs typeface="Calibri"/>
                <a:sym typeface="Calibri"/>
              </a:rPr>
              <a:t>ODS 17: ALIANZAS PARA LOGRAR LOS OBJETIVOS</a:t>
            </a:r>
            <a:endParaRPr sz="3200"/>
          </a:p>
        </p:txBody>
      </p:sp>
      <p:cxnSp>
        <p:nvCxnSpPr>
          <p:cNvPr id="945" name="Google Shape;945;p43"/>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46" name="Google Shape;946;p43"/>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947" name="Google Shape;947;p43"/>
          <p:cNvPicPr preferRelativeResize="0"/>
          <p:nvPr/>
        </p:nvPicPr>
        <p:blipFill rotWithShape="1">
          <a:blip r:embed="rId3">
            <a:alphaModFix/>
          </a:blip>
          <a:srcRect b="0" l="0" r="0" t="0"/>
          <a:stretch/>
        </p:blipFill>
        <p:spPr>
          <a:xfrm>
            <a:off x="5194837" y="1461026"/>
            <a:ext cx="1796190" cy="1987200"/>
          </a:xfrm>
          <a:prstGeom prst="rect">
            <a:avLst/>
          </a:prstGeom>
          <a:noFill/>
          <a:ln>
            <a:noFill/>
          </a:ln>
        </p:spPr>
      </p:pic>
      <p:sp>
        <p:nvSpPr>
          <p:cNvPr id="948" name="Google Shape;948;p43"/>
          <p:cNvSpPr txBox="1"/>
          <p:nvPr/>
        </p:nvSpPr>
        <p:spPr>
          <a:xfrm>
            <a:off x="662135" y="1547260"/>
            <a:ext cx="3675435" cy="461665"/>
          </a:xfrm>
          <a:prstGeom prst="rect">
            <a:avLst/>
          </a:prstGeom>
          <a:solidFill>
            <a:srgbClr val="1B2A6B"/>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Submetas importantes</a:t>
            </a:r>
            <a:endParaRPr/>
          </a:p>
        </p:txBody>
      </p:sp>
      <p:sp>
        <p:nvSpPr>
          <p:cNvPr id="949" name="Google Shape;949;p43"/>
          <p:cNvSpPr txBox="1"/>
          <p:nvPr/>
        </p:nvSpPr>
        <p:spPr>
          <a:xfrm>
            <a:off x="7787110" y="1547260"/>
            <a:ext cx="3675435" cy="461665"/>
          </a:xfrm>
          <a:prstGeom prst="rect">
            <a:avLst/>
          </a:prstGeom>
          <a:solidFill>
            <a:srgbClr val="1B2A6B"/>
          </a:solidFill>
          <a:ln>
            <a:noFill/>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Casos de éxito</a:t>
            </a:r>
            <a:endParaRPr/>
          </a:p>
        </p:txBody>
      </p:sp>
      <p:sp>
        <p:nvSpPr>
          <p:cNvPr id="950" name="Google Shape;950;p43"/>
          <p:cNvSpPr txBox="1"/>
          <p:nvPr/>
        </p:nvSpPr>
        <p:spPr>
          <a:xfrm>
            <a:off x="16104" y="2459250"/>
            <a:ext cx="4758432" cy="440120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Financiar a los países menos desarrollados a través de diferentes fuentes: fondos de cooperación, etc.</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Promover el desarrollo de tecnologías ecológicamente racionales y un banco de tecnología como mecanismo de apoyo.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Crear capacidad en los países menos desarrollados.</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Potenciar un comercio universal, multilateral y no discriminatorio.</a:t>
            </a:r>
            <a:endParaRPr/>
          </a:p>
          <a:p>
            <a:pPr indent="-285750" lvl="0" marL="285750" marR="0" rtl="0" algn="just">
              <a:spcBef>
                <a:spcPts val="120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Adoptar medidas sistémicas internacionales para lograr los ODS.</a:t>
            </a:r>
            <a:endParaRPr/>
          </a:p>
        </p:txBody>
      </p:sp>
      <p:sp>
        <p:nvSpPr>
          <p:cNvPr id="951" name="Google Shape;951;p43"/>
          <p:cNvSpPr txBox="1"/>
          <p:nvPr/>
        </p:nvSpPr>
        <p:spPr>
          <a:xfrm>
            <a:off x="7787110" y="2191663"/>
            <a:ext cx="367543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a:solidFill>
                  <a:schemeClr val="dk1"/>
                </a:solidFill>
                <a:highlight>
                  <a:srgbClr val="FFFFFF"/>
                </a:highlight>
                <a:latin typeface="Calibri"/>
                <a:ea typeface="Calibri"/>
                <a:cs typeface="Calibri"/>
                <a:sym typeface="Calibri"/>
              </a:rPr>
              <a:t>THE PARTNERSHIP FOR ACTION ON GREEN ECONOMY (PAGE)</a:t>
            </a:r>
            <a:endParaRPr/>
          </a:p>
        </p:txBody>
      </p:sp>
      <p:sp>
        <p:nvSpPr>
          <p:cNvPr id="952" name="Google Shape;952;p43"/>
          <p:cNvSpPr txBox="1"/>
          <p:nvPr/>
        </p:nvSpPr>
        <p:spPr>
          <a:xfrm>
            <a:off x="7728118" y="3394148"/>
            <a:ext cx="3700595"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Esta alianza de 5 agencias de Naciones Unidas ha asesorado a más de 20 países agregados para la transición hacia una economía verde, creando empleos verdes y proporcionando formación.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Más información</a:t>
            </a:r>
            <a:r>
              <a:rPr lang="es-ES" sz="1800">
                <a:solidFill>
                  <a:schemeClr val="dk1"/>
                </a:solidFill>
                <a:latin typeface="Calibri"/>
                <a:ea typeface="Calibri"/>
                <a:cs typeface="Calibri"/>
                <a:sym typeface="Calibri"/>
              </a:rPr>
              <a:t>.</a:t>
            </a:r>
            <a:endParaRPr/>
          </a:p>
        </p:txBody>
      </p:sp>
      <p:pic>
        <p:nvPicPr>
          <p:cNvPr id="953" name="Google Shape;953;p43"/>
          <p:cNvPicPr preferRelativeResize="0"/>
          <p:nvPr/>
        </p:nvPicPr>
        <p:blipFill rotWithShape="1">
          <a:blip r:embed="rId5">
            <a:alphaModFix/>
          </a:blip>
          <a:srcRect b="0" l="0" r="0" t="0"/>
          <a:stretch/>
        </p:blipFill>
        <p:spPr>
          <a:xfrm>
            <a:off x="4835129" y="3659370"/>
            <a:ext cx="2515606" cy="2628350"/>
          </a:xfrm>
          <a:prstGeom prst="rect">
            <a:avLst/>
          </a:prstGeom>
          <a:noFill/>
          <a:ln>
            <a:noFill/>
          </a:ln>
        </p:spPr>
      </p:pic>
      <p:sp>
        <p:nvSpPr>
          <p:cNvPr id="954" name="Google Shape;954;p43"/>
          <p:cNvSpPr txBox="1"/>
          <p:nvPr/>
        </p:nvSpPr>
        <p:spPr>
          <a:xfrm>
            <a:off x="5194837" y="6468173"/>
            <a:ext cx="179619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6">
                  <a:extLst>
                    <a:ext uri="{A12FA001-AC4F-418D-AE19-62706E023703}">
                      <ahyp:hlinkClr val="tx"/>
                    </a:ext>
                  </a:extLst>
                </a:hlinkClick>
              </a:rPr>
              <a:t>Fuente</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44"/>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EL MARCO DE SENDAI</a:t>
            </a:r>
            <a:endParaRPr sz="4000"/>
          </a:p>
        </p:txBody>
      </p:sp>
      <p:cxnSp>
        <p:nvCxnSpPr>
          <p:cNvPr id="961" name="Google Shape;961;p44"/>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62" name="Google Shape;962;p44"/>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963" name="Google Shape;963;p44"/>
          <p:cNvPicPr preferRelativeResize="0"/>
          <p:nvPr/>
        </p:nvPicPr>
        <p:blipFill rotWithShape="1">
          <a:blip r:embed="rId3">
            <a:alphaModFix/>
          </a:blip>
          <a:srcRect b="0" l="0" r="0" t="0"/>
          <a:stretch/>
        </p:blipFill>
        <p:spPr>
          <a:xfrm>
            <a:off x="169153" y="2352524"/>
            <a:ext cx="11850782" cy="336044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45"/>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EL MARCO DE SENDAI</a:t>
            </a:r>
            <a:endParaRPr sz="4000"/>
          </a:p>
        </p:txBody>
      </p:sp>
      <p:cxnSp>
        <p:nvCxnSpPr>
          <p:cNvPr id="970" name="Google Shape;970;p45"/>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71" name="Google Shape;971;p45"/>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972" name="Google Shape;972;p45">
            <a:hlinkClick r:id="rId3"/>
          </p:cNvPr>
          <p:cNvSpPr/>
          <p:nvPr/>
        </p:nvSpPr>
        <p:spPr>
          <a:xfrm>
            <a:off x="5032112" y="3429000"/>
            <a:ext cx="2127776" cy="752167"/>
          </a:xfrm>
          <a:prstGeom prst="roundRect">
            <a:avLst>
              <a:gd fmla="val 16667" name="adj"/>
            </a:avLst>
          </a:prstGeom>
          <a:solidFill>
            <a:srgbClr val="C00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MARCO DE SENDAI</a:t>
            </a:r>
            <a:endParaRPr/>
          </a:p>
        </p:txBody>
      </p:sp>
      <p:sp>
        <p:nvSpPr>
          <p:cNvPr id="973" name="Google Shape;973;p45"/>
          <p:cNvSpPr/>
          <p:nvPr/>
        </p:nvSpPr>
        <p:spPr>
          <a:xfrm>
            <a:off x="1106129" y="1858297"/>
            <a:ext cx="3141406" cy="1325563"/>
          </a:xfrm>
          <a:prstGeom prst="roundRect">
            <a:avLst>
              <a:gd fmla="val 16667" name="adj"/>
            </a:avLst>
          </a:prstGeom>
          <a:solidFill>
            <a:srgbClr val="2F5496"/>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Comprender el riesgo de desastres cada vez mayor de fenómenos meteorológicos extremos</a:t>
            </a:r>
            <a:endParaRPr/>
          </a:p>
        </p:txBody>
      </p:sp>
      <p:sp>
        <p:nvSpPr>
          <p:cNvPr id="974" name="Google Shape;974;p45"/>
          <p:cNvSpPr/>
          <p:nvPr/>
        </p:nvSpPr>
        <p:spPr>
          <a:xfrm>
            <a:off x="7944465" y="1855477"/>
            <a:ext cx="3141406" cy="1325563"/>
          </a:xfrm>
          <a:prstGeom prst="roundRect">
            <a:avLst>
              <a:gd fmla="val 16667" name="adj"/>
            </a:avLst>
          </a:prstGeom>
          <a:solidFill>
            <a:srgbClr val="2F5496"/>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Mejorar la gestión del riesgo de desastres para prevenir y reaccionar lo más rápida y eficazmente posible</a:t>
            </a:r>
            <a:endParaRPr/>
          </a:p>
        </p:txBody>
      </p:sp>
      <p:sp>
        <p:nvSpPr>
          <p:cNvPr id="975" name="Google Shape;975;p45"/>
          <p:cNvSpPr/>
          <p:nvPr/>
        </p:nvSpPr>
        <p:spPr>
          <a:xfrm>
            <a:off x="1106129" y="4446862"/>
            <a:ext cx="3141406" cy="1325563"/>
          </a:xfrm>
          <a:prstGeom prst="roundRect">
            <a:avLst>
              <a:gd fmla="val 16667" name="adj"/>
            </a:avLst>
          </a:prstGeom>
          <a:solidFill>
            <a:srgbClr val="2F5496"/>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Invertir en la reducción del riesgo de desastres para la resiliencia, invirtiendo en infraestructuras, etc.</a:t>
            </a:r>
            <a:endParaRPr/>
          </a:p>
        </p:txBody>
      </p:sp>
      <p:pic>
        <p:nvPicPr>
          <p:cNvPr descr="Mapa&#10;&#10;Descripción generada automáticamente" id="976" name="Google Shape;976;p45"/>
          <p:cNvPicPr preferRelativeResize="0"/>
          <p:nvPr/>
        </p:nvPicPr>
        <p:blipFill rotWithShape="1">
          <a:blip r:embed="rId4">
            <a:alphaModFix/>
          </a:blip>
          <a:srcRect b="0" l="0" r="0" t="0"/>
          <a:stretch/>
        </p:blipFill>
        <p:spPr>
          <a:xfrm>
            <a:off x="5195119" y="4705372"/>
            <a:ext cx="1801761" cy="1801761"/>
          </a:xfrm>
          <a:prstGeom prst="rect">
            <a:avLst/>
          </a:prstGeom>
          <a:noFill/>
          <a:ln>
            <a:noFill/>
          </a:ln>
        </p:spPr>
      </p:pic>
      <p:sp>
        <p:nvSpPr>
          <p:cNvPr id="977" name="Google Shape;977;p45"/>
          <p:cNvSpPr/>
          <p:nvPr/>
        </p:nvSpPr>
        <p:spPr>
          <a:xfrm>
            <a:off x="7944464" y="4446861"/>
            <a:ext cx="3141406" cy="1325563"/>
          </a:xfrm>
          <a:prstGeom prst="roundRect">
            <a:avLst>
              <a:gd fmla="val 16667" name="adj"/>
            </a:avLst>
          </a:prstGeom>
          <a:solidFill>
            <a:srgbClr val="2F5496"/>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Mejorar la preparación frente a desastres y “reconstruir mejor” dando una respuesta rápida y eficaz ante desplazamientos</a:t>
            </a:r>
            <a:endParaRPr/>
          </a:p>
        </p:txBody>
      </p:sp>
      <p:cxnSp>
        <p:nvCxnSpPr>
          <p:cNvPr id="978" name="Google Shape;978;p45"/>
          <p:cNvCxnSpPr/>
          <p:nvPr/>
        </p:nvCxnSpPr>
        <p:spPr>
          <a:xfrm flipH="1" rot="10800000">
            <a:off x="7159888" y="3067665"/>
            <a:ext cx="784576" cy="361335"/>
          </a:xfrm>
          <a:prstGeom prst="straightConnector1">
            <a:avLst/>
          </a:prstGeom>
          <a:noFill/>
          <a:ln cap="flat" cmpd="sng" w="50800">
            <a:solidFill>
              <a:schemeClr val="accent1"/>
            </a:solidFill>
            <a:prstDash val="solid"/>
            <a:miter lim="800000"/>
            <a:headEnd len="lg" w="lg" type="none"/>
            <a:tailEnd len="lg" w="lg" type="triangle"/>
          </a:ln>
        </p:spPr>
      </p:cxnSp>
      <p:cxnSp>
        <p:nvCxnSpPr>
          <p:cNvPr id="979" name="Google Shape;979;p45"/>
          <p:cNvCxnSpPr/>
          <p:nvPr/>
        </p:nvCxnSpPr>
        <p:spPr>
          <a:xfrm rot="10800000">
            <a:off x="4247535" y="3067665"/>
            <a:ext cx="784576" cy="361335"/>
          </a:xfrm>
          <a:prstGeom prst="straightConnector1">
            <a:avLst/>
          </a:prstGeom>
          <a:noFill/>
          <a:ln cap="flat" cmpd="sng" w="50800">
            <a:solidFill>
              <a:schemeClr val="accent1"/>
            </a:solidFill>
            <a:prstDash val="solid"/>
            <a:miter lim="800000"/>
            <a:headEnd len="lg" w="lg" type="none"/>
            <a:tailEnd len="lg" w="lg" type="triangle"/>
          </a:ln>
        </p:spPr>
      </p:cxnSp>
      <p:cxnSp>
        <p:nvCxnSpPr>
          <p:cNvPr id="980" name="Google Shape;980;p45"/>
          <p:cNvCxnSpPr/>
          <p:nvPr/>
        </p:nvCxnSpPr>
        <p:spPr>
          <a:xfrm>
            <a:off x="7159888" y="4143875"/>
            <a:ext cx="784576" cy="376084"/>
          </a:xfrm>
          <a:prstGeom prst="straightConnector1">
            <a:avLst/>
          </a:prstGeom>
          <a:noFill/>
          <a:ln cap="flat" cmpd="sng" w="50800">
            <a:solidFill>
              <a:schemeClr val="accent1"/>
            </a:solidFill>
            <a:prstDash val="solid"/>
            <a:miter lim="800000"/>
            <a:headEnd len="lg" w="lg" type="none"/>
            <a:tailEnd len="lg" w="lg" type="triangle"/>
          </a:ln>
        </p:spPr>
      </p:cxnSp>
      <p:cxnSp>
        <p:nvCxnSpPr>
          <p:cNvPr id="981" name="Google Shape;981;p45"/>
          <p:cNvCxnSpPr/>
          <p:nvPr/>
        </p:nvCxnSpPr>
        <p:spPr>
          <a:xfrm flipH="1">
            <a:off x="4129548" y="4115601"/>
            <a:ext cx="902563" cy="404358"/>
          </a:xfrm>
          <a:prstGeom prst="straightConnector1">
            <a:avLst/>
          </a:prstGeom>
          <a:noFill/>
          <a:ln cap="flat" cmpd="sng" w="50800">
            <a:solidFill>
              <a:schemeClr val="accent1"/>
            </a:solidFill>
            <a:prstDash val="solid"/>
            <a:miter lim="800000"/>
            <a:headEnd len="lg" w="lg" type="none"/>
            <a:tailEnd len="lg" w="lg"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46"/>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AGENDA DE ACCIÓN ADDIS ABEBA</a:t>
            </a:r>
            <a:endParaRPr sz="4000"/>
          </a:p>
        </p:txBody>
      </p:sp>
      <p:cxnSp>
        <p:nvCxnSpPr>
          <p:cNvPr id="988" name="Google Shape;988;p46"/>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89" name="Google Shape;989;p46"/>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id="990" name="Google Shape;990;p46"/>
          <p:cNvPicPr preferRelativeResize="0"/>
          <p:nvPr/>
        </p:nvPicPr>
        <p:blipFill rotWithShape="1">
          <a:blip r:embed="rId3">
            <a:alphaModFix/>
          </a:blip>
          <a:srcRect b="0" l="0" r="0" t="0"/>
          <a:stretch/>
        </p:blipFill>
        <p:spPr>
          <a:xfrm>
            <a:off x="577320" y="1547219"/>
            <a:ext cx="10910385" cy="488798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47"/>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AGENDA DE ACCIÓN ADDIS ABEBA</a:t>
            </a:r>
            <a:endParaRPr sz="4000"/>
          </a:p>
        </p:txBody>
      </p:sp>
      <p:cxnSp>
        <p:nvCxnSpPr>
          <p:cNvPr id="997" name="Google Shape;997;p47"/>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998" name="Google Shape;998;p47"/>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999" name="Google Shape;999;p47"/>
          <p:cNvSpPr/>
          <p:nvPr/>
        </p:nvSpPr>
        <p:spPr>
          <a:xfrm>
            <a:off x="1799309" y="2094271"/>
            <a:ext cx="2050026" cy="884903"/>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OBJETIVO</a:t>
            </a:r>
            <a:endParaRPr/>
          </a:p>
        </p:txBody>
      </p:sp>
      <p:sp>
        <p:nvSpPr>
          <p:cNvPr id="1000" name="Google Shape;1000;p47"/>
          <p:cNvSpPr/>
          <p:nvPr/>
        </p:nvSpPr>
        <p:spPr>
          <a:xfrm>
            <a:off x="5294677" y="2094271"/>
            <a:ext cx="4758432" cy="884903"/>
          </a:xfrm>
          <a:prstGeom prst="rect">
            <a:avLst/>
          </a:prstGeom>
          <a:solidFill>
            <a:srgbClr val="F6BCB8"/>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Marco Global para movilizar recursos financieros que permitan alcanzar los ODS</a:t>
            </a:r>
            <a:endParaRPr/>
          </a:p>
        </p:txBody>
      </p:sp>
      <p:sp>
        <p:nvSpPr>
          <p:cNvPr id="1001" name="Google Shape;1001;p47"/>
          <p:cNvSpPr/>
          <p:nvPr/>
        </p:nvSpPr>
        <p:spPr>
          <a:xfrm>
            <a:off x="1799309" y="4414684"/>
            <a:ext cx="2050026" cy="884903"/>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400">
                <a:solidFill>
                  <a:schemeClr val="lt1"/>
                </a:solidFill>
                <a:latin typeface="Calibri"/>
                <a:ea typeface="Calibri"/>
                <a:cs typeface="Calibri"/>
                <a:sym typeface="Calibri"/>
              </a:rPr>
              <a:t>MEDIOS</a:t>
            </a:r>
            <a:endParaRPr/>
          </a:p>
        </p:txBody>
      </p:sp>
      <p:cxnSp>
        <p:nvCxnSpPr>
          <p:cNvPr id="1002" name="Google Shape;1002;p47"/>
          <p:cNvCxnSpPr>
            <a:stCxn id="999" idx="6"/>
          </p:cNvCxnSpPr>
          <p:nvPr/>
        </p:nvCxnSpPr>
        <p:spPr>
          <a:xfrm>
            <a:off x="3849335" y="2536723"/>
            <a:ext cx="1445400" cy="0"/>
          </a:xfrm>
          <a:prstGeom prst="straightConnector1">
            <a:avLst/>
          </a:prstGeom>
          <a:noFill/>
          <a:ln cap="flat" cmpd="sng" w="60325">
            <a:solidFill>
              <a:srgbClr val="3F3F3F"/>
            </a:solidFill>
            <a:prstDash val="solid"/>
            <a:miter lim="800000"/>
            <a:headEnd len="sm" w="sm" type="none"/>
            <a:tailEnd len="lg" w="lg" type="triangle"/>
          </a:ln>
        </p:spPr>
      </p:cxnSp>
      <p:sp>
        <p:nvSpPr>
          <p:cNvPr id="1003" name="Google Shape;1003;p47"/>
          <p:cNvSpPr/>
          <p:nvPr/>
        </p:nvSpPr>
        <p:spPr>
          <a:xfrm>
            <a:off x="5294677" y="3665814"/>
            <a:ext cx="4758432" cy="443934"/>
          </a:xfrm>
          <a:prstGeom prst="rect">
            <a:avLst/>
          </a:prstGeom>
          <a:solidFill>
            <a:srgbClr val="F6BCB8"/>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Políticas fiscales más efectivas</a:t>
            </a:r>
            <a:endParaRPr/>
          </a:p>
        </p:txBody>
      </p:sp>
      <p:sp>
        <p:nvSpPr>
          <p:cNvPr id="1004" name="Google Shape;1004;p47"/>
          <p:cNvSpPr/>
          <p:nvPr/>
        </p:nvSpPr>
        <p:spPr>
          <a:xfrm>
            <a:off x="5294677" y="4635168"/>
            <a:ext cx="4758432" cy="443934"/>
          </a:xfrm>
          <a:prstGeom prst="rect">
            <a:avLst/>
          </a:prstGeom>
          <a:solidFill>
            <a:srgbClr val="F6BCB8"/>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Mejora de la administración de fondos</a:t>
            </a:r>
            <a:endParaRPr/>
          </a:p>
        </p:txBody>
      </p:sp>
      <p:sp>
        <p:nvSpPr>
          <p:cNvPr id="1005" name="Google Shape;1005;p47"/>
          <p:cNvSpPr/>
          <p:nvPr/>
        </p:nvSpPr>
        <p:spPr>
          <a:xfrm>
            <a:off x="5294677" y="5604522"/>
            <a:ext cx="4758432" cy="443934"/>
          </a:xfrm>
          <a:prstGeom prst="rect">
            <a:avLst/>
          </a:prstGeom>
          <a:solidFill>
            <a:srgbClr val="F6BCB8"/>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Lucha contra el fraude y la corrupción</a:t>
            </a:r>
            <a:endParaRPr/>
          </a:p>
        </p:txBody>
      </p:sp>
      <p:cxnSp>
        <p:nvCxnSpPr>
          <p:cNvPr id="1006" name="Google Shape;1006;p47"/>
          <p:cNvCxnSpPr/>
          <p:nvPr/>
        </p:nvCxnSpPr>
        <p:spPr>
          <a:xfrm flipH="1" rot="10800000">
            <a:off x="3849335" y="4865265"/>
            <a:ext cx="1445342" cy="1"/>
          </a:xfrm>
          <a:prstGeom prst="straightConnector1">
            <a:avLst/>
          </a:prstGeom>
          <a:noFill/>
          <a:ln cap="flat" cmpd="sng" w="60325">
            <a:solidFill>
              <a:srgbClr val="3F3F3F"/>
            </a:solidFill>
            <a:prstDash val="solid"/>
            <a:miter lim="800000"/>
            <a:headEnd len="sm" w="sm" type="none"/>
            <a:tailEnd len="lg" w="lg" type="triangle"/>
          </a:ln>
        </p:spPr>
      </p:cxnSp>
      <p:cxnSp>
        <p:nvCxnSpPr>
          <p:cNvPr id="1007" name="Google Shape;1007;p47"/>
          <p:cNvCxnSpPr>
            <a:stCxn id="1001" idx="6"/>
          </p:cNvCxnSpPr>
          <p:nvPr/>
        </p:nvCxnSpPr>
        <p:spPr>
          <a:xfrm flipH="1" rot="10800000">
            <a:off x="3849335" y="3895936"/>
            <a:ext cx="1445400" cy="961200"/>
          </a:xfrm>
          <a:prstGeom prst="straightConnector1">
            <a:avLst/>
          </a:prstGeom>
          <a:noFill/>
          <a:ln cap="flat" cmpd="sng" w="60325">
            <a:solidFill>
              <a:srgbClr val="3F3F3F"/>
            </a:solidFill>
            <a:prstDash val="solid"/>
            <a:miter lim="800000"/>
            <a:headEnd len="sm" w="sm" type="none"/>
            <a:tailEnd len="lg" w="lg" type="triangle"/>
          </a:ln>
        </p:spPr>
      </p:cxnSp>
      <p:cxnSp>
        <p:nvCxnSpPr>
          <p:cNvPr id="1008" name="Google Shape;1008;p47"/>
          <p:cNvCxnSpPr>
            <a:stCxn id="1001" idx="6"/>
          </p:cNvCxnSpPr>
          <p:nvPr/>
        </p:nvCxnSpPr>
        <p:spPr>
          <a:xfrm>
            <a:off x="3849335" y="4857136"/>
            <a:ext cx="1445400" cy="967800"/>
          </a:xfrm>
          <a:prstGeom prst="straightConnector1">
            <a:avLst/>
          </a:prstGeom>
          <a:noFill/>
          <a:ln cap="flat" cmpd="sng" w="60325">
            <a:solidFill>
              <a:srgbClr val="3F3F3F"/>
            </a:solidFill>
            <a:prstDash val="solid"/>
            <a:miter lim="800000"/>
            <a:headEnd len="sm" w="sm" type="none"/>
            <a:tailEnd len="lg" w="lg"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48"/>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PROTECCIÓN DE LA BIODIVERSIDAD</a:t>
            </a:r>
            <a:endParaRPr sz="4000"/>
          </a:p>
        </p:txBody>
      </p:sp>
      <p:cxnSp>
        <p:nvCxnSpPr>
          <p:cNvPr id="1015" name="Google Shape;1015;p48"/>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1016" name="Google Shape;1016;p48"/>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pic>
        <p:nvPicPr>
          <p:cNvPr descr="Un dibujo de una persona&#10;&#10;Descripción generada automáticamente con confianza baja" id="1017" name="Google Shape;1017;p48"/>
          <p:cNvPicPr preferRelativeResize="0"/>
          <p:nvPr/>
        </p:nvPicPr>
        <p:blipFill rotWithShape="1">
          <a:blip r:embed="rId3">
            <a:alphaModFix/>
          </a:blip>
          <a:srcRect b="0" l="0" r="0" t="0"/>
          <a:stretch/>
        </p:blipFill>
        <p:spPr>
          <a:xfrm>
            <a:off x="3559912" y="2000561"/>
            <a:ext cx="4954191" cy="421540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49"/>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PROTECCIÓN DE LA BIODIVERSIDAD</a:t>
            </a:r>
            <a:endParaRPr sz="4000"/>
          </a:p>
        </p:txBody>
      </p:sp>
      <p:cxnSp>
        <p:nvCxnSpPr>
          <p:cNvPr id="1024" name="Google Shape;1024;p49"/>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1025" name="Google Shape;1025;p49"/>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1026" name="Google Shape;1026;p49">
            <a:hlinkClick r:id="rId3"/>
          </p:cNvPr>
          <p:cNvSpPr/>
          <p:nvPr/>
        </p:nvSpPr>
        <p:spPr>
          <a:xfrm>
            <a:off x="2935598" y="3205655"/>
            <a:ext cx="2725540" cy="1054509"/>
          </a:xfrm>
          <a:prstGeom prst="roundRect">
            <a:avLst>
              <a:gd fmla="val 16667" name="adj"/>
            </a:avLst>
          </a:prstGeom>
          <a:solidFill>
            <a:srgbClr val="548135"/>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200">
                <a:solidFill>
                  <a:schemeClr val="lt1"/>
                </a:solidFill>
                <a:latin typeface="Calibri"/>
                <a:ea typeface="Calibri"/>
                <a:cs typeface="Calibri"/>
                <a:sym typeface="Calibri"/>
              </a:rPr>
              <a:t>CONVENIO SOBRE LA DIVERSIDAD BIOLÓGICA</a:t>
            </a:r>
            <a:endParaRPr/>
          </a:p>
        </p:txBody>
      </p:sp>
      <p:sp>
        <p:nvSpPr>
          <p:cNvPr id="1027" name="Google Shape;1027;p49"/>
          <p:cNvSpPr txBox="1"/>
          <p:nvPr/>
        </p:nvSpPr>
        <p:spPr>
          <a:xfrm>
            <a:off x="3345093" y="6232320"/>
            <a:ext cx="190655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1992</a:t>
            </a:r>
            <a:endParaRPr/>
          </a:p>
        </p:txBody>
      </p:sp>
      <p:pic>
        <p:nvPicPr>
          <p:cNvPr id="1028" name="Google Shape;1028;p49"/>
          <p:cNvPicPr preferRelativeResize="0"/>
          <p:nvPr/>
        </p:nvPicPr>
        <p:blipFill rotWithShape="1">
          <a:blip r:embed="rId4">
            <a:alphaModFix/>
          </a:blip>
          <a:srcRect b="0" l="0" r="0" t="0"/>
          <a:stretch/>
        </p:blipFill>
        <p:spPr>
          <a:xfrm>
            <a:off x="511279" y="3004145"/>
            <a:ext cx="1781424" cy="1457528"/>
          </a:xfrm>
          <a:prstGeom prst="rect">
            <a:avLst/>
          </a:prstGeom>
          <a:noFill/>
          <a:ln>
            <a:noFill/>
          </a:ln>
        </p:spPr>
      </p:pic>
      <p:sp>
        <p:nvSpPr>
          <p:cNvPr id="1029" name="Google Shape;1029;p49"/>
          <p:cNvSpPr/>
          <p:nvPr/>
        </p:nvSpPr>
        <p:spPr>
          <a:xfrm>
            <a:off x="3111123" y="1676356"/>
            <a:ext cx="2374490" cy="780486"/>
          </a:xfrm>
          <a:prstGeom prst="rect">
            <a:avLst/>
          </a:prstGeom>
          <a:solidFill>
            <a:srgbClr val="8DA9DB"/>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Ratificado por 196 países</a:t>
            </a:r>
            <a:endParaRPr/>
          </a:p>
        </p:txBody>
      </p:sp>
      <p:sp>
        <p:nvSpPr>
          <p:cNvPr id="1030" name="Google Shape;1030;p49"/>
          <p:cNvSpPr/>
          <p:nvPr/>
        </p:nvSpPr>
        <p:spPr>
          <a:xfrm>
            <a:off x="6474544" y="2066599"/>
            <a:ext cx="5147185" cy="780485"/>
          </a:xfrm>
          <a:prstGeom prst="rect">
            <a:avLst/>
          </a:prstGeom>
          <a:solidFill>
            <a:srgbClr val="A8D08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Conservación de la diversidad biológica</a:t>
            </a:r>
            <a:endParaRPr/>
          </a:p>
        </p:txBody>
      </p:sp>
      <p:sp>
        <p:nvSpPr>
          <p:cNvPr id="1031" name="Google Shape;1031;p49"/>
          <p:cNvSpPr/>
          <p:nvPr/>
        </p:nvSpPr>
        <p:spPr>
          <a:xfrm>
            <a:off x="6474545" y="3342668"/>
            <a:ext cx="5147184" cy="780485"/>
          </a:xfrm>
          <a:prstGeom prst="rect">
            <a:avLst/>
          </a:prstGeom>
          <a:solidFill>
            <a:srgbClr val="A8D08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Utilización sostenible de sus componentes</a:t>
            </a:r>
            <a:endParaRPr/>
          </a:p>
        </p:txBody>
      </p:sp>
      <p:sp>
        <p:nvSpPr>
          <p:cNvPr id="1032" name="Google Shape;1032;p49"/>
          <p:cNvSpPr/>
          <p:nvPr/>
        </p:nvSpPr>
        <p:spPr>
          <a:xfrm>
            <a:off x="6474544" y="4700836"/>
            <a:ext cx="5147184" cy="780485"/>
          </a:xfrm>
          <a:prstGeom prst="rect">
            <a:avLst/>
          </a:prstGeom>
          <a:solidFill>
            <a:srgbClr val="A8D08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Participación justa y equitativa en los beneficios derivados de los recursos genéticos</a:t>
            </a:r>
            <a:endParaRPr/>
          </a:p>
        </p:txBody>
      </p:sp>
      <p:sp>
        <p:nvSpPr>
          <p:cNvPr id="1033" name="Google Shape;1033;p49"/>
          <p:cNvSpPr txBox="1"/>
          <p:nvPr/>
        </p:nvSpPr>
        <p:spPr>
          <a:xfrm>
            <a:off x="511279" y="4667435"/>
            <a:ext cx="1519084"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800">
                <a:solidFill>
                  <a:srgbClr val="2E75B5"/>
                </a:solidFill>
                <a:latin typeface="Open Sans"/>
                <a:ea typeface="Open Sans"/>
                <a:cs typeface="Open Sans"/>
                <a:sym typeface="Open Sans"/>
              </a:rPr>
              <a:t>ONU</a:t>
            </a:r>
            <a:endParaRPr/>
          </a:p>
        </p:txBody>
      </p:sp>
      <p:cxnSp>
        <p:nvCxnSpPr>
          <p:cNvPr id="1034" name="Google Shape;1034;p49"/>
          <p:cNvCxnSpPr>
            <a:endCxn id="1026" idx="1"/>
          </p:cNvCxnSpPr>
          <p:nvPr/>
        </p:nvCxnSpPr>
        <p:spPr>
          <a:xfrm>
            <a:off x="2292698" y="3732910"/>
            <a:ext cx="642900" cy="0"/>
          </a:xfrm>
          <a:prstGeom prst="straightConnector1">
            <a:avLst/>
          </a:prstGeom>
          <a:noFill/>
          <a:ln cap="flat" cmpd="sng" w="60325">
            <a:solidFill>
              <a:srgbClr val="0070C0"/>
            </a:solidFill>
            <a:prstDash val="solid"/>
            <a:miter lim="800000"/>
            <a:headEnd len="sm" w="sm" type="none"/>
            <a:tailEnd len="lg" w="lg" type="triangle"/>
          </a:ln>
        </p:spPr>
      </p:cxnSp>
      <p:cxnSp>
        <p:nvCxnSpPr>
          <p:cNvPr id="1035" name="Google Shape;1035;p49"/>
          <p:cNvCxnSpPr>
            <a:endCxn id="1031" idx="1"/>
          </p:cNvCxnSpPr>
          <p:nvPr/>
        </p:nvCxnSpPr>
        <p:spPr>
          <a:xfrm>
            <a:off x="5661245" y="3732911"/>
            <a:ext cx="813300" cy="0"/>
          </a:xfrm>
          <a:prstGeom prst="straightConnector1">
            <a:avLst/>
          </a:prstGeom>
          <a:noFill/>
          <a:ln cap="flat" cmpd="sng" w="60325">
            <a:solidFill>
              <a:srgbClr val="0070C0"/>
            </a:solidFill>
            <a:prstDash val="solid"/>
            <a:miter lim="800000"/>
            <a:headEnd len="sm" w="sm" type="none"/>
            <a:tailEnd len="lg" w="lg" type="triangle"/>
          </a:ln>
        </p:spPr>
      </p:cxnSp>
      <p:cxnSp>
        <p:nvCxnSpPr>
          <p:cNvPr id="1036" name="Google Shape;1036;p49"/>
          <p:cNvCxnSpPr>
            <a:stCxn id="1026" idx="3"/>
            <a:endCxn id="1030" idx="1"/>
          </p:cNvCxnSpPr>
          <p:nvPr/>
        </p:nvCxnSpPr>
        <p:spPr>
          <a:xfrm flipH="1" rot="10800000">
            <a:off x="5661138" y="2456710"/>
            <a:ext cx="813300" cy="1276200"/>
          </a:xfrm>
          <a:prstGeom prst="straightConnector1">
            <a:avLst/>
          </a:prstGeom>
          <a:noFill/>
          <a:ln cap="flat" cmpd="sng" w="60325">
            <a:solidFill>
              <a:srgbClr val="0070C0"/>
            </a:solidFill>
            <a:prstDash val="solid"/>
            <a:miter lim="800000"/>
            <a:headEnd len="sm" w="sm" type="none"/>
            <a:tailEnd len="lg" w="lg" type="triangle"/>
          </a:ln>
        </p:spPr>
      </p:cxnSp>
      <p:cxnSp>
        <p:nvCxnSpPr>
          <p:cNvPr id="1037" name="Google Shape;1037;p49"/>
          <p:cNvCxnSpPr>
            <a:stCxn id="1026" idx="3"/>
            <a:endCxn id="1032" idx="1"/>
          </p:cNvCxnSpPr>
          <p:nvPr/>
        </p:nvCxnSpPr>
        <p:spPr>
          <a:xfrm>
            <a:off x="5661138" y="3732910"/>
            <a:ext cx="813300" cy="1358100"/>
          </a:xfrm>
          <a:prstGeom prst="straightConnector1">
            <a:avLst/>
          </a:prstGeom>
          <a:noFill/>
          <a:ln cap="flat" cmpd="sng" w="60325">
            <a:solidFill>
              <a:srgbClr val="0070C0"/>
            </a:solidFill>
            <a:prstDash val="solid"/>
            <a:miter lim="800000"/>
            <a:headEnd len="sm" w="sm" type="none"/>
            <a:tailEnd len="lg" w="lg" type="triangle"/>
          </a:ln>
        </p:spPr>
      </p:cxnSp>
      <p:cxnSp>
        <p:nvCxnSpPr>
          <p:cNvPr id="1038" name="Google Shape;1038;p49"/>
          <p:cNvCxnSpPr/>
          <p:nvPr/>
        </p:nvCxnSpPr>
        <p:spPr>
          <a:xfrm rot="5400000">
            <a:off x="3976921" y="2847084"/>
            <a:ext cx="642895" cy="0"/>
          </a:xfrm>
          <a:prstGeom prst="straightConnector1">
            <a:avLst/>
          </a:prstGeom>
          <a:noFill/>
          <a:ln cap="flat" cmpd="sng" w="60325">
            <a:solidFill>
              <a:srgbClr val="0070C0"/>
            </a:solidFill>
            <a:prstDash val="solid"/>
            <a:miter lim="800000"/>
            <a:headEnd len="sm" w="sm" type="none"/>
            <a:tailEnd len="lg" w="lg" type="triangle"/>
          </a:ln>
        </p:spPr>
      </p:cxnSp>
      <p:sp>
        <p:nvSpPr>
          <p:cNvPr id="1039" name="Google Shape;1039;p49"/>
          <p:cNvSpPr/>
          <p:nvPr/>
        </p:nvSpPr>
        <p:spPr>
          <a:xfrm>
            <a:off x="3111123" y="4800411"/>
            <a:ext cx="2374490" cy="1358169"/>
          </a:xfrm>
          <a:prstGeom prst="rect">
            <a:avLst/>
          </a:prstGeom>
          <a:solidFill>
            <a:srgbClr val="2F5496"/>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Tratado internacional adoptado en la Cumbre de la Tierra</a:t>
            </a:r>
            <a:endParaRPr/>
          </a:p>
        </p:txBody>
      </p:sp>
      <p:cxnSp>
        <p:nvCxnSpPr>
          <p:cNvPr id="1040" name="Google Shape;1040;p49"/>
          <p:cNvCxnSpPr/>
          <p:nvPr/>
        </p:nvCxnSpPr>
        <p:spPr>
          <a:xfrm flipH="1" rot="10800000">
            <a:off x="4293671" y="4260164"/>
            <a:ext cx="9394" cy="540249"/>
          </a:xfrm>
          <a:prstGeom prst="straightConnector1">
            <a:avLst/>
          </a:prstGeom>
          <a:noFill/>
          <a:ln cap="flat" cmpd="sng" w="60325">
            <a:solidFill>
              <a:srgbClr val="0070C0"/>
            </a:solidFill>
            <a:prstDash val="solid"/>
            <a:miter lim="800000"/>
            <a:headEnd len="sm" w="sm" type="none"/>
            <a:tailEnd len="lg" w="lg" type="triangl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50"/>
          <p:cNvSpPr txBox="1"/>
          <p:nvPr>
            <p:ph type="title"/>
          </p:nvPr>
        </p:nvSpPr>
        <p:spPr>
          <a:xfrm>
            <a:off x="906110" y="422794"/>
            <a:ext cx="92024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s-ES" sz="4000">
                <a:latin typeface="Calibri"/>
                <a:ea typeface="Calibri"/>
                <a:cs typeface="Calibri"/>
                <a:sym typeface="Calibri"/>
              </a:rPr>
              <a:t>PROTECCIÓN DE LA BIODIVERSIDAD</a:t>
            </a:r>
            <a:endParaRPr sz="4000"/>
          </a:p>
        </p:txBody>
      </p:sp>
      <p:cxnSp>
        <p:nvCxnSpPr>
          <p:cNvPr id="1047" name="Google Shape;1047;p50"/>
          <p:cNvCxnSpPr/>
          <p:nvPr/>
        </p:nvCxnSpPr>
        <p:spPr>
          <a:xfrm>
            <a:off x="-8878" y="1251747"/>
            <a:ext cx="8673484" cy="0"/>
          </a:xfrm>
          <a:prstGeom prst="straightConnector1">
            <a:avLst/>
          </a:prstGeom>
          <a:noFill/>
          <a:ln cap="flat" cmpd="sng" w="9525">
            <a:solidFill>
              <a:srgbClr val="B3C544"/>
            </a:solidFill>
            <a:prstDash val="solid"/>
            <a:miter lim="800000"/>
            <a:headEnd len="sm" w="sm" type="none"/>
            <a:tailEnd len="sm" w="sm" type="none"/>
          </a:ln>
        </p:spPr>
      </p:cxnSp>
      <p:sp>
        <p:nvSpPr>
          <p:cNvPr id="1048" name="Google Shape;1048;p50"/>
          <p:cNvSpPr txBox="1"/>
          <p:nvPr/>
        </p:nvSpPr>
        <p:spPr>
          <a:xfrm>
            <a:off x="6729273" y="6468173"/>
            <a:ext cx="4758432" cy="443933"/>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rgbClr val="BFBFBF"/>
              </a:buClr>
              <a:buSzPts val="1400"/>
              <a:buFont typeface="Arial"/>
              <a:buNone/>
            </a:pPr>
            <a:r>
              <a:rPr b="1" lang="es-ES" sz="1400">
                <a:solidFill>
                  <a:srgbClr val="BFBFBF"/>
                </a:solidFill>
                <a:latin typeface="Calibri"/>
                <a:ea typeface="Calibri"/>
                <a:cs typeface="Calibri"/>
                <a:sym typeface="Calibri"/>
              </a:rPr>
              <a:t>Sostenibilidad Aplicada al Sistema Productivo</a:t>
            </a:r>
            <a:endParaRPr/>
          </a:p>
        </p:txBody>
      </p:sp>
      <p:sp>
        <p:nvSpPr>
          <p:cNvPr id="1049" name="Google Shape;1049;p50">
            <a:hlinkClick r:id="rId3"/>
          </p:cNvPr>
          <p:cNvSpPr/>
          <p:nvPr/>
        </p:nvSpPr>
        <p:spPr>
          <a:xfrm>
            <a:off x="3752608" y="2050055"/>
            <a:ext cx="3509447" cy="1054509"/>
          </a:xfrm>
          <a:prstGeom prst="roundRect">
            <a:avLst>
              <a:gd fmla="val 16667" name="adj"/>
            </a:avLst>
          </a:prstGeom>
          <a:solidFill>
            <a:srgbClr val="548135"/>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200">
                <a:solidFill>
                  <a:schemeClr val="lt1"/>
                </a:solidFill>
                <a:latin typeface="Calibri"/>
                <a:ea typeface="Calibri"/>
                <a:cs typeface="Calibri"/>
                <a:sym typeface="Calibri"/>
              </a:rPr>
              <a:t>MARCO MUNDIAL DE LA DIVERSIDAD BIOLÓGICA POSTERIOR A 2020</a:t>
            </a:r>
            <a:endParaRPr/>
          </a:p>
        </p:txBody>
      </p:sp>
      <p:sp>
        <p:nvSpPr>
          <p:cNvPr id="1050" name="Google Shape;1050;p50"/>
          <p:cNvSpPr txBox="1"/>
          <p:nvPr/>
        </p:nvSpPr>
        <p:spPr>
          <a:xfrm>
            <a:off x="906110" y="2392643"/>
            <a:ext cx="237411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Actualmente en vigor</a:t>
            </a:r>
            <a:endParaRPr/>
          </a:p>
        </p:txBody>
      </p:sp>
      <p:sp>
        <p:nvSpPr>
          <p:cNvPr id="1051" name="Google Shape;1051;p50"/>
          <p:cNvSpPr/>
          <p:nvPr/>
        </p:nvSpPr>
        <p:spPr>
          <a:xfrm>
            <a:off x="6384990" y="4170381"/>
            <a:ext cx="3386741" cy="2246421"/>
          </a:xfrm>
          <a:prstGeom prst="foldedCorner">
            <a:avLst>
              <a:gd fmla="val 16667" name="adj"/>
            </a:avLst>
          </a:prstGeom>
          <a:solidFill>
            <a:srgbClr val="C4E0B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Lograr que la biodiversidad se valore, restaure, conserve y utilice de forma racional, manteniendo los servicios ecosistémicos y la salud del planeta en beneficio de todos.</a:t>
            </a:r>
            <a:endParaRPr/>
          </a:p>
        </p:txBody>
      </p:sp>
      <p:sp>
        <p:nvSpPr>
          <p:cNvPr id="1052" name="Google Shape;1052;p50"/>
          <p:cNvSpPr txBox="1"/>
          <p:nvPr/>
        </p:nvSpPr>
        <p:spPr>
          <a:xfrm>
            <a:off x="7794171" y="2050055"/>
            <a:ext cx="330925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dk1"/>
                </a:solidFill>
                <a:latin typeface="Calibri"/>
                <a:ea typeface="Calibri"/>
                <a:cs typeface="Calibri"/>
                <a:sym typeface="Calibri"/>
              </a:rPr>
              <a:t>También llamado </a:t>
            </a:r>
            <a:r>
              <a:rPr b="1" i="0" lang="es-ES" sz="1800">
                <a:solidFill>
                  <a:srgbClr val="212529"/>
                </a:solidFill>
                <a:highlight>
                  <a:srgbClr val="FFFFFF"/>
                </a:highlight>
                <a:latin typeface="Arial"/>
                <a:ea typeface="Arial"/>
                <a:cs typeface="Arial"/>
                <a:sym typeface="Arial"/>
              </a:rPr>
              <a:t>Marco Mundial de Biodiversidad de Kunming-Montreal</a:t>
            </a:r>
            <a:endParaRPr b="1" sz="1800">
              <a:solidFill>
                <a:schemeClr val="dk1"/>
              </a:solidFill>
              <a:latin typeface="Calibri"/>
              <a:ea typeface="Calibri"/>
              <a:cs typeface="Calibri"/>
              <a:sym typeface="Calibri"/>
            </a:endParaRPr>
          </a:p>
        </p:txBody>
      </p:sp>
      <p:sp>
        <p:nvSpPr>
          <p:cNvPr id="1053" name="Google Shape;1053;p50"/>
          <p:cNvSpPr txBox="1"/>
          <p:nvPr/>
        </p:nvSpPr>
        <p:spPr>
          <a:xfrm>
            <a:off x="420914" y="5965371"/>
            <a:ext cx="211908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Vídeo Explicativo</a:t>
            </a:r>
            <a:endParaRPr sz="1800">
              <a:solidFill>
                <a:schemeClr val="dk1"/>
              </a:solidFill>
              <a:latin typeface="Calibri"/>
              <a:ea typeface="Calibri"/>
              <a:cs typeface="Calibri"/>
              <a:sym typeface="Calibri"/>
            </a:endParaRPr>
          </a:p>
        </p:txBody>
      </p:sp>
      <p:sp>
        <p:nvSpPr>
          <p:cNvPr id="1054" name="Google Shape;1054;p50"/>
          <p:cNvSpPr/>
          <p:nvPr/>
        </p:nvSpPr>
        <p:spPr>
          <a:xfrm>
            <a:off x="1976284" y="3553741"/>
            <a:ext cx="2624275" cy="862188"/>
          </a:xfrm>
          <a:prstGeom prst="foldedCorner">
            <a:avLst>
              <a:gd fmla="val 16667" name="adj"/>
            </a:avLst>
          </a:prstGeom>
          <a:solidFill>
            <a:srgbClr val="C4E0B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Revertir la pérdida global de biodiversidad</a:t>
            </a:r>
            <a:endParaRPr/>
          </a:p>
        </p:txBody>
      </p:sp>
      <p:sp>
        <p:nvSpPr>
          <p:cNvPr id="1055" name="Google Shape;1055;p50"/>
          <p:cNvSpPr/>
          <p:nvPr/>
        </p:nvSpPr>
        <p:spPr>
          <a:xfrm>
            <a:off x="5257915" y="3193052"/>
            <a:ext cx="469718" cy="1960430"/>
          </a:xfrm>
          <a:prstGeom prst="downArrow">
            <a:avLst>
              <a:gd fmla="val 50000" name="adj1"/>
              <a:gd fmla="val 50000" name="adj2"/>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6" name="Google Shape;1056;p50"/>
          <p:cNvSpPr/>
          <p:nvPr/>
        </p:nvSpPr>
        <p:spPr>
          <a:xfrm>
            <a:off x="4970206" y="3844726"/>
            <a:ext cx="1125794" cy="280219"/>
          </a:xfrm>
          <a:prstGeom prst="snip2DiagRect">
            <a:avLst>
              <a:gd fmla="val 0" name="adj1"/>
              <a:gd fmla="val 16667" name="adj2"/>
            </a:avLst>
          </a:prstGeom>
          <a:solidFill>
            <a:srgbClr val="7570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2030</a:t>
            </a:r>
            <a:endParaRPr/>
          </a:p>
        </p:txBody>
      </p:sp>
      <p:sp>
        <p:nvSpPr>
          <p:cNvPr id="1057" name="Google Shape;1057;p50"/>
          <p:cNvSpPr/>
          <p:nvPr/>
        </p:nvSpPr>
        <p:spPr>
          <a:xfrm>
            <a:off x="4929877" y="5153482"/>
            <a:ext cx="1125794" cy="280219"/>
          </a:xfrm>
          <a:prstGeom prst="snip2DiagRect">
            <a:avLst>
              <a:gd fmla="val 0" name="adj1"/>
              <a:gd fmla="val 16667" name="adj2"/>
            </a:avLst>
          </a:prstGeom>
          <a:solidFill>
            <a:srgbClr val="7570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2000">
                <a:solidFill>
                  <a:schemeClr val="lt1"/>
                </a:solidFill>
                <a:latin typeface="Calibri"/>
                <a:ea typeface="Calibri"/>
                <a:cs typeface="Calibri"/>
                <a:sym typeface="Calibri"/>
              </a:rPr>
              <a:t>2050</a:t>
            </a:r>
            <a:endParaRPr/>
          </a:p>
        </p:txBody>
      </p:sp>
      <p:cxnSp>
        <p:nvCxnSpPr>
          <p:cNvPr id="1058" name="Google Shape;1058;p50"/>
          <p:cNvCxnSpPr>
            <a:stCxn id="1057" idx="0"/>
            <a:endCxn id="1051" idx="1"/>
          </p:cNvCxnSpPr>
          <p:nvPr/>
        </p:nvCxnSpPr>
        <p:spPr>
          <a:xfrm>
            <a:off x="6055671" y="5293592"/>
            <a:ext cx="329400" cy="0"/>
          </a:xfrm>
          <a:prstGeom prst="straightConnector1">
            <a:avLst/>
          </a:prstGeom>
          <a:noFill/>
          <a:ln cap="flat" cmpd="sng" w="44450">
            <a:solidFill>
              <a:srgbClr val="385623"/>
            </a:solidFill>
            <a:prstDash val="solid"/>
            <a:miter lim="800000"/>
            <a:headEnd len="sm" w="sm" type="none"/>
            <a:tailEnd len="sm" w="sm" type="none"/>
          </a:ln>
        </p:spPr>
      </p:cxnSp>
      <p:cxnSp>
        <p:nvCxnSpPr>
          <p:cNvPr id="1059" name="Google Shape;1059;p50"/>
          <p:cNvCxnSpPr/>
          <p:nvPr/>
        </p:nvCxnSpPr>
        <p:spPr>
          <a:xfrm>
            <a:off x="4600558" y="3984835"/>
            <a:ext cx="329319" cy="0"/>
          </a:xfrm>
          <a:prstGeom prst="straightConnector1">
            <a:avLst/>
          </a:prstGeom>
          <a:noFill/>
          <a:ln cap="flat" cmpd="sng" w="44450">
            <a:solidFill>
              <a:srgbClr val="385623"/>
            </a:solidFill>
            <a:prstDash val="solid"/>
            <a:miter lim="800000"/>
            <a:headEnd len="sm" w="sm" type="none"/>
            <a:tailEnd len="sm" w="sm"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44831896cd_0_507"/>
          <p:cNvSpPr txBox="1"/>
          <p:nvPr>
            <p:ph type="title"/>
          </p:nvPr>
        </p:nvSpPr>
        <p:spPr>
          <a:xfrm>
            <a:off x="2190800" y="2180400"/>
            <a:ext cx="7810500" cy="2497200"/>
          </a:xfrm>
          <a:prstGeom prst="rect">
            <a:avLst/>
          </a:prstGeom>
        </p:spPr>
        <p:txBody>
          <a:bodyPr anchorCtr="0" anchor="ctr" bIns="121900" lIns="121900" spcFirstLastPara="1" rIns="121900" wrap="square" tIns="121900">
            <a:normAutofit/>
          </a:bodyPr>
          <a:lstStyle/>
          <a:p>
            <a:pPr indent="0" lvl="0" marL="0" rtl="0" algn="ctr">
              <a:spcBef>
                <a:spcPts val="0"/>
              </a:spcBef>
              <a:spcAft>
                <a:spcPts val="0"/>
              </a:spcAft>
              <a:buNone/>
            </a:pPr>
            <a:r>
              <a:rPr lang="es-ES"/>
              <a:t>FIN DE LA UD2</a:t>
            </a:r>
            <a:endParaRPr/>
          </a:p>
        </p:txBody>
      </p:sp>
      <p:sp>
        <p:nvSpPr>
          <p:cNvPr id="1066" name="Google Shape;1066;g344831896cd_0_507"/>
          <p:cNvSpPr txBox="1"/>
          <p:nvPr/>
        </p:nvSpPr>
        <p:spPr>
          <a:xfrm>
            <a:off x="0" y="6526975"/>
            <a:ext cx="121920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800">
                <a:solidFill>
                  <a:schemeClr val="dk2"/>
                </a:solidFill>
              </a:rPr>
              <a:t>Materiales extraídos de SOSTENIBILIDAD APLICADA AL SISTEMA PRODUCTIVO de Asunción León Blasco</a:t>
            </a:r>
            <a:endParaRPr sz="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008AAB"/>
      </a:dk1>
      <a:lt1>
        <a:srgbClr val="FFFFFF"/>
      </a:lt1>
      <a:dk2>
        <a:srgbClr val="211261"/>
      </a:dk2>
      <a:lt2>
        <a:srgbClr val="3CB4E5"/>
      </a:lt2>
      <a:accent1>
        <a:srgbClr val="008AAB"/>
      </a:accent1>
      <a:accent2>
        <a:srgbClr val="3CB4E5"/>
      </a:accent2>
      <a:accent3>
        <a:srgbClr val="211261"/>
      </a:accent3>
      <a:accent4>
        <a:srgbClr val="ED127B"/>
      </a:accent4>
      <a:accent5>
        <a:srgbClr val="40B93C"/>
      </a:accent5>
      <a:accent6>
        <a:srgbClr val="000000"/>
      </a:accent6>
      <a:hlink>
        <a:srgbClr val="ED127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2024-04-15T10:19:16Z</dcterms:created>
  <dc:creator>Rosa Castillo</dc:creator>
</cp:coreProperties>
</file>