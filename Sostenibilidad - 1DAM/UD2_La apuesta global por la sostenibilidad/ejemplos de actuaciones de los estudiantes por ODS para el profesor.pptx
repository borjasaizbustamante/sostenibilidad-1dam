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h1/NhC61W4S809nTFSn15Kzd0Ni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customschemas.google.com/relationships/presentationmetadata" Target="metadata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E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" name="Google Shape;24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Relationship Id="rId4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Relationship Id="rId4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Relationship Id="rId4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Relationship Id="rId4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Relationship Id="rId4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Relationship Id="rId4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Relationship Id="rId4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Relationship Id="rId4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Relationship Id="rId4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Relationship Id="rId4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jpg"/><Relationship Id="rId4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jp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>
            <p:ph type="title"/>
          </p:nvPr>
        </p:nvSpPr>
        <p:spPr>
          <a:xfrm>
            <a:off x="906110" y="422794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es-ES" sz="4000">
                <a:latin typeface="Calibri"/>
                <a:ea typeface="Calibri"/>
                <a:cs typeface="Calibri"/>
                <a:sym typeface="Calibri"/>
              </a:rPr>
              <a:t>ODS 1: FIN DE LA POBREZA</a:t>
            </a:r>
            <a:endParaRPr sz="4000"/>
          </a:p>
        </p:txBody>
      </p:sp>
      <p:cxnSp>
        <p:nvCxnSpPr>
          <p:cNvPr id="90" name="Google Shape;90;p1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Imagen que contiene Logotipo&#10;&#10;Descripción generada automáticamente" id="91" name="Google Shape;9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08555" y="350080"/>
            <a:ext cx="1300884" cy="72264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i="0" lang="es-ES" sz="14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pic>
        <p:nvPicPr>
          <p:cNvPr id="93" name="Google Shape;93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60000" y="1432910"/>
            <a:ext cx="2004068" cy="19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"/>
          <p:cNvSpPr txBox="1"/>
          <p:nvPr/>
        </p:nvSpPr>
        <p:spPr>
          <a:xfrm>
            <a:off x="2371990" y="1434786"/>
            <a:ext cx="4839971" cy="461665"/>
          </a:xfrm>
          <a:prstGeom prst="rect">
            <a:avLst/>
          </a:prstGeom>
          <a:solidFill>
            <a:srgbClr val="D21837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¿Cómo contribuir al ODS 1?</a:t>
            </a:r>
            <a:endParaRPr/>
          </a:p>
        </p:txBody>
      </p:sp>
      <p:sp>
        <p:nvSpPr>
          <p:cNvPr id="95" name="Google Shape;95;p1"/>
          <p:cNvSpPr txBox="1"/>
          <p:nvPr/>
        </p:nvSpPr>
        <p:spPr>
          <a:xfrm>
            <a:off x="457200" y="2286006"/>
            <a:ext cx="22565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24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Algunas ideas</a:t>
            </a:r>
            <a:endParaRPr/>
          </a:p>
        </p:txBody>
      </p:sp>
      <p:sp>
        <p:nvSpPr>
          <p:cNvPr id="96" name="Google Shape;96;p1"/>
          <p:cNvSpPr txBox="1"/>
          <p:nvPr/>
        </p:nvSpPr>
        <p:spPr>
          <a:xfrm>
            <a:off x="1047136" y="3222528"/>
            <a:ext cx="8126361" cy="36009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Participar en acciones de voluntariado con ONG que trabajen con colectivos vulnerables.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Apadrinar a un niño o niña para que tenga acceso a la comida y la educación.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Comprar productos de comercio justo para que esté garantizada la retribución suficiente a los productores.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Haz donaciones a entidades benéficas.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 txBox="1"/>
          <p:nvPr>
            <p:ph type="title"/>
          </p:nvPr>
        </p:nvSpPr>
        <p:spPr>
          <a:xfrm>
            <a:off x="906110" y="422794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es-ES" sz="4000">
                <a:latin typeface="Calibri"/>
                <a:ea typeface="Calibri"/>
                <a:cs typeface="Calibri"/>
                <a:sym typeface="Calibri"/>
              </a:rPr>
              <a:t>ODS 2: HAMBRE CERO</a:t>
            </a:r>
            <a:endParaRPr sz="4000"/>
          </a:p>
        </p:txBody>
      </p:sp>
      <p:cxnSp>
        <p:nvCxnSpPr>
          <p:cNvPr id="103" name="Google Shape;103;p2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Imagen que contiene Logotipo&#10;&#10;Descripción generada automáticamente" id="104" name="Google Shape;10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08555" y="350080"/>
            <a:ext cx="1300884" cy="722646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sp>
        <p:nvSpPr>
          <p:cNvPr id="106" name="Google Shape;106;p2"/>
          <p:cNvSpPr txBox="1"/>
          <p:nvPr/>
        </p:nvSpPr>
        <p:spPr>
          <a:xfrm>
            <a:off x="2371990" y="1434786"/>
            <a:ext cx="4839971" cy="461665"/>
          </a:xfrm>
          <a:prstGeom prst="rect">
            <a:avLst/>
          </a:prstGeom>
          <a:solidFill>
            <a:srgbClr val="D2A000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¿Cómo contribuir al ODS 2?</a:t>
            </a:r>
            <a:endParaRPr/>
          </a:p>
        </p:txBody>
      </p:sp>
      <p:sp>
        <p:nvSpPr>
          <p:cNvPr id="107" name="Google Shape;107;p2"/>
          <p:cNvSpPr txBox="1"/>
          <p:nvPr/>
        </p:nvSpPr>
        <p:spPr>
          <a:xfrm>
            <a:off x="457200" y="2551473"/>
            <a:ext cx="22565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Algunas ideas</a:t>
            </a:r>
            <a:endParaRPr/>
          </a:p>
        </p:txBody>
      </p:sp>
      <p:pic>
        <p:nvPicPr>
          <p:cNvPr id="108" name="Google Shape;108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60000" y="1449000"/>
            <a:ext cx="1969087" cy="19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"/>
          <p:cNvSpPr txBox="1"/>
          <p:nvPr/>
        </p:nvSpPr>
        <p:spPr>
          <a:xfrm>
            <a:off x="1047136" y="3222528"/>
            <a:ext cx="8318090" cy="3139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Reducir y, a ser posible, eliminar el desperdicio de comida.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Hacer donaciones a bancos de alimentos.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Comprar directamente a los agricultores de proximidad.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Documentarse sobre el tema del hambre y sus causas para conocer las causas de este problema.</a:t>
            </a:r>
            <a:endParaRPr/>
          </a:p>
          <a:p>
            <a:pPr indent="-158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"/>
          <p:cNvSpPr txBox="1"/>
          <p:nvPr>
            <p:ph type="title"/>
          </p:nvPr>
        </p:nvSpPr>
        <p:spPr>
          <a:xfrm>
            <a:off x="906110" y="422794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es-ES" sz="4000">
                <a:latin typeface="Calibri"/>
                <a:ea typeface="Calibri"/>
                <a:cs typeface="Calibri"/>
                <a:sym typeface="Calibri"/>
              </a:rPr>
              <a:t>ODS 3: SALUD Y BIENESTAR</a:t>
            </a:r>
            <a:endParaRPr sz="4000"/>
          </a:p>
        </p:txBody>
      </p:sp>
      <p:cxnSp>
        <p:nvCxnSpPr>
          <p:cNvPr id="116" name="Google Shape;116;p3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Imagen que contiene Logotipo&#10;&#10;Descripción generada automáticamente" id="117" name="Google Shape;11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08555" y="350080"/>
            <a:ext cx="1300884" cy="722646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3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sp>
        <p:nvSpPr>
          <p:cNvPr id="119" name="Google Shape;119;p3"/>
          <p:cNvSpPr txBox="1"/>
          <p:nvPr/>
        </p:nvSpPr>
        <p:spPr>
          <a:xfrm>
            <a:off x="2371990" y="1434786"/>
            <a:ext cx="4839971" cy="461665"/>
          </a:xfrm>
          <a:prstGeom prst="rect">
            <a:avLst/>
          </a:prstGeom>
          <a:solidFill>
            <a:srgbClr val="548135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¿Cómo contribuir al ODS 3?</a:t>
            </a:r>
            <a:endParaRPr/>
          </a:p>
        </p:txBody>
      </p:sp>
      <p:sp>
        <p:nvSpPr>
          <p:cNvPr id="120" name="Google Shape;120;p3"/>
          <p:cNvSpPr txBox="1"/>
          <p:nvPr/>
        </p:nvSpPr>
        <p:spPr>
          <a:xfrm>
            <a:off x="457200" y="2271257"/>
            <a:ext cx="22565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Algunas ideas</a:t>
            </a:r>
            <a:endParaRPr/>
          </a:p>
        </p:txBody>
      </p:sp>
      <p:sp>
        <p:nvSpPr>
          <p:cNvPr id="121" name="Google Shape;121;p3"/>
          <p:cNvSpPr txBox="1"/>
          <p:nvPr/>
        </p:nvSpPr>
        <p:spPr>
          <a:xfrm>
            <a:off x="1047136" y="2839072"/>
            <a:ext cx="8318090" cy="37379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fumar ni consumir alcohol ni sustancias estupefacientes.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Llevar una dieta sana y equilibrada.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Practicar deporte regularmente y llevar una vida activa.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Tomar precauciones para prevenir el contagio de enfermedades infecciosas.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Duerme y descansa lo suficiente.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Informarse sobre enfermedades mentales y participar en campañas de sensibilización.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Amamantar a los bebés, el mejor alimento y el más natural.</a:t>
            </a:r>
            <a:endParaRPr/>
          </a:p>
        </p:txBody>
      </p:sp>
      <p:pic>
        <p:nvPicPr>
          <p:cNvPr id="122" name="Google Shape;12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61544" y="1415038"/>
            <a:ext cx="2002721" cy="198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"/>
          <p:cNvSpPr txBox="1"/>
          <p:nvPr>
            <p:ph type="title"/>
          </p:nvPr>
        </p:nvSpPr>
        <p:spPr>
          <a:xfrm>
            <a:off x="906110" y="422794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es-ES" sz="4000">
                <a:latin typeface="Calibri"/>
                <a:ea typeface="Calibri"/>
                <a:cs typeface="Calibri"/>
                <a:sym typeface="Calibri"/>
              </a:rPr>
              <a:t>ODS 4 : EDUCACIÓN DE CALIDAD</a:t>
            </a:r>
            <a:endParaRPr sz="4000"/>
          </a:p>
        </p:txBody>
      </p:sp>
      <p:cxnSp>
        <p:nvCxnSpPr>
          <p:cNvPr id="129" name="Google Shape;129;p4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Imagen que contiene Logotipo&#10;&#10;Descripción generada automáticamente" id="130" name="Google Shape;13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08555" y="350080"/>
            <a:ext cx="1300884" cy="722646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4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pic>
        <p:nvPicPr>
          <p:cNvPr id="132" name="Google Shape;13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86391" y="1545126"/>
            <a:ext cx="2005625" cy="19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4"/>
          <p:cNvSpPr txBox="1"/>
          <p:nvPr/>
        </p:nvSpPr>
        <p:spPr>
          <a:xfrm>
            <a:off x="2371990" y="1434786"/>
            <a:ext cx="4839971" cy="461665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¿Cómo contribuir al ODS 4?</a:t>
            </a:r>
            <a:endParaRPr/>
          </a:p>
        </p:txBody>
      </p:sp>
      <p:sp>
        <p:nvSpPr>
          <p:cNvPr id="134" name="Google Shape;134;p4"/>
          <p:cNvSpPr txBox="1"/>
          <p:nvPr/>
        </p:nvSpPr>
        <p:spPr>
          <a:xfrm>
            <a:off x="457200" y="2271257"/>
            <a:ext cx="22565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Algunas ideas</a:t>
            </a:r>
            <a:endParaRPr/>
          </a:p>
        </p:txBody>
      </p:sp>
      <p:sp>
        <p:nvSpPr>
          <p:cNvPr id="135" name="Google Shape;135;p4"/>
          <p:cNvSpPr txBox="1"/>
          <p:nvPr/>
        </p:nvSpPr>
        <p:spPr>
          <a:xfrm>
            <a:off x="1047136" y="2839072"/>
            <a:ext cx="8318090" cy="37379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Aprovechar la oportunidad y privilegio de poder estudiar implicándose y tratando de alcanzar el mayor rendimiento.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Donar libros, material escolar y de tecnología a bibliotecas, escuelas públicas y/o entidades benéficas.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Participar en acciones de voluntariado que enseñen a los más desfavorecidos: clases de lengua para inmigrantes, repaso, TIC, etc.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Tutorizar a un niño o niña que tenga dificultades en los estudios.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Escribir a políticos pidiendo que inviertan en educación.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"/>
          <p:cNvSpPr txBox="1"/>
          <p:nvPr>
            <p:ph type="title"/>
          </p:nvPr>
        </p:nvSpPr>
        <p:spPr>
          <a:xfrm>
            <a:off x="906110" y="422794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es-ES" sz="4000">
                <a:latin typeface="Calibri"/>
                <a:ea typeface="Calibri"/>
                <a:cs typeface="Calibri"/>
                <a:sym typeface="Calibri"/>
              </a:rPr>
              <a:t>ODS 5: IGUALDAD DE GÉNERO</a:t>
            </a:r>
            <a:endParaRPr sz="4000"/>
          </a:p>
        </p:txBody>
      </p:sp>
      <p:cxnSp>
        <p:nvCxnSpPr>
          <p:cNvPr id="142" name="Google Shape;142;p5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Imagen que contiene Logotipo&#10;&#10;Descripción generada automáticamente" id="143" name="Google Shape;14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08555" y="350080"/>
            <a:ext cx="1300884" cy="722646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5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pic>
        <p:nvPicPr>
          <p:cNvPr id="145" name="Google Shape;14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60000" y="1440000"/>
            <a:ext cx="1980000" cy="19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5"/>
          <p:cNvSpPr txBox="1"/>
          <p:nvPr/>
        </p:nvSpPr>
        <p:spPr>
          <a:xfrm>
            <a:off x="457200" y="2286006"/>
            <a:ext cx="22565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Algunas ideas</a:t>
            </a:r>
            <a:endParaRPr/>
          </a:p>
        </p:txBody>
      </p:sp>
      <p:sp>
        <p:nvSpPr>
          <p:cNvPr id="147" name="Google Shape;147;p5"/>
          <p:cNvSpPr txBox="1"/>
          <p:nvPr/>
        </p:nvSpPr>
        <p:spPr>
          <a:xfrm>
            <a:off x="1047136" y="3222528"/>
            <a:ext cx="8126361" cy="3139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Educar en la igualdad.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Compartir responsabilidades domésticas.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Denunciar la discriminación y la violencia de género.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Apoyar políticas y movimientos por la igualdad de género.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Empoderar a las niñas.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Apoyar productos y servicios que empoderen a las mujeres.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 txBox="1"/>
          <p:nvPr/>
        </p:nvSpPr>
        <p:spPr>
          <a:xfrm>
            <a:off x="2371990" y="1434786"/>
            <a:ext cx="4839971" cy="461665"/>
          </a:xfrm>
          <a:prstGeom prst="rect">
            <a:avLst/>
          </a:prstGeom>
          <a:solidFill>
            <a:srgbClr val="FA1706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¿Cómo contribuir al ODS 5?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"/>
          <p:cNvSpPr txBox="1"/>
          <p:nvPr>
            <p:ph type="title"/>
          </p:nvPr>
        </p:nvSpPr>
        <p:spPr>
          <a:xfrm>
            <a:off x="906110" y="422794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es-ES" sz="4000">
                <a:latin typeface="Calibri"/>
                <a:ea typeface="Calibri"/>
                <a:cs typeface="Calibri"/>
                <a:sym typeface="Calibri"/>
              </a:rPr>
              <a:t>ODS 6: AGUA LIMPIA Y SANEAMIENTO</a:t>
            </a:r>
            <a:endParaRPr sz="4000"/>
          </a:p>
        </p:txBody>
      </p:sp>
      <p:cxnSp>
        <p:nvCxnSpPr>
          <p:cNvPr id="155" name="Google Shape;155;p6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Imagen que contiene Logotipo&#10;&#10;Descripción generada automáticamente" id="156" name="Google Shape;15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08555" y="350080"/>
            <a:ext cx="1300884" cy="722646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6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pic>
        <p:nvPicPr>
          <p:cNvPr id="158" name="Google Shape;15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60000" y="1440000"/>
            <a:ext cx="2028010" cy="19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6"/>
          <p:cNvSpPr txBox="1"/>
          <p:nvPr/>
        </p:nvSpPr>
        <p:spPr>
          <a:xfrm>
            <a:off x="457200" y="2286006"/>
            <a:ext cx="22565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Algunas ideas</a:t>
            </a:r>
            <a:endParaRPr/>
          </a:p>
        </p:txBody>
      </p:sp>
      <p:sp>
        <p:nvSpPr>
          <p:cNvPr id="160" name="Google Shape;160;p6"/>
          <p:cNvSpPr txBox="1"/>
          <p:nvPr/>
        </p:nvSpPr>
        <p:spPr>
          <a:xfrm>
            <a:off x="1047136" y="3222528"/>
            <a:ext cx="8126361" cy="36009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Reduce el consumo de agua en el hogar.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Reutiliza el agua (agua de fregar para regar las plantas).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emplear el inodoro para tirar desechos.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Participar en campañas de limpieza de ríos y playas.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emplear productos químicos contaminantes para el agua.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 conscientes de la huella hídrica de los productos que consumimos y reducir o suprimir los que requieran mucha agua.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 txBox="1"/>
          <p:nvPr/>
        </p:nvSpPr>
        <p:spPr>
          <a:xfrm>
            <a:off x="2371990" y="1434786"/>
            <a:ext cx="4839971" cy="461665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¿Cómo contribuir al ODS 6?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"/>
          <p:cNvSpPr txBox="1"/>
          <p:nvPr>
            <p:ph type="title"/>
          </p:nvPr>
        </p:nvSpPr>
        <p:spPr>
          <a:xfrm>
            <a:off x="906110" y="422794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s-ES" sz="3200">
                <a:latin typeface="Calibri"/>
                <a:ea typeface="Calibri"/>
                <a:cs typeface="Calibri"/>
                <a:sym typeface="Calibri"/>
              </a:rPr>
              <a:t>ODS 7: ENERGÍA ASEQUIBLE Y NO CONTAMINANTE</a:t>
            </a:r>
            <a:endParaRPr sz="3200"/>
          </a:p>
        </p:txBody>
      </p:sp>
      <p:cxnSp>
        <p:nvCxnSpPr>
          <p:cNvPr id="168" name="Google Shape;168;p7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Imagen que contiene Logotipo&#10;&#10;Descripción generada automáticamente" id="169" name="Google Shape;16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08555" y="350080"/>
            <a:ext cx="1300884" cy="72264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7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pic>
        <p:nvPicPr>
          <p:cNvPr id="171" name="Google Shape;17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60000" y="1438164"/>
            <a:ext cx="1980000" cy="19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7"/>
          <p:cNvSpPr txBox="1"/>
          <p:nvPr/>
        </p:nvSpPr>
        <p:spPr>
          <a:xfrm>
            <a:off x="457200" y="2286006"/>
            <a:ext cx="22565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Algunas ideas</a:t>
            </a:r>
            <a:endParaRPr/>
          </a:p>
        </p:txBody>
      </p:sp>
      <p:sp>
        <p:nvSpPr>
          <p:cNvPr id="173" name="Google Shape;173;p7"/>
          <p:cNvSpPr txBox="1"/>
          <p:nvPr/>
        </p:nvSpPr>
        <p:spPr>
          <a:xfrm>
            <a:off x="1047136" y="3222528"/>
            <a:ext cx="8126361" cy="36009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Apagar los electrodomésticos y lámparas que no se empleen.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Elegir electrodomésticos y lámparas de bajo consumo.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Instalar paneles solares en el domicilio.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Comprar energía verde.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Caminar o usar la bicicleta.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Optar por el transporte público.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Invertir en bonos verdes.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 txBox="1"/>
          <p:nvPr/>
        </p:nvSpPr>
        <p:spPr>
          <a:xfrm>
            <a:off x="2371990" y="1434786"/>
            <a:ext cx="4839971" cy="461665"/>
          </a:xfrm>
          <a:prstGeom prst="rect">
            <a:avLst/>
          </a:prstGeom>
          <a:solidFill>
            <a:srgbClr val="FFCA21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¿Cómo contribuir al ODS 7?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n que contiene Logotipo&#10;&#10;Descripción generada automáticamente" id="180" name="Google Shape;18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08555" y="350080"/>
            <a:ext cx="1300884" cy="722646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8"/>
          <p:cNvSpPr txBox="1"/>
          <p:nvPr>
            <p:ph type="title"/>
          </p:nvPr>
        </p:nvSpPr>
        <p:spPr>
          <a:xfrm>
            <a:off x="648929" y="422794"/>
            <a:ext cx="9719187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s-ES" sz="3200">
                <a:latin typeface="Calibri"/>
                <a:ea typeface="Calibri"/>
                <a:cs typeface="Calibri"/>
                <a:sym typeface="Calibri"/>
              </a:rPr>
              <a:t>ODS 8: TRABAJO DECENTE Y CRECIMIENTO ECONÓMICO</a:t>
            </a:r>
            <a:endParaRPr sz="3200"/>
          </a:p>
        </p:txBody>
      </p:sp>
      <p:cxnSp>
        <p:nvCxnSpPr>
          <p:cNvPr id="182" name="Google Shape;182;p8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3" name="Google Shape;183;p8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pic>
        <p:nvPicPr>
          <p:cNvPr id="184" name="Google Shape;18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60000" y="1584000"/>
            <a:ext cx="1968939" cy="19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8"/>
          <p:cNvSpPr txBox="1"/>
          <p:nvPr/>
        </p:nvSpPr>
        <p:spPr>
          <a:xfrm>
            <a:off x="457200" y="2286006"/>
            <a:ext cx="22565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Algunas ideas</a:t>
            </a:r>
            <a:endParaRPr/>
          </a:p>
        </p:txBody>
      </p:sp>
      <p:sp>
        <p:nvSpPr>
          <p:cNvPr id="186" name="Google Shape;186;p8"/>
          <p:cNvSpPr txBox="1"/>
          <p:nvPr/>
        </p:nvSpPr>
        <p:spPr>
          <a:xfrm>
            <a:off x="1047136" y="3222528"/>
            <a:ext cx="8126361" cy="36009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Defender los derechos laborales y denunciar su violación.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Comprar productos de comercio justo y/o locales.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Fomentar la innovación.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Promover y apoyar el emprendimiento en las proximidades.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Apoyar a trabajadores vulnerables y denunciar los casos de sobreexplotación y/o explotación infantil.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Premiar el trabajo bien hecho.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 txBox="1"/>
          <p:nvPr/>
        </p:nvSpPr>
        <p:spPr>
          <a:xfrm>
            <a:off x="2371990" y="1434786"/>
            <a:ext cx="4839971" cy="461665"/>
          </a:xfrm>
          <a:prstGeom prst="rect">
            <a:avLst/>
          </a:prstGeom>
          <a:solidFill>
            <a:srgbClr val="C02A60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¿Cómo contribuir al ODS 8?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"/>
          <p:cNvSpPr txBox="1"/>
          <p:nvPr>
            <p:ph type="title"/>
          </p:nvPr>
        </p:nvSpPr>
        <p:spPr>
          <a:xfrm>
            <a:off x="589936" y="422794"/>
            <a:ext cx="951862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s-ES" sz="3200">
                <a:latin typeface="Calibri"/>
                <a:ea typeface="Calibri"/>
                <a:cs typeface="Calibri"/>
                <a:sym typeface="Calibri"/>
              </a:rPr>
              <a:t>ODS 9: INDUSTRIA, INNOVACIÓN E INFRAESTRUCTURA</a:t>
            </a:r>
            <a:endParaRPr sz="3200"/>
          </a:p>
        </p:txBody>
      </p:sp>
      <p:cxnSp>
        <p:nvCxnSpPr>
          <p:cNvPr id="194" name="Google Shape;194;p9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Imagen que contiene Logotipo&#10;&#10;Descripción generada automáticamente" id="195" name="Google Shape;19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08555" y="350080"/>
            <a:ext cx="1300884" cy="722646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9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pic>
        <p:nvPicPr>
          <p:cNvPr id="197" name="Google Shape;197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60000" y="1440000"/>
            <a:ext cx="1980000" cy="19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9"/>
          <p:cNvSpPr txBox="1"/>
          <p:nvPr/>
        </p:nvSpPr>
        <p:spPr>
          <a:xfrm>
            <a:off x="457200" y="2286006"/>
            <a:ext cx="22565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Algunas ideas</a:t>
            </a:r>
            <a:endParaRPr/>
          </a:p>
        </p:txBody>
      </p:sp>
      <p:sp>
        <p:nvSpPr>
          <p:cNvPr id="199" name="Google Shape;199;p9"/>
          <p:cNvSpPr txBox="1"/>
          <p:nvPr/>
        </p:nvSpPr>
        <p:spPr>
          <a:xfrm>
            <a:off x="1047136" y="3222528"/>
            <a:ext cx="8126361" cy="36009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Apoyar la realización de infraestructuras sostenibles.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Cuidar y usar adecuadamente las infraestructuras.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Consumir de forma responsable.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Reducir, reutilizar y reciclar.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Apoyar la economía circular con la separación de residuos.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Informarte sobre prácticas sostenibles.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Colaborar y/o invertir en proyectos innovadores y sostenibles.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 txBox="1"/>
          <p:nvPr/>
        </p:nvSpPr>
        <p:spPr>
          <a:xfrm>
            <a:off x="2371990" y="1434786"/>
            <a:ext cx="4839971" cy="461665"/>
          </a:xfrm>
          <a:prstGeom prst="rect">
            <a:avLst/>
          </a:prstGeom>
          <a:solidFill>
            <a:srgbClr val="EC6B24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¿Cómo contribuir al ODS 9?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"/>
          <p:cNvSpPr txBox="1"/>
          <p:nvPr>
            <p:ph type="title"/>
          </p:nvPr>
        </p:nvSpPr>
        <p:spPr>
          <a:xfrm>
            <a:off x="906110" y="422794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es-ES" sz="3600">
                <a:latin typeface="Calibri"/>
                <a:ea typeface="Calibri"/>
                <a:cs typeface="Calibri"/>
                <a:sym typeface="Calibri"/>
              </a:rPr>
              <a:t>ODS 10: REDUCCIÓN DE LAS DESIGUALDADES</a:t>
            </a:r>
            <a:endParaRPr sz="3600"/>
          </a:p>
        </p:txBody>
      </p:sp>
      <p:cxnSp>
        <p:nvCxnSpPr>
          <p:cNvPr id="207" name="Google Shape;207;p10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Imagen que contiene Logotipo&#10;&#10;Descripción generada automáticamente" id="208" name="Google Shape;20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08555" y="350080"/>
            <a:ext cx="1300884" cy="722646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0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pic>
        <p:nvPicPr>
          <p:cNvPr id="210" name="Google Shape;210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60000" y="1440000"/>
            <a:ext cx="1993424" cy="19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0"/>
          <p:cNvSpPr txBox="1"/>
          <p:nvPr/>
        </p:nvSpPr>
        <p:spPr>
          <a:xfrm>
            <a:off x="457200" y="2286006"/>
            <a:ext cx="22565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Algunas ideas</a:t>
            </a:r>
            <a:endParaRPr/>
          </a:p>
        </p:txBody>
      </p:sp>
      <p:sp>
        <p:nvSpPr>
          <p:cNvPr id="212" name="Google Shape;212;p10"/>
          <p:cNvSpPr txBox="1"/>
          <p:nvPr/>
        </p:nvSpPr>
        <p:spPr>
          <a:xfrm>
            <a:off x="1047136" y="3222528"/>
            <a:ext cx="8126361" cy="32762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Respetar las diferencias y promover la igualdad e inclusión en el aula, el trabajo o cualquier situación.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Fomentar la empatía y la solidaridad.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Apoyar y participar en campañas.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Aprender habilidades para tratar a personas con diversidad funcional.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Apoyar proyectos que contribuyan a la reducción de desigualdades entre países.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 txBox="1"/>
          <p:nvPr/>
        </p:nvSpPr>
        <p:spPr>
          <a:xfrm>
            <a:off x="2371990" y="1434786"/>
            <a:ext cx="4839971" cy="461665"/>
          </a:xfrm>
          <a:prstGeom prst="rect">
            <a:avLst/>
          </a:prstGeom>
          <a:solidFill>
            <a:srgbClr val="D33970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¿Cómo contribuir al ODS 10?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1"/>
          <p:cNvSpPr txBox="1"/>
          <p:nvPr>
            <p:ph type="title"/>
          </p:nvPr>
        </p:nvSpPr>
        <p:spPr>
          <a:xfrm>
            <a:off x="906110" y="422794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s-ES" sz="3200">
                <a:latin typeface="Calibri"/>
                <a:ea typeface="Calibri"/>
                <a:cs typeface="Calibri"/>
                <a:sym typeface="Calibri"/>
              </a:rPr>
              <a:t>ODS 11: CIUDADES Y COMUNIDADES SOSTENIBLES</a:t>
            </a:r>
            <a:endParaRPr sz="3200"/>
          </a:p>
        </p:txBody>
      </p:sp>
      <p:cxnSp>
        <p:nvCxnSpPr>
          <p:cNvPr id="220" name="Google Shape;220;p11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Imagen que contiene Logotipo&#10;&#10;Descripción generada automáticamente" id="221" name="Google Shape;22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08555" y="350080"/>
            <a:ext cx="1300884" cy="722646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11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pic>
        <p:nvPicPr>
          <p:cNvPr id="223" name="Google Shape;22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60000" y="1440000"/>
            <a:ext cx="1968144" cy="19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1"/>
          <p:cNvSpPr txBox="1"/>
          <p:nvPr/>
        </p:nvSpPr>
        <p:spPr>
          <a:xfrm>
            <a:off x="457200" y="2286006"/>
            <a:ext cx="22565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Algunas ideas</a:t>
            </a:r>
            <a:endParaRPr/>
          </a:p>
        </p:txBody>
      </p:sp>
      <p:sp>
        <p:nvSpPr>
          <p:cNvPr id="225" name="Google Shape;225;p11"/>
          <p:cNvSpPr txBox="1"/>
          <p:nvPr/>
        </p:nvSpPr>
        <p:spPr>
          <a:xfrm>
            <a:off x="1047136" y="3222528"/>
            <a:ext cx="8126361" cy="32762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Involucrarse en proyectos relacionados con la sostenibilidad de tu entorno.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Llenar de plantas locales tu balcón.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Participar en comunidades de huertos urbanos.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Utilizar el transporte público, la bicicleta o caminar para desplazarse.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Separar los residuos y depositarlos en los contenedores adecuados.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Organizar talleres o campañas de concienciación.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1"/>
          <p:cNvSpPr txBox="1"/>
          <p:nvPr/>
        </p:nvSpPr>
        <p:spPr>
          <a:xfrm>
            <a:off x="2371990" y="1434786"/>
            <a:ext cx="4839971" cy="461665"/>
          </a:xfrm>
          <a:prstGeom prst="rect">
            <a:avLst/>
          </a:prstGeom>
          <a:solidFill>
            <a:srgbClr val="EF8731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¿Cómo contribuir al ODS 11?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2"/>
          <p:cNvSpPr txBox="1"/>
          <p:nvPr>
            <p:ph type="title"/>
          </p:nvPr>
        </p:nvSpPr>
        <p:spPr>
          <a:xfrm>
            <a:off x="906110" y="422794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s-ES" sz="3200">
                <a:latin typeface="Calibri"/>
                <a:ea typeface="Calibri"/>
                <a:cs typeface="Calibri"/>
                <a:sym typeface="Calibri"/>
              </a:rPr>
              <a:t>ODS 12: PRODUCCIÓN Y CONSUMO RESPONSABLE</a:t>
            </a:r>
            <a:endParaRPr sz="3200"/>
          </a:p>
        </p:txBody>
      </p:sp>
      <p:cxnSp>
        <p:nvCxnSpPr>
          <p:cNvPr id="233" name="Google Shape;233;p12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Imagen que contiene Logotipo&#10;&#10;Descripción generada automáticamente" id="234" name="Google Shape;23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08555" y="350080"/>
            <a:ext cx="1300884" cy="722646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12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pic>
        <p:nvPicPr>
          <p:cNvPr id="236" name="Google Shape;236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60000" y="1440000"/>
            <a:ext cx="1967724" cy="19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2"/>
          <p:cNvSpPr txBox="1"/>
          <p:nvPr/>
        </p:nvSpPr>
        <p:spPr>
          <a:xfrm>
            <a:off x="457200" y="2286006"/>
            <a:ext cx="22565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Algunas ideas</a:t>
            </a:r>
            <a:endParaRPr/>
          </a:p>
        </p:txBody>
      </p:sp>
      <p:sp>
        <p:nvSpPr>
          <p:cNvPr id="238" name="Google Shape;238;p12"/>
          <p:cNvSpPr txBox="1"/>
          <p:nvPr/>
        </p:nvSpPr>
        <p:spPr>
          <a:xfrm>
            <a:off x="1047136" y="3222528"/>
            <a:ext cx="8126361" cy="32762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Ahorrar agua y energía.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Reducir el consumo de lo innecesario, reutilizar las cosas y, en última instancia, reciclarlas,¡.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emplear productos de un solo uso: botellas de agua de plástico, vasos de café, pañuelos de papel, etc.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Aplicar prácticas sostenibles en el ámbito profesional.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Realizar campañas de concienciación.</a:t>
            </a:r>
            <a:endParaRPr/>
          </a:p>
        </p:txBody>
      </p:sp>
      <p:sp>
        <p:nvSpPr>
          <p:cNvPr id="239" name="Google Shape;239;p12"/>
          <p:cNvSpPr txBox="1"/>
          <p:nvPr/>
        </p:nvSpPr>
        <p:spPr>
          <a:xfrm>
            <a:off x="2371990" y="1434786"/>
            <a:ext cx="4839971" cy="461665"/>
          </a:xfrm>
          <a:prstGeom prst="rect">
            <a:avLst/>
          </a:prstGeom>
          <a:solidFill>
            <a:srgbClr val="B88C00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¿Cómo contribuir al ODS 12?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3"/>
          <p:cNvSpPr txBox="1"/>
          <p:nvPr>
            <p:ph type="title"/>
          </p:nvPr>
        </p:nvSpPr>
        <p:spPr>
          <a:xfrm>
            <a:off x="906110" y="422794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es-ES" sz="4000">
                <a:latin typeface="Calibri"/>
                <a:ea typeface="Calibri"/>
                <a:cs typeface="Calibri"/>
                <a:sym typeface="Calibri"/>
              </a:rPr>
              <a:t>ODS 13: ACCIÓN POR EL CLIMA</a:t>
            </a:r>
            <a:endParaRPr sz="4000"/>
          </a:p>
        </p:txBody>
      </p:sp>
      <p:cxnSp>
        <p:nvCxnSpPr>
          <p:cNvPr id="246" name="Google Shape;246;p13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Imagen que contiene Logotipo&#10;&#10;Descripción generada automáticamente" id="247" name="Google Shape;24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08555" y="350080"/>
            <a:ext cx="1300884" cy="722646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13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pic>
        <p:nvPicPr>
          <p:cNvPr id="249" name="Google Shape;24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60000" y="1440000"/>
            <a:ext cx="1980000" cy="19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3"/>
          <p:cNvSpPr txBox="1"/>
          <p:nvPr/>
        </p:nvSpPr>
        <p:spPr>
          <a:xfrm>
            <a:off x="457200" y="2286006"/>
            <a:ext cx="22565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Algunas ideas</a:t>
            </a:r>
            <a:endParaRPr/>
          </a:p>
        </p:txBody>
      </p:sp>
      <p:sp>
        <p:nvSpPr>
          <p:cNvPr id="251" name="Google Shape;251;p13"/>
          <p:cNvSpPr txBox="1"/>
          <p:nvPr/>
        </p:nvSpPr>
        <p:spPr>
          <a:xfrm>
            <a:off x="1047136" y="3222528"/>
            <a:ext cx="8126361" cy="32762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Ahorrar de energía y emplearla procedente de fuentes renovables.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Sustituir elementos que requieran combustión por otros eléctricos.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Aplicar soluciones de movilidad sostenible.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Participar en campañas de reforestación.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Consumir más alimentos de origen vegetal y reducir o suprimir los de origen animal.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Prepararse para el futuro climático.</a:t>
            </a:r>
            <a:endParaRPr/>
          </a:p>
        </p:txBody>
      </p:sp>
      <p:sp>
        <p:nvSpPr>
          <p:cNvPr id="252" name="Google Shape;252;p13"/>
          <p:cNvSpPr txBox="1"/>
          <p:nvPr/>
        </p:nvSpPr>
        <p:spPr>
          <a:xfrm>
            <a:off x="2371990" y="1434786"/>
            <a:ext cx="4839971" cy="461665"/>
          </a:xfrm>
          <a:prstGeom prst="rect">
            <a:avLst/>
          </a:prstGeom>
          <a:solidFill>
            <a:srgbClr val="327E46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¿Cómo contribuir al ODS 13?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4"/>
          <p:cNvSpPr txBox="1"/>
          <p:nvPr>
            <p:ph type="title"/>
          </p:nvPr>
        </p:nvSpPr>
        <p:spPr>
          <a:xfrm>
            <a:off x="906110" y="422794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es-ES" sz="4000">
                <a:latin typeface="Calibri"/>
                <a:ea typeface="Calibri"/>
                <a:cs typeface="Calibri"/>
                <a:sym typeface="Calibri"/>
              </a:rPr>
              <a:t>ODS 14: VIDA SUBMARINA</a:t>
            </a:r>
            <a:endParaRPr sz="4000"/>
          </a:p>
        </p:txBody>
      </p:sp>
      <p:cxnSp>
        <p:nvCxnSpPr>
          <p:cNvPr id="259" name="Google Shape;259;p14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Imagen que contiene Logotipo&#10;&#10;Descripción generada automáticamente" id="260" name="Google Shape;26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08555" y="350080"/>
            <a:ext cx="1300884" cy="722646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14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pic>
        <p:nvPicPr>
          <p:cNvPr id="262" name="Google Shape;26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60000" y="1440000"/>
            <a:ext cx="1980000" cy="19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14"/>
          <p:cNvSpPr txBox="1"/>
          <p:nvPr/>
        </p:nvSpPr>
        <p:spPr>
          <a:xfrm>
            <a:off x="457200" y="2286006"/>
            <a:ext cx="22565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Algunas ideas</a:t>
            </a:r>
            <a:endParaRPr/>
          </a:p>
        </p:txBody>
      </p:sp>
      <p:sp>
        <p:nvSpPr>
          <p:cNvPr id="264" name="Google Shape;264;p14"/>
          <p:cNvSpPr txBox="1"/>
          <p:nvPr/>
        </p:nvSpPr>
        <p:spPr>
          <a:xfrm>
            <a:off x="1047136" y="3222528"/>
            <a:ext cx="8126361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Reducir al máximo el consumo de plásticos, especialmente los de un solo uso.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Participar en campañas de limpieza de ríos y playas.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Evitar los productos contaminantes.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Participar en movimientos de conservación.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4"/>
          <p:cNvSpPr txBox="1"/>
          <p:nvPr/>
        </p:nvSpPr>
        <p:spPr>
          <a:xfrm>
            <a:off x="2371990" y="1434786"/>
            <a:ext cx="4839971" cy="461665"/>
          </a:xfrm>
          <a:prstGeom prst="rect">
            <a:avLst/>
          </a:prstGeom>
          <a:solidFill>
            <a:srgbClr val="0390E7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¿Cómo contribuir al ODS 14?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5"/>
          <p:cNvSpPr txBox="1"/>
          <p:nvPr>
            <p:ph type="title"/>
          </p:nvPr>
        </p:nvSpPr>
        <p:spPr>
          <a:xfrm>
            <a:off x="906110" y="422794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b="1" lang="es-ES" sz="3600">
                <a:latin typeface="Calibri"/>
                <a:ea typeface="Calibri"/>
                <a:cs typeface="Calibri"/>
                <a:sym typeface="Calibri"/>
              </a:rPr>
              <a:t>ODS 15: VIDA DE ECOSISTEMAS TERRESTRES</a:t>
            </a:r>
            <a:endParaRPr sz="3600"/>
          </a:p>
        </p:txBody>
      </p:sp>
      <p:cxnSp>
        <p:nvCxnSpPr>
          <p:cNvPr id="272" name="Google Shape;272;p15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Imagen que contiene Logotipo&#10;&#10;Descripción generada automáticamente" id="273" name="Google Shape;27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08555" y="350080"/>
            <a:ext cx="1300884" cy="722646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15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pic>
        <p:nvPicPr>
          <p:cNvPr id="275" name="Google Shape;27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60000" y="1440000"/>
            <a:ext cx="1805023" cy="19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15"/>
          <p:cNvSpPr txBox="1"/>
          <p:nvPr/>
        </p:nvSpPr>
        <p:spPr>
          <a:xfrm>
            <a:off x="457200" y="2286006"/>
            <a:ext cx="22565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Algunas ideas</a:t>
            </a:r>
            <a:endParaRPr/>
          </a:p>
        </p:txBody>
      </p:sp>
      <p:sp>
        <p:nvSpPr>
          <p:cNvPr id="277" name="Google Shape;277;p15"/>
          <p:cNvSpPr txBox="1"/>
          <p:nvPr/>
        </p:nvSpPr>
        <p:spPr>
          <a:xfrm>
            <a:off x="1047136" y="3119292"/>
            <a:ext cx="8126361" cy="37379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Conocer las especies locales e informarte sobre formas de protección de la biodiversidad.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Consumir productos procedentes de la agricultura ecológica y/o regenerativa.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Adoptar medidas de consumo responsable, especialmente minimizando los que requieran recursos naturales.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Evitar el uso de productos tóxicos.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Participar en campañas de reforestación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5"/>
          <p:cNvSpPr txBox="1"/>
          <p:nvPr/>
        </p:nvSpPr>
        <p:spPr>
          <a:xfrm>
            <a:off x="2371990" y="1434786"/>
            <a:ext cx="4839971" cy="461665"/>
          </a:xfrm>
          <a:prstGeom prst="rect">
            <a:avLst/>
          </a:prstGeom>
          <a:solidFill>
            <a:srgbClr val="03B53A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¿Cómo contribuir al ODS 15?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6"/>
          <p:cNvSpPr txBox="1"/>
          <p:nvPr>
            <p:ph type="title"/>
          </p:nvPr>
        </p:nvSpPr>
        <p:spPr>
          <a:xfrm>
            <a:off x="906110" y="422794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s-ES" sz="3200">
                <a:latin typeface="Calibri"/>
                <a:ea typeface="Calibri"/>
                <a:cs typeface="Calibri"/>
                <a:sym typeface="Calibri"/>
              </a:rPr>
              <a:t>ODS 16: PAZ, JUSTICIA E INSTITUCIONES SÓLIDAS</a:t>
            </a:r>
            <a:endParaRPr sz="3200"/>
          </a:p>
        </p:txBody>
      </p:sp>
      <p:cxnSp>
        <p:nvCxnSpPr>
          <p:cNvPr id="285" name="Google Shape;285;p16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Imagen que contiene Logotipo&#10;&#10;Descripción generada automáticamente" id="286" name="Google Shape;28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08555" y="350080"/>
            <a:ext cx="1300884" cy="722646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16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pic>
        <p:nvPicPr>
          <p:cNvPr id="288" name="Google Shape;28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60000" y="1440000"/>
            <a:ext cx="1778138" cy="19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16"/>
          <p:cNvSpPr txBox="1"/>
          <p:nvPr/>
        </p:nvSpPr>
        <p:spPr>
          <a:xfrm>
            <a:off x="457200" y="2286006"/>
            <a:ext cx="22565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Algunas ideas</a:t>
            </a:r>
            <a:endParaRPr/>
          </a:p>
        </p:txBody>
      </p:sp>
      <p:sp>
        <p:nvSpPr>
          <p:cNvPr id="290" name="Google Shape;290;p16"/>
          <p:cNvSpPr txBox="1"/>
          <p:nvPr/>
        </p:nvSpPr>
        <p:spPr>
          <a:xfrm>
            <a:off x="1047136" y="3222528"/>
            <a:ext cx="8126361" cy="3139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Practicar el diálogo y el consenso en case para lograr un clima adecuado.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Conocer los Derechos Humanos y unirse a campañas en su defensa.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Promover la transparencia en su entorno.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Defender la libertad de expresión y la protección de los derechos civiles.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Participar en proyectos internacionales que promuevan la paz y la justicia.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Formarse en habilidades de resolución de conflictos.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6"/>
          <p:cNvSpPr txBox="1"/>
          <p:nvPr/>
        </p:nvSpPr>
        <p:spPr>
          <a:xfrm>
            <a:off x="2371990" y="1434786"/>
            <a:ext cx="4839971" cy="461665"/>
          </a:xfrm>
          <a:prstGeom prst="rect">
            <a:avLst/>
          </a:prstGeom>
          <a:solidFill>
            <a:srgbClr val="215483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¿Cómo contribuir al ODS 16?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7"/>
          <p:cNvSpPr txBox="1"/>
          <p:nvPr>
            <p:ph type="title"/>
          </p:nvPr>
        </p:nvSpPr>
        <p:spPr>
          <a:xfrm>
            <a:off x="906110" y="422794"/>
            <a:ext cx="92024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s-ES" sz="3200">
                <a:latin typeface="Calibri"/>
                <a:ea typeface="Calibri"/>
                <a:cs typeface="Calibri"/>
                <a:sym typeface="Calibri"/>
              </a:rPr>
              <a:t>ODS 17: ALIANZAS PARA LOGRAR LOS OBJETIVOS</a:t>
            </a:r>
            <a:endParaRPr sz="3200"/>
          </a:p>
        </p:txBody>
      </p:sp>
      <p:cxnSp>
        <p:nvCxnSpPr>
          <p:cNvPr id="298" name="Google Shape;298;p17"/>
          <p:cNvCxnSpPr/>
          <p:nvPr/>
        </p:nvCxnSpPr>
        <p:spPr>
          <a:xfrm>
            <a:off x="-8878" y="1251747"/>
            <a:ext cx="8673484" cy="0"/>
          </a:xfrm>
          <a:prstGeom prst="straightConnector1">
            <a:avLst/>
          </a:prstGeom>
          <a:noFill/>
          <a:ln cap="flat" cmpd="sng" w="9525">
            <a:solidFill>
              <a:srgbClr val="B3C544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Imagen que contiene Logotipo&#10;&#10;Descripción generada automáticamente" id="299" name="Google Shape;29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08555" y="350080"/>
            <a:ext cx="1300884" cy="722646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17"/>
          <p:cNvSpPr txBox="1"/>
          <p:nvPr/>
        </p:nvSpPr>
        <p:spPr>
          <a:xfrm>
            <a:off x="6729273" y="6468173"/>
            <a:ext cx="4758432" cy="443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1400"/>
              <a:buFont typeface="Arial"/>
              <a:buNone/>
            </a:pPr>
            <a:r>
              <a:rPr b="1" lang="es-ES" sz="14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Sostenibilidad Aplicada al Sistema Productivo</a:t>
            </a:r>
            <a:endParaRPr/>
          </a:p>
        </p:txBody>
      </p:sp>
      <p:pic>
        <p:nvPicPr>
          <p:cNvPr id="301" name="Google Shape;30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60000" y="1461026"/>
            <a:ext cx="1796190" cy="198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17"/>
          <p:cNvSpPr txBox="1"/>
          <p:nvPr/>
        </p:nvSpPr>
        <p:spPr>
          <a:xfrm>
            <a:off x="457200" y="2286006"/>
            <a:ext cx="22565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Algunas ideas</a:t>
            </a:r>
            <a:endParaRPr/>
          </a:p>
        </p:txBody>
      </p:sp>
      <p:sp>
        <p:nvSpPr>
          <p:cNvPr id="303" name="Google Shape;303;p17"/>
          <p:cNvSpPr txBox="1"/>
          <p:nvPr/>
        </p:nvSpPr>
        <p:spPr>
          <a:xfrm>
            <a:off x="1047136" y="3222528"/>
            <a:ext cx="8126361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7"/>
          <p:cNvSpPr txBox="1"/>
          <p:nvPr/>
        </p:nvSpPr>
        <p:spPr>
          <a:xfrm>
            <a:off x="1047136" y="3222528"/>
            <a:ext cx="8126361" cy="3139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Participar en alianzas, redes colaborativas y/o programas locales, nacionales o internacionales relacionados con los restantes ODS.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Crear grupos de trabajo sobre desarrollo sostenible en el centro educativo y colaborar con grupos de otros centros.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Capacitarse en temas relacionados sobre desarrollo sostenible para poder aplicar los conocimientos en el entorno profesional y personal.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7"/>
          <p:cNvSpPr txBox="1"/>
          <p:nvPr/>
        </p:nvSpPr>
        <p:spPr>
          <a:xfrm>
            <a:off x="2371990" y="1434786"/>
            <a:ext cx="4839971" cy="461665"/>
          </a:xfrm>
          <a:prstGeom prst="rect">
            <a:avLst/>
          </a:prstGeom>
          <a:solidFill>
            <a:srgbClr val="1B2A6B"/>
          </a:solidFill>
          <a:ln>
            <a:noFill/>
          </a:ln>
          <a:effectLst>
            <a:outerShdw blurRad="44450" algn="ctr" dir="5400000" dist="27940">
              <a:srgbClr val="000000">
                <a:alpha val="31764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¿Cómo contribuir al ODS 17?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2024-04-15T10:19:16Z</dcterms:created>
  <dc:creator>Rosa Castillo</dc:creator>
</cp:coreProperties>
</file>