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</p:sldIdLst>
  <p:sldSz cy="6858000" cx="12192000"/>
  <p:notesSz cx="6858000" cy="9144000"/>
  <p:embeddedFontLst>
    <p:embeddedFont>
      <p:font typeface="Nunito"/>
      <p:regular r:id="rId56"/>
      <p:bold r:id="rId57"/>
      <p:italic r:id="rId58"/>
      <p:boldItalic r:id="rId59"/>
    </p:embeddedFont>
    <p:embeddedFont>
      <p:font typeface="Maven Pro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2" roundtripDataSignature="AMtx7mgsP0tJ2XJyX1InPr51xotkoJCi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customschemas.google.com/relationships/presentationmetadata" Target="metadata"/><Relationship Id="rId61" Type="http://schemas.openxmlformats.org/officeDocument/2006/relationships/font" Target="fonts/MavenPro-bold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MavenPro-regular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Nunito-bold.fntdata"/><Relationship Id="rId12" Type="http://schemas.openxmlformats.org/officeDocument/2006/relationships/slide" Target="slides/slide8.xml"/><Relationship Id="rId56" Type="http://schemas.openxmlformats.org/officeDocument/2006/relationships/font" Target="fonts/Nunito-regular.fntdata"/><Relationship Id="rId15" Type="http://schemas.openxmlformats.org/officeDocument/2006/relationships/slide" Target="slides/slide11.xml"/><Relationship Id="rId59" Type="http://schemas.openxmlformats.org/officeDocument/2006/relationships/font" Target="fonts/Nunito-boldItalic.fntdata"/><Relationship Id="rId14" Type="http://schemas.openxmlformats.org/officeDocument/2006/relationships/slide" Target="slides/slide10.xml"/><Relationship Id="rId58" Type="http://schemas.openxmlformats.org/officeDocument/2006/relationships/font" Target="fonts/Nunito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2da9fe05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42da9fe05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5" name="Google Shape;79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2" name="Google Shape;81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5" name="Google Shape;82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9" name="Google Shape;83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3" name="Google Shape;88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3" name="Google Shape;89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5" name="Google Shape;90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" name="Google Shape;91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0" name="Google Shape;96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6" name="Google Shape;97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7" name="Google Shape;987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8" name="Google Shape;998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8" name="Google Shape;1008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1" name="Google Shape;1041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6" name="Google Shape;1056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3" name="Google Shape;1073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2da9fe059_1_5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2da9fe059_1_5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g342da9fe059_1_5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42da9fe059_1_258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5" name="Google Shape;15;g342da9fe059_1_2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1853" y="208940"/>
            <a:ext cx="3123360" cy="91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42da9fe059_1_258"/>
          <p:cNvPicPr preferRelativeResize="0"/>
          <p:nvPr/>
        </p:nvPicPr>
        <p:blipFill rotWithShape="1">
          <a:blip r:embed="rId3">
            <a:alphaModFix/>
          </a:blip>
          <a:srcRect b="-16890" l="0" r="-2543" t="0"/>
          <a:stretch/>
        </p:blipFill>
        <p:spPr>
          <a:xfrm>
            <a:off x="8770027" y="271959"/>
            <a:ext cx="2565400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42da9fe059_1_258"/>
          <p:cNvSpPr txBox="1"/>
          <p:nvPr>
            <p:ph type="title"/>
          </p:nvPr>
        </p:nvSpPr>
        <p:spPr>
          <a:xfrm>
            <a:off x="2452200" y="2111800"/>
            <a:ext cx="7287600" cy="26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pic>
        <p:nvPicPr>
          <p:cNvPr id="18" name="Google Shape;18;g342da9fe059_1_2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40244" y="6069333"/>
            <a:ext cx="1495185" cy="5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g342da9fe059_1_258"/>
          <p:cNvSpPr txBox="1"/>
          <p:nvPr>
            <p:ph idx="2" type="title"/>
          </p:nvPr>
        </p:nvSpPr>
        <p:spPr>
          <a:xfrm>
            <a:off x="2577067" y="5422900"/>
            <a:ext cx="72876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unito"/>
              <a:buNone/>
              <a:defRPr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20" name="Google Shape;20;g342da9fe059_1_258"/>
          <p:cNvSpPr txBox="1"/>
          <p:nvPr>
            <p:ph idx="3" type="title"/>
          </p:nvPr>
        </p:nvSpPr>
        <p:spPr>
          <a:xfrm rot="-5400000">
            <a:off x="-2090850" y="3484350"/>
            <a:ext cx="5464500" cy="1282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 type="secHead">
  <p:cSld name="SECTION_HEADER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g342da9fe059_1_266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23" name="Google Shape;23;g342da9fe059_1_266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24" name="Google Shape;24;g342da9fe059_1_266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g342da9fe059_1_266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" name="Google Shape;26;g342da9fe059_1_266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27" name="Google Shape;27;g342da9fe059_1_266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g342da9fe059_1_266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g342da9fe059_1_266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g342da9fe059_1_266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31" name="Google Shape;31;g342da9fe059_1_266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g342da9fe059_1_266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g342da9fe059_1_266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g342da9fe059_1_266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" name="Google Shape;35;g342da9fe059_1_266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36" name="Google Shape;36;g342da9fe059_1_266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37" name="Google Shape;37;g342da9fe059_1_266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g342da9fe059_1_266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" name="Google Shape;39;g342da9fe059_1_266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40" name="Google Shape;40;g342da9fe059_1_266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g342da9fe059_1_266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g342da9fe059_1_266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" name="Google Shape;43;g342da9fe059_1_266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44" name="Google Shape;44;g342da9fe059_1_266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g342da9fe059_1_266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g342da9fe059_1_266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g342da9fe059_1_266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" name="Google Shape;48;g342da9fe059_1_266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49" name="Google Shape;49;g342da9fe059_1_266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g342da9fe059_1_266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g342da9fe059_1_266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g342da9fe059_1_266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g342da9fe059_1_266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" name="Google Shape;54;g342da9fe059_1_266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g342da9fe059_1_266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2da9fe059_1_301"/>
          <p:cNvSpPr txBox="1"/>
          <p:nvPr>
            <p:ph idx="1" type="body"/>
          </p:nvPr>
        </p:nvSpPr>
        <p:spPr>
          <a:xfrm>
            <a:off x="6676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g342da9fe059_1_301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9" name="Google Shape;59;g342da9fe059_1_301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60" name="Google Shape;60;g342da9fe059_1_3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42da9fe059_1_301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2" name="Google Shape;62;g342da9fe059_1_301"/>
          <p:cNvSpPr txBox="1"/>
          <p:nvPr>
            <p:ph type="title"/>
          </p:nvPr>
        </p:nvSpPr>
        <p:spPr>
          <a:xfrm>
            <a:off x="6676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2da9fe059_1_308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5" name="Google Shape;65;g342da9fe059_1_308"/>
          <p:cNvSpPr txBox="1"/>
          <p:nvPr>
            <p:ph idx="1" type="body"/>
          </p:nvPr>
        </p:nvSpPr>
        <p:spPr>
          <a:xfrm>
            <a:off x="651900" y="1952700"/>
            <a:ext cx="49359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6" name="Google Shape;66;g342da9fe059_1_308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67" name="Google Shape;67;g342da9fe059_1_308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68" name="Google Shape;68;g342da9fe059_1_3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42da9fe059_1_308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0" name="Google Shape;70;g342da9fe059_1_308"/>
          <p:cNvSpPr txBox="1"/>
          <p:nvPr>
            <p:ph idx="2" type="body"/>
          </p:nvPr>
        </p:nvSpPr>
        <p:spPr>
          <a:xfrm>
            <a:off x="6572700" y="1952700"/>
            <a:ext cx="49359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2da9fe059_1_316"/>
          <p:cNvSpPr txBox="1"/>
          <p:nvPr>
            <p:ph type="title"/>
          </p:nvPr>
        </p:nvSpPr>
        <p:spPr>
          <a:xfrm>
            <a:off x="715400" y="1706600"/>
            <a:ext cx="5101200" cy="344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3" name="Google Shape;73;g342da9fe059_1_316"/>
          <p:cNvSpPr txBox="1"/>
          <p:nvPr>
            <p:ph idx="1" type="body"/>
          </p:nvPr>
        </p:nvSpPr>
        <p:spPr>
          <a:xfrm>
            <a:off x="6375400" y="1596400"/>
            <a:ext cx="48864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4" name="Google Shape;74;g342da9fe059_1_316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5" name="Google Shape;75;g342da9fe059_1_316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6" name="Google Shape;76;g342da9fe059_1_316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77" name="Google Shape;77;g342da9fe059_1_3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133" y="24100"/>
            <a:ext cx="2804501" cy="734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42da9fe059_1_316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79" name="Google Shape;79;g342da9fe059_1_3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2">
  <p:cSld name="SECTION_HEADER_1_2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g342da9fe059_1_325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82" name="Google Shape;82;g342da9fe059_1_325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83" name="Google Shape;83;g342da9fe059_1_325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g342da9fe059_1_325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" name="Google Shape;85;g342da9fe059_1_325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86" name="Google Shape;86;g342da9fe059_1_325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g342da9fe059_1_325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g342da9fe059_1_325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" name="Google Shape;89;g342da9fe059_1_325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90" name="Google Shape;90;g342da9fe059_1_325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g342da9fe059_1_325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g342da9fe059_1_325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g342da9fe059_1_325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4" name="Google Shape;94;g342da9fe059_1_325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95" name="Google Shape;95;g342da9fe059_1_325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96" name="Google Shape;96;g342da9fe059_1_325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g342da9fe059_1_325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" name="Google Shape;98;g342da9fe059_1_325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99" name="Google Shape;99;g342da9fe059_1_325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g342da9fe059_1_325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g342da9fe059_1_325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" name="Google Shape;102;g342da9fe059_1_325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03" name="Google Shape;103;g342da9fe059_1_325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g342da9fe059_1_325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g342da9fe059_1_325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g342da9fe059_1_325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" name="Google Shape;107;g342da9fe059_1_325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08" name="Google Shape;108;g342da9fe059_1_325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g342da9fe059_1_325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g342da9fe059_1_325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g342da9fe059_1_325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g342da9fe059_1_325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3" name="Google Shape;113;g342da9fe059_1_325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g342da9fe059_1_325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2">
  <p:cSld name="TITLE_AND_TWO_COLUMNS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2da9fe059_1_360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7" name="Google Shape;117;g342da9fe059_1_360"/>
          <p:cNvSpPr txBox="1"/>
          <p:nvPr>
            <p:ph idx="1" type="body"/>
          </p:nvPr>
        </p:nvSpPr>
        <p:spPr>
          <a:xfrm>
            <a:off x="6519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18" name="Google Shape;118;g342da9fe059_1_360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9" name="Google Shape;119;g342da9fe059_1_360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20" name="Google Shape;120;g342da9fe059_1_3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42da9fe059_1_360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3">
  <p:cSld name="SECTION_HEADER_1_1">
    <p:bg>
      <p:bgPr>
        <a:solidFill>
          <a:schemeClr val="lt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g342da9fe059_1_367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124" name="Google Shape;124;g342da9fe059_1_367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25" name="Google Shape;125;g342da9fe059_1_367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g342da9fe059_1_367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" name="Google Shape;127;g342da9fe059_1_367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28" name="Google Shape;128;g342da9fe059_1_367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g342da9fe059_1_367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g342da9fe059_1_367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" name="Google Shape;131;g342da9fe059_1_367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32" name="Google Shape;132;g342da9fe059_1_367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g342da9fe059_1_367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g342da9fe059_1_367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g342da9fe059_1_367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6" name="Google Shape;136;g342da9fe059_1_367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137" name="Google Shape;137;g342da9fe059_1_367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138" name="Google Shape;138;g342da9fe059_1_367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g342da9fe059_1_367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" name="Google Shape;140;g342da9fe059_1_367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141" name="Google Shape;141;g342da9fe059_1_367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g342da9fe059_1_367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g342da9fe059_1_367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" name="Google Shape;144;g342da9fe059_1_367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45" name="Google Shape;145;g342da9fe059_1_367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g342da9fe059_1_367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g342da9fe059_1_367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g342da9fe059_1_367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" name="Google Shape;149;g342da9fe059_1_367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50" name="Google Shape;150;g342da9fe059_1_367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g342da9fe059_1_367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g342da9fe059_1_367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g342da9fe059_1_367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g342da9fe059_1_367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5" name="Google Shape;155;g342da9fe059_1_367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g342da9fe059_1_367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3">
  <p:cSld name="TITLE_AND_TWO_COLUMNS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2da9fe059_1_402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59" name="Google Shape;159;g342da9fe059_1_402"/>
          <p:cNvSpPr txBox="1"/>
          <p:nvPr>
            <p:ph idx="1" type="body"/>
          </p:nvPr>
        </p:nvSpPr>
        <p:spPr>
          <a:xfrm>
            <a:off x="6519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60" name="Google Shape;160;g342da9fe059_1_402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61" name="Google Shape;161;g342da9fe059_1_402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62" name="Google Shape;162;g342da9fe059_1_4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42da9fe059_1_402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4">
  <p:cSld name="SECTION_HEADER_1_1_1">
    <p:bg>
      <p:bgPr>
        <a:solidFill>
          <a:schemeClr val="accent4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g342da9fe059_1_409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166" name="Google Shape;166;g342da9fe059_1_409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67" name="Google Shape;167;g342da9fe059_1_409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g342da9fe059_1_409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g342da9fe059_1_409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70" name="Google Shape;170;g342da9fe059_1_409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g342da9fe059_1_409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g342da9fe059_1_409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" name="Google Shape;173;g342da9fe059_1_409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74" name="Google Shape;174;g342da9fe059_1_409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g342da9fe059_1_409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g342da9fe059_1_409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g342da9fe059_1_409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8" name="Google Shape;178;g342da9fe059_1_409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179" name="Google Shape;179;g342da9fe059_1_409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180" name="Google Shape;180;g342da9fe059_1_409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g342da9fe059_1_409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" name="Google Shape;182;g342da9fe059_1_409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183" name="Google Shape;183;g342da9fe059_1_409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g342da9fe059_1_409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g342da9fe059_1_409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6" name="Google Shape;186;g342da9fe059_1_409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87" name="Google Shape;187;g342da9fe059_1_409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g342da9fe059_1_409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g342da9fe059_1_409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g342da9fe059_1_409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" name="Google Shape;191;g342da9fe059_1_409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92" name="Google Shape;192;g342da9fe059_1_409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g342da9fe059_1_409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g342da9fe059_1_409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g342da9fe059_1_409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g342da9fe059_1_409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7" name="Google Shape;197;g342da9fe059_1_409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g342da9fe059_1_409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4">
  <p:cSld name="TITLE_AND_TWO_COLUMNS_1_1_1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2da9fe059_1_444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01" name="Google Shape;201;g342da9fe059_1_444"/>
          <p:cNvSpPr txBox="1"/>
          <p:nvPr>
            <p:ph idx="1" type="body"/>
          </p:nvPr>
        </p:nvSpPr>
        <p:spPr>
          <a:xfrm>
            <a:off x="6519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02" name="Google Shape;202;g342da9fe059_1_444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03" name="Google Shape;203;g342da9fe059_1_444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204" name="Google Shape;204;g342da9fe059_1_4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42da9fe059_1_444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4 1">
  <p:cSld name="SECTION_HEADER_1_1_1_1">
    <p:bg>
      <p:bgPr>
        <a:solidFill>
          <a:schemeClr val="accent5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g342da9fe059_1_451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208" name="Google Shape;208;g342da9fe059_1_451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209" name="Google Shape;209;g342da9fe059_1_451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g342da9fe059_1_451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" name="Google Shape;211;g342da9fe059_1_451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212" name="Google Shape;212;g342da9fe059_1_451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g342da9fe059_1_451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g342da9fe059_1_451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g342da9fe059_1_451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216" name="Google Shape;216;g342da9fe059_1_451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g342da9fe059_1_451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g342da9fe059_1_451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g342da9fe059_1_451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0" name="Google Shape;220;g342da9fe059_1_451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221" name="Google Shape;221;g342da9fe059_1_451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222" name="Google Shape;222;g342da9fe059_1_451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g342da9fe059_1_451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g342da9fe059_1_451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225" name="Google Shape;225;g342da9fe059_1_451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g342da9fe059_1_451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g342da9fe059_1_451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g342da9fe059_1_451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229" name="Google Shape;229;g342da9fe059_1_451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g342da9fe059_1_451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g342da9fe059_1_451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g342da9fe059_1_451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3" name="Google Shape;233;g342da9fe059_1_451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234" name="Google Shape;234;g342da9fe059_1_451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g342da9fe059_1_451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g342da9fe059_1_451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g342da9fe059_1_451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g342da9fe059_1_451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9" name="Google Shape;239;g342da9fe059_1_451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0" name="Google Shape;240;g342da9fe059_1_451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4 1">
  <p:cSld name="TITLE_AND_TWO_COLUMNS_1_1_1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2da9fe059_1_486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43" name="Google Shape;243;g342da9fe059_1_486"/>
          <p:cNvSpPr txBox="1"/>
          <p:nvPr>
            <p:ph idx="1" type="body"/>
          </p:nvPr>
        </p:nvSpPr>
        <p:spPr>
          <a:xfrm>
            <a:off x="6519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44" name="Google Shape;244;g342da9fe059_1_486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45" name="Google Shape;245;g342da9fe059_1_486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246" name="Google Shape;246;g342da9fe059_1_4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42da9fe059_1_486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TITLE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42da9fe059_1_49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50" name="Google Shape;250;g342da9fe059_1_49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1" name="Google Shape;251;g342da9fe059_1_49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g342da9fe059_1_49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g342da9fe059_1_49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_1">
  <p:cSld name="TITLE_1_1"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42da9fe059_1_499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256" name="Google Shape;256;g342da9fe059_1_4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1853" y="208940"/>
            <a:ext cx="3123360" cy="91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42da9fe059_1_499"/>
          <p:cNvPicPr preferRelativeResize="0"/>
          <p:nvPr/>
        </p:nvPicPr>
        <p:blipFill rotWithShape="1">
          <a:blip r:embed="rId3">
            <a:alphaModFix/>
          </a:blip>
          <a:srcRect b="-16890" l="0" r="-2543" t="0"/>
          <a:stretch/>
        </p:blipFill>
        <p:spPr>
          <a:xfrm>
            <a:off x="8770027" y="271959"/>
            <a:ext cx="2565400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42da9fe059_1_499"/>
          <p:cNvSpPr txBox="1"/>
          <p:nvPr>
            <p:ph type="title"/>
          </p:nvPr>
        </p:nvSpPr>
        <p:spPr>
          <a:xfrm>
            <a:off x="2452200" y="2111800"/>
            <a:ext cx="7287600" cy="26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pic>
        <p:nvPicPr>
          <p:cNvPr id="259" name="Google Shape;259;g342da9fe059_1_4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40244" y="6069333"/>
            <a:ext cx="1495185" cy="5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42da9fe059_1_499"/>
          <p:cNvSpPr txBox="1"/>
          <p:nvPr>
            <p:ph idx="2" type="title"/>
          </p:nvPr>
        </p:nvSpPr>
        <p:spPr>
          <a:xfrm>
            <a:off x="2577067" y="5422900"/>
            <a:ext cx="72876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unito"/>
              <a:buNone/>
              <a:defRPr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261" name="Google Shape;261;g342da9fe059_1_499"/>
          <p:cNvSpPr txBox="1"/>
          <p:nvPr>
            <p:ph idx="3" type="title"/>
          </p:nvPr>
        </p:nvSpPr>
        <p:spPr>
          <a:xfrm rot="-5400000">
            <a:off x="-2090850" y="3484350"/>
            <a:ext cx="5464500" cy="1282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42da9fe059_1_50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4" name="Google Shape;264;g342da9fe059_1_50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65" name="Google Shape;265;g342da9fe059_1_50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g342da9fe059_1_50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g342da9fe059_1_50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42da9fe059_1_25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b="1"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11" name="Google Shape;11;g342da9fe059_1_25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b="1" sz="2000">
                <a:solidFill>
                  <a:schemeClr val="dk2"/>
                </a:solidFill>
              </a:defRPr>
            </a:lvl1pPr>
            <a:lvl2pPr indent="-336550" lvl="1" marL="9144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b="1" sz="1700">
                <a:solidFill>
                  <a:schemeClr val="dk2"/>
                </a:solidFill>
              </a:defRPr>
            </a:lvl2pPr>
            <a:lvl3pPr indent="-323850" lvl="2" marL="13716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3pPr>
            <a:lvl4pPr indent="-323850" lvl="3" marL="18288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sz="1500">
                <a:solidFill>
                  <a:schemeClr val="dk2"/>
                </a:solidFill>
              </a:defRPr>
            </a:lvl4pPr>
            <a:lvl5pPr indent="-323850" lvl="4" marL="22860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5pPr>
            <a:lvl6pPr indent="-3238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6pPr>
            <a:lvl7pPr indent="-3238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sz="1500">
                <a:solidFill>
                  <a:schemeClr val="dk2"/>
                </a:solidFill>
              </a:defRPr>
            </a:lvl7pPr>
            <a:lvl8pPr indent="-3238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8pPr>
            <a:lvl9pPr indent="-3238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42da9fe059_1_254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Wkmk0v2cMK0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B2yyFDApWZk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hyperlink" Target="https://www.youtube.com/watch?v=uDTAYlVSzdM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hyperlink" Target="https://iucn.org/e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b4eLTYUcj7k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unep.org/topics/chemicals-and-pollution-action/pollution-and-health" TargetMode="External"/><Relationship Id="rId4" Type="http://schemas.openxmlformats.org/officeDocument/2006/relationships/hyperlink" Target="https://www.youtube.com/watch?v=7GxfmsyuksQ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hyperlink" Target="https://www.youtube.com/watch?v=FCf9Lkq9osw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5" Type="http://schemas.openxmlformats.org/officeDocument/2006/relationships/hyperlink" Target="https://blogs.worldbank.org/es/opendata/clasificacion-de-los-paises-elaborada-por-el-grupo-banco-mundial-segun-los-niveles-de-ingreso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hyperlink" Target="https://www.mdsocialesa2030.gob.es/derechos-sociales/inclusion/docs/Informe_Indicadores_14_22.pdf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hyperlink" Target="https://www.inmujeres.gob.es/MujerCifras/Informes/Docs/PrincipalesIndicadores2024.pdf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Relationship Id="rId4" Type="http://schemas.openxmlformats.org/officeDocument/2006/relationships/image" Target="../media/image29.png"/><Relationship Id="rId5" Type="http://schemas.openxmlformats.org/officeDocument/2006/relationships/hyperlink" Target="https://data.footprintnetwork.org/#/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youtube.com/watch?v=j-R1tw2Ad9s" TargetMode="External"/><Relationship Id="rId4" Type="http://schemas.openxmlformats.org/officeDocument/2006/relationships/image" Target="../media/image3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Relationship Id="rId4" Type="http://schemas.openxmlformats.org/officeDocument/2006/relationships/hyperlink" Target="https://www.unep.org/interactives/emissions-gap-report/2023/es/#section-1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youtube.com/watch?v=25QlQVnL15M&amp;t=40s" TargetMode="External"/><Relationship Id="rId4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png"/><Relationship Id="rId4" Type="http://schemas.openxmlformats.org/officeDocument/2006/relationships/hyperlink" Target="https://openknowledge.worldbank.org/server/api/core/bitstreams/fc2c02ad-81fe-517e-86e3-13a851a682f5/content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ourworldindata.org/co2-and-greenhouse-gas-emissions" TargetMode="External"/><Relationship Id="rId4" Type="http://schemas.openxmlformats.org/officeDocument/2006/relationships/hyperlink" Target="https://www.climatewatchdata.org/ghg-emissions?breakBy=sector&amp;end_year=2021&amp;start_year=1990" TargetMode="External"/><Relationship Id="rId5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youtube.com/watch?v=VbiRNT_gWUQ&amp;t=146s" TargetMode="External"/><Relationship Id="rId4" Type="http://schemas.openxmlformats.org/officeDocument/2006/relationships/image" Target="../media/image2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6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5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ww.youtube.com/watch?v=yhU_9n46sVw" TargetMode="External"/><Relationship Id="rId4" Type="http://schemas.openxmlformats.org/officeDocument/2006/relationships/hyperlink" Target="https://www.youtube.com/watch?v=7lTi9aFh4V0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42da9fe059_1_0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73" name="Google Shape;273;g342da9fe059_1_0"/>
          <p:cNvSpPr txBox="1"/>
          <p:nvPr>
            <p:ph type="title"/>
          </p:nvPr>
        </p:nvSpPr>
        <p:spPr>
          <a:xfrm>
            <a:off x="2452200" y="2111800"/>
            <a:ext cx="7287600" cy="26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UD1: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acción humana sobre el entorno</a:t>
            </a:r>
            <a:endParaRPr/>
          </a:p>
        </p:txBody>
      </p:sp>
      <p:sp>
        <p:nvSpPr>
          <p:cNvPr id="274" name="Google Shape;274;g342da9fe059_1_0"/>
          <p:cNvSpPr txBox="1"/>
          <p:nvPr>
            <p:ph idx="2" type="title"/>
          </p:nvPr>
        </p:nvSpPr>
        <p:spPr>
          <a:xfrm>
            <a:off x="2577067" y="5422900"/>
            <a:ext cx="72876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solidFill>
                  <a:srgbClr val="211261"/>
                </a:solidFill>
              </a:rPr>
              <a:t>SOSTENIBILIDAD APLICADA AL SISTEMA PRODUCTIV</a:t>
            </a:r>
            <a:r>
              <a:rPr b="1" lang="es-ES">
                <a:solidFill>
                  <a:srgbClr val="211261"/>
                </a:solidFill>
              </a:rPr>
              <a:t>O</a:t>
            </a:r>
            <a:endParaRPr b="1">
              <a:solidFill>
                <a:srgbClr val="21126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0" name="Google Shape;280;p2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281" name="Google Shape;281;p2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2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1.1. LOS PROBLEMAS PLANETARIOS DEL SIGLO XXI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LOS PROBLEMAS PLANETARIOS DEL S. XXI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293" name="Google Shape;293;p3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4" name="Google Shape;294;p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295" name="Google Shape;2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7344" y="1632916"/>
            <a:ext cx="10078857" cy="4534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EL CAMBIO CLIMÁTICO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01" name="Google Shape;301;p4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2" name="Google Shape;302;p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303" name="Google Shape;3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005" y="1285189"/>
            <a:ext cx="8673484" cy="551088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"/>
          <p:cNvSpPr txBox="1"/>
          <p:nvPr/>
        </p:nvSpPr>
        <p:spPr>
          <a:xfrm>
            <a:off x="9272907" y="2683896"/>
            <a:ext cx="25367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026"/>
              </a:buClr>
              <a:buSzPts val="1800"/>
              <a:buFont typeface="Calibri"/>
              <a:buNone/>
            </a:pPr>
            <a:r>
              <a:rPr b="1" lang="es-ES" sz="1800">
                <a:solidFill>
                  <a:srgbClr val="9CB026"/>
                </a:solidFill>
                <a:latin typeface="Calibri"/>
                <a:ea typeface="Calibri"/>
                <a:cs typeface="Calibri"/>
                <a:sym typeface="Calibri"/>
              </a:rPr>
              <a:t>EFECTO INVERNADERO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EL CAMBIO CLIMÁTICO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10" name="Google Shape;310;p5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1" name="Google Shape;311;p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312" name="Google Shape;312;p5"/>
          <p:cNvGrpSpPr/>
          <p:nvPr/>
        </p:nvGrpSpPr>
        <p:grpSpPr>
          <a:xfrm>
            <a:off x="2269318" y="1254260"/>
            <a:ext cx="5208058" cy="5413639"/>
            <a:chOff x="1732712" y="2513"/>
            <a:chExt cx="5208058" cy="5413639"/>
          </a:xfrm>
        </p:grpSpPr>
        <p:sp>
          <p:nvSpPr>
            <p:cNvPr id="313" name="Google Shape;313;p5"/>
            <p:cNvSpPr/>
            <p:nvPr/>
          </p:nvSpPr>
          <p:spPr>
            <a:xfrm>
              <a:off x="1732712" y="2563713"/>
              <a:ext cx="1370541" cy="68527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5"/>
            <p:cNvSpPr txBox="1"/>
            <p:nvPr/>
          </p:nvSpPr>
          <p:spPr>
            <a:xfrm>
              <a:off x="1752783" y="2583784"/>
              <a:ext cx="1330399" cy="645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75" lIns="6975" spcFirstLastPara="1" rIns="6975" wrap="square" tIns="69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Origen de los GEI</a:t>
              </a: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 rot="-4099285">
              <a:off x="2635325" y="2205413"/>
              <a:ext cx="1484075" cy="22763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5"/>
            <p:cNvSpPr txBox="1"/>
            <p:nvPr/>
          </p:nvSpPr>
          <p:spPr>
            <a:xfrm rot="-4099285">
              <a:off x="3340260" y="2179693"/>
              <a:ext cx="74203" cy="74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3651471" y="1184605"/>
              <a:ext cx="1370541" cy="68527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5"/>
            <p:cNvSpPr txBox="1"/>
            <p:nvPr/>
          </p:nvSpPr>
          <p:spPr>
            <a:xfrm>
              <a:off x="3671542" y="1204676"/>
              <a:ext cx="1330399" cy="645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75" lIns="6975" spcFirstLastPara="1" rIns="6975" wrap="square" tIns="69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Natural</a:t>
              </a: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 rot="-3907178">
              <a:off x="4644606" y="924813"/>
              <a:ext cx="1303028" cy="22763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5"/>
            <p:cNvSpPr txBox="1"/>
            <p:nvPr/>
          </p:nvSpPr>
          <p:spPr>
            <a:xfrm rot="-3907178">
              <a:off x="5263545" y="903619"/>
              <a:ext cx="65151" cy="65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570229" y="2513"/>
              <a:ext cx="1370541" cy="68527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5"/>
            <p:cNvSpPr txBox="1"/>
            <p:nvPr/>
          </p:nvSpPr>
          <p:spPr>
            <a:xfrm>
              <a:off x="5590300" y="22584"/>
              <a:ext cx="1330399" cy="645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75" lIns="6975" spcFirstLastPara="1" rIns="6975" wrap="square" tIns="69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Dióxido de carbono (Respiración e incendios)</a:t>
              </a: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 rot="-2142401">
              <a:off x="4958555" y="1318844"/>
              <a:ext cx="675130" cy="22763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5"/>
            <p:cNvSpPr txBox="1"/>
            <p:nvPr/>
          </p:nvSpPr>
          <p:spPr>
            <a:xfrm rot="-2142401">
              <a:off x="5279242" y="1313347"/>
              <a:ext cx="33756" cy="33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570229" y="790575"/>
              <a:ext cx="1370541" cy="68527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5"/>
            <p:cNvSpPr txBox="1"/>
            <p:nvPr/>
          </p:nvSpPr>
          <p:spPr>
            <a:xfrm>
              <a:off x="5590300" y="810646"/>
              <a:ext cx="1330399" cy="645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75" lIns="6975" spcFirstLastPara="1" rIns="6975" wrap="square" tIns="69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Vapor de agua (ciclo del agua)</a:t>
              </a: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 rot="2206110">
              <a:off x="4956534" y="1712874"/>
              <a:ext cx="658272" cy="22763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5"/>
            <p:cNvSpPr txBox="1"/>
            <p:nvPr/>
          </p:nvSpPr>
          <p:spPr>
            <a:xfrm rot="2206110">
              <a:off x="5269214" y="1707799"/>
              <a:ext cx="32913" cy="32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549328" y="1578636"/>
              <a:ext cx="1370541" cy="68527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5"/>
            <p:cNvSpPr txBox="1"/>
            <p:nvPr/>
          </p:nvSpPr>
          <p:spPr>
            <a:xfrm>
              <a:off x="5569399" y="1598707"/>
              <a:ext cx="1330399" cy="645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75" lIns="6975" spcFirstLastPara="1" rIns="6975" wrap="square" tIns="69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Metano (putrefacción)</a:t>
              </a: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 rot="3907178">
              <a:off x="4644606" y="2106905"/>
              <a:ext cx="1303028" cy="22763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5"/>
            <p:cNvSpPr txBox="1"/>
            <p:nvPr/>
          </p:nvSpPr>
          <p:spPr>
            <a:xfrm rot="3907178">
              <a:off x="5263545" y="2085711"/>
              <a:ext cx="65151" cy="65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570229" y="2366698"/>
              <a:ext cx="1370541" cy="68527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5"/>
            <p:cNvSpPr txBox="1"/>
            <p:nvPr/>
          </p:nvSpPr>
          <p:spPr>
            <a:xfrm>
              <a:off x="5590300" y="2386769"/>
              <a:ext cx="1330399" cy="645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75" lIns="6975" spcFirstLastPara="1" rIns="6975" wrap="square" tIns="69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Óxido nitroso (descomposición)</a:t>
              </a: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 rot="4099285">
              <a:off x="2635325" y="3584520"/>
              <a:ext cx="1484075" cy="22763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5"/>
            <p:cNvSpPr txBox="1"/>
            <p:nvPr/>
          </p:nvSpPr>
          <p:spPr>
            <a:xfrm rot="4099285">
              <a:off x="3340260" y="3558800"/>
              <a:ext cx="74203" cy="74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3651471" y="3942821"/>
              <a:ext cx="1370541" cy="68527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5"/>
            <p:cNvSpPr txBox="1"/>
            <p:nvPr/>
          </p:nvSpPr>
          <p:spPr>
            <a:xfrm>
              <a:off x="3671542" y="3962892"/>
              <a:ext cx="1330399" cy="645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75" lIns="6975" spcFirstLastPara="1" rIns="6975" wrap="square" tIns="69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Antropogénico</a:t>
              </a: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 rot="-3310531">
              <a:off x="4816125" y="3880043"/>
              <a:ext cx="959990" cy="22763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"/>
            <p:cNvSpPr txBox="1"/>
            <p:nvPr/>
          </p:nvSpPr>
          <p:spPr>
            <a:xfrm rot="-3310531">
              <a:off x="5272121" y="3867425"/>
              <a:ext cx="47999" cy="47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570229" y="3154759"/>
              <a:ext cx="1370541" cy="68527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5"/>
            <p:cNvSpPr txBox="1"/>
            <p:nvPr/>
          </p:nvSpPr>
          <p:spPr>
            <a:xfrm>
              <a:off x="5590300" y="3174830"/>
              <a:ext cx="1330399" cy="645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75" lIns="6975" spcFirstLastPara="1" rIns="6975" wrap="square" tIns="69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Dióxido de carbono (quema combustibles fósiles)</a:t>
              </a: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022012" y="4274074"/>
              <a:ext cx="548216" cy="22763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"/>
            <p:cNvSpPr txBox="1"/>
            <p:nvPr/>
          </p:nvSpPr>
          <p:spPr>
            <a:xfrm>
              <a:off x="5282415" y="4271751"/>
              <a:ext cx="27410" cy="27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570229" y="3942821"/>
              <a:ext cx="1370541" cy="68527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5"/>
            <p:cNvSpPr txBox="1"/>
            <p:nvPr/>
          </p:nvSpPr>
          <p:spPr>
            <a:xfrm>
              <a:off x="5590300" y="3962892"/>
              <a:ext cx="1330399" cy="645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75" lIns="6975" spcFirstLastPara="1" rIns="6975" wrap="square" tIns="69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Metano (agricultura y ganadería)</a:t>
              </a: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 rot="3310531">
              <a:off x="4816125" y="4668105"/>
              <a:ext cx="959990" cy="22763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5"/>
            <p:cNvSpPr txBox="1"/>
            <p:nvPr/>
          </p:nvSpPr>
          <p:spPr>
            <a:xfrm rot="3310531">
              <a:off x="5272121" y="4655487"/>
              <a:ext cx="47999" cy="47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5"/>
            <p:cNvSpPr/>
            <p:nvPr/>
          </p:nvSpPr>
          <p:spPr>
            <a:xfrm>
              <a:off x="5570229" y="4730882"/>
              <a:ext cx="1370541" cy="68527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5"/>
            <p:cNvSpPr txBox="1"/>
            <p:nvPr/>
          </p:nvSpPr>
          <p:spPr>
            <a:xfrm>
              <a:off x="5590300" y="4750953"/>
              <a:ext cx="1330399" cy="645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75" lIns="6975" spcFirstLastPara="1" rIns="6975" wrap="square" tIns="69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Gases fluorados (refrigeración, aislamiento eléctrico, etc)</a:t>
              </a:r>
              <a:endParaRPr/>
            </a:p>
          </p:txBody>
        </p:sp>
      </p:grpSp>
      <p:sp>
        <p:nvSpPr>
          <p:cNvPr id="351" name="Google Shape;351;p5"/>
          <p:cNvSpPr txBox="1"/>
          <p:nvPr/>
        </p:nvSpPr>
        <p:spPr>
          <a:xfrm>
            <a:off x="8524568" y="3583858"/>
            <a:ext cx="261046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Animación sobre el aumento global de las temperaturas desde 1880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 SUPERPOBLACIÓN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57" name="Google Shape;357;p6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Gráfico, Gráfico de líneas&#10;&#10;Descripción generada automáticamente" id="358" name="Google Shape;3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129" y="1429169"/>
            <a:ext cx="7247496" cy="5428831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6"/>
          <p:cNvSpPr txBox="1"/>
          <p:nvPr/>
        </p:nvSpPr>
        <p:spPr>
          <a:xfrm>
            <a:off x="8696834" y="2739747"/>
            <a:ext cx="268762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población mundial no ha cesado de crecer en los últimos siglos y se espera que siga haciéndolo hasta el 2050</a:t>
            </a:r>
            <a:endParaRPr/>
          </a:p>
        </p:txBody>
      </p:sp>
      <p:sp>
        <p:nvSpPr>
          <p:cNvPr id="360" name="Google Shape;360;p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361" name="Google Shape;361;p6"/>
          <p:cNvSpPr txBox="1"/>
          <p:nvPr/>
        </p:nvSpPr>
        <p:spPr>
          <a:xfrm>
            <a:off x="8547931" y="5076401"/>
            <a:ext cx="298542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 sobre la evolución de la población mundial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7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 SUPERPOBLACIÓN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67" name="Google Shape;367;p7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8" name="Google Shape;368;p7"/>
          <p:cNvSpPr/>
          <p:nvPr/>
        </p:nvSpPr>
        <p:spPr>
          <a:xfrm>
            <a:off x="690720" y="3706998"/>
            <a:ext cx="2964426" cy="1002890"/>
          </a:xfrm>
          <a:prstGeom prst="round2DiagRect">
            <a:avLst>
              <a:gd fmla="val 16667" name="adj1"/>
              <a:gd fmla="val 0" name="adj2"/>
            </a:avLst>
          </a:prstGeom>
          <a:gradFill>
            <a:gsLst>
              <a:gs pos="0">
                <a:srgbClr val="AFAFAF"/>
              </a:gs>
              <a:gs pos="50000">
                <a:schemeClr val="accent3"/>
              </a:gs>
              <a:gs pos="100000">
                <a:srgbClr val="919191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Aumento de la población mundial</a:t>
            </a:r>
            <a:endParaRPr/>
          </a:p>
        </p:txBody>
      </p:sp>
      <p:sp>
        <p:nvSpPr>
          <p:cNvPr id="369" name="Google Shape;369;p7"/>
          <p:cNvSpPr/>
          <p:nvPr/>
        </p:nvSpPr>
        <p:spPr>
          <a:xfrm>
            <a:off x="3863293" y="3853946"/>
            <a:ext cx="634181" cy="708995"/>
          </a:xfrm>
          <a:prstGeom prst="striped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4766196" y="3706998"/>
            <a:ext cx="2964426" cy="1002890"/>
          </a:xfrm>
          <a:prstGeom prst="round2DiagRect">
            <a:avLst>
              <a:gd fmla="val 16667" name="adj1"/>
              <a:gd fmla="val 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Mayor presión sobre el entorno</a:t>
            </a:r>
            <a:endParaRPr/>
          </a:p>
        </p:txBody>
      </p:sp>
      <p:sp>
        <p:nvSpPr>
          <p:cNvPr id="371" name="Google Shape;371;p7"/>
          <p:cNvSpPr/>
          <p:nvPr/>
        </p:nvSpPr>
        <p:spPr>
          <a:xfrm>
            <a:off x="8391836" y="2335004"/>
            <a:ext cx="855407" cy="3746879"/>
          </a:xfrm>
          <a:prstGeom prst="leftBrace">
            <a:avLst>
              <a:gd fmla="val 35057" name="adj1"/>
              <a:gd fmla="val 50000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 txBox="1"/>
          <p:nvPr/>
        </p:nvSpPr>
        <p:spPr>
          <a:xfrm>
            <a:off x="9070262" y="2455458"/>
            <a:ext cx="2566219" cy="3594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Agotamiento de recursos naturales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Desigualdad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Pérdida de biodiversidad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Cambio climático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Contaminación</a:t>
            </a:r>
            <a:endParaRPr/>
          </a:p>
        </p:txBody>
      </p:sp>
      <p:sp>
        <p:nvSpPr>
          <p:cNvPr id="373" name="Google Shape;373;p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8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PÉRDIDA DE BIODIVERSIDAD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79" name="Google Shape;379;p8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0" name="Google Shape;380;p8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381" name="Google Shape;3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180" y="2653848"/>
            <a:ext cx="3982006" cy="301984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8"/>
          <p:cNvSpPr txBox="1"/>
          <p:nvPr/>
        </p:nvSpPr>
        <p:spPr>
          <a:xfrm>
            <a:off x="351286" y="2090202"/>
            <a:ext cx="41737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/>
          </a:p>
        </p:txBody>
      </p:sp>
      <p:sp>
        <p:nvSpPr>
          <p:cNvPr id="383" name="Google Shape;383;p8"/>
          <p:cNvSpPr/>
          <p:nvPr/>
        </p:nvSpPr>
        <p:spPr>
          <a:xfrm>
            <a:off x="4429185" y="3628099"/>
            <a:ext cx="2148595" cy="855407"/>
          </a:xfrm>
          <a:prstGeom prst="notched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BIODIVERSIDAD</a:t>
            </a:r>
            <a:endParaRPr/>
          </a:p>
        </p:txBody>
      </p:sp>
      <p:sp>
        <p:nvSpPr>
          <p:cNvPr id="384" name="Google Shape;384;p8"/>
          <p:cNvSpPr/>
          <p:nvPr/>
        </p:nvSpPr>
        <p:spPr>
          <a:xfrm>
            <a:off x="6907409" y="2951890"/>
            <a:ext cx="855407" cy="2207823"/>
          </a:xfrm>
          <a:prstGeom prst="leftBrace">
            <a:avLst>
              <a:gd fmla="val 37284" name="adj1"/>
              <a:gd fmla="val 50000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8"/>
          <p:cNvSpPr txBox="1"/>
          <p:nvPr/>
        </p:nvSpPr>
        <p:spPr>
          <a:xfrm>
            <a:off x="7593150" y="3082388"/>
            <a:ext cx="3165847" cy="2071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Variedad de especies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Variedad de entornos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Variedad genética en una misma especie</a:t>
            </a:r>
            <a:endParaRPr/>
          </a:p>
        </p:txBody>
      </p:sp>
      <p:sp>
        <p:nvSpPr>
          <p:cNvPr id="386" name="Google Shape;386;p8"/>
          <p:cNvSpPr txBox="1"/>
          <p:nvPr/>
        </p:nvSpPr>
        <p:spPr>
          <a:xfrm>
            <a:off x="3215148" y="6091084"/>
            <a:ext cx="475843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 sobre el concepto de biodiversidad y las consecuencias de su pérdida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PÉRDIDA DE BIODIVERSIDAD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92" name="Google Shape;392;p9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3" name="Google Shape;393;p9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394" name="Google Shape;3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959" y="2212260"/>
            <a:ext cx="11934851" cy="2418731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9"/>
          <p:cNvSpPr txBox="1"/>
          <p:nvPr/>
        </p:nvSpPr>
        <p:spPr>
          <a:xfrm>
            <a:off x="2449385" y="5088194"/>
            <a:ext cx="7365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roja de especies amenazadas de la IUCN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Unión Internacional para Conservación de la Naturaleza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0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PÉRDIDA DE BIODIVERSIDAD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01" name="Google Shape;401;p10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2" name="Google Shape;402;p10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403" name="Google Shape;403;p10"/>
          <p:cNvGrpSpPr/>
          <p:nvPr/>
        </p:nvGrpSpPr>
        <p:grpSpPr>
          <a:xfrm>
            <a:off x="1083250" y="2231955"/>
            <a:ext cx="6489226" cy="3540599"/>
            <a:chOff x="31" y="80621"/>
            <a:chExt cx="6489226" cy="3540599"/>
          </a:xfrm>
        </p:grpSpPr>
        <p:sp>
          <p:nvSpPr>
            <p:cNvPr id="404" name="Google Shape;404;p10"/>
            <p:cNvSpPr/>
            <p:nvPr/>
          </p:nvSpPr>
          <p:spPr>
            <a:xfrm>
              <a:off x="31" y="80621"/>
              <a:ext cx="3032348" cy="576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0"/>
            <p:cNvSpPr txBox="1"/>
            <p:nvPr/>
          </p:nvSpPr>
          <p:spPr>
            <a:xfrm>
              <a:off x="31" y="80621"/>
              <a:ext cx="3032348" cy="5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525" lIns="170675" spcFirstLastPara="1" rIns="170675" wrap="square" tIns="97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Causas</a:t>
              </a:r>
              <a:endParaRPr/>
            </a:p>
          </p:txBody>
        </p:sp>
        <p:sp>
          <p:nvSpPr>
            <p:cNvPr id="406" name="Google Shape;406;p10"/>
            <p:cNvSpPr/>
            <p:nvPr/>
          </p:nvSpPr>
          <p:spPr>
            <a:xfrm>
              <a:off x="31" y="656621"/>
              <a:ext cx="3032348" cy="2964599"/>
            </a:xfrm>
            <a:prstGeom prst="rect">
              <a:avLst/>
            </a:prstGeom>
            <a:solidFill>
              <a:srgbClr val="F7D5CB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0"/>
            <p:cNvSpPr txBox="1"/>
            <p:nvPr/>
          </p:nvSpPr>
          <p:spPr>
            <a:xfrm>
              <a:off x="31" y="656621"/>
              <a:ext cx="3032348" cy="29645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0000" lIns="106675" spcFirstLastPara="1" rIns="142225" wrap="square" tIns="1066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•"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sobreexplotación del medio natural.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•"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pérdida de los hábitats.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•"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contaminación.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•"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introducción de especies invasoras.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•"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Los efectos del cambio climático.</a:t>
              </a:r>
              <a:endParaRPr/>
            </a:p>
          </p:txBody>
        </p:sp>
        <p:sp>
          <p:nvSpPr>
            <p:cNvPr id="408" name="Google Shape;408;p10"/>
            <p:cNvSpPr/>
            <p:nvPr/>
          </p:nvSpPr>
          <p:spPr>
            <a:xfrm>
              <a:off x="3456909" y="80621"/>
              <a:ext cx="3032348" cy="576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0"/>
            <p:cNvSpPr txBox="1"/>
            <p:nvPr/>
          </p:nvSpPr>
          <p:spPr>
            <a:xfrm>
              <a:off x="3456909" y="80621"/>
              <a:ext cx="3032348" cy="5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525" lIns="170675" spcFirstLastPara="1" rIns="170675" wrap="square" tIns="97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Consecuencias</a:t>
              </a:r>
              <a:endParaRPr/>
            </a:p>
          </p:txBody>
        </p:sp>
        <p:sp>
          <p:nvSpPr>
            <p:cNvPr id="410" name="Google Shape;410;p10"/>
            <p:cNvSpPr/>
            <p:nvPr/>
          </p:nvSpPr>
          <p:spPr>
            <a:xfrm>
              <a:off x="3456909" y="656621"/>
              <a:ext cx="3032348" cy="2964599"/>
            </a:xfrm>
            <a:prstGeom prst="rect">
              <a:avLst/>
            </a:prstGeom>
            <a:solidFill>
              <a:srgbClr val="F7D5CB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0"/>
            <p:cNvSpPr txBox="1"/>
            <p:nvPr/>
          </p:nvSpPr>
          <p:spPr>
            <a:xfrm>
              <a:off x="3456909" y="656621"/>
              <a:ext cx="3032348" cy="29645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0000" lIns="106675" spcFirstLastPara="1" rIns="142225" wrap="square" tIns="1066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Extinción de especies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Aparición de plagas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Cambio climático</a:t>
              </a:r>
              <a:endParaRPr/>
            </a:p>
          </p:txBody>
        </p:sp>
      </p:grpSp>
      <p:sp>
        <p:nvSpPr>
          <p:cNvPr id="412" name="Google Shape;412;p10"/>
          <p:cNvSpPr/>
          <p:nvPr/>
        </p:nvSpPr>
        <p:spPr>
          <a:xfrm>
            <a:off x="8170606" y="3428999"/>
            <a:ext cx="3451123" cy="1569632"/>
          </a:xfrm>
          <a:prstGeom prst="round2DiagRect">
            <a:avLst>
              <a:gd fmla="val 16667" name="adj1"/>
              <a:gd fmla="val 0" name="adj2"/>
            </a:avLst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preservación de la biodiversidad es parte de la solución al cambio climático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1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DEFORESTACIÓN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18" name="Google Shape;418;p11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9" name="Google Shape;419;p11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descr="Gráfico, Gráfico de cajas y bigotes&#10;&#10;Descripción generada automáticamente" id="420" name="Google Shape;4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846" y="1488894"/>
            <a:ext cx="9373908" cy="4563112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1"/>
          <p:cNvSpPr/>
          <p:nvPr/>
        </p:nvSpPr>
        <p:spPr>
          <a:xfrm>
            <a:off x="9840686" y="2275537"/>
            <a:ext cx="1781043" cy="2514177"/>
          </a:xfrm>
          <a:prstGeom prst="round2DiagRect">
            <a:avLst>
              <a:gd fmla="val 16667" name="adj1"/>
              <a:gd fmla="val 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pérdida de masa forestal anual supera la reforestación</a:t>
            </a:r>
            <a:endParaRPr/>
          </a:p>
        </p:txBody>
      </p:sp>
      <p:sp>
        <p:nvSpPr>
          <p:cNvPr id="422" name="Google Shape;422;p11"/>
          <p:cNvSpPr txBox="1"/>
          <p:nvPr/>
        </p:nvSpPr>
        <p:spPr>
          <a:xfrm>
            <a:off x="1769806" y="6145007"/>
            <a:ext cx="475843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gráfico que muestra ejemplos de deforestación en los últimos 40 años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2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DEFORESTACIÓN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28" name="Google Shape;428;p12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9" name="Google Shape;429;p12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descr="Gráfico, Gráfico de barras&#10;&#10;Descripción generada automáticamente" id="430" name="Google Shape;43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92" y="1280294"/>
            <a:ext cx="7665321" cy="540984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2"/>
          <p:cNvSpPr txBox="1"/>
          <p:nvPr/>
        </p:nvSpPr>
        <p:spPr>
          <a:xfrm>
            <a:off x="8664606" y="2692554"/>
            <a:ext cx="3071131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deforestación de los bosques tropicales se debe fundamentalmente: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Ganadería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Cultivos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Explotación del bosque para producción de madera y papel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3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 CONTAMINA</a:t>
            </a: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CIÓN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37" name="Google Shape;437;p13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8" name="Google Shape;438;p1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439" name="Google Shape;439;p13"/>
          <p:cNvGrpSpPr/>
          <p:nvPr/>
        </p:nvGrpSpPr>
        <p:grpSpPr>
          <a:xfrm>
            <a:off x="1916115" y="2260872"/>
            <a:ext cx="8743496" cy="2995934"/>
            <a:chOff x="3471" y="1211366"/>
            <a:chExt cx="8743496" cy="2995934"/>
          </a:xfrm>
        </p:grpSpPr>
        <p:sp>
          <p:nvSpPr>
            <p:cNvPr id="440" name="Google Shape;440;p13"/>
            <p:cNvSpPr/>
            <p:nvPr/>
          </p:nvSpPr>
          <p:spPr>
            <a:xfrm>
              <a:off x="2575087" y="2709333"/>
              <a:ext cx="1755873" cy="27317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441" name="Google Shape;441;p13"/>
            <p:cNvSpPr/>
            <p:nvPr/>
          </p:nvSpPr>
          <p:spPr>
            <a:xfrm>
              <a:off x="2575087" y="2709333"/>
              <a:ext cx="3600263" cy="1105795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11429" y="0"/>
                  </a:lnTo>
                  <a:lnTo>
                    <a:pt x="111429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442" name="Google Shape;442;p13"/>
            <p:cNvSpPr/>
            <p:nvPr/>
          </p:nvSpPr>
          <p:spPr>
            <a:xfrm>
              <a:off x="2575087" y="2663613"/>
              <a:ext cx="3600263" cy="9144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443" name="Google Shape;443;p13"/>
            <p:cNvSpPr/>
            <p:nvPr/>
          </p:nvSpPr>
          <p:spPr>
            <a:xfrm>
              <a:off x="2575087" y="1603538"/>
              <a:ext cx="3600263" cy="1105795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111429" y="120000"/>
                  </a:lnTo>
                  <a:lnTo>
                    <a:pt x="111429" y="0"/>
                  </a:lnTo>
                  <a:lnTo>
                    <a:pt x="120000" y="0"/>
                  </a:ln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444" name="Google Shape;444;p13"/>
            <p:cNvSpPr/>
            <p:nvPr/>
          </p:nvSpPr>
          <p:spPr>
            <a:xfrm>
              <a:off x="3471" y="2317161"/>
              <a:ext cx="2571616" cy="784343"/>
            </a:xfrm>
            <a:prstGeom prst="rect">
              <a:avLst/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3"/>
            <p:cNvSpPr txBox="1"/>
            <p:nvPr/>
          </p:nvSpPr>
          <p:spPr>
            <a:xfrm>
              <a:off x="3471" y="2317161"/>
              <a:ext cx="2571616" cy="784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Tipos de contaminación</a:t>
              </a:r>
              <a:endParaRPr/>
            </a:p>
          </p:txBody>
        </p:sp>
        <p:sp>
          <p:nvSpPr>
            <p:cNvPr id="446" name="Google Shape;446;p13"/>
            <p:cNvSpPr/>
            <p:nvPr/>
          </p:nvSpPr>
          <p:spPr>
            <a:xfrm>
              <a:off x="6175351" y="1211366"/>
              <a:ext cx="2571616" cy="784343"/>
            </a:xfrm>
            <a:prstGeom prst="rect">
              <a:avLst/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3"/>
            <p:cNvSpPr txBox="1"/>
            <p:nvPr/>
          </p:nvSpPr>
          <p:spPr>
            <a:xfrm>
              <a:off x="6175351" y="1211366"/>
              <a:ext cx="2571616" cy="784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Del aire</a:t>
              </a:r>
              <a:endParaRPr/>
            </a:p>
          </p:txBody>
        </p:sp>
        <p:sp>
          <p:nvSpPr>
            <p:cNvPr id="448" name="Google Shape;448;p13"/>
            <p:cNvSpPr/>
            <p:nvPr/>
          </p:nvSpPr>
          <p:spPr>
            <a:xfrm>
              <a:off x="6175351" y="2317161"/>
              <a:ext cx="2571616" cy="784343"/>
            </a:xfrm>
            <a:prstGeom prst="rect">
              <a:avLst/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3"/>
            <p:cNvSpPr txBox="1"/>
            <p:nvPr/>
          </p:nvSpPr>
          <p:spPr>
            <a:xfrm>
              <a:off x="6175351" y="2317161"/>
              <a:ext cx="2571616" cy="784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Del agua</a:t>
              </a:r>
              <a:endParaRPr/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6175351" y="3422957"/>
              <a:ext cx="2571616" cy="784343"/>
            </a:xfrm>
            <a:prstGeom prst="rect">
              <a:avLst/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3"/>
            <p:cNvSpPr txBox="1"/>
            <p:nvPr/>
          </p:nvSpPr>
          <p:spPr>
            <a:xfrm>
              <a:off x="6175351" y="3422957"/>
              <a:ext cx="2571616" cy="784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Del suelo</a:t>
              </a:r>
              <a:endParaRPr/>
            </a:p>
          </p:txBody>
        </p:sp>
        <p:sp>
          <p:nvSpPr>
            <p:cNvPr id="452" name="Google Shape;452;p13"/>
            <p:cNvSpPr/>
            <p:nvPr/>
          </p:nvSpPr>
          <p:spPr>
            <a:xfrm>
              <a:off x="3045153" y="2982506"/>
              <a:ext cx="2571616" cy="784343"/>
            </a:xfrm>
            <a:prstGeom prst="rect">
              <a:avLst/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3"/>
            <p:cNvSpPr txBox="1"/>
            <p:nvPr/>
          </p:nvSpPr>
          <p:spPr>
            <a:xfrm>
              <a:off x="3045153" y="2982506"/>
              <a:ext cx="2571616" cy="784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Contaminación por ondas</a:t>
              </a:r>
              <a:endParaRPr/>
            </a:p>
          </p:txBody>
        </p:sp>
      </p:grpSp>
      <p:sp>
        <p:nvSpPr>
          <p:cNvPr id="454" name="Google Shape;454;p13"/>
          <p:cNvSpPr txBox="1"/>
          <p:nvPr/>
        </p:nvSpPr>
        <p:spPr>
          <a:xfrm>
            <a:off x="4977406" y="5132439"/>
            <a:ext cx="250002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Acústicas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Lumínicas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Radiactivas</a:t>
            </a:r>
            <a:endParaRPr/>
          </a:p>
        </p:txBody>
      </p:sp>
      <p:sp>
        <p:nvSpPr>
          <p:cNvPr id="455" name="Google Shape;455;p13"/>
          <p:cNvSpPr txBox="1"/>
          <p:nvPr/>
        </p:nvSpPr>
        <p:spPr>
          <a:xfrm>
            <a:off x="281139" y="5747084"/>
            <a:ext cx="277269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Página del </a:t>
            </a: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Programa de Medioambiente de Naciones Unidas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 txBox="1"/>
          <p:nvPr/>
        </p:nvSpPr>
        <p:spPr>
          <a:xfrm>
            <a:off x="176981" y="1637071"/>
            <a:ext cx="228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 sobre contaminación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4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 CONTAMINA</a:t>
            </a: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CIÓN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62" name="Google Shape;462;p14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3" name="Google Shape;463;p1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464" name="Google Shape;464;p14"/>
          <p:cNvGrpSpPr/>
          <p:nvPr/>
        </p:nvGrpSpPr>
        <p:grpSpPr>
          <a:xfrm>
            <a:off x="741191" y="1424750"/>
            <a:ext cx="5432626" cy="3234947"/>
            <a:chOff x="485009" y="794"/>
            <a:chExt cx="5432626" cy="3234947"/>
          </a:xfrm>
        </p:grpSpPr>
        <p:sp>
          <p:nvSpPr>
            <p:cNvPr id="465" name="Google Shape;465;p14"/>
            <p:cNvSpPr/>
            <p:nvPr/>
          </p:nvSpPr>
          <p:spPr>
            <a:xfrm>
              <a:off x="2411246" y="1655588"/>
              <a:ext cx="1580153" cy="1580153"/>
            </a:xfrm>
            <a:prstGeom prst="ellipse">
              <a:avLst/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4"/>
            <p:cNvSpPr txBox="1"/>
            <p:nvPr/>
          </p:nvSpPr>
          <p:spPr>
            <a:xfrm>
              <a:off x="2642654" y="1886996"/>
              <a:ext cx="1117337" cy="11173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75" lIns="15875" spcFirstLastPara="1" rIns="15875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Gases y polvos tóxicos</a:t>
              </a:r>
              <a:endParaRPr/>
            </a:p>
          </p:txBody>
        </p:sp>
        <p:sp>
          <p:nvSpPr>
            <p:cNvPr id="467" name="Google Shape;467;p14"/>
            <p:cNvSpPr/>
            <p:nvPr/>
          </p:nvSpPr>
          <p:spPr>
            <a:xfrm rot="-9900000">
              <a:off x="1215537" y="1846029"/>
              <a:ext cx="1176532" cy="450343"/>
            </a:xfrm>
            <a:prstGeom prst="lef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485009" y="1318488"/>
              <a:ext cx="1501145" cy="120091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4"/>
            <p:cNvSpPr txBox="1"/>
            <p:nvPr/>
          </p:nvSpPr>
          <p:spPr>
            <a:xfrm>
              <a:off x="520183" y="1353662"/>
              <a:ext cx="1430797" cy="1130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Industria</a:t>
              </a:r>
              <a:endParaRPr/>
            </a:p>
          </p:txBody>
        </p:sp>
        <p:sp>
          <p:nvSpPr>
            <p:cNvPr id="470" name="Google Shape;470;p14"/>
            <p:cNvSpPr/>
            <p:nvPr/>
          </p:nvSpPr>
          <p:spPr>
            <a:xfrm rot="-6900000">
              <a:off x="2001605" y="909230"/>
              <a:ext cx="1176532" cy="450343"/>
            </a:xfrm>
            <a:prstGeom prst="lef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D58870"/>
                </a:gs>
                <a:gs pos="50000">
                  <a:srgbClr val="D57755"/>
                </a:gs>
                <a:gs pos="100000">
                  <a:srgbClr val="C26543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1590686" y="794"/>
              <a:ext cx="1501145" cy="120091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D58870"/>
                </a:gs>
                <a:gs pos="50000">
                  <a:srgbClr val="D57755"/>
                </a:gs>
                <a:gs pos="100000">
                  <a:srgbClr val="C26543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4"/>
            <p:cNvSpPr txBox="1"/>
            <p:nvPr/>
          </p:nvSpPr>
          <p:spPr>
            <a:xfrm>
              <a:off x="1625860" y="35968"/>
              <a:ext cx="1430797" cy="1130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Tráfico</a:t>
              </a:r>
              <a:endParaRPr/>
            </a:p>
          </p:txBody>
        </p:sp>
        <p:sp>
          <p:nvSpPr>
            <p:cNvPr id="473" name="Google Shape;473;p14"/>
            <p:cNvSpPr/>
            <p:nvPr/>
          </p:nvSpPr>
          <p:spPr>
            <a:xfrm rot="-3900000">
              <a:off x="3224508" y="909230"/>
              <a:ext cx="1176532" cy="450343"/>
            </a:xfrm>
            <a:prstGeom prst="lef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BF948F"/>
                </a:gs>
                <a:gs pos="50000">
                  <a:srgbClr val="BA857E"/>
                </a:gs>
                <a:gs pos="100000">
                  <a:srgbClr val="A774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3310814" y="794"/>
              <a:ext cx="1501145" cy="120091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BF948F"/>
                </a:gs>
                <a:gs pos="50000">
                  <a:srgbClr val="BA857E"/>
                </a:gs>
                <a:gs pos="100000">
                  <a:srgbClr val="A774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4"/>
            <p:cNvSpPr txBox="1"/>
            <p:nvPr/>
          </p:nvSpPr>
          <p:spPr>
            <a:xfrm>
              <a:off x="3345988" y="35968"/>
              <a:ext cx="1430797" cy="1130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Calefacción</a:t>
              </a:r>
              <a:endParaRPr/>
            </a:p>
          </p:txBody>
        </p:sp>
        <p:sp>
          <p:nvSpPr>
            <p:cNvPr id="476" name="Google Shape;476;p14"/>
            <p:cNvSpPr/>
            <p:nvPr/>
          </p:nvSpPr>
          <p:spPr>
            <a:xfrm rot="-900000">
              <a:off x="4010575" y="1846029"/>
              <a:ext cx="1176532" cy="450343"/>
            </a:xfrm>
            <a:prstGeom prst="lef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AEAEAE"/>
                </a:gs>
                <a:gs pos="50000">
                  <a:srgbClr val="A4A4A4"/>
                </a:gs>
                <a:gs pos="100000">
                  <a:srgbClr val="90909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4"/>
            <p:cNvSpPr/>
            <p:nvPr/>
          </p:nvSpPr>
          <p:spPr>
            <a:xfrm>
              <a:off x="4416490" y="1318488"/>
              <a:ext cx="1501145" cy="120091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AEAEAE"/>
                </a:gs>
                <a:gs pos="50000">
                  <a:srgbClr val="A4A4A4"/>
                </a:gs>
                <a:gs pos="100000">
                  <a:srgbClr val="90909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4"/>
            <p:cNvSpPr txBox="1"/>
            <p:nvPr/>
          </p:nvSpPr>
          <p:spPr>
            <a:xfrm>
              <a:off x="4451664" y="1353662"/>
              <a:ext cx="1430797" cy="1130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Etc.</a:t>
              </a:r>
              <a:endParaRPr/>
            </a:p>
          </p:txBody>
        </p:sp>
      </p:grpSp>
      <p:sp>
        <p:nvSpPr>
          <p:cNvPr id="479" name="Google Shape;479;p14"/>
          <p:cNvSpPr/>
          <p:nvPr/>
        </p:nvSpPr>
        <p:spPr>
          <a:xfrm>
            <a:off x="3199408" y="4807976"/>
            <a:ext cx="516194" cy="72453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2049034" y="5624381"/>
            <a:ext cx="2816942" cy="1056640"/>
          </a:xfrm>
          <a:prstGeom prst="roundRect">
            <a:avLst>
              <a:gd fmla="val 16667" name="adj"/>
            </a:avLst>
          </a:prstGeom>
          <a:solidFill>
            <a:srgbClr val="2E75B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Consecuencias negativas sobre la salud de los seres vivos</a:t>
            </a:r>
            <a:endParaRPr/>
          </a:p>
        </p:txBody>
      </p:sp>
      <p:pic>
        <p:nvPicPr>
          <p:cNvPr descr="Humo saliendo de las nubes&#10;&#10;Descripción generada automáticamente" id="481" name="Google Shape;48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729273" y="1969687"/>
            <a:ext cx="5280222" cy="302926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4"/>
          <p:cNvSpPr txBox="1"/>
          <p:nvPr/>
        </p:nvSpPr>
        <p:spPr>
          <a:xfrm>
            <a:off x="7957835" y="5317150"/>
            <a:ext cx="2823099" cy="830997"/>
          </a:xfrm>
          <a:prstGeom prst="rect">
            <a:avLst/>
          </a:prstGeom>
          <a:solidFill>
            <a:srgbClr val="F7CAA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CONTAMINACIÓN DEL AIRE</a:t>
            </a:r>
            <a:endParaRPr/>
          </a:p>
        </p:txBody>
      </p:sp>
      <p:sp>
        <p:nvSpPr>
          <p:cNvPr id="483" name="Google Shape;483;p14"/>
          <p:cNvSpPr txBox="1"/>
          <p:nvPr/>
        </p:nvSpPr>
        <p:spPr>
          <a:xfrm>
            <a:off x="8298146" y="1545197"/>
            <a:ext cx="21424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Imagen de Vecteezy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5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 CONTAMINA</a:t>
            </a: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CIÓN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89" name="Google Shape;489;p15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0" name="Google Shape;490;p1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491" name="Google Shape;491;p15"/>
          <p:cNvSpPr txBox="1"/>
          <p:nvPr/>
        </p:nvSpPr>
        <p:spPr>
          <a:xfrm>
            <a:off x="1599760" y="5317150"/>
            <a:ext cx="2823099" cy="830997"/>
          </a:xfrm>
          <a:prstGeom prst="rect">
            <a:avLst/>
          </a:prstGeom>
          <a:solidFill>
            <a:srgbClr val="F7CAA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CONTAMINACIÓN DEL AGUA</a:t>
            </a:r>
            <a:endParaRPr/>
          </a:p>
        </p:txBody>
      </p:sp>
      <p:pic>
        <p:nvPicPr>
          <p:cNvPr descr="Una roca en el agua&#10;&#10;Descripción generada automáticamente con confianza media" id="492" name="Google Shape;4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958" y="1967642"/>
            <a:ext cx="5070702" cy="2841822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15"/>
          <p:cNvSpPr txBox="1"/>
          <p:nvPr/>
        </p:nvSpPr>
        <p:spPr>
          <a:xfrm>
            <a:off x="1940071" y="1368221"/>
            <a:ext cx="21424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Imagen de Vecteezy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4" name="Google Shape;494;p15"/>
          <p:cNvGrpSpPr/>
          <p:nvPr/>
        </p:nvGrpSpPr>
        <p:grpSpPr>
          <a:xfrm>
            <a:off x="6163564" y="1262496"/>
            <a:ext cx="5354168" cy="3234999"/>
            <a:chOff x="524238" y="768"/>
            <a:chExt cx="5354168" cy="3234999"/>
          </a:xfrm>
        </p:grpSpPr>
        <p:sp>
          <p:nvSpPr>
            <p:cNvPr id="495" name="Google Shape;495;p15"/>
            <p:cNvSpPr/>
            <p:nvPr/>
          </p:nvSpPr>
          <p:spPr>
            <a:xfrm>
              <a:off x="2512538" y="1858198"/>
              <a:ext cx="1377569" cy="1377569"/>
            </a:xfrm>
            <a:prstGeom prst="ellipse">
              <a:avLst/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5"/>
            <p:cNvSpPr txBox="1"/>
            <p:nvPr/>
          </p:nvSpPr>
          <p:spPr>
            <a:xfrm>
              <a:off x="2714278" y="2059938"/>
              <a:ext cx="974089" cy="9740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75" lIns="10775" spcFirstLastPara="1" rIns="10775" wrap="square" tIns="1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Elementos</a:t>
              </a:r>
              <a:r>
                <a:rPr lang="es-E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tóxicos y alterantes</a:t>
              </a:r>
              <a:endParaRPr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 rot="10800000">
              <a:off x="1178584" y="2350679"/>
              <a:ext cx="1260586" cy="392607"/>
            </a:xfrm>
            <a:prstGeom prst="lef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524238" y="2023506"/>
              <a:ext cx="1308690" cy="104695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5"/>
            <p:cNvSpPr txBox="1"/>
            <p:nvPr/>
          </p:nvSpPr>
          <p:spPr>
            <a:xfrm>
              <a:off x="554902" y="2054170"/>
              <a:ext cx="1247362" cy="985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Vertidos</a:t>
              </a:r>
              <a:r>
                <a:rPr lang="es-E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industriales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5"/>
            <p:cNvSpPr/>
            <p:nvPr/>
          </p:nvSpPr>
          <p:spPr>
            <a:xfrm rot="-8100000">
              <a:off x="1586421" y="1366072"/>
              <a:ext cx="1260586" cy="392607"/>
            </a:xfrm>
            <a:prstGeom prst="lef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DC8767"/>
                </a:gs>
                <a:gs pos="50000">
                  <a:srgbClr val="DD7549"/>
                </a:gs>
                <a:gs pos="100000">
                  <a:srgbClr val="CA643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5"/>
            <p:cNvSpPr/>
            <p:nvPr/>
          </p:nvSpPr>
          <p:spPr>
            <a:xfrm>
              <a:off x="1116685" y="593214"/>
              <a:ext cx="1308690" cy="104695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DC8767"/>
                </a:gs>
                <a:gs pos="50000">
                  <a:srgbClr val="DD7549"/>
                </a:gs>
                <a:gs pos="100000">
                  <a:srgbClr val="CA643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5"/>
            <p:cNvSpPr txBox="1"/>
            <p:nvPr/>
          </p:nvSpPr>
          <p:spPr>
            <a:xfrm>
              <a:off x="1147349" y="623878"/>
              <a:ext cx="1247362" cy="985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Aguas</a:t>
              </a:r>
              <a:r>
                <a:rPr lang="es-E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residuales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5"/>
            <p:cNvSpPr/>
            <p:nvPr/>
          </p:nvSpPr>
          <p:spPr>
            <a:xfrm rot="-5400000">
              <a:off x="2571029" y="958234"/>
              <a:ext cx="1260586" cy="392607"/>
            </a:xfrm>
            <a:prstGeom prst="lef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CA8D7E"/>
                </a:gs>
                <a:gs pos="50000">
                  <a:srgbClr val="C77C69"/>
                </a:gs>
                <a:gs pos="100000">
                  <a:srgbClr val="B56A5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5"/>
            <p:cNvSpPr/>
            <p:nvPr/>
          </p:nvSpPr>
          <p:spPr>
            <a:xfrm>
              <a:off x="2546977" y="768"/>
              <a:ext cx="1308690" cy="104695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CA8D7E"/>
                </a:gs>
                <a:gs pos="50000">
                  <a:srgbClr val="C77C69"/>
                </a:gs>
                <a:gs pos="100000">
                  <a:srgbClr val="B56A5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5"/>
            <p:cNvSpPr txBox="1"/>
            <p:nvPr/>
          </p:nvSpPr>
          <p:spPr>
            <a:xfrm>
              <a:off x="2577641" y="31432"/>
              <a:ext cx="1247362" cy="985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Fertilizantes e insecticidas</a:t>
              </a:r>
              <a:endParaRPr/>
            </a:p>
          </p:txBody>
        </p:sp>
        <p:sp>
          <p:nvSpPr>
            <p:cNvPr id="506" name="Google Shape;506;p15"/>
            <p:cNvSpPr/>
            <p:nvPr/>
          </p:nvSpPr>
          <p:spPr>
            <a:xfrm rot="-2700000">
              <a:off x="3555637" y="1366072"/>
              <a:ext cx="1260586" cy="392607"/>
            </a:xfrm>
            <a:prstGeom prst="lef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BA9A96"/>
                </a:gs>
                <a:gs pos="50000">
                  <a:srgbClr val="B58C87"/>
                </a:gs>
                <a:gs pos="100000">
                  <a:srgbClr val="A17975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5"/>
            <p:cNvSpPr/>
            <p:nvPr/>
          </p:nvSpPr>
          <p:spPr>
            <a:xfrm>
              <a:off x="3977270" y="593214"/>
              <a:ext cx="1308690" cy="104695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BA9A96"/>
                </a:gs>
                <a:gs pos="50000">
                  <a:srgbClr val="B58C87"/>
                </a:gs>
                <a:gs pos="100000">
                  <a:srgbClr val="A17975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5"/>
            <p:cNvSpPr txBox="1"/>
            <p:nvPr/>
          </p:nvSpPr>
          <p:spPr>
            <a:xfrm>
              <a:off x="4007934" y="623878"/>
              <a:ext cx="1247362" cy="985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Arrastre de suelos por deforestación</a:t>
              </a:r>
              <a:endParaRPr/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3963475" y="2350679"/>
              <a:ext cx="1260586" cy="392607"/>
            </a:xfrm>
            <a:prstGeom prst="lef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AEAEAE"/>
                </a:gs>
                <a:gs pos="50000">
                  <a:srgbClr val="A4A4A4"/>
                </a:gs>
                <a:gs pos="100000">
                  <a:srgbClr val="90909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5"/>
            <p:cNvSpPr/>
            <p:nvPr/>
          </p:nvSpPr>
          <p:spPr>
            <a:xfrm>
              <a:off x="4569716" y="2023506"/>
              <a:ext cx="1308690" cy="104695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AEAEAE"/>
                </a:gs>
                <a:gs pos="50000">
                  <a:srgbClr val="A4A4A4"/>
                </a:gs>
                <a:gs pos="100000">
                  <a:srgbClr val="90909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5"/>
            <p:cNvSpPr txBox="1"/>
            <p:nvPr/>
          </p:nvSpPr>
          <p:spPr>
            <a:xfrm>
              <a:off x="4600380" y="2054170"/>
              <a:ext cx="1247362" cy="985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Etc.</a:t>
              </a:r>
              <a:endParaRPr/>
            </a:p>
          </p:txBody>
        </p:sp>
      </p:grpSp>
      <p:sp>
        <p:nvSpPr>
          <p:cNvPr id="512" name="Google Shape;512;p15"/>
          <p:cNvSpPr/>
          <p:nvPr/>
        </p:nvSpPr>
        <p:spPr>
          <a:xfrm>
            <a:off x="8583544" y="4645748"/>
            <a:ext cx="516194" cy="72453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5"/>
          <p:cNvSpPr/>
          <p:nvPr/>
        </p:nvSpPr>
        <p:spPr>
          <a:xfrm>
            <a:off x="5668822" y="5749756"/>
            <a:ext cx="1829792" cy="699812"/>
          </a:xfrm>
          <a:prstGeom prst="roundRect">
            <a:avLst>
              <a:gd fmla="val 16667" name="adj"/>
            </a:avLst>
          </a:prstGeom>
          <a:solidFill>
            <a:srgbClr val="2E75B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Perjuicio a seres vivos</a:t>
            </a:r>
            <a:endParaRPr/>
          </a:p>
        </p:txBody>
      </p:sp>
      <p:sp>
        <p:nvSpPr>
          <p:cNvPr id="514" name="Google Shape;514;p15"/>
          <p:cNvSpPr/>
          <p:nvPr/>
        </p:nvSpPr>
        <p:spPr>
          <a:xfrm>
            <a:off x="7926745" y="5749756"/>
            <a:ext cx="1829792" cy="699812"/>
          </a:xfrm>
          <a:prstGeom prst="roundRect">
            <a:avLst>
              <a:gd fmla="val 16667" name="adj"/>
            </a:avLst>
          </a:prstGeom>
          <a:solidFill>
            <a:srgbClr val="2E75B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Acidificación del agua</a:t>
            </a:r>
            <a:endParaRPr/>
          </a:p>
        </p:txBody>
      </p:sp>
      <p:sp>
        <p:nvSpPr>
          <p:cNvPr id="515" name="Google Shape;515;p15"/>
          <p:cNvSpPr/>
          <p:nvPr/>
        </p:nvSpPr>
        <p:spPr>
          <a:xfrm>
            <a:off x="10187165" y="5749756"/>
            <a:ext cx="1829792" cy="699812"/>
          </a:xfrm>
          <a:prstGeom prst="roundRect">
            <a:avLst>
              <a:gd fmla="val 16667" name="adj"/>
            </a:avLst>
          </a:prstGeom>
          <a:solidFill>
            <a:srgbClr val="2E75B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Eutrofización del agua</a:t>
            </a:r>
            <a:endParaRPr/>
          </a:p>
        </p:txBody>
      </p:sp>
      <p:sp>
        <p:nvSpPr>
          <p:cNvPr id="516" name="Google Shape;516;p15"/>
          <p:cNvSpPr/>
          <p:nvPr/>
        </p:nvSpPr>
        <p:spPr>
          <a:xfrm rot="5400000">
            <a:off x="8620862" y="3141318"/>
            <a:ext cx="441558" cy="4763730"/>
          </a:xfrm>
          <a:prstGeom prst="leftBrace">
            <a:avLst>
              <a:gd fmla="val 81815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6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 CONTAMINA</a:t>
            </a: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CIÓN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522" name="Google Shape;522;p16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3" name="Google Shape;523;p1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524" name="Google Shape;524;p16"/>
          <p:cNvGrpSpPr/>
          <p:nvPr/>
        </p:nvGrpSpPr>
        <p:grpSpPr>
          <a:xfrm>
            <a:off x="741191" y="1424750"/>
            <a:ext cx="5432626" cy="3234947"/>
            <a:chOff x="485009" y="794"/>
            <a:chExt cx="5432626" cy="3234947"/>
          </a:xfrm>
        </p:grpSpPr>
        <p:sp>
          <p:nvSpPr>
            <p:cNvPr id="525" name="Google Shape;525;p16"/>
            <p:cNvSpPr/>
            <p:nvPr/>
          </p:nvSpPr>
          <p:spPr>
            <a:xfrm>
              <a:off x="2411246" y="1655588"/>
              <a:ext cx="1580153" cy="1580153"/>
            </a:xfrm>
            <a:prstGeom prst="ellipse">
              <a:avLst/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6"/>
            <p:cNvSpPr txBox="1"/>
            <p:nvPr/>
          </p:nvSpPr>
          <p:spPr>
            <a:xfrm>
              <a:off x="2642654" y="1886996"/>
              <a:ext cx="1117337" cy="11173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Afecta a microorganismos, flora y fauna</a:t>
              </a: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 rot="-9900000">
              <a:off x="1215537" y="1846029"/>
              <a:ext cx="1176532" cy="450343"/>
            </a:xfrm>
            <a:prstGeom prst="lef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485009" y="1318488"/>
              <a:ext cx="1501145" cy="120091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6"/>
            <p:cNvSpPr txBox="1"/>
            <p:nvPr/>
          </p:nvSpPr>
          <p:spPr>
            <a:xfrm>
              <a:off x="520183" y="1353662"/>
              <a:ext cx="1430797" cy="1130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375" lIns="32375" spcFirstLastPara="1" rIns="32375" wrap="square" tIns="3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Sustancias</a:t>
              </a:r>
              <a:r>
                <a:rPr lang="es-E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químicas</a:t>
              </a:r>
              <a:endParaRPr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16"/>
            <p:cNvSpPr/>
            <p:nvPr/>
          </p:nvSpPr>
          <p:spPr>
            <a:xfrm rot="-6900000">
              <a:off x="2001605" y="909230"/>
              <a:ext cx="1176532" cy="450343"/>
            </a:xfrm>
            <a:prstGeom prst="lef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D58870"/>
                </a:gs>
                <a:gs pos="50000">
                  <a:srgbClr val="D57755"/>
                </a:gs>
                <a:gs pos="100000">
                  <a:srgbClr val="C26543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1590686" y="794"/>
              <a:ext cx="1501145" cy="120091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D58870"/>
                </a:gs>
                <a:gs pos="50000">
                  <a:srgbClr val="D57755"/>
                </a:gs>
                <a:gs pos="100000">
                  <a:srgbClr val="C26543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6"/>
            <p:cNvSpPr txBox="1"/>
            <p:nvPr/>
          </p:nvSpPr>
          <p:spPr>
            <a:xfrm>
              <a:off x="1625860" y="35968"/>
              <a:ext cx="1430797" cy="1130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375" lIns="32375" spcFirstLastPara="1" rIns="32375" wrap="square" tIns="3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Objetos no biodegradables</a:t>
              </a: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 rot="-3900000">
              <a:off x="3224508" y="909230"/>
              <a:ext cx="1176532" cy="450343"/>
            </a:xfrm>
            <a:prstGeom prst="lef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BF948F"/>
                </a:gs>
                <a:gs pos="50000">
                  <a:srgbClr val="BA857E"/>
                </a:gs>
                <a:gs pos="100000">
                  <a:srgbClr val="A774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3310814" y="794"/>
              <a:ext cx="1501145" cy="120091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BF948F"/>
                </a:gs>
                <a:gs pos="50000">
                  <a:srgbClr val="BA857E"/>
                </a:gs>
                <a:gs pos="100000">
                  <a:srgbClr val="A774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6"/>
            <p:cNvSpPr txBox="1"/>
            <p:nvPr/>
          </p:nvSpPr>
          <p:spPr>
            <a:xfrm>
              <a:off x="3345988" y="35968"/>
              <a:ext cx="1430797" cy="1130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375" lIns="32375" spcFirstLastPara="1" rIns="32375" wrap="square" tIns="3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Tóxicos</a:t>
              </a: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 rot="-900000">
              <a:off x="4010575" y="1846029"/>
              <a:ext cx="1176532" cy="450343"/>
            </a:xfrm>
            <a:prstGeom prst="lef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AEAEAE"/>
                </a:gs>
                <a:gs pos="50000">
                  <a:srgbClr val="A4A4A4"/>
                </a:gs>
                <a:gs pos="100000">
                  <a:srgbClr val="90909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4416490" y="1318488"/>
              <a:ext cx="1501145" cy="120091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AEAEAE"/>
                </a:gs>
                <a:gs pos="50000">
                  <a:srgbClr val="A4A4A4"/>
                </a:gs>
                <a:gs pos="100000">
                  <a:srgbClr val="90909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6"/>
            <p:cNvSpPr txBox="1"/>
            <p:nvPr/>
          </p:nvSpPr>
          <p:spPr>
            <a:xfrm>
              <a:off x="4451664" y="1353662"/>
              <a:ext cx="1430797" cy="1130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375" lIns="32375" spcFirstLastPara="1" rIns="32375" wrap="square" tIns="3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Etc.</a:t>
              </a:r>
              <a:endParaRPr/>
            </a:p>
          </p:txBody>
        </p:sp>
      </p:grpSp>
      <p:sp>
        <p:nvSpPr>
          <p:cNvPr id="539" name="Google Shape;539;p16"/>
          <p:cNvSpPr/>
          <p:nvPr/>
        </p:nvSpPr>
        <p:spPr>
          <a:xfrm>
            <a:off x="3200400" y="4807976"/>
            <a:ext cx="516194" cy="72453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6"/>
          <p:cNvSpPr/>
          <p:nvPr/>
        </p:nvSpPr>
        <p:spPr>
          <a:xfrm>
            <a:off x="285678" y="5911984"/>
            <a:ext cx="1829792" cy="699812"/>
          </a:xfrm>
          <a:prstGeom prst="roundRect">
            <a:avLst>
              <a:gd fmla="val 16667" name="adj"/>
            </a:avLst>
          </a:prstGeom>
          <a:solidFill>
            <a:srgbClr val="2E75B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Pérdida de calidad</a:t>
            </a:r>
            <a:endParaRPr/>
          </a:p>
        </p:txBody>
      </p:sp>
      <p:sp>
        <p:nvSpPr>
          <p:cNvPr id="541" name="Google Shape;541;p16"/>
          <p:cNvSpPr txBox="1"/>
          <p:nvPr/>
        </p:nvSpPr>
        <p:spPr>
          <a:xfrm>
            <a:off x="7956311" y="5317150"/>
            <a:ext cx="2823099" cy="830997"/>
          </a:xfrm>
          <a:prstGeom prst="rect">
            <a:avLst/>
          </a:prstGeom>
          <a:solidFill>
            <a:srgbClr val="F7CAA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CONTAMINACIÓN DEL SUELO</a:t>
            </a:r>
            <a:endParaRPr/>
          </a:p>
        </p:txBody>
      </p:sp>
      <p:sp>
        <p:nvSpPr>
          <p:cNvPr id="542" name="Google Shape;542;p16"/>
          <p:cNvSpPr/>
          <p:nvPr/>
        </p:nvSpPr>
        <p:spPr>
          <a:xfrm>
            <a:off x="2543601" y="5911984"/>
            <a:ext cx="1829792" cy="699812"/>
          </a:xfrm>
          <a:prstGeom prst="roundRect">
            <a:avLst>
              <a:gd fmla="val 16667" name="adj"/>
            </a:avLst>
          </a:prstGeom>
          <a:solidFill>
            <a:srgbClr val="2E75B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Acidificación del suelo</a:t>
            </a:r>
            <a:endParaRPr/>
          </a:p>
        </p:txBody>
      </p:sp>
      <p:sp>
        <p:nvSpPr>
          <p:cNvPr id="543" name="Google Shape;543;p16"/>
          <p:cNvSpPr/>
          <p:nvPr/>
        </p:nvSpPr>
        <p:spPr>
          <a:xfrm>
            <a:off x="4804021" y="5911984"/>
            <a:ext cx="1829792" cy="699812"/>
          </a:xfrm>
          <a:prstGeom prst="roundRect">
            <a:avLst>
              <a:gd fmla="val 16667" name="adj"/>
            </a:avLst>
          </a:prstGeom>
          <a:solidFill>
            <a:srgbClr val="2E75B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Eutrofización del suelo</a:t>
            </a:r>
            <a:endParaRPr/>
          </a:p>
        </p:txBody>
      </p:sp>
      <p:sp>
        <p:nvSpPr>
          <p:cNvPr id="544" name="Google Shape;544;p16"/>
          <p:cNvSpPr/>
          <p:nvPr/>
        </p:nvSpPr>
        <p:spPr>
          <a:xfrm rot="5400000">
            <a:off x="3237718" y="3303546"/>
            <a:ext cx="441558" cy="4763730"/>
          </a:xfrm>
          <a:prstGeom prst="leftBrace">
            <a:avLst>
              <a:gd fmla="val 81815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6"/>
          <p:cNvSpPr txBox="1"/>
          <p:nvPr/>
        </p:nvSpPr>
        <p:spPr>
          <a:xfrm>
            <a:off x="8296622" y="1368221"/>
            <a:ext cx="21424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Imagen de Vecteezy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a roca en el suelo&#10;&#10;Descripción generada automáticamente con confianza baja" id="546" name="Google Shape;54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9366" y="1907140"/>
            <a:ext cx="4796988" cy="2695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7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 CONTAMINA</a:t>
            </a: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CIÓN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552" name="Google Shape;552;p17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3" name="Google Shape;553;p1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554" name="Google Shape;5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206" y="1617095"/>
            <a:ext cx="3633705" cy="3043392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17"/>
          <p:cNvSpPr/>
          <p:nvPr/>
        </p:nvSpPr>
        <p:spPr>
          <a:xfrm>
            <a:off x="3478389" y="1433954"/>
            <a:ext cx="4397474" cy="717515"/>
          </a:xfrm>
          <a:prstGeom prst="round2DiagRect">
            <a:avLst>
              <a:gd fmla="val 16667" name="adj1"/>
              <a:gd fmla="val 0" name="adj2"/>
            </a:avLst>
          </a:prstGeom>
          <a:gradFill>
            <a:gsLst>
              <a:gs pos="0">
                <a:srgbClr val="AFAFAF"/>
              </a:gs>
              <a:gs pos="50000">
                <a:schemeClr val="accent3"/>
              </a:gs>
              <a:gs pos="100000">
                <a:srgbClr val="919191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problema de los plásticos</a:t>
            </a:r>
            <a:endParaRPr/>
          </a:p>
        </p:txBody>
      </p:sp>
      <p:sp>
        <p:nvSpPr>
          <p:cNvPr id="556" name="Google Shape;556;p17"/>
          <p:cNvSpPr/>
          <p:nvPr/>
        </p:nvSpPr>
        <p:spPr>
          <a:xfrm>
            <a:off x="8473642" y="4895159"/>
            <a:ext cx="2744833" cy="44393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PLASTIGLOMERADO</a:t>
            </a:r>
            <a:endParaRPr/>
          </a:p>
        </p:txBody>
      </p:sp>
      <p:sp>
        <p:nvSpPr>
          <p:cNvPr id="557" name="Google Shape;557;p17"/>
          <p:cNvSpPr/>
          <p:nvPr/>
        </p:nvSpPr>
        <p:spPr>
          <a:xfrm>
            <a:off x="321937" y="4016979"/>
            <a:ext cx="3067964" cy="44393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PLÁSTICO PULVERIZADO</a:t>
            </a:r>
            <a:endParaRPr/>
          </a:p>
        </p:txBody>
      </p:sp>
      <p:sp>
        <p:nvSpPr>
          <p:cNvPr id="558" name="Google Shape;558;p17"/>
          <p:cNvSpPr/>
          <p:nvPr/>
        </p:nvSpPr>
        <p:spPr>
          <a:xfrm>
            <a:off x="3527395" y="2802192"/>
            <a:ext cx="734889" cy="2843078"/>
          </a:xfrm>
          <a:prstGeom prst="leftBrace">
            <a:avLst>
              <a:gd fmla="val 56498" name="adj1"/>
              <a:gd fmla="val 50000" name="adj2"/>
            </a:avLst>
          </a:prstGeom>
          <a:noFill/>
          <a:ln cap="flat" cmpd="sng" w="41275">
            <a:solidFill>
              <a:srgbClr val="C40C0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7"/>
          <p:cNvSpPr/>
          <p:nvPr/>
        </p:nvSpPr>
        <p:spPr>
          <a:xfrm>
            <a:off x="4262284" y="3104390"/>
            <a:ext cx="2744833" cy="44393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MICROPLÁSTICOS</a:t>
            </a:r>
            <a:endParaRPr/>
          </a:p>
        </p:txBody>
      </p:sp>
      <p:sp>
        <p:nvSpPr>
          <p:cNvPr id="560" name="Google Shape;560;p17"/>
          <p:cNvSpPr/>
          <p:nvPr/>
        </p:nvSpPr>
        <p:spPr>
          <a:xfrm>
            <a:off x="4267204" y="4895159"/>
            <a:ext cx="2744833" cy="44393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NANOPLÁSTICOS</a:t>
            </a:r>
            <a:endParaRPr/>
          </a:p>
        </p:txBody>
      </p:sp>
      <p:sp>
        <p:nvSpPr>
          <p:cNvPr id="561" name="Google Shape;561;p17"/>
          <p:cNvSpPr/>
          <p:nvPr/>
        </p:nvSpPr>
        <p:spPr>
          <a:xfrm>
            <a:off x="1488475" y="4694280"/>
            <a:ext cx="734889" cy="67860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299894" y="5606253"/>
            <a:ext cx="3112050" cy="678605"/>
          </a:xfrm>
          <a:prstGeom prst="rect">
            <a:avLst/>
          </a:prstGeom>
          <a:solidFill>
            <a:srgbClr val="B553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Han pasado a la cadena alimenticia</a:t>
            </a:r>
            <a:endParaRPr/>
          </a:p>
        </p:txBody>
      </p:sp>
      <p:sp>
        <p:nvSpPr>
          <p:cNvPr id="563" name="Google Shape;563;p17"/>
          <p:cNvSpPr txBox="1"/>
          <p:nvPr/>
        </p:nvSpPr>
        <p:spPr>
          <a:xfrm>
            <a:off x="4262284" y="3864077"/>
            <a:ext cx="27448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 de 5 mm</a:t>
            </a:r>
            <a:endParaRPr/>
          </a:p>
        </p:txBody>
      </p:sp>
      <p:sp>
        <p:nvSpPr>
          <p:cNvPr id="564" name="Google Shape;564;p17"/>
          <p:cNvSpPr txBox="1"/>
          <p:nvPr/>
        </p:nvSpPr>
        <p:spPr>
          <a:xfrm>
            <a:off x="4262284" y="5683046"/>
            <a:ext cx="27448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 1 y 100 nm</a:t>
            </a:r>
            <a:endParaRPr/>
          </a:p>
        </p:txBody>
      </p:sp>
      <p:sp>
        <p:nvSpPr>
          <p:cNvPr id="565" name="Google Shape;565;p17"/>
          <p:cNvSpPr txBox="1"/>
          <p:nvPr/>
        </p:nvSpPr>
        <p:spPr>
          <a:xfrm>
            <a:off x="8433405" y="5567013"/>
            <a:ext cx="274483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Plástico sedimentado junto a las rocas</a:t>
            </a:r>
            <a:endParaRPr/>
          </a:p>
        </p:txBody>
      </p:sp>
      <p:sp>
        <p:nvSpPr>
          <p:cNvPr id="566" name="Google Shape;566;p17"/>
          <p:cNvSpPr txBox="1"/>
          <p:nvPr/>
        </p:nvSpPr>
        <p:spPr>
          <a:xfrm>
            <a:off x="372292" y="2497673"/>
            <a:ext cx="31060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 del problema de los plásticos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8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LAS DESIGUALDADES SOCIALES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572" name="Google Shape;572;p18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3" name="Google Shape;573;p18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574" name="Google Shape;574;p18"/>
          <p:cNvSpPr/>
          <p:nvPr/>
        </p:nvSpPr>
        <p:spPr>
          <a:xfrm>
            <a:off x="3478389" y="1433954"/>
            <a:ext cx="4397474" cy="717515"/>
          </a:xfrm>
          <a:prstGeom prst="round2DiagRect">
            <a:avLst>
              <a:gd fmla="val 16667" name="adj1"/>
              <a:gd fmla="val 0" name="adj2"/>
            </a:avLst>
          </a:prstGeom>
          <a:gradFill>
            <a:gsLst>
              <a:gs pos="0">
                <a:srgbClr val="AFAFAF"/>
              </a:gs>
              <a:gs pos="50000">
                <a:schemeClr val="accent3"/>
              </a:gs>
              <a:gs pos="100000">
                <a:srgbClr val="919191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Desigualdad entre países</a:t>
            </a:r>
            <a:endParaRPr/>
          </a:p>
        </p:txBody>
      </p:sp>
      <p:pic>
        <p:nvPicPr>
          <p:cNvPr id="575" name="Google Shape;5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18" y="2269626"/>
            <a:ext cx="7800975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2307" y="5920419"/>
            <a:ext cx="5534797" cy="28579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18"/>
          <p:cNvSpPr txBox="1"/>
          <p:nvPr/>
        </p:nvSpPr>
        <p:spPr>
          <a:xfrm>
            <a:off x="1580489" y="6443053"/>
            <a:ext cx="4758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</a:t>
            </a: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Banco Mundial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8"/>
          <p:cNvSpPr txBox="1"/>
          <p:nvPr/>
        </p:nvSpPr>
        <p:spPr>
          <a:xfrm>
            <a:off x="8377084" y="2698955"/>
            <a:ext cx="3347884" cy="2352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Causas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Históricas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Geográficas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 de salud y educación de sus habitantes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19"/>
          <p:cNvPicPr preferRelativeResize="0"/>
          <p:nvPr/>
        </p:nvPicPr>
        <p:blipFill rotWithShape="1">
          <a:blip r:embed="rId3">
            <a:alphaModFix/>
          </a:blip>
          <a:srcRect b="10817" l="0" r="0" t="0"/>
          <a:stretch/>
        </p:blipFill>
        <p:spPr>
          <a:xfrm>
            <a:off x="235974" y="2062981"/>
            <a:ext cx="7262106" cy="310087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19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LAS DESIGUALDADES SOCIALES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585" name="Google Shape;585;p19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6" name="Google Shape;586;p19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587" name="Google Shape;587;p19"/>
          <p:cNvSpPr/>
          <p:nvPr/>
        </p:nvSpPr>
        <p:spPr>
          <a:xfrm>
            <a:off x="3478389" y="1403474"/>
            <a:ext cx="4397474" cy="717515"/>
          </a:xfrm>
          <a:prstGeom prst="round2DiagRect">
            <a:avLst>
              <a:gd fmla="val 16667" name="adj1"/>
              <a:gd fmla="val 0" name="adj2"/>
            </a:avLst>
          </a:prstGeom>
          <a:gradFill>
            <a:gsLst>
              <a:gs pos="0">
                <a:srgbClr val="AFAFAF"/>
              </a:gs>
              <a:gs pos="50000">
                <a:schemeClr val="accent3"/>
              </a:gs>
              <a:gs pos="100000">
                <a:srgbClr val="919191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Desigualdad dentro de una misma sociedad</a:t>
            </a:r>
            <a:endParaRPr/>
          </a:p>
        </p:txBody>
      </p:sp>
      <p:sp>
        <p:nvSpPr>
          <p:cNvPr id="588" name="Google Shape;588;p19"/>
          <p:cNvSpPr txBox="1"/>
          <p:nvPr/>
        </p:nvSpPr>
        <p:spPr>
          <a:xfrm>
            <a:off x="235974" y="1433954"/>
            <a:ext cx="29201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</a:t>
            </a: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Instituto Nacional de Estadística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9"/>
          <p:cNvSpPr txBox="1"/>
          <p:nvPr/>
        </p:nvSpPr>
        <p:spPr>
          <a:xfrm>
            <a:off x="235974" y="5316792"/>
            <a:ext cx="726210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Índice S80/S20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Cociente entre los ingresos del 20% más rico de la población y los ingresos del 20% más pobre, en un año natural.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Índice de Gini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Vale 0 cuando todas las personas de la población tienen los mismos ingresos (plena igualdad) y 100 cuando solamente una persona recibe todos los ingresos de la sociedad (plena desigualdad)</a:t>
            </a:r>
            <a:endParaRPr/>
          </a:p>
        </p:txBody>
      </p:sp>
      <p:sp>
        <p:nvSpPr>
          <p:cNvPr id="590" name="Google Shape;590;p19"/>
          <p:cNvSpPr txBox="1"/>
          <p:nvPr/>
        </p:nvSpPr>
        <p:spPr>
          <a:xfrm>
            <a:off x="6147802" y="4928191"/>
            <a:ext cx="975669" cy="382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España</a:t>
            </a:r>
            <a:endParaRPr/>
          </a:p>
        </p:txBody>
      </p:sp>
      <p:sp>
        <p:nvSpPr>
          <p:cNvPr id="591" name="Google Shape;591;p19"/>
          <p:cNvSpPr/>
          <p:nvPr/>
        </p:nvSpPr>
        <p:spPr>
          <a:xfrm>
            <a:off x="8409647" y="2080285"/>
            <a:ext cx="2999792" cy="1209599"/>
          </a:xfrm>
          <a:prstGeom prst="round2DiagRect">
            <a:avLst>
              <a:gd fmla="val 16667" name="adj1"/>
              <a:gd fmla="val 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POBREZA: Sin recursos suficientes para llevar una vida digna.</a:t>
            </a:r>
            <a:endParaRPr/>
          </a:p>
        </p:txBody>
      </p:sp>
      <p:sp>
        <p:nvSpPr>
          <p:cNvPr id="592" name="Google Shape;592;p19"/>
          <p:cNvSpPr/>
          <p:nvPr/>
        </p:nvSpPr>
        <p:spPr>
          <a:xfrm>
            <a:off x="9617258" y="3591155"/>
            <a:ext cx="516194" cy="72453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9"/>
          <p:cNvSpPr/>
          <p:nvPr/>
        </p:nvSpPr>
        <p:spPr>
          <a:xfrm>
            <a:off x="8414576" y="4444953"/>
            <a:ext cx="2920200" cy="1731300"/>
          </a:xfrm>
          <a:prstGeom prst="round2DiagRect">
            <a:avLst>
              <a:gd fmla="val 16667" name="adj1"/>
              <a:gd fmla="val 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POBREZA EXTREMA: Sin recursos suficientes para cubrir sus necesidades alimentarias.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0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LAS DESIGUALDADES SOCIALES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599" name="Google Shape;599;p20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0" name="Google Shape;600;p20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601" name="Google Shape;601;p20"/>
          <p:cNvSpPr/>
          <p:nvPr/>
        </p:nvSpPr>
        <p:spPr>
          <a:xfrm>
            <a:off x="3478389" y="1433954"/>
            <a:ext cx="4397474" cy="717515"/>
          </a:xfrm>
          <a:prstGeom prst="round2DiagRect">
            <a:avLst>
              <a:gd fmla="val 16667" name="adj1"/>
              <a:gd fmla="val 0" name="adj2"/>
            </a:avLst>
          </a:prstGeom>
          <a:gradFill>
            <a:gsLst>
              <a:gs pos="0">
                <a:srgbClr val="AFAFAF"/>
              </a:gs>
              <a:gs pos="50000">
                <a:schemeClr val="accent3"/>
              </a:gs>
              <a:gs pos="100000">
                <a:srgbClr val="919191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Desigualdad entre hombres y mujeres</a:t>
            </a:r>
            <a:endParaRPr/>
          </a:p>
        </p:txBody>
      </p:sp>
      <p:pic>
        <p:nvPicPr>
          <p:cNvPr id="602" name="Google Shape;6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749" y="2224406"/>
            <a:ext cx="7045927" cy="4581143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0"/>
          <p:cNvSpPr txBox="1"/>
          <p:nvPr/>
        </p:nvSpPr>
        <p:spPr>
          <a:xfrm>
            <a:off x="191729" y="1433954"/>
            <a:ext cx="31119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</a:t>
            </a: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Ministerio de Igualdad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0"/>
          <p:cNvSpPr txBox="1"/>
          <p:nvPr/>
        </p:nvSpPr>
        <p:spPr>
          <a:xfrm>
            <a:off x="8050613" y="2577310"/>
            <a:ext cx="3231903" cy="1200329"/>
          </a:xfrm>
          <a:prstGeom prst="rect">
            <a:avLst/>
          </a:prstGeom>
          <a:solidFill>
            <a:srgbClr val="EDEDED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mujeres ocupan, como media, puestos peor retribuidos, con mayor temporalidad y contratos a tiempo parcial.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1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0" name="Google Shape;610;p21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611" name="Google Shape;611;p21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21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21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21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21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6" name="Google Shape;616;p21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1.2. LA MEDIDA DE LA ACCIÓN HUMANA SOBRE EL ENTORNO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1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2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3100">
                <a:latin typeface="Calibri"/>
                <a:ea typeface="Calibri"/>
                <a:cs typeface="Calibri"/>
                <a:sym typeface="Calibri"/>
              </a:rPr>
              <a:t>LA MEDIDA DE LA ACCIÓN HUMANA SOBRE EL ENTORNO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23" name="Google Shape;623;p22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4" name="Google Shape;624;p22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625" name="Google Shape;6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3329" y="1580891"/>
            <a:ext cx="8673484" cy="49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3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 HUELLA ECOLÓGICA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32" name="Google Shape;632;p23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3" name="Google Shape;633;p2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634" name="Google Shape;634;p23"/>
          <p:cNvSpPr txBox="1"/>
          <p:nvPr/>
        </p:nvSpPr>
        <p:spPr>
          <a:xfrm>
            <a:off x="6232755" y="4503005"/>
            <a:ext cx="5176684" cy="1938992"/>
          </a:xfrm>
          <a:prstGeom prst="rect">
            <a:avLst/>
          </a:prstGeom>
          <a:solidFill>
            <a:srgbClr val="C4E0B2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Indicador que se expresa como la 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superficie en hectáreas de terreno biológicamente activo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necesaria para producir los recursos que se han empleado en una determinada acción y absorber los residuos generados, de manera indefinida en el tiempo.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3"/>
          <p:cNvSpPr/>
          <p:nvPr/>
        </p:nvSpPr>
        <p:spPr>
          <a:xfrm>
            <a:off x="7109055" y="2471746"/>
            <a:ext cx="3424084" cy="855407"/>
          </a:xfrm>
          <a:prstGeom prst="snip2DiagRect">
            <a:avLst>
              <a:gd fmla="val 0" name="adj1"/>
              <a:gd fmla="val 34723" name="adj2"/>
            </a:avLst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HUELLA ECOLÓGICA</a:t>
            </a:r>
            <a:endParaRPr/>
          </a:p>
        </p:txBody>
      </p:sp>
      <p:sp>
        <p:nvSpPr>
          <p:cNvPr id="636" name="Google Shape;636;p23"/>
          <p:cNvSpPr/>
          <p:nvPr/>
        </p:nvSpPr>
        <p:spPr>
          <a:xfrm rot="5400000">
            <a:off x="8268033" y="3582355"/>
            <a:ext cx="1106129" cy="708995"/>
          </a:xfrm>
          <a:prstGeom prst="striped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3"/>
          <p:cNvSpPr/>
          <p:nvPr/>
        </p:nvSpPr>
        <p:spPr>
          <a:xfrm>
            <a:off x="1797397" y="1385499"/>
            <a:ext cx="6623935" cy="855408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valor de equilibrio, es decir, lo que el planeta es capaz de regenerar, actualmente está en 1,8 hectáreas</a:t>
            </a:r>
            <a:endParaRPr/>
          </a:p>
        </p:txBody>
      </p:sp>
      <p:sp>
        <p:nvSpPr>
          <p:cNvPr id="638" name="Google Shape;638;p23"/>
          <p:cNvSpPr txBox="1"/>
          <p:nvPr/>
        </p:nvSpPr>
        <p:spPr>
          <a:xfrm>
            <a:off x="184727" y="4836957"/>
            <a:ext cx="5281527" cy="1631216"/>
          </a:xfrm>
          <a:prstGeom prst="rect">
            <a:avLst/>
          </a:prstGeom>
          <a:solidFill>
            <a:srgbClr val="C4E0B2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 de un área concreta para producir recursos renovables y absorber los residuos producidos por la actividad humana, sin exceder los límites de regeneración y absorción de ese ecosistema.</a:t>
            </a:r>
            <a:endParaRPr/>
          </a:p>
        </p:txBody>
      </p:sp>
      <p:sp>
        <p:nvSpPr>
          <p:cNvPr id="639" name="Google Shape;639;p23"/>
          <p:cNvSpPr/>
          <p:nvPr/>
        </p:nvSpPr>
        <p:spPr>
          <a:xfrm>
            <a:off x="1061028" y="2470956"/>
            <a:ext cx="3493432" cy="906410"/>
          </a:xfrm>
          <a:prstGeom prst="snip2DiagRect">
            <a:avLst>
              <a:gd fmla="val 0" name="adj1"/>
              <a:gd fmla="val 34723" name="adj2"/>
            </a:avLst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BIOCAPACIDAD</a:t>
            </a:r>
            <a:endParaRPr/>
          </a:p>
        </p:txBody>
      </p:sp>
      <p:sp>
        <p:nvSpPr>
          <p:cNvPr id="640" name="Google Shape;640;p23"/>
          <p:cNvSpPr/>
          <p:nvPr/>
        </p:nvSpPr>
        <p:spPr>
          <a:xfrm rot="5400000">
            <a:off x="2194208" y="3770212"/>
            <a:ext cx="1172081" cy="723354"/>
          </a:xfrm>
          <a:prstGeom prst="striped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24"/>
          <p:cNvPicPr preferRelativeResize="0"/>
          <p:nvPr/>
        </p:nvPicPr>
        <p:blipFill rotWithShape="1">
          <a:blip r:embed="rId3">
            <a:alphaModFix/>
          </a:blip>
          <a:srcRect b="0" l="0" r="0" t="42830"/>
          <a:stretch/>
        </p:blipFill>
        <p:spPr>
          <a:xfrm>
            <a:off x="1097250" y="6137041"/>
            <a:ext cx="6210518" cy="730836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24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 HUELLA ECOLÓGICA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48" name="Google Shape;648;p24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9" name="Google Shape;649;p2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descr="Un dibujo de una persona&#10;&#10;Descripción generada automáticamente con confianza baja" id="650" name="Google Shape;650;p24"/>
          <p:cNvPicPr preferRelativeResize="0"/>
          <p:nvPr/>
        </p:nvPicPr>
        <p:blipFill rotWithShape="1">
          <a:blip r:embed="rId4">
            <a:alphaModFix/>
          </a:blip>
          <a:srcRect b="13977" l="0" r="0" t="13978"/>
          <a:stretch/>
        </p:blipFill>
        <p:spPr>
          <a:xfrm>
            <a:off x="1445344" y="1344320"/>
            <a:ext cx="9940409" cy="4774248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24"/>
          <p:cNvSpPr txBox="1"/>
          <p:nvPr/>
        </p:nvSpPr>
        <p:spPr>
          <a:xfrm>
            <a:off x="147484" y="3657600"/>
            <a:ext cx="250722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valor de la huella ecológica varía considerablemente de un país a otro, siendo los países más desarrollados los que causan un impacto mayor.</a:t>
            </a:r>
            <a:endParaRPr/>
          </a:p>
        </p:txBody>
      </p:sp>
      <p:sp>
        <p:nvSpPr>
          <p:cNvPr id="652" name="Google Shape;652;p24"/>
          <p:cNvSpPr txBox="1"/>
          <p:nvPr/>
        </p:nvSpPr>
        <p:spPr>
          <a:xfrm>
            <a:off x="8064500" y="6118568"/>
            <a:ext cx="3162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Más datos interactivos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5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 HUELLA ECOLÓGICA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59" name="Google Shape;659;p25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0" name="Google Shape;660;p2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661" name="Google Shape;661;p25"/>
          <p:cNvSpPr txBox="1"/>
          <p:nvPr/>
        </p:nvSpPr>
        <p:spPr>
          <a:xfrm>
            <a:off x="8697005" y="1782709"/>
            <a:ext cx="28230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2" name="Google Shape;6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075" y="1357315"/>
            <a:ext cx="7312023" cy="54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25"/>
          <p:cNvSpPr txBox="1"/>
          <p:nvPr/>
        </p:nvSpPr>
        <p:spPr>
          <a:xfrm>
            <a:off x="8491104" y="2569353"/>
            <a:ext cx="2918335" cy="3416320"/>
          </a:xfrm>
          <a:prstGeom prst="rect">
            <a:avLst/>
          </a:prstGeom>
          <a:solidFill>
            <a:srgbClr val="BBD6EE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Día de la Deuda Ecológica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Día de la Sobrecapacidad de la Tierra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(también </a:t>
            </a:r>
            <a:r>
              <a:rPr i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Earth Overshoot Day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i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Ecological Debt Day,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inglés): Se trata de la fecha de calendario en el que toda la humanidad, una región, un país o una persona… han consumido los recursos que le brinda el planeta hasta el límite de su biocapacidad durante un año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6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 HUELLA </a:t>
            </a: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DE CARBONO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70" name="Google Shape;670;p26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1" name="Google Shape;671;p2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672" name="Google Shape;6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808" y="1969688"/>
            <a:ext cx="5486469" cy="2722385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26"/>
          <p:cNvSpPr txBox="1"/>
          <p:nvPr/>
        </p:nvSpPr>
        <p:spPr>
          <a:xfrm>
            <a:off x="826808" y="1436914"/>
            <a:ext cx="62411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</a:t>
            </a: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Informe sobre la brecha de emisiones 2023 de la ONU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6"/>
          <p:cNvSpPr txBox="1"/>
          <p:nvPr/>
        </p:nvSpPr>
        <p:spPr>
          <a:xfrm>
            <a:off x="1934373" y="5128394"/>
            <a:ext cx="17297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emisiones siguen aumentando año tras año</a:t>
            </a:r>
            <a:endParaRPr/>
          </a:p>
        </p:txBody>
      </p:sp>
      <p:sp>
        <p:nvSpPr>
          <p:cNvPr id="675" name="Google Shape;675;p26"/>
          <p:cNvSpPr txBox="1"/>
          <p:nvPr/>
        </p:nvSpPr>
        <p:spPr>
          <a:xfrm>
            <a:off x="6587339" y="4408270"/>
            <a:ext cx="5176684" cy="1508105"/>
          </a:xfrm>
          <a:prstGeom prst="rect">
            <a:avLst/>
          </a:prstGeom>
          <a:solidFill>
            <a:srgbClr val="F4B08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Mide la contribución al cambio climático de una determinada actividad cuantificando todos los gases de efecto invernadero que se han emitido a la atmósfera 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expresa en toneladas equivalentes de dióxido de carbono (CO</a:t>
            </a:r>
            <a:r>
              <a:rPr baseline="-25000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6"/>
          <p:cNvSpPr/>
          <p:nvPr/>
        </p:nvSpPr>
        <p:spPr>
          <a:xfrm>
            <a:off x="7463639" y="1602311"/>
            <a:ext cx="3424084" cy="855407"/>
          </a:xfrm>
          <a:prstGeom prst="snip2DiagRect">
            <a:avLst>
              <a:gd fmla="val 0" name="adj1"/>
              <a:gd fmla="val 34723" name="adj2"/>
            </a:avLst>
          </a:prstGeom>
          <a:solidFill>
            <a:srgbClr val="C55A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HUELLA DE CARBONO</a:t>
            </a:r>
            <a:endParaRPr/>
          </a:p>
        </p:txBody>
      </p:sp>
      <p:sp>
        <p:nvSpPr>
          <p:cNvPr id="677" name="Google Shape;677;p26"/>
          <p:cNvSpPr/>
          <p:nvPr/>
        </p:nvSpPr>
        <p:spPr>
          <a:xfrm rot="5400000">
            <a:off x="8622616" y="3112878"/>
            <a:ext cx="1106129" cy="708995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7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 HUELLA </a:t>
            </a: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DE CARBONO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84" name="Google Shape;684;p27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5" name="Google Shape;685;p2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686" name="Google Shape;686;p27"/>
          <p:cNvGrpSpPr/>
          <p:nvPr/>
        </p:nvGrpSpPr>
        <p:grpSpPr>
          <a:xfrm>
            <a:off x="179234" y="2600921"/>
            <a:ext cx="11744630" cy="2709848"/>
            <a:chOff x="1434" y="1013422"/>
            <a:chExt cx="11744630" cy="2709848"/>
          </a:xfrm>
        </p:grpSpPr>
        <p:sp>
          <p:nvSpPr>
            <p:cNvPr id="687" name="Google Shape;687;p27"/>
            <p:cNvSpPr/>
            <p:nvPr/>
          </p:nvSpPr>
          <p:spPr>
            <a:xfrm>
              <a:off x="5783406" y="2046046"/>
              <a:ext cx="4968882" cy="47294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81776"/>
                  </a:lnTo>
                  <a:lnTo>
                    <a:pt x="120000" y="81776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688" name="Google Shape;688;p27"/>
            <p:cNvSpPr/>
            <p:nvPr/>
          </p:nvSpPr>
          <p:spPr>
            <a:xfrm>
              <a:off x="5783406" y="2046046"/>
              <a:ext cx="2981329" cy="47294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81776"/>
                  </a:lnTo>
                  <a:lnTo>
                    <a:pt x="120000" y="81776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689" name="Google Shape;689;p27"/>
            <p:cNvSpPr/>
            <p:nvPr/>
          </p:nvSpPr>
          <p:spPr>
            <a:xfrm>
              <a:off x="5783406" y="2046046"/>
              <a:ext cx="993776" cy="47294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81776"/>
                  </a:lnTo>
                  <a:lnTo>
                    <a:pt x="120000" y="81776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690" name="Google Shape;690;p27"/>
            <p:cNvSpPr/>
            <p:nvPr/>
          </p:nvSpPr>
          <p:spPr>
            <a:xfrm>
              <a:off x="4789629" y="2046046"/>
              <a:ext cx="993776" cy="472947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81776"/>
                  </a:lnTo>
                  <a:lnTo>
                    <a:pt x="0" y="81776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691" name="Google Shape;691;p27"/>
            <p:cNvSpPr/>
            <p:nvPr/>
          </p:nvSpPr>
          <p:spPr>
            <a:xfrm>
              <a:off x="2802076" y="2046046"/>
              <a:ext cx="2981329" cy="472947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81776"/>
                  </a:lnTo>
                  <a:lnTo>
                    <a:pt x="0" y="81776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692" name="Google Shape;692;p27"/>
            <p:cNvSpPr/>
            <p:nvPr/>
          </p:nvSpPr>
          <p:spPr>
            <a:xfrm>
              <a:off x="814523" y="2046046"/>
              <a:ext cx="4968882" cy="472947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81776"/>
                  </a:lnTo>
                  <a:lnTo>
                    <a:pt x="0" y="81776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693" name="Google Shape;693;p27"/>
            <p:cNvSpPr/>
            <p:nvPr/>
          </p:nvSpPr>
          <p:spPr>
            <a:xfrm>
              <a:off x="4970316" y="1013422"/>
              <a:ext cx="1626179" cy="103262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7"/>
            <p:cNvSpPr/>
            <p:nvPr/>
          </p:nvSpPr>
          <p:spPr>
            <a:xfrm>
              <a:off x="5151002" y="1185074"/>
              <a:ext cx="1626179" cy="1032624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952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7"/>
            <p:cNvSpPr txBox="1"/>
            <p:nvPr/>
          </p:nvSpPr>
          <p:spPr>
            <a:xfrm>
              <a:off x="5181247" y="1215319"/>
              <a:ext cx="1565689" cy="972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Tipos de huella de carbono</a:t>
              </a:r>
              <a:endParaRPr/>
            </a:p>
          </p:txBody>
        </p:sp>
        <p:sp>
          <p:nvSpPr>
            <p:cNvPr id="696" name="Google Shape;696;p27"/>
            <p:cNvSpPr/>
            <p:nvPr/>
          </p:nvSpPr>
          <p:spPr>
            <a:xfrm>
              <a:off x="1434" y="2518993"/>
              <a:ext cx="1626179" cy="103262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FFC647"/>
                </a:gs>
                <a:gs pos="50000">
                  <a:srgbClr val="FFC600"/>
                </a:gs>
                <a:gs pos="100000">
                  <a:srgbClr val="E3B4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7"/>
            <p:cNvSpPr/>
            <p:nvPr/>
          </p:nvSpPr>
          <p:spPr>
            <a:xfrm>
              <a:off x="182120" y="2690646"/>
              <a:ext cx="1626179" cy="1032624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7"/>
            <p:cNvSpPr txBox="1"/>
            <p:nvPr/>
          </p:nvSpPr>
          <p:spPr>
            <a:xfrm>
              <a:off x="212365" y="2720891"/>
              <a:ext cx="1565689" cy="972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Huella personal</a:t>
              </a:r>
              <a:endParaRPr/>
            </a:p>
          </p:txBody>
        </p:sp>
        <p:sp>
          <p:nvSpPr>
            <p:cNvPr id="699" name="Google Shape;699;p27"/>
            <p:cNvSpPr/>
            <p:nvPr/>
          </p:nvSpPr>
          <p:spPr>
            <a:xfrm>
              <a:off x="1988986" y="2518993"/>
              <a:ext cx="1626179" cy="103262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FFC647"/>
                </a:gs>
                <a:gs pos="50000">
                  <a:srgbClr val="FFC600"/>
                </a:gs>
                <a:gs pos="100000">
                  <a:srgbClr val="E3B4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7"/>
            <p:cNvSpPr/>
            <p:nvPr/>
          </p:nvSpPr>
          <p:spPr>
            <a:xfrm>
              <a:off x="2169673" y="2690646"/>
              <a:ext cx="1626179" cy="1032624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7"/>
            <p:cNvSpPr txBox="1"/>
            <p:nvPr/>
          </p:nvSpPr>
          <p:spPr>
            <a:xfrm>
              <a:off x="2199918" y="2720891"/>
              <a:ext cx="1565689" cy="972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Huella de producto o servicio</a:t>
              </a:r>
              <a:endParaRPr/>
            </a:p>
          </p:txBody>
        </p:sp>
        <p:sp>
          <p:nvSpPr>
            <p:cNvPr id="702" name="Google Shape;702;p27"/>
            <p:cNvSpPr/>
            <p:nvPr/>
          </p:nvSpPr>
          <p:spPr>
            <a:xfrm>
              <a:off x="3976539" y="2518993"/>
              <a:ext cx="1626179" cy="103262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FFC647"/>
                </a:gs>
                <a:gs pos="50000">
                  <a:srgbClr val="FFC600"/>
                </a:gs>
                <a:gs pos="100000">
                  <a:srgbClr val="E3B4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7"/>
            <p:cNvSpPr/>
            <p:nvPr/>
          </p:nvSpPr>
          <p:spPr>
            <a:xfrm>
              <a:off x="4157226" y="2690646"/>
              <a:ext cx="1626179" cy="1032624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7"/>
            <p:cNvSpPr txBox="1"/>
            <p:nvPr/>
          </p:nvSpPr>
          <p:spPr>
            <a:xfrm>
              <a:off x="4187471" y="2720891"/>
              <a:ext cx="1565689" cy="972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Huella corporativa o de empresa</a:t>
              </a:r>
              <a:endParaRPr/>
            </a:p>
          </p:txBody>
        </p:sp>
        <p:sp>
          <p:nvSpPr>
            <p:cNvPr id="705" name="Google Shape;705;p27"/>
            <p:cNvSpPr/>
            <p:nvPr/>
          </p:nvSpPr>
          <p:spPr>
            <a:xfrm>
              <a:off x="5964092" y="2518993"/>
              <a:ext cx="1626179" cy="103262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FFC647"/>
                </a:gs>
                <a:gs pos="50000">
                  <a:srgbClr val="FFC600"/>
                </a:gs>
                <a:gs pos="100000">
                  <a:srgbClr val="E3B4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7"/>
            <p:cNvSpPr/>
            <p:nvPr/>
          </p:nvSpPr>
          <p:spPr>
            <a:xfrm>
              <a:off x="6144779" y="2690646"/>
              <a:ext cx="1626179" cy="1032624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7"/>
            <p:cNvSpPr txBox="1"/>
            <p:nvPr/>
          </p:nvSpPr>
          <p:spPr>
            <a:xfrm>
              <a:off x="6175024" y="2720891"/>
              <a:ext cx="1565689" cy="972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Huella de eventos</a:t>
              </a:r>
              <a:endParaRPr/>
            </a:p>
          </p:txBody>
        </p:sp>
        <p:sp>
          <p:nvSpPr>
            <p:cNvPr id="708" name="Google Shape;708;p27"/>
            <p:cNvSpPr/>
            <p:nvPr/>
          </p:nvSpPr>
          <p:spPr>
            <a:xfrm>
              <a:off x="7951645" y="2518993"/>
              <a:ext cx="1626179" cy="103262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FFC647"/>
                </a:gs>
                <a:gs pos="50000">
                  <a:srgbClr val="FFC600"/>
                </a:gs>
                <a:gs pos="100000">
                  <a:srgbClr val="E3B4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7"/>
            <p:cNvSpPr/>
            <p:nvPr/>
          </p:nvSpPr>
          <p:spPr>
            <a:xfrm>
              <a:off x="8132332" y="2690646"/>
              <a:ext cx="1626179" cy="1032624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7"/>
            <p:cNvSpPr txBox="1"/>
            <p:nvPr/>
          </p:nvSpPr>
          <p:spPr>
            <a:xfrm>
              <a:off x="8162577" y="2720891"/>
              <a:ext cx="1565689" cy="972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Huella territorial</a:t>
              </a:r>
              <a:endParaRPr/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9939198" y="2518993"/>
              <a:ext cx="1626179" cy="103262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FFC647"/>
                </a:gs>
                <a:gs pos="50000">
                  <a:srgbClr val="FFC600"/>
                </a:gs>
                <a:gs pos="100000">
                  <a:srgbClr val="E3B4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7"/>
            <p:cNvSpPr/>
            <p:nvPr/>
          </p:nvSpPr>
          <p:spPr>
            <a:xfrm>
              <a:off x="10119885" y="2690646"/>
              <a:ext cx="1626179" cy="1032624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7"/>
            <p:cNvSpPr txBox="1"/>
            <p:nvPr/>
          </p:nvSpPr>
          <p:spPr>
            <a:xfrm>
              <a:off x="10150130" y="2720891"/>
              <a:ext cx="1565689" cy="972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Huella de un sector productivo</a:t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9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LA HUELLA HÍDRICA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720" name="Google Shape;720;p29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1" name="Google Shape;721;p29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722" name="Google Shape;7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1218" y="1969688"/>
            <a:ext cx="5925486" cy="2565226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29"/>
          <p:cNvSpPr txBox="1"/>
          <p:nvPr/>
        </p:nvSpPr>
        <p:spPr>
          <a:xfrm>
            <a:off x="1301218" y="1615804"/>
            <a:ext cx="675140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 anual de meses con escasez de agua potable</a:t>
            </a:r>
            <a:endParaRPr/>
          </a:p>
        </p:txBody>
      </p:sp>
      <p:sp>
        <p:nvSpPr>
          <p:cNvPr id="724" name="Google Shape;724;p29"/>
          <p:cNvSpPr/>
          <p:nvPr/>
        </p:nvSpPr>
        <p:spPr>
          <a:xfrm>
            <a:off x="3628098" y="6120581"/>
            <a:ext cx="3598606" cy="44393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agua es un recurso escaso</a:t>
            </a:r>
            <a:endParaRPr/>
          </a:p>
        </p:txBody>
      </p:sp>
      <p:sp>
        <p:nvSpPr>
          <p:cNvPr id="725" name="Google Shape;725;p29"/>
          <p:cNvSpPr txBox="1"/>
          <p:nvPr/>
        </p:nvSpPr>
        <p:spPr>
          <a:xfrm>
            <a:off x="7573817" y="4424946"/>
            <a:ext cx="3715527" cy="1169551"/>
          </a:xfrm>
          <a:prstGeom prst="rect">
            <a:avLst/>
          </a:prstGeom>
          <a:solidFill>
            <a:srgbClr val="BBD6EE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el volumen de agua dulce, expresada en litros o metros cúbicos, que se emplea o se contamina en toda la cadena de producción de un determinado bien de consumo o cualquier actividad humana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9"/>
          <p:cNvSpPr/>
          <p:nvPr/>
        </p:nvSpPr>
        <p:spPr>
          <a:xfrm>
            <a:off x="7865261" y="1618987"/>
            <a:ext cx="3424084" cy="855407"/>
          </a:xfrm>
          <a:prstGeom prst="snip2DiagRect">
            <a:avLst>
              <a:gd fmla="val 38871" name="adj1"/>
              <a:gd fmla="val 34723" name="adj2"/>
            </a:avLst>
          </a:prstGeom>
          <a:solidFill>
            <a:srgbClr val="2E7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HUELLA HÍDRICA</a:t>
            </a:r>
            <a:endParaRPr/>
          </a:p>
        </p:txBody>
      </p:sp>
      <p:sp>
        <p:nvSpPr>
          <p:cNvPr id="727" name="Google Shape;727;p29"/>
          <p:cNvSpPr/>
          <p:nvPr/>
        </p:nvSpPr>
        <p:spPr>
          <a:xfrm rot="5400000">
            <a:off x="9024238" y="3129554"/>
            <a:ext cx="1106129" cy="708995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3" name="Google Shape;733;p30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734" name="Google Shape;734;p30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30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0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30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30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9" name="Google Shape;739;p30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1.3. LAS CONSECUENCIAS DEL CAMBIO CLIMÁTICO SOBRE LAS PERSONAS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0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1"/>
          <p:cNvSpPr txBox="1"/>
          <p:nvPr>
            <p:ph type="title"/>
          </p:nvPr>
        </p:nvSpPr>
        <p:spPr>
          <a:xfrm>
            <a:off x="838201" y="533807"/>
            <a:ext cx="7826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LAS CONSECUENCIAS DEL CAMBIO CLIMÁTICO SOBRE LAS PERSONAS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747" name="Google Shape;747;p31"/>
          <p:cNvCxnSpPr/>
          <p:nvPr/>
        </p:nvCxnSpPr>
        <p:spPr>
          <a:xfrm>
            <a:off x="-8878" y="1251747"/>
            <a:ext cx="8673600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8" name="Google Shape;748;p31"/>
          <p:cNvSpPr txBox="1"/>
          <p:nvPr/>
        </p:nvSpPr>
        <p:spPr>
          <a:xfrm>
            <a:off x="6729273" y="6468173"/>
            <a:ext cx="47583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749" name="Google Shape;749;p31"/>
          <p:cNvSpPr/>
          <p:nvPr/>
        </p:nvSpPr>
        <p:spPr>
          <a:xfrm>
            <a:off x="4752475" y="3368850"/>
            <a:ext cx="2426400" cy="99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/>
              <a:t>GIZADIAREN GAINEKO ONDORIOAK</a:t>
            </a:r>
            <a:endParaRPr b="1"/>
          </a:p>
        </p:txBody>
      </p:sp>
      <p:sp>
        <p:nvSpPr>
          <p:cNvPr id="750" name="Google Shape;750;p31"/>
          <p:cNvSpPr/>
          <p:nvPr/>
        </p:nvSpPr>
        <p:spPr>
          <a:xfrm>
            <a:off x="2687050" y="4993100"/>
            <a:ext cx="1764600" cy="9924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GIZADIAREN OSASUNERAKO ARRISKUAK</a:t>
            </a:r>
            <a:endParaRPr/>
          </a:p>
        </p:txBody>
      </p:sp>
      <p:sp>
        <p:nvSpPr>
          <p:cNvPr id="751" name="Google Shape;751;p31"/>
          <p:cNvSpPr/>
          <p:nvPr/>
        </p:nvSpPr>
        <p:spPr>
          <a:xfrm>
            <a:off x="6729150" y="4993100"/>
            <a:ext cx="1764600" cy="9924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ARRISKUAK ELIKAGAIEN OSASUNEAN</a:t>
            </a:r>
            <a:endParaRPr/>
          </a:p>
        </p:txBody>
      </p:sp>
      <p:sp>
        <p:nvSpPr>
          <p:cNvPr id="752" name="Google Shape;752;p31"/>
          <p:cNvSpPr/>
          <p:nvPr/>
        </p:nvSpPr>
        <p:spPr>
          <a:xfrm>
            <a:off x="8943475" y="3268575"/>
            <a:ext cx="2426400" cy="992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KOSTUEN HANDITZEA PRODUKTIBITATEAREN GALERAREKIN</a:t>
            </a:r>
            <a:endParaRPr/>
          </a:p>
        </p:txBody>
      </p:sp>
      <p:sp>
        <p:nvSpPr>
          <p:cNvPr id="753" name="Google Shape;753;p31"/>
          <p:cNvSpPr/>
          <p:nvPr/>
        </p:nvSpPr>
        <p:spPr>
          <a:xfrm>
            <a:off x="733950" y="3268575"/>
            <a:ext cx="2426400" cy="992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POBREZIA ETA BEHARREKO DESPLAZAMENDUA</a:t>
            </a:r>
            <a:endParaRPr/>
          </a:p>
        </p:txBody>
      </p:sp>
      <p:sp>
        <p:nvSpPr>
          <p:cNvPr id="754" name="Google Shape;754;p31"/>
          <p:cNvSpPr/>
          <p:nvPr/>
        </p:nvSpPr>
        <p:spPr>
          <a:xfrm>
            <a:off x="4882800" y="1814100"/>
            <a:ext cx="2426400" cy="992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HORNIDURA KATEETAKO ARRISKUAK</a:t>
            </a:r>
            <a:endParaRPr/>
          </a:p>
        </p:txBody>
      </p:sp>
      <p:cxnSp>
        <p:nvCxnSpPr>
          <p:cNvPr id="755" name="Google Shape;755;p31"/>
          <p:cNvCxnSpPr>
            <a:endCxn id="752" idx="1"/>
          </p:cNvCxnSpPr>
          <p:nvPr/>
        </p:nvCxnSpPr>
        <p:spPr>
          <a:xfrm flipH="1" rot="10800000">
            <a:off x="7198975" y="3764775"/>
            <a:ext cx="1744500" cy="105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6" name="Google Shape;756;p31"/>
          <p:cNvCxnSpPr>
            <a:stCxn id="749" idx="2"/>
            <a:endCxn id="751" idx="0"/>
          </p:cNvCxnSpPr>
          <p:nvPr/>
        </p:nvCxnSpPr>
        <p:spPr>
          <a:xfrm>
            <a:off x="5965675" y="4361250"/>
            <a:ext cx="1645800" cy="631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7" name="Google Shape;757;p31"/>
          <p:cNvCxnSpPr>
            <a:stCxn id="749" idx="2"/>
            <a:endCxn id="750" idx="0"/>
          </p:cNvCxnSpPr>
          <p:nvPr/>
        </p:nvCxnSpPr>
        <p:spPr>
          <a:xfrm flipH="1">
            <a:off x="3569275" y="4361250"/>
            <a:ext cx="2396400" cy="631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8" name="Google Shape;758;p31"/>
          <p:cNvCxnSpPr>
            <a:stCxn id="749" idx="1"/>
            <a:endCxn id="753" idx="3"/>
          </p:cNvCxnSpPr>
          <p:nvPr/>
        </p:nvCxnSpPr>
        <p:spPr>
          <a:xfrm rot="10800000">
            <a:off x="3160375" y="3764850"/>
            <a:ext cx="1592100" cy="100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9" name="Google Shape;759;p31"/>
          <p:cNvCxnSpPr>
            <a:stCxn id="749" idx="0"/>
            <a:endCxn id="754" idx="2"/>
          </p:cNvCxnSpPr>
          <p:nvPr/>
        </p:nvCxnSpPr>
        <p:spPr>
          <a:xfrm flipH="1" rot="10800000">
            <a:off x="5965675" y="2806650"/>
            <a:ext cx="130200" cy="562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2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RIESGOS SOBRE LA SALUD HUMANA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766" name="Google Shape;766;p32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7" name="Google Shape;767;p32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768" name="Google Shape;768;p32"/>
          <p:cNvGrpSpPr/>
          <p:nvPr/>
        </p:nvGrpSpPr>
        <p:grpSpPr>
          <a:xfrm>
            <a:off x="4396776" y="1729091"/>
            <a:ext cx="5030628" cy="4794478"/>
            <a:chOff x="304893" y="1891"/>
            <a:chExt cx="5030628" cy="4794478"/>
          </a:xfrm>
        </p:grpSpPr>
        <p:sp>
          <p:nvSpPr>
            <p:cNvPr id="769" name="Google Shape;769;p32"/>
            <p:cNvSpPr/>
            <p:nvPr/>
          </p:nvSpPr>
          <p:spPr>
            <a:xfrm>
              <a:off x="803782" y="595862"/>
              <a:ext cx="3977556" cy="3977556"/>
            </a:xfrm>
            <a:prstGeom prst="blockArc">
              <a:avLst>
                <a:gd fmla="val 11880000" name="adj1"/>
                <a:gd fmla="val 16200000" name="adj2"/>
                <a:gd fmla="val 4634" name="adj3"/>
              </a:avLst>
            </a:prstGeom>
            <a:gradFill>
              <a:gsLst>
                <a:gs pos="0">
                  <a:srgbClr val="FF4747"/>
                </a:gs>
                <a:gs pos="50000">
                  <a:srgbClr val="FF0000"/>
                </a:gs>
                <a:gs pos="100000">
                  <a:srgbClr val="E300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2"/>
            <p:cNvSpPr/>
            <p:nvPr/>
          </p:nvSpPr>
          <p:spPr>
            <a:xfrm>
              <a:off x="803782" y="595862"/>
              <a:ext cx="3977556" cy="3977556"/>
            </a:xfrm>
            <a:prstGeom prst="blockArc">
              <a:avLst>
                <a:gd fmla="val 7560000" name="adj1"/>
                <a:gd fmla="val 11880000" name="adj2"/>
                <a:gd fmla="val 4634" name="adj3"/>
              </a:avLst>
            </a:prstGeom>
            <a:gradFill>
              <a:gsLst>
                <a:gs pos="0">
                  <a:srgbClr val="E45353"/>
                </a:gs>
                <a:gs pos="50000">
                  <a:srgbClr val="E72626"/>
                </a:gs>
                <a:gs pos="100000">
                  <a:srgbClr val="D6171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2"/>
            <p:cNvSpPr/>
            <p:nvPr/>
          </p:nvSpPr>
          <p:spPr>
            <a:xfrm>
              <a:off x="803782" y="595862"/>
              <a:ext cx="3977556" cy="3977556"/>
            </a:xfrm>
            <a:prstGeom prst="blockArc">
              <a:avLst>
                <a:gd fmla="val 3240000" name="adj1"/>
                <a:gd fmla="val 7560000" name="adj2"/>
                <a:gd fmla="val 4634" name="adj3"/>
              </a:avLst>
            </a:prstGeom>
            <a:gradFill>
              <a:gsLst>
                <a:gs pos="0">
                  <a:srgbClr val="CE7070"/>
                </a:gs>
                <a:gs pos="50000">
                  <a:srgbClr val="CD5455"/>
                </a:gs>
                <a:gs pos="100000">
                  <a:srgbClr val="BB4343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2"/>
            <p:cNvSpPr/>
            <p:nvPr/>
          </p:nvSpPr>
          <p:spPr>
            <a:xfrm>
              <a:off x="803782" y="595862"/>
              <a:ext cx="3977556" cy="3977556"/>
            </a:xfrm>
            <a:prstGeom prst="blockArc">
              <a:avLst>
                <a:gd fmla="val 20520000" name="adj1"/>
                <a:gd fmla="val 3240000" name="adj2"/>
                <a:gd fmla="val 4634" name="adj3"/>
              </a:avLst>
            </a:prstGeom>
            <a:gradFill>
              <a:gsLst>
                <a:gs pos="0">
                  <a:srgbClr val="BA8F8F"/>
                </a:gs>
                <a:gs pos="50000">
                  <a:srgbClr val="B57F7F"/>
                </a:gs>
                <a:gs pos="100000">
                  <a:srgbClr val="A16D6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2"/>
            <p:cNvSpPr/>
            <p:nvPr/>
          </p:nvSpPr>
          <p:spPr>
            <a:xfrm>
              <a:off x="803782" y="595862"/>
              <a:ext cx="3977556" cy="3977556"/>
            </a:xfrm>
            <a:prstGeom prst="blockArc">
              <a:avLst>
                <a:gd fmla="val 16200000" name="adj1"/>
                <a:gd fmla="val 20520000" name="adj2"/>
                <a:gd fmla="val 4634" name="adj3"/>
              </a:avLst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2"/>
            <p:cNvSpPr/>
            <p:nvPr/>
          </p:nvSpPr>
          <p:spPr>
            <a:xfrm>
              <a:off x="1745366" y="1670276"/>
              <a:ext cx="2094388" cy="1828728"/>
            </a:xfrm>
            <a:prstGeom prst="ellipse">
              <a:avLst/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2"/>
            <p:cNvSpPr txBox="1"/>
            <p:nvPr/>
          </p:nvSpPr>
          <p:spPr>
            <a:xfrm>
              <a:off x="2052082" y="1938087"/>
              <a:ext cx="1480956" cy="1293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Exceso de muertes y enfermedades</a:t>
              </a:r>
              <a:endParaRPr/>
            </a:p>
          </p:txBody>
        </p:sp>
        <p:sp>
          <p:nvSpPr>
            <p:cNvPr id="776" name="Google Shape;776;p32"/>
            <p:cNvSpPr/>
            <p:nvPr/>
          </p:nvSpPr>
          <p:spPr>
            <a:xfrm>
              <a:off x="2152505" y="1891"/>
              <a:ext cx="1280110" cy="1280110"/>
            </a:xfrm>
            <a:prstGeom prst="ellipse">
              <a:avLst/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2"/>
            <p:cNvSpPr txBox="1"/>
            <p:nvPr/>
          </p:nvSpPr>
          <p:spPr>
            <a:xfrm>
              <a:off x="2339973" y="189359"/>
              <a:ext cx="905174" cy="905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Alteración de los sistemas alimentarios</a:t>
              </a:r>
              <a:endParaRPr/>
            </a:p>
          </p:txBody>
        </p:sp>
        <p:sp>
          <p:nvSpPr>
            <p:cNvPr id="778" name="Google Shape;778;p32"/>
            <p:cNvSpPr/>
            <p:nvPr/>
          </p:nvSpPr>
          <p:spPr>
            <a:xfrm>
              <a:off x="3944823" y="1344260"/>
              <a:ext cx="1390698" cy="1280110"/>
            </a:xfrm>
            <a:prstGeom prst="ellipse">
              <a:avLst/>
            </a:prstGeom>
            <a:gradFill>
              <a:gsLst>
                <a:gs pos="0">
                  <a:srgbClr val="BA8F8F"/>
                </a:gs>
                <a:gs pos="50000">
                  <a:srgbClr val="B57F7F"/>
                </a:gs>
                <a:gs pos="100000">
                  <a:srgbClr val="A16D6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2"/>
            <p:cNvSpPr txBox="1"/>
            <p:nvPr/>
          </p:nvSpPr>
          <p:spPr>
            <a:xfrm>
              <a:off x="4148486" y="1531728"/>
              <a:ext cx="983372" cy="905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Fenómenos meteorológicos extremos</a:t>
              </a:r>
              <a:endParaRPr/>
            </a:p>
          </p:txBody>
        </p:sp>
        <p:sp>
          <p:nvSpPr>
            <p:cNvPr id="780" name="Google Shape;780;p32"/>
            <p:cNvSpPr/>
            <p:nvPr/>
          </p:nvSpPr>
          <p:spPr>
            <a:xfrm>
              <a:off x="3294392" y="3516259"/>
              <a:ext cx="1280110" cy="1280110"/>
            </a:xfrm>
            <a:prstGeom prst="ellipse">
              <a:avLst/>
            </a:prstGeom>
            <a:gradFill>
              <a:gsLst>
                <a:gs pos="0">
                  <a:srgbClr val="CE7070"/>
                </a:gs>
                <a:gs pos="50000">
                  <a:srgbClr val="CD5455"/>
                </a:gs>
                <a:gs pos="100000">
                  <a:srgbClr val="BB4343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2"/>
            <p:cNvSpPr txBox="1"/>
            <p:nvPr/>
          </p:nvSpPr>
          <p:spPr>
            <a:xfrm>
              <a:off x="3481860" y="3703727"/>
              <a:ext cx="905174" cy="905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Aumento de zoonosis (paso de enfermedades de animales a humanos)</a:t>
              </a:r>
              <a:endParaRPr/>
            </a:p>
          </p:txBody>
        </p:sp>
        <p:sp>
          <p:nvSpPr>
            <p:cNvPr id="782" name="Google Shape;782;p32"/>
            <p:cNvSpPr/>
            <p:nvPr/>
          </p:nvSpPr>
          <p:spPr>
            <a:xfrm>
              <a:off x="1010618" y="3516259"/>
              <a:ext cx="1280110" cy="1280110"/>
            </a:xfrm>
            <a:prstGeom prst="ellipse">
              <a:avLst/>
            </a:prstGeom>
            <a:gradFill>
              <a:gsLst>
                <a:gs pos="0">
                  <a:srgbClr val="E45353"/>
                </a:gs>
                <a:gs pos="50000">
                  <a:srgbClr val="E72626"/>
                </a:gs>
                <a:gs pos="100000">
                  <a:srgbClr val="D6171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2"/>
            <p:cNvSpPr txBox="1"/>
            <p:nvPr/>
          </p:nvSpPr>
          <p:spPr>
            <a:xfrm>
              <a:off x="1198086" y="3703727"/>
              <a:ext cx="905174" cy="905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Enfermedades transmitidas por alimentos, agua y vectores</a:t>
              </a:r>
              <a:endParaRPr/>
            </a:p>
          </p:txBody>
        </p:sp>
        <p:sp>
          <p:nvSpPr>
            <p:cNvPr id="784" name="Google Shape;784;p32"/>
            <p:cNvSpPr/>
            <p:nvPr/>
          </p:nvSpPr>
          <p:spPr>
            <a:xfrm>
              <a:off x="304893" y="1344260"/>
              <a:ext cx="1280110" cy="1280110"/>
            </a:xfrm>
            <a:prstGeom prst="ellipse">
              <a:avLst/>
            </a:prstGeom>
            <a:gradFill>
              <a:gsLst>
                <a:gs pos="0">
                  <a:srgbClr val="FF4747"/>
                </a:gs>
                <a:gs pos="50000">
                  <a:srgbClr val="FF0000"/>
                </a:gs>
                <a:gs pos="100000">
                  <a:srgbClr val="E300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2"/>
            <p:cNvSpPr txBox="1"/>
            <p:nvPr/>
          </p:nvSpPr>
          <p:spPr>
            <a:xfrm>
              <a:off x="492361" y="1531728"/>
              <a:ext cx="905174" cy="905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Problemas de salud mental</a:t>
              </a:r>
              <a:endParaRPr/>
            </a:p>
          </p:txBody>
        </p:sp>
      </p:grpSp>
      <p:sp>
        <p:nvSpPr>
          <p:cNvPr id="786" name="Google Shape;786;p32"/>
          <p:cNvSpPr/>
          <p:nvPr/>
        </p:nvSpPr>
        <p:spPr>
          <a:xfrm>
            <a:off x="9024377" y="2587020"/>
            <a:ext cx="707921" cy="1954452"/>
          </a:xfrm>
          <a:prstGeom prst="leftBrace">
            <a:avLst>
              <a:gd fmla="val 35417" name="adj1"/>
              <a:gd fmla="val 50000" name="adj2"/>
            </a:avLst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2"/>
          <p:cNvSpPr txBox="1"/>
          <p:nvPr/>
        </p:nvSpPr>
        <p:spPr>
          <a:xfrm>
            <a:off x="9555665" y="2587020"/>
            <a:ext cx="193204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Olas de calor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Sequías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Tormentas y huracanes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Inundaciones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Incendios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Etc.</a:t>
            </a:r>
            <a:endParaRPr/>
          </a:p>
        </p:txBody>
      </p:sp>
      <p:sp>
        <p:nvSpPr>
          <p:cNvPr id="788" name="Google Shape;788;p32"/>
          <p:cNvSpPr/>
          <p:nvPr/>
        </p:nvSpPr>
        <p:spPr>
          <a:xfrm>
            <a:off x="0" y="2055601"/>
            <a:ext cx="3757470" cy="1040066"/>
          </a:xfrm>
          <a:prstGeom prst="downArrow">
            <a:avLst>
              <a:gd fmla="val 50664" name="adj1"/>
              <a:gd fmla="val 43548" name="adj2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2"/>
          <p:cNvSpPr txBox="1"/>
          <p:nvPr/>
        </p:nvSpPr>
        <p:spPr>
          <a:xfrm>
            <a:off x="1061080" y="2049152"/>
            <a:ext cx="163531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Sexto Informe del IPCC</a:t>
            </a:r>
            <a:endParaRPr/>
          </a:p>
        </p:txBody>
      </p:sp>
      <p:sp>
        <p:nvSpPr>
          <p:cNvPr id="790" name="Google Shape;790;p32"/>
          <p:cNvSpPr txBox="1"/>
          <p:nvPr/>
        </p:nvSpPr>
        <p:spPr>
          <a:xfrm>
            <a:off x="577716" y="3095667"/>
            <a:ext cx="2732138" cy="1077218"/>
          </a:xfrm>
          <a:prstGeom prst="rect">
            <a:avLst/>
          </a:prstGeom>
          <a:solidFill>
            <a:srgbClr val="BBD6EE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Actualmente </a:t>
            </a: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3.600 millones de personas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viven en zonas vulnerables al cambio climático.</a:t>
            </a:r>
            <a:endParaRPr/>
          </a:p>
        </p:txBody>
      </p:sp>
      <p:sp>
        <p:nvSpPr>
          <p:cNvPr id="791" name="Google Shape;791;p32"/>
          <p:cNvSpPr txBox="1"/>
          <p:nvPr/>
        </p:nvSpPr>
        <p:spPr>
          <a:xfrm>
            <a:off x="512666" y="4474020"/>
            <a:ext cx="2732138" cy="1077218"/>
          </a:xfrm>
          <a:prstGeom prst="rect">
            <a:avLst/>
          </a:prstGeom>
          <a:solidFill>
            <a:srgbClr val="BBD6EE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 2030 y 2050 se prevén </a:t>
            </a: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250.000 exceso de muertes anuales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debidas al cambio climático</a:t>
            </a:r>
            <a:endParaRPr/>
          </a:p>
        </p:txBody>
      </p:sp>
      <p:pic>
        <p:nvPicPr>
          <p:cNvPr id="792" name="Google Shape;792;p3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716" y="1473423"/>
            <a:ext cx="2810838" cy="633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33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RIESGOS PARA LA SEGURIDAD ALIMENTARIA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799" name="Google Shape;799;p33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00" name="Google Shape;800;p3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01" name="Google Shape;801;p33"/>
          <p:cNvSpPr/>
          <p:nvPr/>
        </p:nvSpPr>
        <p:spPr>
          <a:xfrm>
            <a:off x="128001" y="4791269"/>
            <a:ext cx="2654738" cy="1107994"/>
          </a:xfrm>
          <a:prstGeom prst="chevron">
            <a:avLst>
              <a:gd fmla="val 50000" name="adj"/>
            </a:avLst>
          </a:prstGeom>
          <a:solidFill>
            <a:srgbClr val="C55A1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Aumento global de temperaturas</a:t>
            </a:r>
            <a:endParaRPr/>
          </a:p>
        </p:txBody>
      </p:sp>
      <p:sp>
        <p:nvSpPr>
          <p:cNvPr id="802" name="Google Shape;802;p33"/>
          <p:cNvSpPr/>
          <p:nvPr/>
        </p:nvSpPr>
        <p:spPr>
          <a:xfrm flipH="1">
            <a:off x="9561675" y="4803360"/>
            <a:ext cx="2554125" cy="1107994"/>
          </a:xfrm>
          <a:prstGeom prst="chevron">
            <a:avLst>
              <a:gd fmla="val 50000" name="adj"/>
            </a:avLst>
          </a:prstGeom>
          <a:solidFill>
            <a:srgbClr val="54813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Disminución de insectos polinizadores</a:t>
            </a:r>
            <a:endParaRPr/>
          </a:p>
        </p:txBody>
      </p:sp>
      <p:sp>
        <p:nvSpPr>
          <p:cNvPr id="803" name="Google Shape;803;p33"/>
          <p:cNvSpPr/>
          <p:nvPr/>
        </p:nvSpPr>
        <p:spPr>
          <a:xfrm>
            <a:off x="2296014" y="4791269"/>
            <a:ext cx="2920180" cy="1107994"/>
          </a:xfrm>
          <a:prstGeom prst="chevron">
            <a:avLst>
              <a:gd fmla="val 50000" name="adj"/>
            </a:avLst>
          </a:prstGeom>
          <a:solidFill>
            <a:srgbClr val="833C0B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Menor rendimiento de cultivos, ganadería y pesca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3"/>
          <p:cNvSpPr/>
          <p:nvPr/>
        </p:nvSpPr>
        <p:spPr>
          <a:xfrm flipH="1">
            <a:off x="7469662" y="4808276"/>
            <a:ext cx="2554124" cy="1107994"/>
          </a:xfrm>
          <a:prstGeom prst="chevron">
            <a:avLst>
              <a:gd fmla="val 50000" name="adj"/>
            </a:avLst>
          </a:prstGeom>
          <a:solidFill>
            <a:srgbClr val="385623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Menor producción de alimentos vegetales</a:t>
            </a:r>
            <a:endParaRPr/>
          </a:p>
        </p:txBody>
      </p:sp>
      <p:sp>
        <p:nvSpPr>
          <p:cNvPr id="805" name="Google Shape;805;p33"/>
          <p:cNvSpPr/>
          <p:nvPr/>
        </p:nvSpPr>
        <p:spPr>
          <a:xfrm>
            <a:off x="5185714" y="4524295"/>
            <a:ext cx="2168013" cy="1799303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184150" sx="110000" algn="ctr" dir="11520000" dist="241300" sy="110000">
              <a:srgbClr val="000000">
                <a:alpha val="1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MENOR PRODUCCIÓN DE ALIMENTOS</a:t>
            </a:r>
            <a:endParaRPr/>
          </a:p>
        </p:txBody>
      </p:sp>
      <p:sp>
        <p:nvSpPr>
          <p:cNvPr id="806" name="Google Shape;806;p33"/>
          <p:cNvSpPr/>
          <p:nvPr/>
        </p:nvSpPr>
        <p:spPr>
          <a:xfrm flipH="1" rot="-5400000">
            <a:off x="5461509" y="1206107"/>
            <a:ext cx="1799301" cy="1894081"/>
          </a:xfrm>
          <a:prstGeom prst="chevron">
            <a:avLst>
              <a:gd fmla="val 26158" name="adj"/>
            </a:avLst>
          </a:prstGeom>
          <a:solidFill>
            <a:srgbClr val="75707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3"/>
          <p:cNvSpPr txBox="1"/>
          <p:nvPr/>
        </p:nvSpPr>
        <p:spPr>
          <a:xfrm>
            <a:off x="5414119" y="1706970"/>
            <a:ext cx="189408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Sequías y otros fenómenos meteorológicos extremos</a:t>
            </a:r>
            <a:endParaRPr/>
          </a:p>
        </p:txBody>
      </p:sp>
      <p:sp>
        <p:nvSpPr>
          <p:cNvPr id="808" name="Google Shape;808;p33"/>
          <p:cNvSpPr/>
          <p:nvPr/>
        </p:nvSpPr>
        <p:spPr>
          <a:xfrm flipH="1" rot="-5400000">
            <a:off x="5461510" y="2581491"/>
            <a:ext cx="1799301" cy="1894081"/>
          </a:xfrm>
          <a:prstGeom prst="chevron">
            <a:avLst>
              <a:gd fmla="val 26158" name="adj"/>
            </a:avLst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3"/>
          <p:cNvSpPr txBox="1"/>
          <p:nvPr/>
        </p:nvSpPr>
        <p:spPr>
          <a:xfrm>
            <a:off x="5414119" y="3082354"/>
            <a:ext cx="189408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Degradación y baja supervivencia de cultivos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4"/>
          <p:cNvSpPr txBox="1"/>
          <p:nvPr>
            <p:ph type="title"/>
          </p:nvPr>
        </p:nvSpPr>
        <p:spPr>
          <a:xfrm>
            <a:off x="145143" y="417695"/>
            <a:ext cx="1040674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s-ES" sz="3000">
                <a:latin typeface="Calibri"/>
                <a:ea typeface="Calibri"/>
                <a:cs typeface="Calibri"/>
                <a:sym typeface="Calibri"/>
              </a:rPr>
              <a:t>RIESGOS PARA LAS CADENAS DE SUMINISTRO Y PRODUCCIÓN</a:t>
            </a:r>
            <a:endParaRPr sz="3000"/>
          </a:p>
        </p:txBody>
      </p:sp>
      <p:cxnSp>
        <p:nvCxnSpPr>
          <p:cNvPr id="816" name="Google Shape;816;p34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7" name="Google Shape;817;p3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18" name="Google Shape;818;p34"/>
          <p:cNvSpPr/>
          <p:nvPr/>
        </p:nvSpPr>
        <p:spPr>
          <a:xfrm>
            <a:off x="3797709" y="4093818"/>
            <a:ext cx="4439265" cy="914400"/>
          </a:xfrm>
          <a:prstGeom prst="downArrow">
            <a:avLst>
              <a:gd fmla="val 50664" name="adj1"/>
              <a:gd fmla="val 43548" name="adj2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4"/>
          <p:cNvSpPr txBox="1"/>
          <p:nvPr/>
        </p:nvSpPr>
        <p:spPr>
          <a:xfrm>
            <a:off x="1373602" y="1820892"/>
            <a:ext cx="3227886" cy="1323439"/>
          </a:xfrm>
          <a:prstGeom prst="rect">
            <a:avLst/>
          </a:prstGeom>
          <a:solidFill>
            <a:srgbClr val="BBD6EE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Transporte aéreo, marítimo y terrestre interrumpido por los fenómenos meteorológicos extremos.</a:t>
            </a:r>
            <a:endParaRPr/>
          </a:p>
        </p:txBody>
      </p:sp>
      <p:sp>
        <p:nvSpPr>
          <p:cNvPr id="820" name="Google Shape;820;p34"/>
          <p:cNvSpPr txBox="1"/>
          <p:nvPr/>
        </p:nvSpPr>
        <p:spPr>
          <a:xfrm>
            <a:off x="7395859" y="2128668"/>
            <a:ext cx="3227886" cy="1015663"/>
          </a:xfrm>
          <a:prstGeom prst="rect">
            <a:avLst/>
          </a:prstGeom>
          <a:solidFill>
            <a:srgbClr val="BBD6EE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Infraestructuras degradadas a causa de la climatología desfavorable</a:t>
            </a:r>
            <a:endParaRPr/>
          </a:p>
        </p:txBody>
      </p:sp>
      <p:sp>
        <p:nvSpPr>
          <p:cNvPr id="821" name="Google Shape;821;p34"/>
          <p:cNvSpPr/>
          <p:nvPr/>
        </p:nvSpPr>
        <p:spPr>
          <a:xfrm flipH="1" rot="5400000">
            <a:off x="5560141" y="-1584062"/>
            <a:ext cx="914402" cy="10028904"/>
          </a:xfrm>
          <a:prstGeom prst="leftBrace">
            <a:avLst>
              <a:gd fmla="val 29955" name="adj1"/>
              <a:gd fmla="val 50000" name="adj2"/>
            </a:avLst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4"/>
          <p:cNvSpPr/>
          <p:nvPr/>
        </p:nvSpPr>
        <p:spPr>
          <a:xfrm>
            <a:off x="3542656" y="5268685"/>
            <a:ext cx="4949371" cy="1016000"/>
          </a:xfrm>
          <a:prstGeom prst="flowChartAlternateProcess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INTERRUPCION DE LAS CADENAS DE SUMINISTRO Y PRODUCCIÓN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5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b="1" lang="es-ES" sz="3100">
                <a:latin typeface="Calibri"/>
                <a:ea typeface="Calibri"/>
                <a:cs typeface="Calibri"/>
                <a:sym typeface="Calibri"/>
              </a:rPr>
              <a:t>AUMENTO DE COSTES Y PÉRDIDA DE PRODUCTIVIDAD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29" name="Google Shape;829;p35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0" name="Google Shape;830;p3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31" name="Google Shape;831;p35"/>
          <p:cNvSpPr/>
          <p:nvPr/>
        </p:nvSpPr>
        <p:spPr>
          <a:xfrm>
            <a:off x="3797709" y="4093818"/>
            <a:ext cx="4439265" cy="914400"/>
          </a:xfrm>
          <a:prstGeom prst="downArrow">
            <a:avLst>
              <a:gd fmla="val 50664" name="adj1"/>
              <a:gd fmla="val 43548" name="adj2"/>
            </a:avLst>
          </a:prstGeom>
          <a:solidFill>
            <a:srgbClr val="8DA9DB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5"/>
          <p:cNvSpPr txBox="1"/>
          <p:nvPr/>
        </p:nvSpPr>
        <p:spPr>
          <a:xfrm>
            <a:off x="1218392" y="2827702"/>
            <a:ext cx="2603312" cy="400110"/>
          </a:xfrm>
          <a:prstGeom prst="rect">
            <a:avLst/>
          </a:prstGeom>
          <a:solidFill>
            <a:srgbClr val="F4B08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Escasez de materiales</a:t>
            </a:r>
            <a:endParaRPr/>
          </a:p>
        </p:txBody>
      </p:sp>
      <p:sp>
        <p:nvSpPr>
          <p:cNvPr id="833" name="Google Shape;833;p35"/>
          <p:cNvSpPr txBox="1"/>
          <p:nvPr/>
        </p:nvSpPr>
        <p:spPr>
          <a:xfrm>
            <a:off x="8092540" y="2519926"/>
            <a:ext cx="2712696" cy="707886"/>
          </a:xfrm>
          <a:prstGeom prst="rect">
            <a:avLst/>
          </a:prstGeom>
          <a:solidFill>
            <a:srgbClr val="F4B08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Inversiones para reparar las infraestructuras</a:t>
            </a:r>
            <a:endParaRPr/>
          </a:p>
        </p:txBody>
      </p:sp>
      <p:sp>
        <p:nvSpPr>
          <p:cNvPr id="834" name="Google Shape;834;p35"/>
          <p:cNvSpPr/>
          <p:nvPr/>
        </p:nvSpPr>
        <p:spPr>
          <a:xfrm flipH="1" rot="5400000">
            <a:off x="5560141" y="-1584062"/>
            <a:ext cx="914402" cy="10028904"/>
          </a:xfrm>
          <a:prstGeom prst="leftBrace">
            <a:avLst>
              <a:gd fmla="val 29955" name="adj1"/>
              <a:gd fmla="val 50000" name="adj2"/>
            </a:avLst>
          </a:prstGeom>
          <a:noFill/>
          <a:ln cap="flat" cmpd="sng" w="25400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5"/>
          <p:cNvSpPr/>
          <p:nvPr/>
        </p:nvSpPr>
        <p:spPr>
          <a:xfrm>
            <a:off x="3542656" y="5268685"/>
            <a:ext cx="4949371" cy="1016000"/>
          </a:xfrm>
          <a:prstGeom prst="flowChartAlternateProcess">
            <a:avLst/>
          </a:prstGeom>
          <a:solidFill>
            <a:srgbClr val="833C0B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AUMENTO DE COSTES Y PÉRDIDA DE PRODUCTIVIDAD</a:t>
            </a:r>
            <a:endParaRPr/>
          </a:p>
        </p:txBody>
      </p:sp>
      <p:sp>
        <p:nvSpPr>
          <p:cNvPr id="836" name="Google Shape;836;p35"/>
          <p:cNvSpPr txBox="1"/>
          <p:nvPr/>
        </p:nvSpPr>
        <p:spPr>
          <a:xfrm>
            <a:off x="4655466" y="2519926"/>
            <a:ext cx="2603312" cy="707886"/>
          </a:xfrm>
          <a:prstGeom prst="rect">
            <a:avLst/>
          </a:prstGeom>
          <a:solidFill>
            <a:srgbClr val="F4B08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Dificultad de transporte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36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POBREZA Y DESPLAZAMIENTOS FORZOSOS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43" name="Google Shape;843;p36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4" name="Google Shape;844;p3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45" name="Google Shape;845;p36"/>
          <p:cNvSpPr txBox="1"/>
          <p:nvPr/>
        </p:nvSpPr>
        <p:spPr>
          <a:xfrm>
            <a:off x="4960084" y="3573763"/>
            <a:ext cx="193203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Sexto Informe del IPCC</a:t>
            </a:r>
            <a:endParaRPr/>
          </a:p>
        </p:txBody>
      </p:sp>
      <p:grpSp>
        <p:nvGrpSpPr>
          <p:cNvPr id="846" name="Google Shape;846;p36"/>
          <p:cNvGrpSpPr/>
          <p:nvPr/>
        </p:nvGrpSpPr>
        <p:grpSpPr>
          <a:xfrm>
            <a:off x="1535901" y="2309312"/>
            <a:ext cx="5471758" cy="3139261"/>
            <a:chOff x="2741" y="0"/>
            <a:chExt cx="5471758" cy="3139261"/>
          </a:xfrm>
        </p:grpSpPr>
        <p:sp>
          <p:nvSpPr>
            <p:cNvPr id="847" name="Google Shape;847;p36"/>
            <p:cNvSpPr/>
            <p:nvPr/>
          </p:nvSpPr>
          <p:spPr>
            <a:xfrm>
              <a:off x="410793" y="0"/>
              <a:ext cx="4655654" cy="3139261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8DCD4"/>
                </a:gs>
                <a:gs pos="50000">
                  <a:srgbClr val="F9D3C8"/>
                </a:gs>
                <a:gs pos="100000">
                  <a:srgbClr val="DFB8A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6"/>
            <p:cNvSpPr/>
            <p:nvPr/>
          </p:nvSpPr>
          <p:spPr>
            <a:xfrm>
              <a:off x="2741" y="941778"/>
              <a:ext cx="1318496" cy="1255704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6"/>
            <p:cNvSpPr txBox="1"/>
            <p:nvPr/>
          </p:nvSpPr>
          <p:spPr>
            <a:xfrm>
              <a:off x="64039" y="1003076"/>
              <a:ext cx="1195900" cy="1133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Cambio climático</a:t>
              </a:r>
              <a:endParaRPr/>
            </a:p>
          </p:txBody>
        </p:sp>
        <p:sp>
          <p:nvSpPr>
            <p:cNvPr id="850" name="Google Shape;850;p36"/>
            <p:cNvSpPr/>
            <p:nvPr/>
          </p:nvSpPr>
          <p:spPr>
            <a:xfrm>
              <a:off x="1387162" y="941778"/>
              <a:ext cx="1318496" cy="1255704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D58870"/>
                </a:gs>
                <a:gs pos="50000">
                  <a:srgbClr val="D57755"/>
                </a:gs>
                <a:gs pos="100000">
                  <a:srgbClr val="C26543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6"/>
            <p:cNvSpPr txBox="1"/>
            <p:nvPr/>
          </p:nvSpPr>
          <p:spPr>
            <a:xfrm>
              <a:off x="1448460" y="1003076"/>
              <a:ext cx="1195900" cy="1133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Contaminación</a:t>
              </a:r>
              <a:endParaRPr/>
            </a:p>
          </p:txBody>
        </p:sp>
        <p:sp>
          <p:nvSpPr>
            <p:cNvPr id="852" name="Google Shape;852;p36"/>
            <p:cNvSpPr/>
            <p:nvPr/>
          </p:nvSpPr>
          <p:spPr>
            <a:xfrm>
              <a:off x="2771582" y="941778"/>
              <a:ext cx="1318496" cy="1255704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F948F"/>
                </a:gs>
                <a:gs pos="50000">
                  <a:srgbClr val="BA857E"/>
                </a:gs>
                <a:gs pos="100000">
                  <a:srgbClr val="A774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6"/>
            <p:cNvSpPr txBox="1"/>
            <p:nvPr/>
          </p:nvSpPr>
          <p:spPr>
            <a:xfrm>
              <a:off x="2832880" y="1003076"/>
              <a:ext cx="1195900" cy="1133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Agotamiento de recursos naturales</a:t>
              </a:r>
              <a:endParaRPr/>
            </a:p>
          </p:txBody>
        </p:sp>
        <p:sp>
          <p:nvSpPr>
            <p:cNvPr id="854" name="Google Shape;854;p36"/>
            <p:cNvSpPr/>
            <p:nvPr/>
          </p:nvSpPr>
          <p:spPr>
            <a:xfrm>
              <a:off x="4156003" y="941778"/>
              <a:ext cx="1318496" cy="1255704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AEAEAE"/>
                </a:gs>
                <a:gs pos="50000">
                  <a:srgbClr val="A4A4A4"/>
                </a:gs>
                <a:gs pos="100000">
                  <a:srgbClr val="90909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6"/>
            <p:cNvSpPr txBox="1"/>
            <p:nvPr/>
          </p:nvSpPr>
          <p:spPr>
            <a:xfrm>
              <a:off x="4217301" y="1003076"/>
              <a:ext cx="1195900" cy="1133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Situación de pobreza</a:t>
              </a:r>
              <a:endParaRPr/>
            </a:p>
          </p:txBody>
        </p:sp>
      </p:grpSp>
      <p:sp>
        <p:nvSpPr>
          <p:cNvPr id="856" name="Google Shape;856;p36"/>
          <p:cNvSpPr/>
          <p:nvPr/>
        </p:nvSpPr>
        <p:spPr>
          <a:xfrm>
            <a:off x="7910287" y="3138714"/>
            <a:ext cx="2527038" cy="1480457"/>
          </a:xfrm>
          <a:prstGeom prst="roundRect">
            <a:avLst>
              <a:gd fmla="val 42157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Migraciones forzosas descontroladas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37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POBREZA Y DESPLAZAMIENTOS FORZOSOS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63" name="Google Shape;863;p37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4" name="Google Shape;864;p3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65" name="Google Shape;865;p37"/>
          <p:cNvSpPr txBox="1"/>
          <p:nvPr/>
        </p:nvSpPr>
        <p:spPr>
          <a:xfrm>
            <a:off x="5032654" y="3123821"/>
            <a:ext cx="193203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Sexto Informe del IPCC</a:t>
            </a:r>
            <a:endParaRPr/>
          </a:p>
        </p:txBody>
      </p:sp>
      <p:pic>
        <p:nvPicPr>
          <p:cNvPr id="866" name="Google Shape;86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150" y="1904787"/>
            <a:ext cx="11107700" cy="3048425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37">
            <a:hlinkClick r:id="rId4"/>
          </p:cNvPr>
          <p:cNvSpPr/>
          <p:nvPr/>
        </p:nvSpPr>
        <p:spPr>
          <a:xfrm>
            <a:off x="3947886" y="5413829"/>
            <a:ext cx="3294743" cy="56605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Informe Groundswell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8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3" name="Google Shape;873;p38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874" name="Google Shape;874;p38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38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38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38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38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9" name="Google Shape;879;p38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1.4. EL IMPACTO SOBRE EL PLANETA DE LAS DISTINTAS ACTIVIDADES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8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6" name="Google Shape;88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659" y="1293398"/>
            <a:ext cx="8089998" cy="5477806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39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IMPACTO SOBRE EL PLANETA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88" name="Google Shape;888;p39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9" name="Google Shape;889;p39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90" name="Google Shape;890;p39"/>
          <p:cNvSpPr/>
          <p:nvPr/>
        </p:nvSpPr>
        <p:spPr>
          <a:xfrm>
            <a:off x="8825347" y="3065284"/>
            <a:ext cx="2566416" cy="163602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4B081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cambio climático también es una cuestión social pues, paradójicamente, los países menos responsables de él son los que más sufren sus consecuencias.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40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IMPACTO SOBRE EL PLANETA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97" name="Google Shape;897;p40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8" name="Google Shape;898;p40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99" name="Google Shape;899;p40"/>
          <p:cNvSpPr txBox="1"/>
          <p:nvPr/>
        </p:nvSpPr>
        <p:spPr>
          <a:xfrm>
            <a:off x="8664606" y="2053688"/>
            <a:ext cx="2554937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Gráfica </a:t>
            </a:r>
            <a:r>
              <a:rPr lang="es-E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Our World in Data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datos procedentes ce </a:t>
            </a:r>
            <a:r>
              <a:rPr lang="es-E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Climate Watch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áfico&#10;&#10;Descripción generada automáticamente" id="900" name="Google Shape;900;p40"/>
          <p:cNvPicPr preferRelativeResize="0"/>
          <p:nvPr/>
        </p:nvPicPr>
        <p:blipFill rotWithShape="1">
          <a:blip r:embed="rId5">
            <a:alphaModFix/>
          </a:blip>
          <a:srcRect b="29787" l="0" r="0" t="0"/>
          <a:stretch/>
        </p:blipFill>
        <p:spPr>
          <a:xfrm>
            <a:off x="319314" y="1353317"/>
            <a:ext cx="7705308" cy="5395823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40"/>
          <p:cNvSpPr txBox="1"/>
          <p:nvPr/>
        </p:nvSpPr>
        <p:spPr>
          <a:xfrm>
            <a:off x="8763176" y="4460021"/>
            <a:ext cx="255493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bajada de emisiones del 2020 se debió a la situación de pandemia. Las emisiones han continuado aumentando desde entonces</a:t>
            </a:r>
            <a:endParaRPr/>
          </a:p>
        </p:txBody>
      </p:sp>
      <p:cxnSp>
        <p:nvCxnSpPr>
          <p:cNvPr id="902" name="Google Shape;902;p40"/>
          <p:cNvCxnSpPr/>
          <p:nvPr/>
        </p:nvCxnSpPr>
        <p:spPr>
          <a:xfrm flipH="1">
            <a:off x="6729273" y="5196114"/>
            <a:ext cx="1935333" cy="89988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áfico, Gráfico circular&#10;&#10;Descripción generada automáticamente" id="908" name="Google Shape;90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2" y="1359570"/>
            <a:ext cx="9085943" cy="5419686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41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EMISIONES DE GEI EN ESPAÑA POR SECTORES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910" name="Google Shape;910;p41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1" name="Google Shape;911;p41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42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EMISIONES DE GEI EN ESPAÑA POR SECTORES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918" name="Google Shape;918;p42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9" name="Google Shape;919;p42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920" name="Google Shape;920;p42"/>
          <p:cNvGrpSpPr/>
          <p:nvPr/>
        </p:nvGrpSpPr>
        <p:grpSpPr>
          <a:xfrm>
            <a:off x="337095" y="2572724"/>
            <a:ext cx="11633922" cy="2432615"/>
            <a:chOff x="3268" y="1493025"/>
            <a:chExt cx="11633922" cy="2432615"/>
          </a:xfrm>
        </p:grpSpPr>
        <p:sp>
          <p:nvSpPr>
            <p:cNvPr id="921" name="Google Shape;921;p42"/>
            <p:cNvSpPr/>
            <p:nvPr/>
          </p:nvSpPr>
          <p:spPr>
            <a:xfrm>
              <a:off x="3268" y="1493025"/>
              <a:ext cx="1736406" cy="577681"/>
            </a:xfrm>
            <a:prstGeom prst="rect">
              <a:avLst/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42"/>
            <p:cNvSpPr txBox="1"/>
            <p:nvPr/>
          </p:nvSpPr>
          <p:spPr>
            <a:xfrm>
              <a:off x="3268" y="1493025"/>
              <a:ext cx="1736406" cy="577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000" lIns="113775" spcFirstLastPara="1" rIns="113775" wrap="square" tIns="65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Transporte</a:t>
              </a:r>
              <a:endParaRPr/>
            </a:p>
          </p:txBody>
        </p:sp>
        <p:sp>
          <p:nvSpPr>
            <p:cNvPr id="923" name="Google Shape;923;p42"/>
            <p:cNvSpPr/>
            <p:nvPr/>
          </p:nvSpPr>
          <p:spPr>
            <a:xfrm>
              <a:off x="3268" y="2070707"/>
              <a:ext cx="1736406" cy="1854933"/>
            </a:xfrm>
            <a:prstGeom prst="rect">
              <a:avLst/>
            </a:prstGeom>
            <a:solidFill>
              <a:srgbClr val="E0E0E0">
                <a:alpha val="89803"/>
              </a:srgbClr>
            </a:solidFill>
            <a:ln cap="flat" cmpd="sng" w="9525">
              <a:solidFill>
                <a:srgbClr val="E0E0E0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42"/>
            <p:cNvSpPr txBox="1"/>
            <p:nvPr/>
          </p:nvSpPr>
          <p:spPr>
            <a:xfrm>
              <a:off x="3268" y="2070707"/>
              <a:ext cx="1736406" cy="1854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85325" spcFirstLastPara="1" rIns="113775" wrap="square" tIns="853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Uso de combustibles fósiles: gasolina, diésel, gas, etc.</a:t>
              </a:r>
              <a:endParaRPr/>
            </a:p>
          </p:txBody>
        </p:sp>
        <p:sp>
          <p:nvSpPr>
            <p:cNvPr id="925" name="Google Shape;925;p42"/>
            <p:cNvSpPr/>
            <p:nvPr/>
          </p:nvSpPr>
          <p:spPr>
            <a:xfrm>
              <a:off x="1982771" y="1493025"/>
              <a:ext cx="1736406" cy="577681"/>
            </a:xfrm>
            <a:prstGeom prst="rect">
              <a:avLst/>
            </a:prstGeom>
            <a:gradFill>
              <a:gsLst>
                <a:gs pos="0">
                  <a:srgbClr val="B99696"/>
                </a:gs>
                <a:gs pos="50000">
                  <a:srgbClr val="B28888"/>
                </a:gs>
                <a:gs pos="100000">
                  <a:srgbClr val="9E7575"/>
                </a:gs>
              </a:gsLst>
              <a:lin ang="5400000" scaled="0"/>
            </a:gradFill>
            <a:ln cap="flat" cmpd="sng" w="9525">
              <a:solidFill>
                <a:srgbClr val="B18A8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42"/>
            <p:cNvSpPr txBox="1"/>
            <p:nvPr/>
          </p:nvSpPr>
          <p:spPr>
            <a:xfrm>
              <a:off x="1982771" y="1493025"/>
              <a:ext cx="1736406" cy="577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000" lIns="113775" spcFirstLastPara="1" rIns="113775" wrap="square" tIns="65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Industria</a:t>
              </a:r>
              <a:endParaRPr/>
            </a:p>
          </p:txBody>
        </p:sp>
        <p:sp>
          <p:nvSpPr>
            <p:cNvPr id="927" name="Google Shape;927;p42"/>
            <p:cNvSpPr/>
            <p:nvPr/>
          </p:nvSpPr>
          <p:spPr>
            <a:xfrm>
              <a:off x="1982771" y="2070707"/>
              <a:ext cx="1736406" cy="1854933"/>
            </a:xfrm>
            <a:prstGeom prst="rect">
              <a:avLst/>
            </a:prstGeom>
            <a:solidFill>
              <a:srgbClr val="E6DADA">
                <a:alpha val="89803"/>
              </a:srgbClr>
            </a:solidFill>
            <a:ln cap="flat" cmpd="sng" w="9525">
              <a:solidFill>
                <a:srgbClr val="E6DADA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42"/>
            <p:cNvSpPr txBox="1"/>
            <p:nvPr/>
          </p:nvSpPr>
          <p:spPr>
            <a:xfrm>
              <a:off x="1982771" y="2070707"/>
              <a:ext cx="1736406" cy="1854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85325" spcFirstLastPara="1" rIns="113775" wrap="square" tIns="853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Quema de combustibles fósiles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Fabricación de acero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Fabricación de cemento</a:t>
              </a:r>
              <a:endParaRPr/>
            </a:p>
          </p:txBody>
        </p:sp>
        <p:sp>
          <p:nvSpPr>
            <p:cNvPr id="929" name="Google Shape;929;p42"/>
            <p:cNvSpPr/>
            <p:nvPr/>
          </p:nvSpPr>
          <p:spPr>
            <a:xfrm>
              <a:off x="3962274" y="1493025"/>
              <a:ext cx="1736406" cy="577681"/>
            </a:xfrm>
            <a:prstGeom prst="rect">
              <a:avLst/>
            </a:prstGeom>
            <a:gradFill>
              <a:gsLst>
                <a:gs pos="0">
                  <a:srgbClr val="C67D7D"/>
                </a:gs>
                <a:gs pos="50000">
                  <a:srgbClr val="C46667"/>
                </a:gs>
                <a:gs pos="100000">
                  <a:srgbClr val="B15555"/>
                </a:gs>
              </a:gsLst>
              <a:lin ang="5400000" scaled="0"/>
            </a:gradFill>
            <a:ln cap="flat" cmpd="sng" w="9525">
              <a:solidFill>
                <a:srgbClr val="C06C6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42"/>
            <p:cNvSpPr txBox="1"/>
            <p:nvPr/>
          </p:nvSpPr>
          <p:spPr>
            <a:xfrm>
              <a:off x="3962274" y="1493025"/>
              <a:ext cx="1736406" cy="577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000" lIns="113775" spcFirstLastPara="1" rIns="113775" wrap="square" tIns="65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Generación de energía eléctrica</a:t>
              </a:r>
              <a:endParaRPr/>
            </a:p>
          </p:txBody>
        </p:sp>
        <p:sp>
          <p:nvSpPr>
            <p:cNvPr id="931" name="Google Shape;931;p42"/>
            <p:cNvSpPr/>
            <p:nvPr/>
          </p:nvSpPr>
          <p:spPr>
            <a:xfrm>
              <a:off x="3962274" y="2070707"/>
              <a:ext cx="1736406" cy="1854933"/>
            </a:xfrm>
            <a:prstGeom prst="rect">
              <a:avLst/>
            </a:prstGeom>
            <a:solidFill>
              <a:srgbClr val="EDD5D5">
                <a:alpha val="89803"/>
              </a:srgbClr>
            </a:solidFill>
            <a:ln cap="flat" cmpd="sng" w="9525">
              <a:solidFill>
                <a:srgbClr val="EDD5D5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42"/>
            <p:cNvSpPr txBox="1"/>
            <p:nvPr/>
          </p:nvSpPr>
          <p:spPr>
            <a:xfrm>
              <a:off x="3962274" y="2070707"/>
              <a:ext cx="1736406" cy="1854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85325" spcFirstLastPara="1" rIns="113775" wrap="square" tIns="853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Utilización de centrales térmicas convencionales (quema de combustibles fósiles)</a:t>
              </a:r>
              <a:endParaRPr/>
            </a:p>
          </p:txBody>
        </p:sp>
        <p:sp>
          <p:nvSpPr>
            <p:cNvPr id="933" name="Google Shape;933;p42"/>
            <p:cNvSpPr/>
            <p:nvPr/>
          </p:nvSpPr>
          <p:spPr>
            <a:xfrm>
              <a:off x="5941777" y="1493025"/>
              <a:ext cx="1736406" cy="577681"/>
            </a:xfrm>
            <a:prstGeom prst="rect">
              <a:avLst/>
            </a:prstGeom>
            <a:gradFill>
              <a:gsLst>
                <a:gs pos="0">
                  <a:srgbClr val="D76363"/>
                </a:gs>
                <a:gs pos="50000">
                  <a:srgbClr val="D74343"/>
                </a:gs>
                <a:gs pos="100000">
                  <a:srgbClr val="C53232"/>
                </a:gs>
              </a:gsLst>
              <a:lin ang="5400000" scaled="0"/>
            </a:gradFill>
            <a:ln cap="flat" cmpd="sng" w="9525">
              <a:solidFill>
                <a:srgbClr val="D14A4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42"/>
            <p:cNvSpPr txBox="1"/>
            <p:nvPr/>
          </p:nvSpPr>
          <p:spPr>
            <a:xfrm>
              <a:off x="5941777" y="1493025"/>
              <a:ext cx="1736406" cy="577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000" lIns="113775" spcFirstLastPara="1" rIns="113775" wrap="square" tIns="65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Agricultura y ganadería</a:t>
              </a:r>
              <a:endParaRPr/>
            </a:p>
          </p:txBody>
        </p:sp>
        <p:sp>
          <p:nvSpPr>
            <p:cNvPr id="935" name="Google Shape;935;p42"/>
            <p:cNvSpPr/>
            <p:nvPr/>
          </p:nvSpPr>
          <p:spPr>
            <a:xfrm>
              <a:off x="5941777" y="2070707"/>
              <a:ext cx="1736406" cy="1854933"/>
            </a:xfrm>
            <a:prstGeom prst="rect">
              <a:avLst/>
            </a:prstGeom>
            <a:solidFill>
              <a:srgbClr val="F3D1D1">
                <a:alpha val="89803"/>
              </a:srgbClr>
            </a:solidFill>
            <a:ln cap="flat" cmpd="sng" w="9525">
              <a:solidFill>
                <a:srgbClr val="F3D1D1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42"/>
            <p:cNvSpPr txBox="1"/>
            <p:nvPr/>
          </p:nvSpPr>
          <p:spPr>
            <a:xfrm>
              <a:off x="5941777" y="2070707"/>
              <a:ext cx="1736406" cy="1854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85325" spcFirstLastPara="1" rIns="113775" wrap="square" tIns="853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Uso de fertilizantes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Ganado vacuno que produce emisiones de metano en la digestión</a:t>
              </a:r>
              <a:endParaRPr/>
            </a:p>
          </p:txBody>
        </p:sp>
        <p:sp>
          <p:nvSpPr>
            <p:cNvPr id="937" name="Google Shape;937;p42"/>
            <p:cNvSpPr/>
            <p:nvPr/>
          </p:nvSpPr>
          <p:spPr>
            <a:xfrm>
              <a:off x="7921281" y="1493025"/>
              <a:ext cx="1736406" cy="577681"/>
            </a:xfrm>
            <a:prstGeom prst="rect">
              <a:avLst/>
            </a:prstGeom>
            <a:gradFill>
              <a:gsLst>
                <a:gs pos="0">
                  <a:srgbClr val="EA4E4F"/>
                </a:gs>
                <a:gs pos="50000">
                  <a:srgbClr val="EF1B1D"/>
                </a:gs>
                <a:gs pos="100000">
                  <a:srgbClr val="DE0C0E"/>
                </a:gs>
              </a:gsLst>
              <a:lin ang="5400000" scaled="0"/>
            </a:gradFill>
            <a:ln cap="flat" cmpd="sng" w="9525">
              <a:solidFill>
                <a:srgbClr val="E7252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42"/>
            <p:cNvSpPr txBox="1"/>
            <p:nvPr/>
          </p:nvSpPr>
          <p:spPr>
            <a:xfrm>
              <a:off x="7921281" y="1493025"/>
              <a:ext cx="1736406" cy="577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000" lIns="113775" spcFirstLastPara="1" rIns="113775" wrap="square" tIns="65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Hogares</a:t>
              </a:r>
              <a:endParaRPr/>
            </a:p>
          </p:txBody>
        </p:sp>
        <p:sp>
          <p:nvSpPr>
            <p:cNvPr id="939" name="Google Shape;939;p42"/>
            <p:cNvSpPr/>
            <p:nvPr/>
          </p:nvSpPr>
          <p:spPr>
            <a:xfrm>
              <a:off x="7921281" y="2070707"/>
              <a:ext cx="1736406" cy="1854933"/>
            </a:xfrm>
            <a:prstGeom prst="rect">
              <a:avLst/>
            </a:prstGeom>
            <a:solidFill>
              <a:srgbClr val="F8CDCD">
                <a:alpha val="89803"/>
              </a:srgbClr>
            </a:solidFill>
            <a:ln cap="flat" cmpd="sng" w="9525">
              <a:solidFill>
                <a:srgbClr val="F8CDCD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42"/>
            <p:cNvSpPr txBox="1"/>
            <p:nvPr/>
          </p:nvSpPr>
          <p:spPr>
            <a:xfrm>
              <a:off x="7921281" y="2070707"/>
              <a:ext cx="1736406" cy="1854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85325" spcFirstLastPara="1" rIns="113775" wrap="square" tIns="853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Calefacción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Calentamiento de agua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Cocción de alimentos</a:t>
              </a:r>
              <a:endParaRPr/>
            </a:p>
          </p:txBody>
        </p:sp>
        <p:sp>
          <p:nvSpPr>
            <p:cNvPr id="941" name="Google Shape;941;p42"/>
            <p:cNvSpPr/>
            <p:nvPr/>
          </p:nvSpPr>
          <p:spPr>
            <a:xfrm>
              <a:off x="9900784" y="1493025"/>
              <a:ext cx="1736406" cy="577681"/>
            </a:xfrm>
            <a:prstGeom prst="rect">
              <a:avLst/>
            </a:prstGeom>
            <a:gradFill>
              <a:gsLst>
                <a:gs pos="0">
                  <a:srgbClr val="FF4747"/>
                </a:gs>
                <a:gs pos="50000">
                  <a:srgbClr val="FF0000"/>
                </a:gs>
                <a:gs pos="100000">
                  <a:srgbClr val="E30000"/>
                </a:gs>
              </a:gsLst>
              <a:lin ang="5400000" scaled="0"/>
            </a:gradFill>
            <a:ln cap="flat" cmpd="sng" w="9525">
              <a:solidFill>
                <a:srgbClr val="FE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42"/>
            <p:cNvSpPr txBox="1"/>
            <p:nvPr/>
          </p:nvSpPr>
          <p:spPr>
            <a:xfrm>
              <a:off x="9900784" y="1493025"/>
              <a:ext cx="1736406" cy="577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000" lIns="113775" spcFirstLastPara="1" rIns="113775" wrap="square" tIns="65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Residuos</a:t>
              </a:r>
              <a:endParaRPr/>
            </a:p>
          </p:txBody>
        </p:sp>
        <p:sp>
          <p:nvSpPr>
            <p:cNvPr id="943" name="Google Shape;943;p42"/>
            <p:cNvSpPr/>
            <p:nvPr/>
          </p:nvSpPr>
          <p:spPr>
            <a:xfrm>
              <a:off x="9900784" y="2070707"/>
              <a:ext cx="1736406" cy="1854933"/>
            </a:xfrm>
            <a:prstGeom prst="rect">
              <a:avLst/>
            </a:prstGeom>
            <a:solidFill>
              <a:srgbClr val="FEC9C9">
                <a:alpha val="89803"/>
              </a:srgbClr>
            </a:solidFill>
            <a:ln cap="flat" cmpd="sng" w="9525">
              <a:solidFill>
                <a:srgbClr val="FEC9C9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42"/>
            <p:cNvSpPr txBox="1"/>
            <p:nvPr/>
          </p:nvSpPr>
          <p:spPr>
            <a:xfrm>
              <a:off x="9900784" y="2070707"/>
              <a:ext cx="1736406" cy="1854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85325" spcFirstLastPara="1" rIns="113775" wrap="square" tIns="853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Metano liberado en la descomposición de residuos orgánicos</a:t>
              </a:r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43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0" name="Google Shape;950;p43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951" name="Google Shape;951;p43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43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43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43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43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6" name="Google Shape;956;p43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1.5. LAS MEDIDAS PARA MINIMIZAR LOS IMPACTOS AMBIENTALES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43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44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OBJETIVO CLIMÁTICO MUNDIAL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964" name="Google Shape;964;p44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5" name="Google Shape;965;p4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966" name="Google Shape;966;p44"/>
          <p:cNvSpPr txBox="1"/>
          <p:nvPr/>
        </p:nvSpPr>
        <p:spPr>
          <a:xfrm>
            <a:off x="354619" y="1344528"/>
            <a:ext cx="3685965" cy="1477328"/>
          </a:xfrm>
          <a:prstGeom prst="rect">
            <a:avLst/>
          </a:prstGeom>
          <a:solidFill>
            <a:srgbClr val="FFB5A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Lograr que el aumento de temperaturas </a:t>
            </a: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nunca supere los 2 °C respecto niveles preindustriales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realizar todos los esfuerzos posibles para limitarlo a 1,5 °C.</a:t>
            </a:r>
            <a:endParaRPr/>
          </a:p>
        </p:txBody>
      </p:sp>
      <p:sp>
        <p:nvSpPr>
          <p:cNvPr id="967" name="Google Shape;967;p44"/>
          <p:cNvSpPr/>
          <p:nvPr/>
        </p:nvSpPr>
        <p:spPr>
          <a:xfrm>
            <a:off x="4854180" y="1429904"/>
            <a:ext cx="3181350" cy="2294811"/>
          </a:xfrm>
          <a:prstGeom prst="roundRect">
            <a:avLst>
              <a:gd fmla="val 19988" name="adj"/>
            </a:avLst>
          </a:prstGeom>
          <a:solidFill>
            <a:srgbClr val="C0000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 científicos piensan que sí se superan los 2 °C por encima de niveles preindustriales, se alcanzaría un punto de no retorno</a:t>
            </a:r>
            <a:endParaRPr/>
          </a:p>
        </p:txBody>
      </p:sp>
      <p:sp>
        <p:nvSpPr>
          <p:cNvPr id="968" name="Google Shape;968;p44"/>
          <p:cNvSpPr txBox="1"/>
          <p:nvPr/>
        </p:nvSpPr>
        <p:spPr>
          <a:xfrm>
            <a:off x="8953500" y="1344528"/>
            <a:ext cx="28575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se superan los 2 °C, una de las consecuencias es que los polos se deshelarían. </a:t>
            </a: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Mira la animación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id="969" name="Google Shape;96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4968" y="4016378"/>
            <a:ext cx="2838424" cy="2451795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44"/>
          <p:cNvSpPr txBox="1"/>
          <p:nvPr/>
        </p:nvSpPr>
        <p:spPr>
          <a:xfrm>
            <a:off x="2278939" y="5242275"/>
            <a:ext cx="1592879" cy="369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GEI Emitidos </a:t>
            </a:r>
            <a:endParaRPr/>
          </a:p>
        </p:txBody>
      </p:sp>
      <p:sp>
        <p:nvSpPr>
          <p:cNvPr id="971" name="Google Shape;971;p44"/>
          <p:cNvSpPr txBox="1"/>
          <p:nvPr/>
        </p:nvSpPr>
        <p:spPr>
          <a:xfrm>
            <a:off x="6163350" y="5242267"/>
            <a:ext cx="17762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GEI Capturados </a:t>
            </a:r>
            <a:endParaRPr/>
          </a:p>
        </p:txBody>
      </p:sp>
      <p:sp>
        <p:nvSpPr>
          <p:cNvPr id="972" name="Google Shape;972;p44"/>
          <p:cNvSpPr txBox="1"/>
          <p:nvPr/>
        </p:nvSpPr>
        <p:spPr>
          <a:xfrm>
            <a:off x="3811714" y="6203962"/>
            <a:ext cx="23516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2400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NET ZERO</a:t>
            </a:r>
            <a:endParaRPr/>
          </a:p>
        </p:txBody>
      </p:sp>
      <p:sp>
        <p:nvSpPr>
          <p:cNvPr id="973" name="Google Shape;973;p44"/>
          <p:cNvSpPr txBox="1"/>
          <p:nvPr/>
        </p:nvSpPr>
        <p:spPr>
          <a:xfrm>
            <a:off x="354619" y="2914636"/>
            <a:ext cx="3685965" cy="1477328"/>
          </a:xfrm>
          <a:prstGeom prst="rect">
            <a:avLst/>
          </a:prstGeom>
          <a:solidFill>
            <a:srgbClr val="FFB5A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no superar estos límites de temperatura se deben </a:t>
            </a: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dejar de emitir GEI a la atmósfera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eso se logra compensando las emisiones producidas </a:t>
            </a: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balance cero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45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MEDIDAS: ACCIONES POLÍTICAS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980" name="Google Shape;980;p45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1" name="Google Shape;981;p4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descr="Una caricatura de una persona&#10;&#10;Descripción generada automáticamente con confianza media" id="982" name="Google Shape;98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464" y="1969688"/>
            <a:ext cx="3962400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45"/>
          <p:cNvSpPr txBox="1"/>
          <p:nvPr/>
        </p:nvSpPr>
        <p:spPr>
          <a:xfrm>
            <a:off x="132735" y="6411354"/>
            <a:ext cx="21424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Imagen de Vecteezy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45"/>
          <p:cNvSpPr txBox="1"/>
          <p:nvPr/>
        </p:nvSpPr>
        <p:spPr>
          <a:xfrm>
            <a:off x="5676900" y="2273506"/>
            <a:ext cx="5732539" cy="3354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Promulgar leyes y normas que favorezcan el balance cero.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Gestionar los presupuestos para promover acciones que reviertan la situación.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Supervisar el cumplimiento de las obligaciones y el uso adecuado de las subvenciones.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6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MEDIDAS: ACCIONES EMPRESARIALES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991" name="Google Shape;991;p46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2" name="Google Shape;992;p4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993" name="Google Shape;993;p46"/>
          <p:cNvSpPr txBox="1"/>
          <p:nvPr/>
        </p:nvSpPr>
        <p:spPr>
          <a:xfrm>
            <a:off x="132735" y="6411354"/>
            <a:ext cx="21424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Imagen de Vecteezy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6"/>
          <p:cNvSpPr txBox="1"/>
          <p:nvPr/>
        </p:nvSpPr>
        <p:spPr>
          <a:xfrm>
            <a:off x="5676900" y="2273506"/>
            <a:ext cx="5732539" cy="2985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Incluir los aspectos ambientales y sociales dentro de sus prioridades.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Contribuir al cambio apostando por el </a:t>
            </a:r>
            <a:r>
              <a:rPr i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Zero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 allá de los mínimos establecidos.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Apostar por productos y servicios sostenibles.</a:t>
            </a:r>
            <a:endParaRPr/>
          </a:p>
        </p:txBody>
      </p:sp>
      <p:pic>
        <p:nvPicPr>
          <p:cNvPr descr="Imagen que contiene juguete, lego, tabla, computadora&#10;&#10;Descripción generada automáticamente" id="995" name="Google Shape;995;p46"/>
          <p:cNvPicPr preferRelativeResize="0"/>
          <p:nvPr/>
        </p:nvPicPr>
        <p:blipFill rotWithShape="1">
          <a:blip r:embed="rId3">
            <a:alphaModFix/>
          </a:blip>
          <a:srcRect b="0" l="11692" r="9737" t="0"/>
          <a:stretch/>
        </p:blipFill>
        <p:spPr>
          <a:xfrm>
            <a:off x="132735" y="1459826"/>
            <a:ext cx="5324120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7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MEDIDAS: ACCIONES INDIVIDUALES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1002" name="Google Shape;1002;p47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3" name="Google Shape;1003;p4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1004" name="Google Shape;1004;p47"/>
          <p:cNvSpPr txBox="1"/>
          <p:nvPr/>
        </p:nvSpPr>
        <p:spPr>
          <a:xfrm>
            <a:off x="5676900" y="1513196"/>
            <a:ext cx="5732539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Apostar por el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consumo responsable: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 el despilfarro en todos los ámbitos.</a:t>
            </a:r>
            <a:endParaRPr/>
          </a:p>
          <a:p>
            <a:pPr indent="-342900" lvl="1" marL="8001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Elegir productos locales y con menor impacto ambiental.</a:t>
            </a:r>
            <a:endParaRPr/>
          </a:p>
          <a:p>
            <a:pPr indent="-342900" lvl="1" marL="8001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Optar por movilidad sostenible.</a:t>
            </a:r>
            <a:endParaRPr/>
          </a:p>
          <a:p>
            <a:pPr indent="-342900" lvl="1" marL="8001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Ahorrar agua y electricidad.</a:t>
            </a:r>
            <a:endParaRPr/>
          </a:p>
          <a:p>
            <a:pPr indent="-342900" lvl="1" marL="8001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residuos y los producidos, separar para reciclar.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Respetar la naturaleza y contribuir a su regeneración</a:t>
            </a:r>
            <a:endParaRPr/>
          </a:p>
        </p:txBody>
      </p:sp>
      <p:pic>
        <p:nvPicPr>
          <p:cNvPr descr="Icono&#10;&#10;Descripción generada automáticamente" id="1005" name="Google Shape;100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78" y="1513196"/>
            <a:ext cx="3791166" cy="4810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48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LA REDUCCIÓN DE EMISIONES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1012" name="Google Shape;1012;p48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3" name="Google Shape;1013;p48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1014" name="Google Shape;1014;p48"/>
          <p:cNvGrpSpPr/>
          <p:nvPr/>
        </p:nvGrpSpPr>
        <p:grpSpPr>
          <a:xfrm>
            <a:off x="337095" y="1458917"/>
            <a:ext cx="11633922" cy="4660229"/>
            <a:chOff x="3268" y="379218"/>
            <a:chExt cx="11633922" cy="4660229"/>
          </a:xfrm>
        </p:grpSpPr>
        <p:sp>
          <p:nvSpPr>
            <p:cNvPr id="1015" name="Google Shape;1015;p48"/>
            <p:cNvSpPr/>
            <p:nvPr/>
          </p:nvSpPr>
          <p:spPr>
            <a:xfrm>
              <a:off x="3268" y="379218"/>
              <a:ext cx="1736406" cy="546871"/>
            </a:xfrm>
            <a:prstGeom prst="rect">
              <a:avLst/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48"/>
            <p:cNvSpPr txBox="1"/>
            <p:nvPr/>
          </p:nvSpPr>
          <p:spPr>
            <a:xfrm>
              <a:off x="3268" y="379218"/>
              <a:ext cx="1736406" cy="546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106675" spcFirstLastPara="1" rIns="1066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Transporte</a:t>
              </a:r>
              <a:endParaRPr/>
            </a:p>
          </p:txBody>
        </p:sp>
        <p:sp>
          <p:nvSpPr>
            <p:cNvPr id="1017" name="Google Shape;1017;p48"/>
            <p:cNvSpPr/>
            <p:nvPr/>
          </p:nvSpPr>
          <p:spPr>
            <a:xfrm>
              <a:off x="3268" y="926089"/>
              <a:ext cx="1736406" cy="4113358"/>
            </a:xfrm>
            <a:prstGeom prst="rect">
              <a:avLst/>
            </a:prstGeom>
            <a:solidFill>
              <a:srgbClr val="E0E0E0">
                <a:alpha val="89803"/>
              </a:srgbClr>
            </a:solidFill>
            <a:ln cap="flat" cmpd="sng" w="9525">
              <a:solidFill>
                <a:srgbClr val="E0E0E0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48"/>
            <p:cNvSpPr txBox="1"/>
            <p:nvPr/>
          </p:nvSpPr>
          <p:spPr>
            <a:xfrm>
              <a:off x="3268" y="926089"/>
              <a:ext cx="1736406" cy="4113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Char char="•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Vehículo Eléctrico.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Char char="•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Biocombustibles.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Char char="•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Racionalización del uso.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Char char="•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Uso de transporte público, andar o bicicleta.</a:t>
              </a:r>
              <a:endParaRPr/>
            </a:p>
          </p:txBody>
        </p:sp>
        <p:sp>
          <p:nvSpPr>
            <p:cNvPr id="1019" name="Google Shape;1019;p48"/>
            <p:cNvSpPr/>
            <p:nvPr/>
          </p:nvSpPr>
          <p:spPr>
            <a:xfrm>
              <a:off x="1982771" y="379218"/>
              <a:ext cx="1736406" cy="546871"/>
            </a:xfrm>
            <a:prstGeom prst="rect">
              <a:avLst/>
            </a:prstGeom>
            <a:gradFill>
              <a:gsLst>
                <a:gs pos="0">
                  <a:srgbClr val="B99696"/>
                </a:gs>
                <a:gs pos="50000">
                  <a:srgbClr val="B28888"/>
                </a:gs>
                <a:gs pos="100000">
                  <a:srgbClr val="9E7575"/>
                </a:gs>
              </a:gsLst>
              <a:lin ang="5400000" scaled="0"/>
            </a:gradFill>
            <a:ln cap="flat" cmpd="sng" w="9525">
              <a:solidFill>
                <a:srgbClr val="B18A8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48"/>
            <p:cNvSpPr txBox="1"/>
            <p:nvPr/>
          </p:nvSpPr>
          <p:spPr>
            <a:xfrm>
              <a:off x="1982771" y="379218"/>
              <a:ext cx="1736406" cy="546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106675" spcFirstLastPara="1" rIns="1066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Generación de electricidad</a:t>
              </a:r>
              <a:endParaRPr/>
            </a:p>
          </p:txBody>
        </p:sp>
        <p:sp>
          <p:nvSpPr>
            <p:cNvPr id="1021" name="Google Shape;1021;p48"/>
            <p:cNvSpPr/>
            <p:nvPr/>
          </p:nvSpPr>
          <p:spPr>
            <a:xfrm>
              <a:off x="1982771" y="926089"/>
              <a:ext cx="1736406" cy="4113358"/>
            </a:xfrm>
            <a:prstGeom prst="rect">
              <a:avLst/>
            </a:prstGeom>
            <a:solidFill>
              <a:srgbClr val="E6DADA">
                <a:alpha val="89803"/>
              </a:srgbClr>
            </a:solidFill>
            <a:ln cap="flat" cmpd="sng" w="9525">
              <a:solidFill>
                <a:srgbClr val="E6DADA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48"/>
            <p:cNvSpPr txBox="1"/>
            <p:nvPr/>
          </p:nvSpPr>
          <p:spPr>
            <a:xfrm>
              <a:off x="1982771" y="926089"/>
              <a:ext cx="1736406" cy="4113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Char char="•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Fuentes renovables.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Char char="•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Generación sin emisión de GEI como nucleares.</a:t>
              </a:r>
              <a:endParaRPr/>
            </a:p>
          </p:txBody>
        </p:sp>
        <p:sp>
          <p:nvSpPr>
            <p:cNvPr id="1023" name="Google Shape;1023;p48"/>
            <p:cNvSpPr/>
            <p:nvPr/>
          </p:nvSpPr>
          <p:spPr>
            <a:xfrm>
              <a:off x="3962274" y="379218"/>
              <a:ext cx="1736406" cy="546871"/>
            </a:xfrm>
            <a:prstGeom prst="rect">
              <a:avLst/>
            </a:prstGeom>
            <a:gradFill>
              <a:gsLst>
                <a:gs pos="0">
                  <a:srgbClr val="C67D7D"/>
                </a:gs>
                <a:gs pos="50000">
                  <a:srgbClr val="C46667"/>
                </a:gs>
                <a:gs pos="100000">
                  <a:srgbClr val="B15555"/>
                </a:gs>
              </a:gsLst>
              <a:lin ang="5400000" scaled="0"/>
            </a:gradFill>
            <a:ln cap="flat" cmpd="sng" w="9525">
              <a:solidFill>
                <a:srgbClr val="C06C6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48"/>
            <p:cNvSpPr txBox="1"/>
            <p:nvPr/>
          </p:nvSpPr>
          <p:spPr>
            <a:xfrm>
              <a:off x="3962274" y="379218"/>
              <a:ext cx="1736406" cy="546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106675" spcFirstLastPara="1" rIns="1066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Eficiencia Energética</a:t>
              </a:r>
              <a:endParaRPr/>
            </a:p>
          </p:txBody>
        </p:sp>
        <p:sp>
          <p:nvSpPr>
            <p:cNvPr id="1025" name="Google Shape;1025;p48"/>
            <p:cNvSpPr/>
            <p:nvPr/>
          </p:nvSpPr>
          <p:spPr>
            <a:xfrm>
              <a:off x="3962274" y="926089"/>
              <a:ext cx="1736406" cy="4113358"/>
            </a:xfrm>
            <a:prstGeom prst="rect">
              <a:avLst/>
            </a:prstGeom>
            <a:solidFill>
              <a:srgbClr val="EDD5D5">
                <a:alpha val="89803"/>
              </a:srgbClr>
            </a:solidFill>
            <a:ln cap="flat" cmpd="sng" w="9525">
              <a:solidFill>
                <a:srgbClr val="EDD5D5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48"/>
            <p:cNvSpPr txBox="1"/>
            <p:nvPr/>
          </p:nvSpPr>
          <p:spPr>
            <a:xfrm>
              <a:off x="3962274" y="926089"/>
              <a:ext cx="1736406" cy="4113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Char char="•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Aislamiento térmico de los edificios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Char char="•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Receptores de bajo consumo.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Char char="•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Sistemas de calefacción y refrigeración ecoeficientes.</a:t>
              </a:r>
              <a:endParaRPr/>
            </a:p>
          </p:txBody>
        </p:sp>
        <p:sp>
          <p:nvSpPr>
            <p:cNvPr id="1027" name="Google Shape;1027;p48"/>
            <p:cNvSpPr/>
            <p:nvPr/>
          </p:nvSpPr>
          <p:spPr>
            <a:xfrm>
              <a:off x="5941777" y="379218"/>
              <a:ext cx="1736406" cy="546871"/>
            </a:xfrm>
            <a:prstGeom prst="rect">
              <a:avLst/>
            </a:prstGeom>
            <a:gradFill>
              <a:gsLst>
                <a:gs pos="0">
                  <a:srgbClr val="D76363"/>
                </a:gs>
                <a:gs pos="50000">
                  <a:srgbClr val="D74343"/>
                </a:gs>
                <a:gs pos="100000">
                  <a:srgbClr val="C53232"/>
                </a:gs>
              </a:gsLst>
              <a:lin ang="5400000" scaled="0"/>
            </a:gradFill>
            <a:ln cap="flat" cmpd="sng" w="9525">
              <a:solidFill>
                <a:srgbClr val="D14A4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48"/>
            <p:cNvSpPr txBox="1"/>
            <p:nvPr/>
          </p:nvSpPr>
          <p:spPr>
            <a:xfrm>
              <a:off x="5941777" y="379218"/>
              <a:ext cx="1736406" cy="546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106675" spcFirstLastPara="1" rIns="1066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Electrificación de la demanda</a:t>
              </a:r>
              <a:endParaRPr/>
            </a:p>
          </p:txBody>
        </p:sp>
        <p:sp>
          <p:nvSpPr>
            <p:cNvPr id="1029" name="Google Shape;1029;p48"/>
            <p:cNvSpPr/>
            <p:nvPr/>
          </p:nvSpPr>
          <p:spPr>
            <a:xfrm>
              <a:off x="5941777" y="926089"/>
              <a:ext cx="1736406" cy="4113358"/>
            </a:xfrm>
            <a:prstGeom prst="rect">
              <a:avLst/>
            </a:prstGeom>
            <a:solidFill>
              <a:srgbClr val="F3D1D1">
                <a:alpha val="89803"/>
              </a:srgbClr>
            </a:solidFill>
            <a:ln cap="flat" cmpd="sng" w="9525">
              <a:solidFill>
                <a:srgbClr val="F3D1D1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48"/>
            <p:cNvSpPr txBox="1"/>
            <p:nvPr/>
          </p:nvSpPr>
          <p:spPr>
            <a:xfrm>
              <a:off x="5941777" y="926089"/>
              <a:ext cx="1736406" cy="4113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Char char="•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Reemplazar calderas y cocinas de combustibles fósiles por eléctricos.</a:t>
              </a:r>
              <a:endParaRPr/>
            </a:p>
          </p:txBody>
        </p:sp>
        <p:sp>
          <p:nvSpPr>
            <p:cNvPr id="1031" name="Google Shape;1031;p48"/>
            <p:cNvSpPr/>
            <p:nvPr/>
          </p:nvSpPr>
          <p:spPr>
            <a:xfrm>
              <a:off x="7921281" y="379218"/>
              <a:ext cx="1736406" cy="546871"/>
            </a:xfrm>
            <a:prstGeom prst="rect">
              <a:avLst/>
            </a:prstGeom>
            <a:gradFill>
              <a:gsLst>
                <a:gs pos="0">
                  <a:srgbClr val="EA4E4F"/>
                </a:gs>
                <a:gs pos="50000">
                  <a:srgbClr val="EF1B1D"/>
                </a:gs>
                <a:gs pos="100000">
                  <a:srgbClr val="DE0C0E"/>
                </a:gs>
              </a:gsLst>
              <a:lin ang="5400000" scaled="0"/>
            </a:gradFill>
            <a:ln cap="flat" cmpd="sng" w="9525">
              <a:solidFill>
                <a:srgbClr val="E7252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48"/>
            <p:cNvSpPr txBox="1"/>
            <p:nvPr/>
          </p:nvSpPr>
          <p:spPr>
            <a:xfrm>
              <a:off x="7921281" y="379218"/>
              <a:ext cx="1736406" cy="546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106675" spcFirstLastPara="1" rIns="1066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Industria</a:t>
              </a:r>
              <a:endParaRPr/>
            </a:p>
          </p:txBody>
        </p:sp>
        <p:sp>
          <p:nvSpPr>
            <p:cNvPr id="1033" name="Google Shape;1033;p48"/>
            <p:cNvSpPr/>
            <p:nvPr/>
          </p:nvSpPr>
          <p:spPr>
            <a:xfrm>
              <a:off x="7921281" y="926089"/>
              <a:ext cx="1736406" cy="4113358"/>
            </a:xfrm>
            <a:prstGeom prst="rect">
              <a:avLst/>
            </a:prstGeom>
            <a:solidFill>
              <a:srgbClr val="F8CDCD">
                <a:alpha val="89803"/>
              </a:srgbClr>
            </a:solidFill>
            <a:ln cap="flat" cmpd="sng" w="9525">
              <a:solidFill>
                <a:srgbClr val="F8CDCD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48"/>
            <p:cNvSpPr txBox="1"/>
            <p:nvPr/>
          </p:nvSpPr>
          <p:spPr>
            <a:xfrm>
              <a:off x="7921281" y="926089"/>
              <a:ext cx="1736406" cy="4113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Char char="•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Sustituir hornos de combustión por eléctricos.</a:t>
              </a:r>
              <a:endParaRPr/>
            </a:p>
          </p:txBody>
        </p:sp>
        <p:sp>
          <p:nvSpPr>
            <p:cNvPr id="1035" name="Google Shape;1035;p48"/>
            <p:cNvSpPr/>
            <p:nvPr/>
          </p:nvSpPr>
          <p:spPr>
            <a:xfrm>
              <a:off x="9900784" y="379218"/>
              <a:ext cx="1736406" cy="546871"/>
            </a:xfrm>
            <a:prstGeom prst="rect">
              <a:avLst/>
            </a:prstGeom>
            <a:gradFill>
              <a:gsLst>
                <a:gs pos="0">
                  <a:srgbClr val="FF4747"/>
                </a:gs>
                <a:gs pos="50000">
                  <a:srgbClr val="FF0000"/>
                </a:gs>
                <a:gs pos="100000">
                  <a:srgbClr val="E30000"/>
                </a:gs>
              </a:gsLst>
              <a:lin ang="5400000" scaled="0"/>
            </a:gradFill>
            <a:ln cap="flat" cmpd="sng" w="9525">
              <a:solidFill>
                <a:srgbClr val="FE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48"/>
            <p:cNvSpPr txBox="1"/>
            <p:nvPr/>
          </p:nvSpPr>
          <p:spPr>
            <a:xfrm>
              <a:off x="9900784" y="379218"/>
              <a:ext cx="1736406" cy="546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106675" spcFirstLastPara="1" rIns="1066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Agricultura y ganadería</a:t>
              </a:r>
              <a:endParaRPr/>
            </a:p>
          </p:txBody>
        </p:sp>
        <p:sp>
          <p:nvSpPr>
            <p:cNvPr id="1037" name="Google Shape;1037;p48"/>
            <p:cNvSpPr/>
            <p:nvPr/>
          </p:nvSpPr>
          <p:spPr>
            <a:xfrm>
              <a:off x="9900784" y="926089"/>
              <a:ext cx="1736406" cy="4113358"/>
            </a:xfrm>
            <a:prstGeom prst="rect">
              <a:avLst/>
            </a:prstGeom>
            <a:solidFill>
              <a:srgbClr val="FEC9C9">
                <a:alpha val="89803"/>
              </a:srgbClr>
            </a:solidFill>
            <a:ln cap="flat" cmpd="sng" w="9525">
              <a:solidFill>
                <a:srgbClr val="FEC9C9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48"/>
            <p:cNvSpPr txBox="1"/>
            <p:nvPr/>
          </p:nvSpPr>
          <p:spPr>
            <a:xfrm>
              <a:off x="9900784" y="926089"/>
              <a:ext cx="1736406" cy="4113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Char char="•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Evitar todo desperdicio.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Char char="•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Apostar por alimentación más vegetal con productos de temporada y proximidad.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Char char="•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Agricultura ecológica y regenerativa, sin fertilizantes industriales.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Char char="•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Reducir el consumo de carne, especialmente vacuno.</a:t>
              </a:r>
              <a:endParaRPr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49"/>
          <p:cNvSpPr txBox="1"/>
          <p:nvPr>
            <p:ph type="title"/>
          </p:nvPr>
        </p:nvSpPr>
        <p:spPr>
          <a:xfrm>
            <a:off x="906110" y="588965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LA ABSORCIÓN DE GEI DE LA ATMÓSFERA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1045" name="Google Shape;1045;p49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6" name="Google Shape;1046;p49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1047" name="Google Shape;1047;p49"/>
          <p:cNvSpPr/>
          <p:nvPr/>
        </p:nvSpPr>
        <p:spPr>
          <a:xfrm>
            <a:off x="4982688" y="2386736"/>
            <a:ext cx="2069309" cy="914400"/>
          </a:xfrm>
          <a:prstGeom prst="downArrow">
            <a:avLst>
              <a:gd fmla="val 50664" name="adj1"/>
              <a:gd fmla="val 43548" name="adj2"/>
            </a:avLst>
          </a:prstGeom>
          <a:solidFill>
            <a:srgbClr val="C55A1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49"/>
          <p:cNvSpPr txBox="1"/>
          <p:nvPr/>
        </p:nvSpPr>
        <p:spPr>
          <a:xfrm>
            <a:off x="1373602" y="4781816"/>
            <a:ext cx="3227886" cy="1015663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plantas son las grandes captadoras de dióxido de carbono en la fotosíntesis.</a:t>
            </a:r>
            <a:endParaRPr/>
          </a:p>
        </p:txBody>
      </p:sp>
      <p:sp>
        <p:nvSpPr>
          <p:cNvPr id="1049" name="Google Shape;1049;p49"/>
          <p:cNvSpPr txBox="1"/>
          <p:nvPr/>
        </p:nvSpPr>
        <p:spPr>
          <a:xfrm>
            <a:off x="7395859" y="4781816"/>
            <a:ext cx="3227886" cy="1015663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algas y otras especies vegetales de ecosistemas costeros también captan CO</a:t>
            </a:r>
            <a:r>
              <a:rPr baseline="-25000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50" name="Google Shape;1050;p49"/>
          <p:cNvSpPr/>
          <p:nvPr/>
        </p:nvSpPr>
        <p:spPr>
          <a:xfrm rot="5400000">
            <a:off x="5560141" y="-1164056"/>
            <a:ext cx="914402" cy="10028904"/>
          </a:xfrm>
          <a:prstGeom prst="leftBrace">
            <a:avLst>
              <a:gd fmla="val 29955" name="adj1"/>
              <a:gd fmla="val 50000" name="adj2"/>
            </a:avLst>
          </a:prstGeom>
          <a:noFill/>
          <a:ln cap="flat" cmpd="sng" w="34925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49"/>
          <p:cNvSpPr/>
          <p:nvPr/>
        </p:nvSpPr>
        <p:spPr>
          <a:xfrm>
            <a:off x="4217117" y="1677162"/>
            <a:ext cx="3600450" cy="477012"/>
          </a:xfrm>
          <a:prstGeom prst="roundRect">
            <a:avLst>
              <a:gd fmla="val 16667" name="adj"/>
            </a:avLst>
          </a:prstGeom>
          <a:solidFill>
            <a:srgbClr val="5AC674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SOLUCIONES NATURALES</a:t>
            </a:r>
            <a:endParaRPr/>
          </a:p>
        </p:txBody>
      </p:sp>
      <p:sp>
        <p:nvSpPr>
          <p:cNvPr id="1052" name="Google Shape;1052;p49"/>
          <p:cNvSpPr/>
          <p:nvPr/>
        </p:nvSpPr>
        <p:spPr>
          <a:xfrm>
            <a:off x="1530220" y="4015627"/>
            <a:ext cx="2889380" cy="477012"/>
          </a:xfrm>
          <a:prstGeom prst="roundRect">
            <a:avLst>
              <a:gd fmla="val 16667" name="adj"/>
            </a:avLst>
          </a:prstGeom>
          <a:solidFill>
            <a:srgbClr val="5AC674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CARBONO VERDE</a:t>
            </a:r>
            <a:endParaRPr/>
          </a:p>
        </p:txBody>
      </p:sp>
      <p:sp>
        <p:nvSpPr>
          <p:cNvPr id="1053" name="Google Shape;1053;p49"/>
          <p:cNvSpPr/>
          <p:nvPr/>
        </p:nvSpPr>
        <p:spPr>
          <a:xfrm>
            <a:off x="7565112" y="4015627"/>
            <a:ext cx="2889380" cy="477012"/>
          </a:xfrm>
          <a:prstGeom prst="roundRect">
            <a:avLst>
              <a:gd fmla="val 16667" name="adj"/>
            </a:avLst>
          </a:prstGeom>
          <a:solidFill>
            <a:srgbClr val="5AC674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CARBONO AZUL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50"/>
          <p:cNvSpPr txBox="1"/>
          <p:nvPr>
            <p:ph type="title"/>
          </p:nvPr>
        </p:nvSpPr>
        <p:spPr>
          <a:xfrm>
            <a:off x="906110" y="588965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LA ABSORCIÓN DE GEI DE LA ATMÓSFERA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1060" name="Google Shape;1060;p50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1" name="Google Shape;1061;p50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1062" name="Google Shape;1062;p50"/>
          <p:cNvSpPr/>
          <p:nvPr/>
        </p:nvSpPr>
        <p:spPr>
          <a:xfrm>
            <a:off x="4982688" y="2424836"/>
            <a:ext cx="2069309" cy="914400"/>
          </a:xfrm>
          <a:prstGeom prst="downArrow">
            <a:avLst>
              <a:gd fmla="val 50664" name="adj1"/>
              <a:gd fmla="val 43548" name="adj2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50"/>
          <p:cNvSpPr txBox="1"/>
          <p:nvPr/>
        </p:nvSpPr>
        <p:spPr>
          <a:xfrm>
            <a:off x="1373602" y="4781816"/>
            <a:ext cx="3227886" cy="1631216"/>
          </a:xfrm>
          <a:prstGeom prst="rect">
            <a:avLst/>
          </a:prstGeom>
          <a:solidFill>
            <a:srgbClr val="BBD6EE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Consiste en atrapar carbono de la atmósfera o el producido en un proceso y licuarlo o solidificarlo y almacenarlo.</a:t>
            </a:r>
            <a:endParaRPr/>
          </a:p>
        </p:txBody>
      </p:sp>
      <p:sp>
        <p:nvSpPr>
          <p:cNvPr id="1064" name="Google Shape;1064;p50"/>
          <p:cNvSpPr txBox="1"/>
          <p:nvPr/>
        </p:nvSpPr>
        <p:spPr>
          <a:xfrm>
            <a:off x="7395859" y="4781816"/>
            <a:ext cx="3227886" cy="1323439"/>
          </a:xfrm>
          <a:prstGeom prst="rect">
            <a:avLst/>
          </a:prstGeom>
          <a:solidFill>
            <a:srgbClr val="BBD6EE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Consiste en aumentar la reflexión de los rayos solares mediante la inyección de aerosoles en la atmósfera.</a:t>
            </a:r>
            <a:endParaRPr/>
          </a:p>
        </p:txBody>
      </p:sp>
      <p:sp>
        <p:nvSpPr>
          <p:cNvPr id="1065" name="Google Shape;1065;p50"/>
          <p:cNvSpPr/>
          <p:nvPr/>
        </p:nvSpPr>
        <p:spPr>
          <a:xfrm rot="5400000">
            <a:off x="5560141" y="-1164056"/>
            <a:ext cx="914402" cy="10028904"/>
          </a:xfrm>
          <a:prstGeom prst="leftBrace">
            <a:avLst>
              <a:gd fmla="val 29955" name="adj1"/>
              <a:gd fmla="val 50000" name="adj2"/>
            </a:avLst>
          </a:prstGeom>
          <a:noFill/>
          <a:ln cap="flat" cmpd="sng" w="349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50"/>
          <p:cNvSpPr/>
          <p:nvPr/>
        </p:nvSpPr>
        <p:spPr>
          <a:xfrm>
            <a:off x="3399539" y="1381907"/>
            <a:ext cx="5235606" cy="91439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SOLUCIONES TECNOLÓGICAS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NET: </a:t>
            </a:r>
            <a:r>
              <a:rPr b="1" i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Negative Emissions Technologies</a:t>
            </a:r>
            <a:endParaRPr/>
          </a:p>
        </p:txBody>
      </p:sp>
      <p:sp>
        <p:nvSpPr>
          <p:cNvPr id="1067" name="Google Shape;1067;p50"/>
          <p:cNvSpPr/>
          <p:nvPr/>
        </p:nvSpPr>
        <p:spPr>
          <a:xfrm>
            <a:off x="7395859" y="4015627"/>
            <a:ext cx="3227885" cy="47701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GEOINGENIERÍA SOLAR</a:t>
            </a:r>
            <a:endParaRPr/>
          </a:p>
        </p:txBody>
      </p:sp>
      <p:sp>
        <p:nvSpPr>
          <p:cNvPr id="1068" name="Google Shape;1068;p50"/>
          <p:cNvSpPr/>
          <p:nvPr/>
        </p:nvSpPr>
        <p:spPr>
          <a:xfrm>
            <a:off x="1376059" y="4034677"/>
            <a:ext cx="3227885" cy="47701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CAPTURA DE CARBONO</a:t>
            </a:r>
            <a:endParaRPr/>
          </a:p>
        </p:txBody>
      </p:sp>
      <p:sp>
        <p:nvSpPr>
          <p:cNvPr id="1069" name="Google Shape;1069;p50"/>
          <p:cNvSpPr txBox="1"/>
          <p:nvPr/>
        </p:nvSpPr>
        <p:spPr>
          <a:xfrm>
            <a:off x="1373602" y="6438900"/>
            <a:ext cx="32278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50"/>
          <p:cNvSpPr txBox="1"/>
          <p:nvPr/>
        </p:nvSpPr>
        <p:spPr>
          <a:xfrm>
            <a:off x="8001000" y="6153150"/>
            <a:ext cx="21075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51"/>
          <p:cNvSpPr txBox="1"/>
          <p:nvPr>
            <p:ph type="title"/>
          </p:nvPr>
        </p:nvSpPr>
        <p:spPr>
          <a:xfrm>
            <a:off x="906110" y="40994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LA ADAPTACIÓN: ALGUNAS MEDIDAS</a:t>
            </a:r>
            <a:endParaRPr/>
          </a:p>
        </p:txBody>
      </p:sp>
      <p:cxnSp>
        <p:nvCxnSpPr>
          <p:cNvPr id="1077" name="Google Shape;1077;p51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8" name="Google Shape;1078;p51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1079" name="Google Shape;1079;p51"/>
          <p:cNvGrpSpPr/>
          <p:nvPr/>
        </p:nvGrpSpPr>
        <p:grpSpPr>
          <a:xfrm>
            <a:off x="684526" y="1338223"/>
            <a:ext cx="7553941" cy="5488738"/>
            <a:chOff x="420662" y="-54284"/>
            <a:chExt cx="7553941" cy="5488738"/>
          </a:xfrm>
        </p:grpSpPr>
        <p:sp>
          <p:nvSpPr>
            <p:cNvPr id="1080" name="Google Shape;1080;p51"/>
            <p:cNvSpPr/>
            <p:nvPr/>
          </p:nvSpPr>
          <p:spPr>
            <a:xfrm>
              <a:off x="5097297" y="3662031"/>
              <a:ext cx="2667334" cy="1727827"/>
            </a:xfrm>
            <a:prstGeom prst="roundRect">
              <a:avLst>
                <a:gd fmla="val 10000" name="adj"/>
              </a:avLst>
            </a:prstGeom>
            <a:solidFill>
              <a:srgbClr val="F7D5CB">
                <a:alpha val="89803"/>
              </a:srgbClr>
            </a:solidFill>
            <a:ln cap="flat" cmpd="sng" w="952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51"/>
            <p:cNvSpPr txBox="1"/>
            <p:nvPr/>
          </p:nvSpPr>
          <p:spPr>
            <a:xfrm>
              <a:off x="5935452" y="4131943"/>
              <a:ext cx="1791224" cy="1219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Construcción de plantas desalinizadoras.</a:t>
              </a:r>
              <a:endParaRPr/>
            </a:p>
          </p:txBody>
        </p:sp>
        <p:sp>
          <p:nvSpPr>
            <p:cNvPr id="1082" name="Google Shape;1082;p51"/>
            <p:cNvSpPr/>
            <p:nvPr/>
          </p:nvSpPr>
          <p:spPr>
            <a:xfrm>
              <a:off x="439760" y="3197401"/>
              <a:ext cx="2667334" cy="2237053"/>
            </a:xfrm>
            <a:prstGeom prst="roundRect">
              <a:avLst>
                <a:gd fmla="val 10000" name="adj"/>
              </a:avLst>
            </a:prstGeom>
            <a:solidFill>
              <a:srgbClr val="F7D5CB">
                <a:alpha val="89803"/>
              </a:srgbClr>
            </a:solidFill>
            <a:ln cap="flat" cmpd="sng" w="952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51"/>
            <p:cNvSpPr txBox="1"/>
            <p:nvPr/>
          </p:nvSpPr>
          <p:spPr>
            <a:xfrm>
              <a:off x="488901" y="3805806"/>
              <a:ext cx="1768852" cy="1579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Reforzar las defensas naturales de protección de ecosistemas.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Planes de emergencia y evacuación.</a:t>
              </a:r>
              <a:endParaRPr/>
            </a:p>
          </p:txBody>
        </p:sp>
        <p:sp>
          <p:nvSpPr>
            <p:cNvPr id="1084" name="Google Shape;1084;p51"/>
            <p:cNvSpPr/>
            <p:nvPr/>
          </p:nvSpPr>
          <p:spPr>
            <a:xfrm>
              <a:off x="5307269" y="-54284"/>
              <a:ext cx="2667334" cy="2160234"/>
            </a:xfrm>
            <a:prstGeom prst="roundRect">
              <a:avLst>
                <a:gd fmla="val 10000" name="adj"/>
              </a:avLst>
            </a:prstGeom>
            <a:solidFill>
              <a:srgbClr val="F7D5CB">
                <a:alpha val="89803"/>
              </a:srgbClr>
            </a:solidFill>
            <a:ln cap="flat" cmpd="sng" w="952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51"/>
            <p:cNvSpPr txBox="1"/>
            <p:nvPr/>
          </p:nvSpPr>
          <p:spPr>
            <a:xfrm>
              <a:off x="6154923" y="-6831"/>
              <a:ext cx="1772228" cy="1525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Nuevos trazados que contemplen el nuevo clima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Infraestructuras capaces de resistir amenazas.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Incluir la naturaleza en los entornos urbanos</a:t>
              </a:r>
              <a:endParaRPr/>
            </a:p>
          </p:txBody>
        </p:sp>
        <p:sp>
          <p:nvSpPr>
            <p:cNvPr id="1086" name="Google Shape;1086;p51"/>
            <p:cNvSpPr/>
            <p:nvPr/>
          </p:nvSpPr>
          <p:spPr>
            <a:xfrm>
              <a:off x="420662" y="-9602"/>
              <a:ext cx="2667334" cy="1727827"/>
            </a:xfrm>
            <a:prstGeom prst="roundRect">
              <a:avLst>
                <a:gd fmla="val 10000" name="adj"/>
              </a:avLst>
            </a:prstGeom>
            <a:solidFill>
              <a:srgbClr val="F7D5CB">
                <a:alpha val="89803"/>
              </a:srgbClr>
            </a:solidFill>
            <a:ln cap="flat" cmpd="sng" w="952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51"/>
            <p:cNvSpPr txBox="1"/>
            <p:nvPr/>
          </p:nvSpPr>
          <p:spPr>
            <a:xfrm>
              <a:off x="458617" y="28353"/>
              <a:ext cx="1791224" cy="1219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Plantas y animales mejor preparados y resilientes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Rotación de cultivos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Estrategias ecológicas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Apoyo gubernamenta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endParaRPr/>
            </a:p>
          </p:txBody>
        </p:sp>
        <p:sp>
          <p:nvSpPr>
            <p:cNvPr id="1088" name="Google Shape;1088;p51"/>
            <p:cNvSpPr/>
            <p:nvPr/>
          </p:nvSpPr>
          <p:spPr>
            <a:xfrm>
              <a:off x="1672038" y="317371"/>
              <a:ext cx="2337967" cy="2337967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120000"/>
                  </a:ln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51"/>
            <p:cNvSpPr txBox="1"/>
            <p:nvPr/>
          </p:nvSpPr>
          <p:spPr>
            <a:xfrm>
              <a:off x="2356813" y="1002146"/>
              <a:ext cx="1653192" cy="165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450" lIns="156450" spcFirstLastPara="1" rIns="156450" wrap="square" tIns="156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2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Agricultura y Ganadería</a:t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1090" name="Google Shape;1090;p51"/>
            <p:cNvSpPr/>
            <p:nvPr/>
          </p:nvSpPr>
          <p:spPr>
            <a:xfrm rot="5400000">
              <a:off x="4117994" y="317371"/>
              <a:ext cx="2337967" cy="2337967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120000"/>
                  </a:ln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51"/>
            <p:cNvSpPr txBox="1"/>
            <p:nvPr/>
          </p:nvSpPr>
          <p:spPr>
            <a:xfrm>
              <a:off x="4117994" y="1002146"/>
              <a:ext cx="1653192" cy="165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450" lIns="156450" spcFirstLastPara="1" rIns="156450" wrap="square" tIns="156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Ciudades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92" name="Google Shape;1092;p51"/>
            <p:cNvSpPr/>
            <p:nvPr/>
          </p:nvSpPr>
          <p:spPr>
            <a:xfrm rot="10800000">
              <a:off x="4117994" y="2763328"/>
              <a:ext cx="2337967" cy="2337967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120000"/>
                  </a:ln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51"/>
            <p:cNvSpPr txBox="1"/>
            <p:nvPr/>
          </p:nvSpPr>
          <p:spPr>
            <a:xfrm>
              <a:off x="4117994" y="2763328"/>
              <a:ext cx="1653192" cy="165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450" lIns="156450" spcFirstLastPara="1" rIns="156450" wrap="square" tIns="156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Agua potable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94" name="Google Shape;1094;p51"/>
            <p:cNvSpPr/>
            <p:nvPr/>
          </p:nvSpPr>
          <p:spPr>
            <a:xfrm rot="-5400000">
              <a:off x="1672038" y="2763328"/>
              <a:ext cx="2337967" cy="2337967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120000"/>
                  </a:ln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51"/>
            <p:cNvSpPr txBox="1"/>
            <p:nvPr/>
          </p:nvSpPr>
          <p:spPr>
            <a:xfrm>
              <a:off x="2356813" y="2763328"/>
              <a:ext cx="1653192" cy="165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450" lIns="156450" spcFirstLastPara="1" rIns="156450" wrap="square" tIns="156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Prevención de emergencias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96" name="Google Shape;1096;p51"/>
            <p:cNvSpPr/>
            <p:nvPr/>
          </p:nvSpPr>
          <p:spPr>
            <a:xfrm>
              <a:off x="3660390" y="2223381"/>
              <a:ext cx="807219" cy="701930"/>
            </a:xfrm>
            <a:custGeom>
              <a:rect b="b" l="l" r="r" t="t"/>
              <a:pathLst>
                <a:path extrusionOk="0" h="120000" w="120000">
                  <a:moveTo>
                    <a:pt x="6522" y="60000"/>
                  </a:moveTo>
                  <a:lnTo>
                    <a:pt x="6522" y="60000"/>
                  </a:lnTo>
                  <a:cubicBezTo>
                    <a:pt x="6522" y="34374"/>
                    <a:pt x="25367" y="12492"/>
                    <a:pt x="51107" y="8231"/>
                  </a:cubicBezTo>
                  <a:cubicBezTo>
                    <a:pt x="76848" y="3970"/>
                    <a:pt x="101961" y="18574"/>
                    <a:pt x="110521" y="42783"/>
                  </a:cubicBezTo>
                  <a:lnTo>
                    <a:pt x="116427" y="42783"/>
                  </a:lnTo>
                  <a:lnTo>
                    <a:pt x="106957" y="60000"/>
                  </a:lnTo>
                  <a:lnTo>
                    <a:pt x="90340" y="42783"/>
                  </a:lnTo>
                  <a:lnTo>
                    <a:pt x="95921" y="42783"/>
                  </a:lnTo>
                  <a:lnTo>
                    <a:pt x="95921" y="42783"/>
                  </a:lnTo>
                  <a:cubicBezTo>
                    <a:pt x="87358" y="27416"/>
                    <a:pt x="68572" y="19475"/>
                    <a:pt x="50448" y="23561"/>
                  </a:cubicBezTo>
                  <a:cubicBezTo>
                    <a:pt x="32324" y="27648"/>
                    <a:pt x="19565" y="42702"/>
                    <a:pt x="19565" y="60000"/>
                  </a:cubicBezTo>
                  <a:close/>
                </a:path>
              </a:pathLst>
            </a:custGeom>
            <a:solidFill>
              <a:srgbClr val="F4BDA9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51"/>
            <p:cNvSpPr/>
            <p:nvPr/>
          </p:nvSpPr>
          <p:spPr>
            <a:xfrm rot="10800000">
              <a:off x="3660390" y="2493355"/>
              <a:ext cx="807219" cy="701930"/>
            </a:xfrm>
            <a:custGeom>
              <a:rect b="b" l="l" r="r" t="t"/>
              <a:pathLst>
                <a:path extrusionOk="0" h="120000" w="120000">
                  <a:moveTo>
                    <a:pt x="6522" y="60000"/>
                  </a:moveTo>
                  <a:lnTo>
                    <a:pt x="6522" y="60000"/>
                  </a:lnTo>
                  <a:cubicBezTo>
                    <a:pt x="6522" y="34374"/>
                    <a:pt x="25367" y="12492"/>
                    <a:pt x="51107" y="8231"/>
                  </a:cubicBezTo>
                  <a:cubicBezTo>
                    <a:pt x="76848" y="3970"/>
                    <a:pt x="101961" y="18574"/>
                    <a:pt x="110521" y="42783"/>
                  </a:cubicBezTo>
                  <a:lnTo>
                    <a:pt x="116427" y="42783"/>
                  </a:lnTo>
                  <a:lnTo>
                    <a:pt x="106957" y="60000"/>
                  </a:lnTo>
                  <a:lnTo>
                    <a:pt x="90340" y="42783"/>
                  </a:lnTo>
                  <a:lnTo>
                    <a:pt x="95921" y="42783"/>
                  </a:lnTo>
                  <a:lnTo>
                    <a:pt x="95921" y="42783"/>
                  </a:lnTo>
                  <a:cubicBezTo>
                    <a:pt x="87358" y="27416"/>
                    <a:pt x="68572" y="19475"/>
                    <a:pt x="50448" y="23561"/>
                  </a:cubicBezTo>
                  <a:cubicBezTo>
                    <a:pt x="32324" y="27648"/>
                    <a:pt x="19565" y="42702"/>
                    <a:pt x="19565" y="60000"/>
                  </a:cubicBezTo>
                  <a:close/>
                </a:path>
              </a:pathLst>
            </a:custGeom>
            <a:solidFill>
              <a:srgbClr val="F4BDA9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8" name="Google Shape;1098;p51"/>
          <p:cNvSpPr txBox="1"/>
          <p:nvPr/>
        </p:nvSpPr>
        <p:spPr>
          <a:xfrm>
            <a:off x="8858250" y="2838450"/>
            <a:ext cx="2629455" cy="2246769"/>
          </a:xfrm>
          <a:prstGeom prst="rect">
            <a:avLst/>
          </a:prstGeom>
          <a:solidFill>
            <a:srgbClr val="8296B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 cambios climáticos son evidentes, por lo que se deben adoptar medidas para adaptarse a esta nueva situación mientras se logra revertir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342da9fe059_1_513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FIN DE LA UD1</a:t>
            </a:r>
            <a:endParaRPr/>
          </a:p>
        </p:txBody>
      </p:sp>
      <p:sp>
        <p:nvSpPr>
          <p:cNvPr id="1105" name="Google Shape;1105;g342da9fe059_1_513"/>
          <p:cNvSpPr txBox="1"/>
          <p:nvPr/>
        </p:nvSpPr>
        <p:spPr>
          <a:xfrm>
            <a:off x="0" y="6526975"/>
            <a:ext cx="1219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chemeClr val="dk2"/>
                </a:solidFill>
              </a:rPr>
              <a:t>Materiales </a:t>
            </a:r>
            <a:r>
              <a:rPr lang="es-ES" sz="800">
                <a:solidFill>
                  <a:schemeClr val="dk2"/>
                </a:solidFill>
              </a:rPr>
              <a:t>extraídos</a:t>
            </a:r>
            <a:r>
              <a:rPr lang="es-ES" sz="800">
                <a:solidFill>
                  <a:schemeClr val="dk2"/>
                </a:solidFill>
              </a:rPr>
              <a:t> de SOSTENIBILIDAD APLICADA AL SISTEMA PRODUCTIVO de Asunción León Blasco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008AAB"/>
      </a:dk1>
      <a:lt1>
        <a:srgbClr val="FFFFFF"/>
      </a:lt1>
      <a:dk2>
        <a:srgbClr val="211261"/>
      </a:dk2>
      <a:lt2>
        <a:srgbClr val="3CB4E5"/>
      </a:lt2>
      <a:accent1>
        <a:srgbClr val="008AAB"/>
      </a:accent1>
      <a:accent2>
        <a:srgbClr val="3CB4E5"/>
      </a:accent2>
      <a:accent3>
        <a:srgbClr val="211261"/>
      </a:accent3>
      <a:accent4>
        <a:srgbClr val="ED127B"/>
      </a:accent4>
      <a:accent5>
        <a:srgbClr val="40B93C"/>
      </a:accent5>
      <a:accent6>
        <a:srgbClr val="000000"/>
      </a:accent6>
      <a:hlink>
        <a:srgbClr val="ED127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2024-04-15T10:19:16Z</dcterms:created>
  <dc:creator>Rosa Castillo</dc:creator>
</cp:coreProperties>
</file>