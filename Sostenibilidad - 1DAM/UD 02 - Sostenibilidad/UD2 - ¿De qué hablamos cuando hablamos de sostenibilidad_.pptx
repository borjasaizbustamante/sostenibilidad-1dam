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Nunito"/>
      <p:regular r:id="rId22"/>
      <p:bold r:id="rId23"/>
      <p:italic r:id="rId24"/>
      <p:boldItalic r:id="rId25"/>
    </p:embeddedFont>
    <p:embeddedFont>
      <p:font typeface="Maven Pro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8" roundtripDataSignature="AMtx7mhH5dfY1Cccg96jhw2LRzgzNarM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Nunito-regular.fntdata"/><Relationship Id="rId21" Type="http://schemas.openxmlformats.org/officeDocument/2006/relationships/slide" Target="slides/slide16.xml"/><Relationship Id="rId24" Type="http://schemas.openxmlformats.org/officeDocument/2006/relationships/font" Target="fonts/Nunito-italic.fntdata"/><Relationship Id="rId23" Type="http://schemas.openxmlformats.org/officeDocument/2006/relationships/font" Target="fonts/Nuni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avenPro-regular.fntdata"/><Relationship Id="rId25" Type="http://schemas.openxmlformats.org/officeDocument/2006/relationships/font" Target="fonts/Nunito-boldItalic.fntdata"/><Relationship Id="rId28" Type="http://customschemas.google.com/relationships/presentationmetadata" Target="metadata"/><Relationship Id="rId27" Type="http://schemas.openxmlformats.org/officeDocument/2006/relationships/font" Target="fonts/MavenPr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4" name="Google Shape;254;p1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1" name="Google Shape;261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8" name="Google Shape;268;p1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a7dab3233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4" name="Google Shape;274;g3a7dab3233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0" name="Google Shape;280;p2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a1534406b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6" name="Google Shape;286;g3a1534406b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2" name="Google Shape;292;p2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a7dab3233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9" name="Google Shape;299;g3a7dab3233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5" name="Google Shape;305;p2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a7dab3233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2" name="Google Shape;312;g3a7dab32333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a7dab3233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9" name="Google Shape;319;g3a7dab32333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a7dab32333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6" name="Google Shape;326;g3a7dab32333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a7dab32333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3" name="Google Shape;333;g3a7dab32333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9" name="Google Shape;339;p2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a7f9b062b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5" name="Google Shape;345;g3a7f9b062b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1" name="Google Shape;11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6390" y="156705"/>
            <a:ext cx="2342520" cy="685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31"/>
          <p:cNvPicPr preferRelativeResize="0"/>
          <p:nvPr/>
        </p:nvPicPr>
        <p:blipFill rotWithShape="1">
          <a:blip r:embed="rId3">
            <a:alphaModFix/>
          </a:blip>
          <a:srcRect b="-16890" l="0" r="-2542" t="0"/>
          <a:stretch/>
        </p:blipFill>
        <p:spPr>
          <a:xfrm>
            <a:off x="6577520" y="203969"/>
            <a:ext cx="1924050" cy="590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1"/>
          <p:cNvSpPr txBox="1"/>
          <p:nvPr>
            <p:ph type="title"/>
          </p:nvPr>
        </p:nvSpPr>
        <p:spPr>
          <a:xfrm>
            <a:off x="1839150" y="1583850"/>
            <a:ext cx="5465700" cy="19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pic>
        <p:nvPicPr>
          <p:cNvPr id="14" name="Google Shape;14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80183" y="4552000"/>
            <a:ext cx="112138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1"/>
          <p:cNvSpPr txBox="1"/>
          <p:nvPr>
            <p:ph idx="2" type="title"/>
          </p:nvPr>
        </p:nvSpPr>
        <p:spPr>
          <a:xfrm>
            <a:off x="1932800" y="4067175"/>
            <a:ext cx="54657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None/>
              <a:defRPr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16" name="Google Shape;16;p31"/>
          <p:cNvSpPr txBox="1"/>
          <p:nvPr>
            <p:ph idx="3" type="title"/>
          </p:nvPr>
        </p:nvSpPr>
        <p:spPr>
          <a:xfrm rot="-5400000">
            <a:off x="-1568100" y="2613300"/>
            <a:ext cx="4098300" cy="9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3"/>
          <p:cNvSpPr txBox="1"/>
          <p:nvPr>
            <p:ph idx="1" type="body"/>
          </p:nvPr>
        </p:nvSpPr>
        <p:spPr>
          <a:xfrm>
            <a:off x="500700" y="1464525"/>
            <a:ext cx="8142600" cy="27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300"/>
              <a:buChar char="○"/>
              <a:defRPr/>
            </a:lvl2pPr>
            <a:lvl3pPr indent="-298450" lvl="2" marL="13716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9" name="Google Shape;19;p33"/>
          <p:cNvSpPr/>
          <p:nvPr/>
        </p:nvSpPr>
        <p:spPr>
          <a:xfrm>
            <a:off x="0" y="0"/>
            <a:ext cx="9144000" cy="586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3"/>
          <p:cNvSpPr/>
          <p:nvPr/>
        </p:nvSpPr>
        <p:spPr>
          <a:xfrm>
            <a:off x="0" y="4749900"/>
            <a:ext cx="9144000" cy="393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" name="Google Shape;21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3825" y="54975"/>
            <a:ext cx="1821500" cy="47685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3"/>
          <p:cNvSpPr txBox="1"/>
          <p:nvPr>
            <p:ph idx="12" type="sldNum"/>
          </p:nvPr>
        </p:nvSpPr>
        <p:spPr>
          <a:xfrm>
            <a:off x="8583521" y="4749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3" name="Google Shape;23;p33"/>
          <p:cNvSpPr txBox="1"/>
          <p:nvPr>
            <p:ph type="title"/>
          </p:nvPr>
        </p:nvSpPr>
        <p:spPr>
          <a:xfrm>
            <a:off x="500700" y="672525"/>
            <a:ext cx="81426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1" type="secHead">
  <p:cSld name="SECTION_HEADER">
    <p:bg>
      <p:bgPr>
        <a:solidFill>
          <a:schemeClr val="dk1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2"/>
          <p:cNvGrpSpPr/>
          <p:nvPr/>
        </p:nvGrpSpPr>
        <p:grpSpPr>
          <a:xfrm>
            <a:off x="146769" y="3406"/>
            <a:ext cx="1233214" cy="1384535"/>
            <a:chOff x="146769" y="3406"/>
            <a:chExt cx="1233214" cy="1384535"/>
          </a:xfrm>
        </p:grpSpPr>
        <p:grpSp>
          <p:nvGrpSpPr>
            <p:cNvPr id="26" name="Google Shape;26;p32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27" name="Google Shape;27;p32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" name="Google Shape;28;p32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" name="Google Shape;29;p32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30" name="Google Shape;30;p32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" name="Google Shape;31;p32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" name="Google Shape;32;p32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3" name="Google Shape;33;p32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34" name="Google Shape;34;p32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35;p32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" name="Google Shape;36;p32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" name="Google Shape;37;p32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8" name="Google Shape;38;p32"/>
          <p:cNvGrpSpPr/>
          <p:nvPr/>
        </p:nvGrpSpPr>
        <p:grpSpPr>
          <a:xfrm>
            <a:off x="6775084" y="2904008"/>
            <a:ext cx="2186147" cy="2239500"/>
            <a:chOff x="6775084" y="2904008"/>
            <a:chExt cx="2186147" cy="2239500"/>
          </a:xfrm>
        </p:grpSpPr>
        <p:grpSp>
          <p:nvGrpSpPr>
            <p:cNvPr id="39" name="Google Shape;39;p32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40" name="Google Shape;40;p32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" name="Google Shape;41;p32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" name="Google Shape;42;p32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43" name="Google Shape;43;p32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p32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" name="Google Shape;45;p32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" name="Google Shape;46;p32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47" name="Google Shape;47;p32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48;p32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" name="Google Shape;49;p32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" name="Google Shape;50;p32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1" name="Google Shape;51;p32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52" name="Google Shape;52;p32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" name="Google Shape;53;p32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" name="Google Shape;54;p32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" name="Google Shape;55;p32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" name="Google Shape;56;p32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7" name="Google Shape;57;p32"/>
          <p:cNvSpPr txBox="1"/>
          <p:nvPr>
            <p:ph type="title"/>
          </p:nvPr>
        </p:nvSpPr>
        <p:spPr>
          <a:xfrm>
            <a:off x="1643100" y="1635300"/>
            <a:ext cx="5857800" cy="18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32"/>
          <p:cNvSpPr txBox="1"/>
          <p:nvPr>
            <p:ph idx="12" type="sldNum"/>
          </p:nvPr>
        </p:nvSpPr>
        <p:spPr>
          <a:xfrm>
            <a:off x="8583521" y="4749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3">
  <p:cSld name="SECTION_HEADER_1_1">
    <p:bg>
      <p:bgPr>
        <a:solidFill>
          <a:schemeClr val="lt2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oogle Shape;60;p34"/>
          <p:cNvGrpSpPr/>
          <p:nvPr/>
        </p:nvGrpSpPr>
        <p:grpSpPr>
          <a:xfrm>
            <a:off x="146769" y="3406"/>
            <a:ext cx="1233214" cy="1384535"/>
            <a:chOff x="146769" y="3406"/>
            <a:chExt cx="1233214" cy="1384535"/>
          </a:xfrm>
        </p:grpSpPr>
        <p:grpSp>
          <p:nvGrpSpPr>
            <p:cNvPr id="61" name="Google Shape;61;p34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62" name="Google Shape;62;p34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" name="Google Shape;63;p34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4" name="Google Shape;64;p34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65" name="Google Shape;65;p34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" name="Google Shape;66;p34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" name="Google Shape;67;p34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8" name="Google Shape;68;p34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69" name="Google Shape;69;p34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" name="Google Shape;70;p34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" name="Google Shape;71;p34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" name="Google Shape;72;p34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3" name="Google Shape;73;p34"/>
          <p:cNvGrpSpPr/>
          <p:nvPr/>
        </p:nvGrpSpPr>
        <p:grpSpPr>
          <a:xfrm>
            <a:off x="6775084" y="2904008"/>
            <a:ext cx="2186147" cy="2239500"/>
            <a:chOff x="6775084" y="2904008"/>
            <a:chExt cx="2186147" cy="2239500"/>
          </a:xfrm>
        </p:grpSpPr>
        <p:grpSp>
          <p:nvGrpSpPr>
            <p:cNvPr id="74" name="Google Shape;74;p34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75" name="Google Shape;75;p34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" name="Google Shape;76;p34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7" name="Google Shape;77;p34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78" name="Google Shape;78;p34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" name="Google Shape;79;p34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" name="Google Shape;80;p34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1" name="Google Shape;81;p34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82" name="Google Shape;82;p34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" name="Google Shape;83;p34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84;p34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" name="Google Shape;85;p34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6" name="Google Shape;86;p34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87" name="Google Shape;87;p34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" name="Google Shape;88;p34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34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90;p34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" name="Google Shape;91;p34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92" name="Google Shape;92;p34"/>
          <p:cNvSpPr txBox="1"/>
          <p:nvPr>
            <p:ph type="title"/>
          </p:nvPr>
        </p:nvSpPr>
        <p:spPr>
          <a:xfrm>
            <a:off x="1643100" y="1635300"/>
            <a:ext cx="5857800" cy="18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3" name="Google Shape;93;p34"/>
          <p:cNvSpPr txBox="1"/>
          <p:nvPr>
            <p:ph idx="12" type="sldNum"/>
          </p:nvPr>
        </p:nvSpPr>
        <p:spPr>
          <a:xfrm>
            <a:off x="8583521" y="4749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os columnas 3">
  <p:cSld name="TITLE_AND_TWO_COLUMNS_1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5"/>
          <p:cNvSpPr txBox="1"/>
          <p:nvPr>
            <p:ph type="title"/>
          </p:nvPr>
        </p:nvSpPr>
        <p:spPr>
          <a:xfrm>
            <a:off x="488925" y="672525"/>
            <a:ext cx="81426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96" name="Google Shape;96;p35"/>
          <p:cNvSpPr txBox="1"/>
          <p:nvPr>
            <p:ph idx="1" type="body"/>
          </p:nvPr>
        </p:nvSpPr>
        <p:spPr>
          <a:xfrm>
            <a:off x="488925" y="1464525"/>
            <a:ext cx="8142600" cy="27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300"/>
              <a:buChar char="○"/>
              <a:defRPr/>
            </a:lvl2pPr>
            <a:lvl3pPr indent="-298450" lvl="2" marL="13716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35"/>
          <p:cNvSpPr/>
          <p:nvPr/>
        </p:nvSpPr>
        <p:spPr>
          <a:xfrm>
            <a:off x="0" y="0"/>
            <a:ext cx="9144000" cy="5868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35"/>
          <p:cNvSpPr/>
          <p:nvPr/>
        </p:nvSpPr>
        <p:spPr>
          <a:xfrm>
            <a:off x="0" y="4749900"/>
            <a:ext cx="9144000" cy="393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9" name="Google Shape;99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3825" y="54975"/>
            <a:ext cx="1821500" cy="476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35"/>
          <p:cNvSpPr txBox="1"/>
          <p:nvPr>
            <p:ph idx="12" type="sldNum"/>
          </p:nvPr>
        </p:nvSpPr>
        <p:spPr>
          <a:xfrm>
            <a:off x="8583521" y="4749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2">
  <p:cSld name="SECTION_HEADER_1_2">
    <p:bg>
      <p:bgPr>
        <a:solidFill>
          <a:schemeClr val="dk2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36"/>
          <p:cNvGrpSpPr/>
          <p:nvPr/>
        </p:nvGrpSpPr>
        <p:grpSpPr>
          <a:xfrm>
            <a:off x="146769" y="3406"/>
            <a:ext cx="1233214" cy="1384535"/>
            <a:chOff x="146769" y="3406"/>
            <a:chExt cx="1233214" cy="1384535"/>
          </a:xfrm>
        </p:grpSpPr>
        <p:grpSp>
          <p:nvGrpSpPr>
            <p:cNvPr id="103" name="Google Shape;103;p36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104" name="Google Shape;104;p36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" name="Google Shape;105;p36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6" name="Google Shape;106;p36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107" name="Google Shape;107;p36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" name="Google Shape;108;p36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" name="Google Shape;109;p36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0" name="Google Shape;110;p36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111" name="Google Shape;111;p36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" name="Google Shape;112;p36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" name="Google Shape;113;p36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" name="Google Shape;114;p36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15" name="Google Shape;115;p36"/>
          <p:cNvGrpSpPr/>
          <p:nvPr/>
        </p:nvGrpSpPr>
        <p:grpSpPr>
          <a:xfrm>
            <a:off x="6775084" y="2904008"/>
            <a:ext cx="2186147" cy="2239500"/>
            <a:chOff x="6775084" y="2904008"/>
            <a:chExt cx="2186147" cy="2239500"/>
          </a:xfrm>
        </p:grpSpPr>
        <p:grpSp>
          <p:nvGrpSpPr>
            <p:cNvPr id="116" name="Google Shape;116;p36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117" name="Google Shape;117;p36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" name="Google Shape;118;p36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9" name="Google Shape;119;p36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120" name="Google Shape;120;p36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" name="Google Shape;121;p36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" name="Google Shape;122;p36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3" name="Google Shape;123;p36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124" name="Google Shape;124;p36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" name="Google Shape;125;p36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26;p36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" name="Google Shape;127;p36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8" name="Google Shape;128;p36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129" name="Google Shape;129;p36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" name="Google Shape;130;p36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" name="Google Shape;131;p36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" name="Google Shape;132;p36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" name="Google Shape;133;p36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34" name="Google Shape;134;p36"/>
          <p:cNvSpPr txBox="1"/>
          <p:nvPr>
            <p:ph type="title"/>
          </p:nvPr>
        </p:nvSpPr>
        <p:spPr>
          <a:xfrm>
            <a:off x="1643100" y="1635300"/>
            <a:ext cx="5857800" cy="18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5" name="Google Shape;135;p36"/>
          <p:cNvSpPr txBox="1"/>
          <p:nvPr>
            <p:ph idx="12" type="sldNum"/>
          </p:nvPr>
        </p:nvSpPr>
        <p:spPr>
          <a:xfrm>
            <a:off x="8583521" y="4749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os columnas 2">
  <p:cSld name="TITLE_AND_TWO_COLUMNS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7"/>
          <p:cNvSpPr txBox="1"/>
          <p:nvPr>
            <p:ph type="title"/>
          </p:nvPr>
        </p:nvSpPr>
        <p:spPr>
          <a:xfrm>
            <a:off x="488925" y="672525"/>
            <a:ext cx="81426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8" name="Google Shape;138;p37"/>
          <p:cNvSpPr txBox="1"/>
          <p:nvPr>
            <p:ph idx="1" type="body"/>
          </p:nvPr>
        </p:nvSpPr>
        <p:spPr>
          <a:xfrm>
            <a:off x="488925" y="1464525"/>
            <a:ext cx="8142600" cy="27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300"/>
              <a:buChar char="○"/>
              <a:defRPr/>
            </a:lvl2pPr>
            <a:lvl3pPr indent="-298450" lvl="2" marL="13716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9" name="Google Shape;139;p37"/>
          <p:cNvSpPr/>
          <p:nvPr/>
        </p:nvSpPr>
        <p:spPr>
          <a:xfrm>
            <a:off x="0" y="0"/>
            <a:ext cx="9144000" cy="5868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7"/>
          <p:cNvSpPr/>
          <p:nvPr/>
        </p:nvSpPr>
        <p:spPr>
          <a:xfrm>
            <a:off x="0" y="4749900"/>
            <a:ext cx="9144000" cy="3936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" name="Google Shape;141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3825" y="54975"/>
            <a:ext cx="1821500" cy="476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37"/>
          <p:cNvSpPr txBox="1"/>
          <p:nvPr>
            <p:ph idx="12" type="sldNum"/>
          </p:nvPr>
        </p:nvSpPr>
        <p:spPr>
          <a:xfrm>
            <a:off x="8583521" y="4749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4">
  <p:cSld name="SECTION_HEADER_1_1_1">
    <p:bg>
      <p:bgPr>
        <a:solidFill>
          <a:schemeClr val="accent4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38"/>
          <p:cNvGrpSpPr/>
          <p:nvPr/>
        </p:nvGrpSpPr>
        <p:grpSpPr>
          <a:xfrm>
            <a:off x="146769" y="3406"/>
            <a:ext cx="1233214" cy="1384535"/>
            <a:chOff x="146769" y="3406"/>
            <a:chExt cx="1233214" cy="1384535"/>
          </a:xfrm>
        </p:grpSpPr>
        <p:grpSp>
          <p:nvGrpSpPr>
            <p:cNvPr id="145" name="Google Shape;145;p38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146" name="Google Shape;146;p38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38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8" name="Google Shape;148;p38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149" name="Google Shape;149;p38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" name="Google Shape;150;p38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38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2" name="Google Shape;152;p38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153" name="Google Shape;153;p38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38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38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" name="Google Shape;156;p38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57" name="Google Shape;157;p38"/>
          <p:cNvGrpSpPr/>
          <p:nvPr/>
        </p:nvGrpSpPr>
        <p:grpSpPr>
          <a:xfrm>
            <a:off x="6775084" y="2904008"/>
            <a:ext cx="2186147" cy="2239500"/>
            <a:chOff x="6775084" y="2904008"/>
            <a:chExt cx="2186147" cy="2239500"/>
          </a:xfrm>
        </p:grpSpPr>
        <p:grpSp>
          <p:nvGrpSpPr>
            <p:cNvPr id="158" name="Google Shape;158;p38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159" name="Google Shape;159;p38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" name="Google Shape;160;p38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1" name="Google Shape;161;p38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162" name="Google Shape;162;p38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38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Google Shape;164;p38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5" name="Google Shape;165;p38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166" name="Google Shape;166;p38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7;p38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p38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p38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0" name="Google Shape;170;p38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171" name="Google Shape;171;p38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38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38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" name="Google Shape;174;p38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p38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76" name="Google Shape;176;p38"/>
          <p:cNvSpPr txBox="1"/>
          <p:nvPr>
            <p:ph type="title"/>
          </p:nvPr>
        </p:nvSpPr>
        <p:spPr>
          <a:xfrm>
            <a:off x="1643100" y="1635300"/>
            <a:ext cx="5857800" cy="18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7" name="Google Shape;177;p38"/>
          <p:cNvSpPr txBox="1"/>
          <p:nvPr>
            <p:ph idx="12" type="sldNum"/>
          </p:nvPr>
        </p:nvSpPr>
        <p:spPr>
          <a:xfrm>
            <a:off x="8583521" y="4749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os columnas 4">
  <p:cSld name="TITLE_AND_TWO_COLUMNS_1_1_1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9"/>
          <p:cNvSpPr txBox="1"/>
          <p:nvPr>
            <p:ph type="title"/>
          </p:nvPr>
        </p:nvSpPr>
        <p:spPr>
          <a:xfrm>
            <a:off x="488925" y="672525"/>
            <a:ext cx="81426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180" name="Google Shape;180;p39"/>
          <p:cNvSpPr txBox="1"/>
          <p:nvPr>
            <p:ph idx="1" type="body"/>
          </p:nvPr>
        </p:nvSpPr>
        <p:spPr>
          <a:xfrm>
            <a:off x="488925" y="1464525"/>
            <a:ext cx="8142600" cy="27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300"/>
              <a:buChar char="○"/>
              <a:defRPr/>
            </a:lvl2pPr>
            <a:lvl3pPr indent="-298450" lvl="2" marL="13716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81" name="Google Shape;181;p39"/>
          <p:cNvSpPr/>
          <p:nvPr/>
        </p:nvSpPr>
        <p:spPr>
          <a:xfrm>
            <a:off x="0" y="0"/>
            <a:ext cx="9144000" cy="5868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39"/>
          <p:cNvSpPr/>
          <p:nvPr/>
        </p:nvSpPr>
        <p:spPr>
          <a:xfrm>
            <a:off x="0" y="4749900"/>
            <a:ext cx="9144000" cy="3936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3" name="Google Shape;183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3825" y="54975"/>
            <a:ext cx="1821500" cy="47685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9"/>
          <p:cNvSpPr txBox="1"/>
          <p:nvPr>
            <p:ph idx="12" type="sldNum"/>
          </p:nvPr>
        </p:nvSpPr>
        <p:spPr>
          <a:xfrm>
            <a:off x="8583521" y="4749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 4 1">
  <p:cSld name="SECTION_HEADER_1_1_1_1">
    <p:bg>
      <p:bgPr>
        <a:solidFill>
          <a:schemeClr val="accent5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oogle Shape;186;p40"/>
          <p:cNvGrpSpPr/>
          <p:nvPr/>
        </p:nvGrpSpPr>
        <p:grpSpPr>
          <a:xfrm>
            <a:off x="146769" y="3406"/>
            <a:ext cx="1233214" cy="1384535"/>
            <a:chOff x="146769" y="3406"/>
            <a:chExt cx="1233214" cy="1384535"/>
          </a:xfrm>
        </p:grpSpPr>
        <p:grpSp>
          <p:nvGrpSpPr>
            <p:cNvPr id="187" name="Google Shape;187;p40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188" name="Google Shape;188;p40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" name="Google Shape;189;p40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0" name="Google Shape;190;p40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191" name="Google Shape;191;p40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" name="Google Shape;192;p40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p40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4" name="Google Shape;194;p40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195" name="Google Shape;195;p40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196;p40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197;p40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p40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99" name="Google Shape;199;p40"/>
          <p:cNvGrpSpPr/>
          <p:nvPr/>
        </p:nvGrpSpPr>
        <p:grpSpPr>
          <a:xfrm>
            <a:off x="6775084" y="2904008"/>
            <a:ext cx="2186147" cy="2239500"/>
            <a:chOff x="6775084" y="2904008"/>
            <a:chExt cx="2186147" cy="2239500"/>
          </a:xfrm>
        </p:grpSpPr>
        <p:grpSp>
          <p:nvGrpSpPr>
            <p:cNvPr id="200" name="Google Shape;200;p40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201" name="Google Shape;201;p40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" name="Google Shape;202;p40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3" name="Google Shape;203;p40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204" name="Google Shape;204;p40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" name="Google Shape;205;p40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" name="Google Shape;206;p40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7" name="Google Shape;207;p40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208" name="Google Shape;208;p40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" name="Google Shape;209;p40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" name="Google Shape;210;p40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" name="Google Shape;211;p40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2" name="Google Shape;212;p40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213" name="Google Shape;213;p40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214;p40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" name="Google Shape;215;p40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" name="Google Shape;216;p40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p40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8627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18" name="Google Shape;218;p40"/>
          <p:cNvSpPr txBox="1"/>
          <p:nvPr>
            <p:ph type="title"/>
          </p:nvPr>
        </p:nvSpPr>
        <p:spPr>
          <a:xfrm>
            <a:off x="1643100" y="1635300"/>
            <a:ext cx="5857800" cy="18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9" name="Google Shape;219;p40"/>
          <p:cNvSpPr txBox="1"/>
          <p:nvPr>
            <p:ph idx="12" type="sldNum"/>
          </p:nvPr>
        </p:nvSpPr>
        <p:spPr>
          <a:xfrm>
            <a:off x="8583521" y="4749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os columnas 4 1">
  <p:cSld name="TITLE_AND_TWO_COLUMNS_1_1_1_1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1"/>
          <p:cNvSpPr txBox="1"/>
          <p:nvPr>
            <p:ph type="title"/>
          </p:nvPr>
        </p:nvSpPr>
        <p:spPr>
          <a:xfrm>
            <a:off x="488925" y="672525"/>
            <a:ext cx="81426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8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222" name="Google Shape;222;p41"/>
          <p:cNvSpPr txBox="1"/>
          <p:nvPr>
            <p:ph idx="1" type="body"/>
          </p:nvPr>
        </p:nvSpPr>
        <p:spPr>
          <a:xfrm>
            <a:off x="488925" y="1464525"/>
            <a:ext cx="8142600" cy="27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300"/>
              <a:buChar char="○"/>
              <a:defRPr/>
            </a:lvl2pPr>
            <a:lvl3pPr indent="-298450" lvl="2" marL="13716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23" name="Google Shape;223;p41"/>
          <p:cNvSpPr/>
          <p:nvPr/>
        </p:nvSpPr>
        <p:spPr>
          <a:xfrm>
            <a:off x="0" y="0"/>
            <a:ext cx="9144000" cy="5868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41"/>
          <p:cNvSpPr/>
          <p:nvPr/>
        </p:nvSpPr>
        <p:spPr>
          <a:xfrm>
            <a:off x="0" y="4749900"/>
            <a:ext cx="9144000" cy="3936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5" name="Google Shape;225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3825" y="54975"/>
            <a:ext cx="1821500" cy="47685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41"/>
          <p:cNvSpPr txBox="1"/>
          <p:nvPr>
            <p:ph idx="12" type="sldNum"/>
          </p:nvPr>
        </p:nvSpPr>
        <p:spPr>
          <a:xfrm>
            <a:off x="8583521" y="4749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2"/>
          <p:cNvSpPr txBox="1"/>
          <p:nvPr>
            <p:ph type="title"/>
          </p:nvPr>
        </p:nvSpPr>
        <p:spPr>
          <a:xfrm>
            <a:off x="488925" y="672525"/>
            <a:ext cx="81426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9" name="Google Shape;229;p42"/>
          <p:cNvSpPr txBox="1"/>
          <p:nvPr>
            <p:ph idx="1" type="body"/>
          </p:nvPr>
        </p:nvSpPr>
        <p:spPr>
          <a:xfrm>
            <a:off x="488925" y="1464525"/>
            <a:ext cx="3702000" cy="27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300"/>
              <a:buChar char="○"/>
              <a:defRPr/>
            </a:lvl2pPr>
            <a:lvl3pPr indent="-298450" lvl="2" marL="13716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30" name="Google Shape;230;p42"/>
          <p:cNvSpPr/>
          <p:nvPr/>
        </p:nvSpPr>
        <p:spPr>
          <a:xfrm>
            <a:off x="0" y="0"/>
            <a:ext cx="9144000" cy="586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42"/>
          <p:cNvSpPr/>
          <p:nvPr/>
        </p:nvSpPr>
        <p:spPr>
          <a:xfrm>
            <a:off x="0" y="4749900"/>
            <a:ext cx="9144000" cy="393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2" name="Google Shape;232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3825" y="54975"/>
            <a:ext cx="1821500" cy="4768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42"/>
          <p:cNvSpPr txBox="1"/>
          <p:nvPr>
            <p:ph idx="12" type="sldNum"/>
          </p:nvPr>
        </p:nvSpPr>
        <p:spPr>
          <a:xfrm>
            <a:off x="8583521" y="4749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34" name="Google Shape;234;p42"/>
          <p:cNvSpPr txBox="1"/>
          <p:nvPr>
            <p:ph idx="2" type="body"/>
          </p:nvPr>
        </p:nvSpPr>
        <p:spPr>
          <a:xfrm>
            <a:off x="4929525" y="1464525"/>
            <a:ext cx="3702000" cy="27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300"/>
              <a:buChar char="○"/>
              <a:defRPr/>
            </a:lvl2pPr>
            <a:lvl3pPr indent="-298450" lvl="2" marL="13716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3"/>
          <p:cNvSpPr txBox="1"/>
          <p:nvPr>
            <p:ph type="title"/>
          </p:nvPr>
        </p:nvSpPr>
        <p:spPr>
          <a:xfrm>
            <a:off x="536550" y="1279950"/>
            <a:ext cx="3825900" cy="25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7" name="Google Shape;237;p43"/>
          <p:cNvSpPr txBox="1"/>
          <p:nvPr>
            <p:ph idx="1" type="body"/>
          </p:nvPr>
        </p:nvSpPr>
        <p:spPr>
          <a:xfrm>
            <a:off x="4781550" y="1197300"/>
            <a:ext cx="3664800" cy="27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300"/>
              <a:buChar char="○"/>
              <a:defRPr/>
            </a:lvl2pPr>
            <a:lvl3pPr indent="-298450" lvl="2" marL="13716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38" name="Google Shape;238;p43"/>
          <p:cNvSpPr/>
          <p:nvPr/>
        </p:nvSpPr>
        <p:spPr>
          <a:xfrm>
            <a:off x="0" y="0"/>
            <a:ext cx="9144000" cy="586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43"/>
          <p:cNvSpPr/>
          <p:nvPr/>
        </p:nvSpPr>
        <p:spPr>
          <a:xfrm>
            <a:off x="0" y="4749900"/>
            <a:ext cx="9144000" cy="393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43"/>
          <p:cNvSpPr txBox="1"/>
          <p:nvPr>
            <p:ph idx="12" type="sldNum"/>
          </p:nvPr>
        </p:nvSpPr>
        <p:spPr>
          <a:xfrm>
            <a:off x="8583521" y="4749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241" name="Google Shape;241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6350" y="18075"/>
            <a:ext cx="2103376" cy="55065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43"/>
          <p:cNvSpPr/>
          <p:nvPr/>
        </p:nvSpPr>
        <p:spPr>
          <a:xfrm>
            <a:off x="0" y="0"/>
            <a:ext cx="9144000" cy="5868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3" name="Google Shape;243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3825" y="54975"/>
            <a:ext cx="1821500" cy="47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1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i="0" sz="2800" u="none" cap="none" strike="noStrike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●"/>
              <a:defRPr b="1" i="0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1150" lvl="1" marL="9144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Arial"/>
              <a:buChar char="○"/>
              <a:defRPr b="1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es.marketscreener.com/noticias/el-ceo-de-exxonmobil-advierte-que-la-ley-de-sostenibilidad-de-la-ue-podr-a-poner-fin-a-sus-operacion-ce7d5cd8d08eff2c" TargetMode="External"/><Relationship Id="rId4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www.bbc.com/mundo/noticias/2013/12/131127_grandes_historias_2013_edificio_bangladesh_yv" TargetMode="External"/><Relationship Id="rId4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www.oxfamintermon.org/es/nota-de-prensa/sombras-derrame-crudo-repsol-peru-2022#" TargetMode="External"/><Relationship Id="rId4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49" name="Google Shape;249;p1"/>
          <p:cNvSpPr txBox="1"/>
          <p:nvPr>
            <p:ph type="title"/>
          </p:nvPr>
        </p:nvSpPr>
        <p:spPr>
          <a:xfrm>
            <a:off x="1839150" y="1583850"/>
            <a:ext cx="5465700" cy="19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s"/>
              <a:t>UD 2: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Arial"/>
              <a:buNone/>
            </a:pPr>
            <a:r>
              <a:rPr lang="es" sz="2800"/>
              <a:t>¿De qué hablamos cuando hablamos de sostenibilidad?</a:t>
            </a:r>
            <a:endParaRPr/>
          </a:p>
        </p:txBody>
      </p:sp>
      <p:sp>
        <p:nvSpPr>
          <p:cNvPr id="250" name="Google Shape;250;p1"/>
          <p:cNvSpPr txBox="1"/>
          <p:nvPr>
            <p:ph idx="2" type="title"/>
          </p:nvPr>
        </p:nvSpPr>
        <p:spPr>
          <a:xfrm>
            <a:off x="1932800" y="4067175"/>
            <a:ext cx="54657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s"/>
              <a:t>Sostenibilidad aplicada al sistema productivo</a:t>
            </a:r>
            <a:endParaRPr/>
          </a:p>
        </p:txBody>
      </p:sp>
      <p:sp>
        <p:nvSpPr>
          <p:cNvPr id="251" name="Google Shape;251;p1"/>
          <p:cNvSpPr txBox="1"/>
          <p:nvPr>
            <p:ph idx="3" type="title"/>
          </p:nvPr>
        </p:nvSpPr>
        <p:spPr>
          <a:xfrm rot="-5400000">
            <a:off x="-1568100" y="2613300"/>
            <a:ext cx="4098300" cy="9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s"/>
              <a:t>1º DESARROLLO  DE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s"/>
              <a:t>APLICACIONES WEB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4"/>
          <p:cNvSpPr txBox="1"/>
          <p:nvPr>
            <p:ph idx="1" type="body"/>
          </p:nvPr>
        </p:nvSpPr>
        <p:spPr>
          <a:xfrm>
            <a:off x="500700" y="1464525"/>
            <a:ext cx="5344500" cy="27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-295275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b="0" lang="es"/>
              <a:t>La </a:t>
            </a:r>
            <a:r>
              <a:rPr lang="es">
                <a:solidFill>
                  <a:schemeClr val="dk1"/>
                </a:solidFill>
              </a:rPr>
              <a:t>sostenibilidad </a:t>
            </a:r>
            <a:r>
              <a:rPr b="0" lang="es"/>
              <a:t>se refiere a sostener las condiciones materiales, sociales y ecológicas que hacen posible una </a:t>
            </a:r>
            <a:r>
              <a:rPr lang="es">
                <a:solidFill>
                  <a:schemeClr val="dk1"/>
                </a:solidFill>
              </a:rPr>
              <a:t>vida digna</a:t>
            </a:r>
            <a:r>
              <a:rPr b="0" lang="es"/>
              <a:t> dentro de los </a:t>
            </a:r>
            <a:r>
              <a:rPr lang="es">
                <a:solidFill>
                  <a:schemeClr val="dk1"/>
                </a:solidFill>
              </a:rPr>
              <a:t>límites biofísicos del planeta</a:t>
            </a:r>
            <a:r>
              <a:rPr b="0" lang="es"/>
              <a:t>.</a:t>
            </a:r>
            <a:endParaRPr b="0"/>
          </a:p>
          <a:p>
            <a:pPr indent="-295275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b="0" lang="es"/>
              <a:t>Integra dimensiones </a:t>
            </a:r>
            <a:r>
              <a:rPr lang="es">
                <a:solidFill>
                  <a:schemeClr val="dk1"/>
                </a:solidFill>
              </a:rPr>
              <a:t>ambientales</a:t>
            </a:r>
            <a:r>
              <a:rPr b="0" lang="es"/>
              <a:t>, </a:t>
            </a:r>
            <a:r>
              <a:rPr lang="es">
                <a:solidFill>
                  <a:schemeClr val="dk1"/>
                </a:solidFill>
              </a:rPr>
              <a:t>sociales </a:t>
            </a:r>
            <a:r>
              <a:rPr b="0" lang="es"/>
              <a:t>y </a:t>
            </a:r>
            <a:r>
              <a:rPr lang="es">
                <a:solidFill>
                  <a:schemeClr val="dk1"/>
                </a:solidFill>
              </a:rPr>
              <a:t>económicas </a:t>
            </a:r>
            <a:r>
              <a:rPr b="0" lang="es"/>
              <a:t>de manera inseparable, porque los problemas reales aparecen de forma interrelacionada.</a:t>
            </a:r>
            <a:endParaRPr b="0"/>
          </a:p>
          <a:p>
            <a:pPr indent="-295275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b="0" lang="es"/>
              <a:t>Supone evaluar si nuestras prácticas mantienen</a:t>
            </a:r>
            <a:r>
              <a:rPr lang="es"/>
              <a:t> </a:t>
            </a:r>
            <a:r>
              <a:rPr lang="es">
                <a:solidFill>
                  <a:schemeClr val="dk1"/>
                </a:solidFill>
              </a:rPr>
              <a:t>a largo plazo</a:t>
            </a:r>
            <a:r>
              <a:rPr lang="es"/>
              <a:t> </a:t>
            </a:r>
            <a:r>
              <a:rPr b="0" lang="es"/>
              <a:t>los procesos </a:t>
            </a:r>
            <a:r>
              <a:rPr lang="es">
                <a:solidFill>
                  <a:schemeClr val="dk1"/>
                </a:solidFill>
              </a:rPr>
              <a:t>ecológicos </a:t>
            </a:r>
            <a:r>
              <a:rPr b="0" lang="es"/>
              <a:t>y </a:t>
            </a:r>
            <a:r>
              <a:rPr lang="es">
                <a:solidFill>
                  <a:schemeClr val="dk1"/>
                </a:solidFill>
              </a:rPr>
              <a:t>sociales </a:t>
            </a:r>
            <a:r>
              <a:rPr b="0" lang="es"/>
              <a:t>que sustentan la vida, y no solo resultados </a:t>
            </a:r>
            <a:r>
              <a:rPr lang="es">
                <a:solidFill>
                  <a:schemeClr val="dk1"/>
                </a:solidFill>
              </a:rPr>
              <a:t>económicos inmediatos</a:t>
            </a:r>
            <a:r>
              <a:rPr b="0" lang="es"/>
              <a:t>.</a:t>
            </a:r>
            <a:endParaRPr b="0"/>
          </a:p>
          <a:p>
            <a:pPr indent="-295275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b="0" lang="es"/>
              <a:t>La pregunta guía es doble: </a:t>
            </a:r>
            <a:r>
              <a:rPr lang="es">
                <a:solidFill>
                  <a:schemeClr val="dk1"/>
                </a:solidFill>
              </a:rPr>
              <a:t>qué </a:t>
            </a:r>
            <a:r>
              <a:rPr b="0" lang="es"/>
              <a:t>queremos sostener y </a:t>
            </a:r>
            <a:r>
              <a:rPr lang="es">
                <a:solidFill>
                  <a:schemeClr val="dk1"/>
                </a:solidFill>
              </a:rPr>
              <a:t>para quién</a:t>
            </a:r>
            <a:r>
              <a:rPr b="0" lang="es"/>
              <a:t>, considerando los medios disponibles y las restricciones materiales.</a:t>
            </a:r>
            <a:endParaRPr b="0"/>
          </a:p>
        </p:txBody>
      </p:sp>
      <p:sp>
        <p:nvSpPr>
          <p:cNvPr id="257" name="Google Shape;257;p14"/>
          <p:cNvSpPr txBox="1"/>
          <p:nvPr>
            <p:ph type="title"/>
          </p:nvPr>
        </p:nvSpPr>
        <p:spPr>
          <a:xfrm>
            <a:off x="500700" y="672525"/>
            <a:ext cx="81426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lang="es"/>
              <a:t>Concepto de sostenibilidad</a:t>
            </a:r>
            <a:endParaRPr/>
          </a:p>
        </p:txBody>
      </p:sp>
      <p:pic>
        <p:nvPicPr>
          <p:cNvPr id="258" name="Google Shape;25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52200" y="1862675"/>
            <a:ext cx="2993999" cy="19526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6"/>
          <p:cNvSpPr txBox="1"/>
          <p:nvPr>
            <p:ph idx="1" type="body"/>
          </p:nvPr>
        </p:nvSpPr>
        <p:spPr>
          <a:xfrm>
            <a:off x="3907825" y="1464525"/>
            <a:ext cx="4735500" cy="28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-309562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b="0" lang="es"/>
              <a:t>El </a:t>
            </a:r>
            <a:r>
              <a:rPr lang="es"/>
              <a:t>desarrollo sostenible</a:t>
            </a:r>
            <a:r>
              <a:rPr b="0" lang="es"/>
              <a:t> buscó conciliar </a:t>
            </a:r>
            <a:r>
              <a:rPr lang="es"/>
              <a:t>crecimiento económico y protección ambiental</a:t>
            </a:r>
            <a:r>
              <a:rPr b="0" lang="es"/>
              <a:t>, pero a menudo mantuvo la idea de crecer materialmente </a:t>
            </a:r>
            <a:r>
              <a:rPr lang="es"/>
              <a:t>sin límite</a:t>
            </a:r>
            <a:r>
              <a:rPr b="0" lang="es"/>
              <a:t>.</a:t>
            </a:r>
            <a:endParaRPr b="0"/>
          </a:p>
          <a:p>
            <a:pPr indent="-309562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b="0" lang="es"/>
              <a:t>La </a:t>
            </a:r>
            <a:r>
              <a:rPr lang="es"/>
              <a:t>eficiencia </a:t>
            </a:r>
            <a:r>
              <a:rPr b="0" lang="es"/>
              <a:t>es necesaria, pero no garantiza reducir impactos absolutos si el volumen total de producción y consumo sigue aumentando (</a:t>
            </a:r>
            <a:r>
              <a:rPr lang="es"/>
              <a:t>efecto rebote</a:t>
            </a:r>
            <a:r>
              <a:rPr b="0" lang="es"/>
              <a:t>).</a:t>
            </a:r>
            <a:endParaRPr b="0"/>
          </a:p>
          <a:p>
            <a:pPr indent="-309562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Sostenibilidad </a:t>
            </a:r>
            <a:r>
              <a:rPr b="0" lang="es"/>
              <a:t>implica </a:t>
            </a:r>
            <a:r>
              <a:rPr lang="es"/>
              <a:t>repensar </a:t>
            </a:r>
            <a:r>
              <a:rPr b="0" lang="es"/>
              <a:t>qué entendemos por </a:t>
            </a:r>
            <a:r>
              <a:rPr lang="es"/>
              <a:t>bienestar </a:t>
            </a:r>
            <a:r>
              <a:rPr b="0" lang="es"/>
              <a:t>y </a:t>
            </a:r>
            <a:r>
              <a:rPr lang="es"/>
              <a:t>reducir consumos</a:t>
            </a:r>
            <a:r>
              <a:rPr b="0" lang="es"/>
              <a:t> materiales donde sea necesario, priorizando </a:t>
            </a:r>
            <a:r>
              <a:rPr lang="es"/>
              <a:t>suficiencia y resiliencia</a:t>
            </a:r>
            <a:r>
              <a:rPr b="0" lang="es"/>
              <a:t>.</a:t>
            </a:r>
            <a:endParaRPr b="0"/>
          </a:p>
        </p:txBody>
      </p:sp>
      <p:sp>
        <p:nvSpPr>
          <p:cNvPr id="264" name="Google Shape;264;p16"/>
          <p:cNvSpPr txBox="1"/>
          <p:nvPr>
            <p:ph type="title"/>
          </p:nvPr>
        </p:nvSpPr>
        <p:spPr>
          <a:xfrm>
            <a:off x="500700" y="672525"/>
            <a:ext cx="81426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lang="es"/>
              <a:t>Sostenibilidad vs. desarrollo sostenible</a:t>
            </a:r>
            <a:endParaRPr/>
          </a:p>
        </p:txBody>
      </p:sp>
      <p:pic>
        <p:nvPicPr>
          <p:cNvPr id="265" name="Google Shape;26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8625" y="1637963"/>
            <a:ext cx="3603026" cy="2402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8"/>
          <p:cNvSpPr txBox="1"/>
          <p:nvPr>
            <p:ph idx="1" type="body"/>
          </p:nvPr>
        </p:nvSpPr>
        <p:spPr>
          <a:xfrm>
            <a:off x="500700" y="1464525"/>
            <a:ext cx="8142600" cy="29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-309562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b="0" lang="es"/>
              <a:t>La sostenibilidad también se aplica al funcionamiento de las </a:t>
            </a:r>
            <a:r>
              <a:rPr lang="es"/>
              <a:t>empresas </a:t>
            </a:r>
            <a:r>
              <a:rPr b="0" lang="es"/>
              <a:t>y las </a:t>
            </a:r>
            <a:r>
              <a:rPr lang="es"/>
              <a:t>instituciones</a:t>
            </a:r>
            <a:r>
              <a:rPr b="0" lang="es"/>
              <a:t>.</a:t>
            </a:r>
            <a:endParaRPr b="0"/>
          </a:p>
          <a:p>
            <a:pPr indent="-309562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b="0" lang="es"/>
              <a:t>Supone integrar criterios </a:t>
            </a:r>
            <a:r>
              <a:rPr lang="es"/>
              <a:t>ambientales, sociales y de gobernanza (ASG)</a:t>
            </a:r>
            <a:r>
              <a:rPr b="0" lang="es"/>
              <a:t> en todas las decisiones.</a:t>
            </a:r>
            <a:endParaRPr b="0"/>
          </a:p>
          <a:p>
            <a:pPr indent="-309562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b="0" lang="es"/>
              <a:t>Estos criterios ayudan a </a:t>
            </a:r>
            <a:r>
              <a:rPr lang="es"/>
              <a:t>reducir impactos</a:t>
            </a:r>
            <a:r>
              <a:rPr b="0" lang="es"/>
              <a:t> y a generar valor duradero, más allá del </a:t>
            </a:r>
            <a:r>
              <a:rPr lang="es"/>
              <a:t>beneficio económico inmediato</a:t>
            </a:r>
            <a:r>
              <a:rPr b="0" lang="es"/>
              <a:t>.</a:t>
            </a:r>
            <a:endParaRPr b="0"/>
          </a:p>
          <a:p>
            <a:pPr indent="-309562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b="0" lang="es"/>
              <a:t>Una organización sostenible gestiona de forma responsable su </a:t>
            </a:r>
            <a:r>
              <a:rPr lang="es"/>
              <a:t>energía, materiales, personas, transparencia y ética</a:t>
            </a:r>
            <a:r>
              <a:rPr b="0" lang="es"/>
              <a:t>.</a:t>
            </a:r>
            <a:endParaRPr b="0"/>
          </a:p>
          <a:p>
            <a:pPr indent="-309562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b="0" lang="es"/>
              <a:t>El objetivo es mantener la actividad dentro de los</a:t>
            </a:r>
            <a:r>
              <a:rPr lang="es"/>
              <a:t> límites ecológicos</a:t>
            </a:r>
            <a:r>
              <a:rPr b="0" lang="es"/>
              <a:t>, cuidando al mismo tiempo de las personas y de la comunidad.</a:t>
            </a:r>
            <a:endParaRPr b="0"/>
          </a:p>
        </p:txBody>
      </p:sp>
      <p:sp>
        <p:nvSpPr>
          <p:cNvPr id="271" name="Google Shape;271;p18"/>
          <p:cNvSpPr txBox="1"/>
          <p:nvPr>
            <p:ph type="title"/>
          </p:nvPr>
        </p:nvSpPr>
        <p:spPr>
          <a:xfrm>
            <a:off x="500700" y="672525"/>
            <a:ext cx="81426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lang="es"/>
              <a:t>La sostenibilidad en las organizaciones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a7dab32333_0_0"/>
          <p:cNvSpPr txBox="1"/>
          <p:nvPr>
            <p:ph type="title"/>
          </p:nvPr>
        </p:nvSpPr>
        <p:spPr>
          <a:xfrm>
            <a:off x="1414850" y="2161300"/>
            <a:ext cx="6292500" cy="13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lang="es"/>
              <a:t>Respuestas institucionales</a:t>
            </a:r>
            <a:endParaRPr/>
          </a:p>
        </p:txBody>
      </p:sp>
      <p:sp>
        <p:nvSpPr>
          <p:cNvPr id="277" name="Google Shape;277;g3a7dab32333_0_0"/>
          <p:cNvSpPr txBox="1"/>
          <p:nvPr>
            <p:ph idx="12" type="sldNum"/>
          </p:nvPr>
        </p:nvSpPr>
        <p:spPr>
          <a:xfrm>
            <a:off x="8583521" y="4749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0"/>
          <p:cNvSpPr txBox="1"/>
          <p:nvPr>
            <p:ph idx="1" type="body"/>
          </p:nvPr>
        </p:nvSpPr>
        <p:spPr>
          <a:xfrm>
            <a:off x="500700" y="1464525"/>
            <a:ext cx="8142600" cy="29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16737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b="0" lang="es"/>
              <a:t>La </a:t>
            </a:r>
            <a:r>
              <a:rPr lang="es"/>
              <a:t>gobernanza </a:t>
            </a:r>
            <a:r>
              <a:rPr b="0" lang="es"/>
              <a:t>se refiere a </a:t>
            </a:r>
            <a:r>
              <a:rPr lang="es"/>
              <a:t>cómo se toman las decisiones </a:t>
            </a:r>
            <a:r>
              <a:rPr b="0" lang="es"/>
              <a:t>y </a:t>
            </a:r>
            <a:r>
              <a:rPr lang="es"/>
              <a:t>quién participa</a:t>
            </a:r>
            <a:r>
              <a:rPr b="0" lang="es"/>
              <a:t> en ellas.</a:t>
            </a:r>
            <a:endParaRPr b="0"/>
          </a:p>
          <a:p>
            <a:pPr indent="-316737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b="0" lang="es"/>
              <a:t>Una buena gobernanza implica </a:t>
            </a:r>
            <a:r>
              <a:rPr lang="es"/>
              <a:t>transparencia</a:t>
            </a:r>
            <a:r>
              <a:rPr b="0" lang="es"/>
              <a:t>, </a:t>
            </a:r>
            <a:r>
              <a:rPr lang="es"/>
              <a:t>diálogo </a:t>
            </a:r>
            <a:r>
              <a:rPr b="0" lang="es"/>
              <a:t>y </a:t>
            </a:r>
            <a:r>
              <a:rPr lang="es"/>
              <a:t>participación </a:t>
            </a:r>
            <a:r>
              <a:rPr b="0" lang="es"/>
              <a:t>de todas las partes afectadas: personal, proveedores, clientes, comunidad y administración.</a:t>
            </a:r>
            <a:endParaRPr b="0"/>
          </a:p>
          <a:p>
            <a:pPr indent="-316737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b="0" lang="es"/>
              <a:t>La </a:t>
            </a:r>
            <a:r>
              <a:rPr lang="es"/>
              <a:t>participación </a:t>
            </a:r>
            <a:r>
              <a:rPr b="0" lang="es"/>
              <a:t>fortalece el compromiso y permite decisiones más justas y duraderas.</a:t>
            </a:r>
            <a:endParaRPr b="0"/>
          </a:p>
          <a:p>
            <a:pPr indent="-316737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b="0" lang="es"/>
              <a:t>La </a:t>
            </a:r>
            <a:r>
              <a:rPr lang="es"/>
              <a:t>responsabilidad </a:t>
            </a:r>
            <a:r>
              <a:rPr b="0" lang="es"/>
              <a:t>significa asumir las consecuencias de los impactos que generamos y rendir cuentas de forma clara.</a:t>
            </a:r>
            <a:endParaRPr b="0"/>
          </a:p>
          <a:p>
            <a:pPr indent="-316737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b="0" lang="es"/>
              <a:t>Cuando estos tres principios se aplican juntos, las organizaciones ganan confianza y contribuyen realmente al bien común.</a:t>
            </a:r>
            <a:endParaRPr b="0"/>
          </a:p>
        </p:txBody>
      </p:sp>
      <p:sp>
        <p:nvSpPr>
          <p:cNvPr id="283" name="Google Shape;283;p20"/>
          <p:cNvSpPr txBox="1"/>
          <p:nvPr>
            <p:ph type="title"/>
          </p:nvPr>
        </p:nvSpPr>
        <p:spPr>
          <a:xfrm>
            <a:off x="500700" y="672525"/>
            <a:ext cx="81426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lang="es"/>
              <a:t>Gobernanza, participación y responsabilidad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a1534406b2_0_5"/>
          <p:cNvSpPr txBox="1"/>
          <p:nvPr>
            <p:ph idx="1" type="body"/>
          </p:nvPr>
        </p:nvSpPr>
        <p:spPr>
          <a:xfrm>
            <a:off x="500700" y="1464525"/>
            <a:ext cx="8142600" cy="29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17647"/>
              <a:buNone/>
            </a:pPr>
            <a:r>
              <a:rPr b="0" lang="es"/>
              <a:t>No todos los problemas tienen la misma importancia ni el mismo impacto.</a:t>
            </a:r>
            <a:endParaRPr b="0"/>
          </a:p>
          <a:p>
            <a:pPr indent="0" lvl="0" marL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17647"/>
              <a:buNone/>
            </a:pPr>
            <a:r>
              <a:rPr b="0" lang="es"/>
              <a:t>La </a:t>
            </a:r>
            <a:r>
              <a:rPr lang="es"/>
              <a:t>materialidad </a:t>
            </a:r>
            <a:r>
              <a:rPr b="0" lang="es"/>
              <a:t>ayuda a identificar </a:t>
            </a:r>
            <a:r>
              <a:rPr lang="es"/>
              <a:t>qué temas</a:t>
            </a:r>
            <a:r>
              <a:rPr b="0" lang="es"/>
              <a:t> son </a:t>
            </a:r>
            <a:r>
              <a:rPr lang="es"/>
              <a:t>realmente relevantes</a:t>
            </a:r>
            <a:r>
              <a:rPr b="0" lang="es"/>
              <a:t> para cada organización o sector.</a:t>
            </a:r>
            <a:endParaRPr b="0"/>
          </a:p>
          <a:p>
            <a:pPr indent="0" lvl="0" marL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17647"/>
              <a:buNone/>
            </a:pPr>
            <a:r>
              <a:rPr b="0" lang="es"/>
              <a:t>Se priorizan aquellos aspectos que tienen </a:t>
            </a:r>
            <a:r>
              <a:rPr lang="es"/>
              <a:t>mayor efecto ambiental o social</a:t>
            </a:r>
            <a:r>
              <a:rPr b="0" lang="es"/>
              <a:t> y </a:t>
            </a:r>
            <a:r>
              <a:rPr lang="es"/>
              <a:t>más interés</a:t>
            </a:r>
            <a:r>
              <a:rPr b="0" lang="es"/>
              <a:t> para las personas implicadas.</a:t>
            </a:r>
            <a:endParaRPr b="0"/>
          </a:p>
          <a:p>
            <a:pPr indent="0" lvl="0" marL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17647"/>
              <a:buNone/>
            </a:pPr>
            <a:r>
              <a:rPr b="0" lang="es"/>
              <a:t>Esta </a:t>
            </a:r>
            <a:r>
              <a:rPr lang="es"/>
              <a:t>priorización </a:t>
            </a:r>
            <a:r>
              <a:rPr b="0" lang="es"/>
              <a:t>permite enfocar los recursos donde más se necesita, evitando esfuerzos dispersos.</a:t>
            </a:r>
            <a:endParaRPr b="0"/>
          </a:p>
          <a:p>
            <a:pPr indent="0" lvl="0" marL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17647"/>
              <a:buNone/>
            </a:pPr>
            <a:r>
              <a:rPr b="0" lang="es"/>
              <a:t>Es una </a:t>
            </a:r>
            <a:r>
              <a:rPr lang="es"/>
              <a:t>herramienta clave</a:t>
            </a:r>
            <a:r>
              <a:rPr b="0" lang="es"/>
              <a:t> para planificar políticas sostenibles y evaluar si las acciones están generando los resultados esperados.</a:t>
            </a:r>
            <a:endParaRPr b="0"/>
          </a:p>
        </p:txBody>
      </p:sp>
      <p:sp>
        <p:nvSpPr>
          <p:cNvPr id="289" name="Google Shape;289;g3a1534406b2_0_5"/>
          <p:cNvSpPr txBox="1"/>
          <p:nvPr>
            <p:ph type="title"/>
          </p:nvPr>
        </p:nvSpPr>
        <p:spPr>
          <a:xfrm>
            <a:off x="500700" y="672525"/>
            <a:ext cx="81426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lang="es"/>
              <a:t>Materialidad y priorización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58150" y="1328955"/>
            <a:ext cx="4185851" cy="2971071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2"/>
          <p:cNvSpPr txBox="1"/>
          <p:nvPr>
            <p:ph idx="1" type="body"/>
          </p:nvPr>
        </p:nvSpPr>
        <p:spPr>
          <a:xfrm>
            <a:off x="500700" y="1464525"/>
            <a:ext cx="4758600" cy="31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-309562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b="0" lang="es"/>
              <a:t>Aprobada en 2015 por la ONU con </a:t>
            </a:r>
            <a:r>
              <a:rPr lang="es"/>
              <a:t>17 Objetivos de Desarrollo Sostenible (ODS)</a:t>
            </a:r>
            <a:r>
              <a:rPr b="0" lang="es"/>
              <a:t>.</a:t>
            </a:r>
            <a:endParaRPr b="0"/>
          </a:p>
          <a:p>
            <a:pPr indent="-309562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b="0" lang="es"/>
              <a:t>Pretende acabar con la pobreza, proteger el planeta y garantizar prosperidad.</a:t>
            </a:r>
            <a:endParaRPr b="0"/>
          </a:p>
          <a:p>
            <a:pPr indent="-309562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b="0" lang="es"/>
              <a:t>Los ODS se aplican a todos los sectores productivos: energía, transporte, tecnología, industria, etc.</a:t>
            </a:r>
            <a:endParaRPr b="0"/>
          </a:p>
          <a:p>
            <a:pPr indent="-309562" lvl="0" marL="457200" rtl="0" algn="just">
              <a:lnSpc>
                <a:spcPct val="150000"/>
              </a:lnSpc>
              <a:spcBef>
                <a:spcPts val="1000"/>
              </a:spcBef>
              <a:spcAft>
                <a:spcPts val="600"/>
              </a:spcAft>
              <a:buSzPct val="100000"/>
              <a:buChar char="●"/>
            </a:pPr>
            <a:r>
              <a:rPr b="0" lang="es"/>
              <a:t>Cada empresa o institución puede identificar qué ODS son más relevantes para su actividad y cómo contribuir de forma concreta a cumplirlos.</a:t>
            </a:r>
            <a:endParaRPr b="0"/>
          </a:p>
        </p:txBody>
      </p:sp>
      <p:sp>
        <p:nvSpPr>
          <p:cNvPr id="296" name="Google Shape;296;p22"/>
          <p:cNvSpPr txBox="1"/>
          <p:nvPr>
            <p:ph type="title"/>
          </p:nvPr>
        </p:nvSpPr>
        <p:spPr>
          <a:xfrm>
            <a:off x="500700" y="672525"/>
            <a:ext cx="81426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lang="es"/>
              <a:t>La Agenda 2030 y los ODS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a7dab32333_0_6"/>
          <p:cNvSpPr txBox="1"/>
          <p:nvPr>
            <p:ph type="title"/>
          </p:nvPr>
        </p:nvSpPr>
        <p:spPr>
          <a:xfrm>
            <a:off x="1643100" y="2050800"/>
            <a:ext cx="5857800" cy="14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lang="es"/>
              <a:t>Respuesta empresarial</a:t>
            </a:r>
            <a:endParaRPr/>
          </a:p>
        </p:txBody>
      </p:sp>
      <p:sp>
        <p:nvSpPr>
          <p:cNvPr id="302" name="Google Shape;302;g3a7dab32333_0_6"/>
          <p:cNvSpPr txBox="1"/>
          <p:nvPr>
            <p:ph idx="12" type="sldNum"/>
          </p:nvPr>
        </p:nvSpPr>
        <p:spPr>
          <a:xfrm>
            <a:off x="8583521" y="4749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4"/>
          <p:cNvSpPr txBox="1"/>
          <p:nvPr>
            <p:ph idx="1" type="body"/>
          </p:nvPr>
        </p:nvSpPr>
        <p:spPr>
          <a:xfrm>
            <a:off x="500700" y="1464525"/>
            <a:ext cx="5430600" cy="30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8108"/>
              <a:buNone/>
            </a:pPr>
            <a:r>
              <a:rPr b="0" lang="es"/>
              <a:t>El término </a:t>
            </a:r>
            <a:r>
              <a:rPr lang="es"/>
              <a:t>“sostenibilidad”</a:t>
            </a:r>
            <a:r>
              <a:rPr b="0" lang="es"/>
              <a:t> se usa a veces de forma </a:t>
            </a:r>
            <a:r>
              <a:rPr lang="es"/>
              <a:t>vacía </a:t>
            </a:r>
            <a:r>
              <a:rPr b="0" lang="es"/>
              <a:t>o </a:t>
            </a:r>
            <a:r>
              <a:rPr lang="es"/>
              <a:t>engañosa</a:t>
            </a:r>
            <a:r>
              <a:rPr b="0" lang="es"/>
              <a:t>.</a:t>
            </a:r>
            <a:endParaRPr b="0"/>
          </a:p>
          <a:p>
            <a:pPr indent="0" lvl="0" marL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8108"/>
              <a:buNone/>
            </a:pPr>
            <a:r>
              <a:rPr b="0" lang="es"/>
              <a:t>El </a:t>
            </a:r>
            <a:r>
              <a:rPr lang="es"/>
              <a:t>lavado verde</a:t>
            </a:r>
            <a:r>
              <a:rPr b="0" lang="es"/>
              <a:t> consiste en </a:t>
            </a:r>
            <a:r>
              <a:rPr lang="es"/>
              <a:t>aparentar compromiso</a:t>
            </a:r>
            <a:r>
              <a:rPr b="0" lang="es"/>
              <a:t> ambiental sin cambios reales en el modelo productivo.</a:t>
            </a:r>
            <a:endParaRPr b="0"/>
          </a:p>
          <a:p>
            <a:pPr indent="0" lvl="0" marL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8108"/>
              <a:buNone/>
            </a:pPr>
            <a:r>
              <a:rPr b="0" lang="es"/>
              <a:t>Ejemplos: campañas publicitarias que exageran pequeños gestos o compensaciones de carbono sin reducir emisiones reales.</a:t>
            </a:r>
            <a:endParaRPr b="0"/>
          </a:p>
          <a:p>
            <a:pPr indent="0" lvl="0" marL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ct val="108108"/>
              <a:buNone/>
            </a:pPr>
            <a:r>
              <a:rPr b="0" lang="es"/>
              <a:t>La </a:t>
            </a:r>
            <a:r>
              <a:rPr lang="es"/>
              <a:t>sostenibilidad </a:t>
            </a:r>
            <a:r>
              <a:rPr b="0" lang="es"/>
              <a:t>auténtica </a:t>
            </a:r>
            <a:r>
              <a:rPr lang="es"/>
              <a:t>implica cambios profundos</a:t>
            </a:r>
            <a:r>
              <a:rPr b="0" lang="es"/>
              <a:t> en los procesos, materiales y modelos de negocio, no solo mejoras cosméticas.</a:t>
            </a:r>
            <a:endParaRPr b="0"/>
          </a:p>
        </p:txBody>
      </p:sp>
      <p:sp>
        <p:nvSpPr>
          <p:cNvPr id="308" name="Google Shape;308;p24"/>
          <p:cNvSpPr txBox="1"/>
          <p:nvPr>
            <p:ph type="title"/>
          </p:nvPr>
        </p:nvSpPr>
        <p:spPr>
          <a:xfrm>
            <a:off x="500700" y="672525"/>
            <a:ext cx="81426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lang="es"/>
              <a:t>Riesgos del “lavado verde” (greenwashing)</a:t>
            </a:r>
            <a:endParaRPr/>
          </a:p>
        </p:txBody>
      </p:sp>
      <p:pic>
        <p:nvPicPr>
          <p:cNvPr id="309" name="Google Shape;30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6400" y="1691350"/>
            <a:ext cx="2658824" cy="252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a7dab32333_0_13"/>
          <p:cNvSpPr txBox="1"/>
          <p:nvPr>
            <p:ph idx="1" type="body"/>
          </p:nvPr>
        </p:nvSpPr>
        <p:spPr>
          <a:xfrm>
            <a:off x="500700" y="1464525"/>
            <a:ext cx="5430600" cy="30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500"/>
              <a:buNone/>
            </a:pPr>
            <a:r>
              <a:rPr b="0" lang="es" sz="1400"/>
              <a:t>Los lobbys son </a:t>
            </a:r>
            <a:r>
              <a:rPr lang="es" sz="1400"/>
              <a:t>grupos de presión</a:t>
            </a:r>
            <a:r>
              <a:rPr b="0" lang="es" sz="1400"/>
              <a:t> que buscan </a:t>
            </a:r>
            <a:r>
              <a:rPr lang="es" sz="1400"/>
              <a:t>influir en las leyes</a:t>
            </a:r>
            <a:r>
              <a:rPr b="0" lang="es" sz="1400"/>
              <a:t> para proteger </a:t>
            </a:r>
            <a:r>
              <a:rPr lang="es" sz="1400"/>
              <a:t>sus intereses</a:t>
            </a:r>
            <a:r>
              <a:rPr b="0" lang="es" sz="1400"/>
              <a:t>, incluso </a:t>
            </a:r>
            <a:r>
              <a:rPr lang="es" sz="1400"/>
              <a:t>por encima del interés general</a:t>
            </a:r>
            <a:r>
              <a:rPr b="0" lang="es" sz="1400"/>
              <a:t>.</a:t>
            </a:r>
            <a:endParaRPr b="0" sz="1400"/>
          </a:p>
          <a:p>
            <a:pPr indent="0" lvl="0" marL="0" rtl="0" algn="just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500"/>
              <a:buNone/>
            </a:pPr>
            <a:r>
              <a:rPr b="0" lang="es" sz="1400"/>
              <a:t>En el ámbito ambiental destacan los lobbys petrolero, automovilístico, aeronáutico, minero, químico y plástico.</a:t>
            </a:r>
            <a:endParaRPr b="0" sz="1400"/>
          </a:p>
          <a:p>
            <a:pPr indent="0" lvl="0" marL="0" rtl="0" algn="just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500"/>
              <a:buNone/>
            </a:pPr>
            <a:r>
              <a:rPr b="0" lang="es" sz="1400"/>
              <a:t>El caso de </a:t>
            </a:r>
            <a:r>
              <a:rPr b="0" lang="es" sz="1400" u="sng">
                <a:solidFill>
                  <a:schemeClr val="hlink"/>
                </a:solidFill>
                <a:hlinkClick r:id="rId3"/>
              </a:rPr>
              <a:t>ExxonMobil</a:t>
            </a:r>
            <a:r>
              <a:rPr b="0" lang="es" sz="1400"/>
              <a:t> muestra cómo algunas empresas conocían el impacto climático de los combustibles fósiles y aun así sembraron dudas para frenar medidas.</a:t>
            </a:r>
            <a:endParaRPr b="0" sz="1400"/>
          </a:p>
          <a:p>
            <a:pPr indent="0" lvl="0" marL="0" rtl="0" algn="just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500"/>
              <a:buNone/>
            </a:pPr>
            <a:r>
              <a:rPr b="0" lang="es" sz="1400"/>
              <a:t>Hoy estos lobbys siguen presentes en cumbres del clima y explican por qué aún existen subvenciones a los combustibles fósiles.</a:t>
            </a:r>
            <a:endParaRPr b="0" sz="1400"/>
          </a:p>
        </p:txBody>
      </p:sp>
      <p:sp>
        <p:nvSpPr>
          <p:cNvPr id="315" name="Google Shape;315;g3a7dab32333_0_13"/>
          <p:cNvSpPr txBox="1"/>
          <p:nvPr>
            <p:ph type="title"/>
          </p:nvPr>
        </p:nvSpPr>
        <p:spPr>
          <a:xfrm>
            <a:off x="500700" y="672525"/>
            <a:ext cx="81426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lang="es"/>
              <a:t>Lobbys</a:t>
            </a:r>
            <a:endParaRPr/>
          </a:p>
        </p:txBody>
      </p:sp>
      <p:pic>
        <p:nvPicPr>
          <p:cNvPr id="316" name="Google Shape;316;g3a7dab32333_0_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6600" y="1387850"/>
            <a:ext cx="2351449" cy="312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a7dab32333_0_20"/>
          <p:cNvSpPr txBox="1"/>
          <p:nvPr>
            <p:ph idx="1" type="body"/>
          </p:nvPr>
        </p:nvSpPr>
        <p:spPr>
          <a:xfrm>
            <a:off x="500700" y="1464525"/>
            <a:ext cx="4177800" cy="30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500"/>
              <a:buNone/>
            </a:pPr>
            <a:r>
              <a:rPr b="0" lang="es" sz="1400"/>
              <a:t>Cuando las normas ambientales o laborales se endurecen, muchas multinacionales se deslocalizan hacia </a:t>
            </a:r>
            <a:r>
              <a:rPr lang="es" sz="1400"/>
              <a:t>países con menos controles</a:t>
            </a:r>
            <a:r>
              <a:rPr b="0" lang="es" sz="1400"/>
              <a:t>.</a:t>
            </a:r>
            <a:endParaRPr b="0" sz="1400"/>
          </a:p>
          <a:p>
            <a:pPr indent="0" lvl="0" marL="0" rtl="0" algn="just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500"/>
              <a:buNone/>
            </a:pPr>
            <a:r>
              <a:rPr b="0" lang="es" sz="1400"/>
              <a:t>La globalización permite seguir vendiendo productos en </a:t>
            </a:r>
            <a:r>
              <a:rPr lang="es" sz="1400"/>
              <a:t>mercados ricos</a:t>
            </a:r>
            <a:r>
              <a:rPr b="0" lang="es" sz="1400"/>
              <a:t> mientras se </a:t>
            </a:r>
            <a:r>
              <a:rPr lang="es" sz="1400"/>
              <a:t>externalizan impactos sociales y ambientales</a:t>
            </a:r>
            <a:r>
              <a:rPr b="0" lang="es" sz="1400"/>
              <a:t>.</a:t>
            </a:r>
            <a:endParaRPr b="0" sz="1400"/>
          </a:p>
          <a:p>
            <a:pPr indent="0" lvl="0" marL="0" rtl="0" algn="just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500"/>
              <a:buNone/>
            </a:pPr>
            <a:r>
              <a:rPr b="0" lang="es" sz="1400"/>
              <a:t>Ejemplo: Inditex trasladó producción al Sur global; la tragedia del </a:t>
            </a:r>
            <a:r>
              <a:rPr b="0" lang="es" sz="1400" u="sng">
                <a:solidFill>
                  <a:schemeClr val="hlink"/>
                </a:solidFill>
                <a:hlinkClick r:id="rId3"/>
              </a:rPr>
              <a:t>Rana Plaza (2013)</a:t>
            </a:r>
            <a:r>
              <a:rPr b="0" lang="es" sz="1400"/>
              <a:t> evidenció las condiciones de precariedad extrema en estas fábricas.</a:t>
            </a:r>
            <a:endParaRPr b="0" sz="1400"/>
          </a:p>
        </p:txBody>
      </p:sp>
      <p:sp>
        <p:nvSpPr>
          <p:cNvPr id="322" name="Google Shape;322;g3a7dab32333_0_20"/>
          <p:cNvSpPr txBox="1"/>
          <p:nvPr>
            <p:ph type="title"/>
          </p:nvPr>
        </p:nvSpPr>
        <p:spPr>
          <a:xfrm>
            <a:off x="500700" y="672525"/>
            <a:ext cx="81426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lang="es"/>
              <a:t>Globalización y deslocalización industrial</a:t>
            </a:r>
            <a:endParaRPr/>
          </a:p>
        </p:txBody>
      </p:sp>
      <p:pic>
        <p:nvPicPr>
          <p:cNvPr id="323" name="Google Shape;323;g3a7dab32333_0_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67925" y="1645100"/>
            <a:ext cx="2907901" cy="2180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a7dab32333_0_27"/>
          <p:cNvSpPr txBox="1"/>
          <p:nvPr>
            <p:ph idx="1" type="body"/>
          </p:nvPr>
        </p:nvSpPr>
        <p:spPr>
          <a:xfrm>
            <a:off x="500700" y="1464525"/>
            <a:ext cx="4177800" cy="304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500"/>
              <a:buNone/>
            </a:pPr>
            <a:r>
              <a:rPr b="0" lang="es" sz="1400"/>
              <a:t>El neocolonialismo mantiene </a:t>
            </a:r>
            <a:r>
              <a:rPr lang="es" sz="1400"/>
              <a:t>relaciones de dominación</a:t>
            </a:r>
            <a:r>
              <a:rPr b="0" lang="es" sz="1400"/>
              <a:t> mediante el </a:t>
            </a:r>
            <a:r>
              <a:rPr lang="es" sz="1400"/>
              <a:t>control económico</a:t>
            </a:r>
            <a:r>
              <a:rPr b="0" lang="es" sz="1400"/>
              <a:t>, no político.</a:t>
            </a:r>
            <a:endParaRPr b="0" sz="1400"/>
          </a:p>
          <a:p>
            <a:pPr indent="0" lvl="0" marL="0" rtl="0" algn="just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500"/>
              <a:buNone/>
            </a:pPr>
            <a:r>
              <a:rPr b="0" lang="es" sz="1400"/>
              <a:t>Empresas del Norte global explotan recursos del Sur global, generando beneficios y dejando impactos ambientales graves.</a:t>
            </a:r>
            <a:endParaRPr b="0" sz="1400"/>
          </a:p>
          <a:p>
            <a:pPr indent="0" lvl="0" marL="0" rtl="0" algn="just">
              <a:lnSpc>
                <a:spcPct val="95000"/>
              </a:lnSpc>
              <a:spcBef>
                <a:spcPts val="1600"/>
              </a:spcBef>
              <a:spcAft>
                <a:spcPts val="0"/>
              </a:spcAft>
              <a:buSzPts val="1500"/>
              <a:buNone/>
            </a:pPr>
            <a:r>
              <a:rPr b="0" lang="es" sz="1400"/>
              <a:t>Caso reciente: el vertido de </a:t>
            </a:r>
            <a:r>
              <a:rPr b="0" lang="es" sz="1400" u="sng">
                <a:solidFill>
                  <a:schemeClr val="hlink"/>
                </a:solidFill>
                <a:hlinkClick r:id="rId3"/>
              </a:rPr>
              <a:t>Repsol en Perú (2022)</a:t>
            </a:r>
            <a:r>
              <a:rPr b="0" lang="es" sz="1400"/>
              <a:t>, uno de los mayores ecocidios del país, con daños ambientales y sociales que aún no han sido reparados.</a:t>
            </a:r>
            <a:endParaRPr b="0" sz="1400"/>
          </a:p>
        </p:txBody>
      </p:sp>
      <p:sp>
        <p:nvSpPr>
          <p:cNvPr id="329" name="Google Shape;329;g3a7dab32333_0_27"/>
          <p:cNvSpPr txBox="1"/>
          <p:nvPr>
            <p:ph type="title"/>
          </p:nvPr>
        </p:nvSpPr>
        <p:spPr>
          <a:xfrm>
            <a:off x="500700" y="672525"/>
            <a:ext cx="81426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lang="es"/>
              <a:t>Neocolonialismo</a:t>
            </a:r>
            <a:endParaRPr/>
          </a:p>
        </p:txBody>
      </p:sp>
      <p:pic>
        <p:nvPicPr>
          <p:cNvPr id="330" name="Google Shape;330;g3a7dab32333_0_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37975" y="1588750"/>
            <a:ext cx="3595626" cy="239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a7dab32333_0_34"/>
          <p:cNvSpPr txBox="1"/>
          <p:nvPr>
            <p:ph type="title"/>
          </p:nvPr>
        </p:nvSpPr>
        <p:spPr>
          <a:xfrm>
            <a:off x="1643100" y="2050800"/>
            <a:ext cx="5857800" cy="14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lang="es"/>
              <a:t>Construir una verdadera sostenibilidad</a:t>
            </a:r>
            <a:endParaRPr/>
          </a:p>
        </p:txBody>
      </p:sp>
      <p:sp>
        <p:nvSpPr>
          <p:cNvPr id="336" name="Google Shape;336;g3a7dab32333_0_34"/>
          <p:cNvSpPr txBox="1"/>
          <p:nvPr>
            <p:ph idx="12" type="sldNum"/>
          </p:nvPr>
        </p:nvSpPr>
        <p:spPr>
          <a:xfrm>
            <a:off x="8583521" y="4749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6"/>
          <p:cNvSpPr txBox="1"/>
          <p:nvPr>
            <p:ph idx="1" type="body"/>
          </p:nvPr>
        </p:nvSpPr>
        <p:spPr>
          <a:xfrm>
            <a:off x="500700" y="1464525"/>
            <a:ext cx="8142600" cy="3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10832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0" lang="es" sz="1400"/>
              <a:t>Este enfoque propone una </a:t>
            </a:r>
            <a:r>
              <a:rPr lang="es" sz="1400"/>
              <a:t>nueva manera de entender</a:t>
            </a:r>
            <a:r>
              <a:rPr b="0" lang="es" sz="1400"/>
              <a:t> la relación entre </a:t>
            </a:r>
            <a:r>
              <a:rPr lang="es" sz="1400"/>
              <a:t>humanidad </a:t>
            </a:r>
            <a:r>
              <a:rPr b="0" lang="es" sz="1400"/>
              <a:t>y </a:t>
            </a:r>
            <a:r>
              <a:rPr lang="es" sz="1400"/>
              <a:t>naturaleza</a:t>
            </a:r>
            <a:r>
              <a:rPr b="0" lang="es" sz="1400"/>
              <a:t>.</a:t>
            </a:r>
            <a:endParaRPr b="0" sz="1400"/>
          </a:p>
          <a:p>
            <a:pPr indent="-310832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0" lang="es" sz="1400"/>
              <a:t>Reconoce la </a:t>
            </a:r>
            <a:r>
              <a:rPr lang="es" sz="1400"/>
              <a:t>ecodependencia </a:t>
            </a:r>
            <a:r>
              <a:rPr b="0" lang="es" sz="1400"/>
              <a:t>y la </a:t>
            </a:r>
            <a:r>
              <a:rPr lang="es" sz="1400"/>
              <a:t>interdependencia </a:t>
            </a:r>
            <a:r>
              <a:rPr b="0" lang="es" sz="1400"/>
              <a:t>como base de toda actividad humana.</a:t>
            </a:r>
            <a:endParaRPr b="0" sz="1400"/>
          </a:p>
          <a:p>
            <a:pPr indent="-310832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b="0" lang="es" sz="1400"/>
              <a:t>Sus principios son:</a:t>
            </a:r>
            <a:endParaRPr b="0" sz="1400"/>
          </a:p>
          <a:p>
            <a:pPr indent="-310832" lvl="0" marL="9144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b="0" lang="es" sz="1400"/>
              <a:t>Reducir el consumo de energía y materiales.</a:t>
            </a:r>
            <a:endParaRPr b="0" sz="1400"/>
          </a:p>
          <a:p>
            <a:pPr indent="-310832" lvl="0" marL="9144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b="0" lang="es" sz="1400"/>
              <a:t>Cuidar los vínculos sociales y la equidad.</a:t>
            </a:r>
            <a:endParaRPr b="0" sz="1400"/>
          </a:p>
          <a:p>
            <a:pPr indent="-310832" lvl="0" marL="9144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b="0" lang="es" sz="1400"/>
              <a:t>Mantener la biodiversidad y los ciclos naturales.</a:t>
            </a:r>
            <a:endParaRPr b="0" sz="1400"/>
          </a:p>
          <a:p>
            <a:pPr indent="-310832" lvl="0" marL="9144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b="0" lang="es" sz="1400"/>
              <a:t>Vivir con energías renovables.</a:t>
            </a:r>
            <a:endParaRPr b="0" sz="1400"/>
          </a:p>
          <a:p>
            <a:pPr indent="-310832" lvl="0" marL="9144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b="0" lang="es" sz="1400"/>
              <a:t>Cerrar los ciclos de materiales y residuos.</a:t>
            </a:r>
            <a:endParaRPr b="0" sz="1400"/>
          </a:p>
          <a:p>
            <a:pPr indent="-310832" lvl="0" marL="9144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b="0" lang="es" sz="1400"/>
              <a:t>Poner la vida en el centro de las decisiones políticas y económicas.</a:t>
            </a:r>
            <a:endParaRPr b="0" sz="1400"/>
          </a:p>
        </p:txBody>
      </p:sp>
      <p:sp>
        <p:nvSpPr>
          <p:cNvPr id="342" name="Google Shape;342;p26"/>
          <p:cNvSpPr txBox="1"/>
          <p:nvPr>
            <p:ph type="title"/>
          </p:nvPr>
        </p:nvSpPr>
        <p:spPr>
          <a:xfrm>
            <a:off x="500700" y="672525"/>
            <a:ext cx="81426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lang="es"/>
              <a:t>La Nueva Cultura de la Tierra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a7f9b062b2_0_0"/>
          <p:cNvSpPr txBox="1"/>
          <p:nvPr>
            <p:ph type="title"/>
          </p:nvPr>
        </p:nvSpPr>
        <p:spPr>
          <a:xfrm>
            <a:off x="1643100" y="2113775"/>
            <a:ext cx="5857800" cy="13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rPr lang="es"/>
              <a:t>FIN</a:t>
            </a:r>
            <a:endParaRPr/>
          </a:p>
        </p:txBody>
      </p:sp>
      <p:sp>
        <p:nvSpPr>
          <p:cNvPr id="348" name="Google Shape;348;g3a7f9b062b2_0_0"/>
          <p:cNvSpPr txBox="1"/>
          <p:nvPr>
            <p:ph idx="12" type="sldNum"/>
          </p:nvPr>
        </p:nvSpPr>
        <p:spPr>
          <a:xfrm>
            <a:off x="8583521" y="4749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008AAB"/>
      </a:dk1>
      <a:lt1>
        <a:srgbClr val="FFFFFF"/>
      </a:lt1>
      <a:dk2>
        <a:srgbClr val="211261"/>
      </a:dk2>
      <a:lt2>
        <a:srgbClr val="3CB4E5"/>
      </a:lt2>
      <a:accent1>
        <a:srgbClr val="008AAB"/>
      </a:accent1>
      <a:accent2>
        <a:srgbClr val="3CB4E5"/>
      </a:accent2>
      <a:accent3>
        <a:srgbClr val="211261"/>
      </a:accent3>
      <a:accent4>
        <a:srgbClr val="ED127B"/>
      </a:accent4>
      <a:accent5>
        <a:srgbClr val="40B93C"/>
      </a:accent5>
      <a:accent6>
        <a:srgbClr val="000000"/>
      </a:accent6>
      <a:hlink>
        <a:srgbClr val="ED127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