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</p:sldIdLst>
  <p:sldSz cy="6858000" cx="12192000"/>
  <p:notesSz cx="6858000" cy="9144000"/>
  <p:embeddedFontLst>
    <p:embeddedFont>
      <p:font typeface="Nunito"/>
      <p:regular r:id="rId66"/>
      <p:bold r:id="rId67"/>
      <p:italic r:id="rId68"/>
      <p:boldItalic r:id="rId69"/>
    </p:embeddedFont>
    <p:embeddedFont>
      <p:font typeface="Maven Pro"/>
      <p:regular r:id="rId70"/>
      <p:bold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2" roundtripDataSignature="AMtx7mjIjfiRX3iyQfaNTjr7XGfPGQX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2" Type="http://customschemas.google.com/relationships/presentationmetadata" Target="meta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MavenPro-bold.fntdata"/><Relationship Id="rId70" Type="http://schemas.openxmlformats.org/officeDocument/2006/relationships/font" Target="fonts/MavenPro-regular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Nunito-regular.fntdata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font" Target="fonts/Nunito-italic.fntdata"/><Relationship Id="rId23" Type="http://schemas.openxmlformats.org/officeDocument/2006/relationships/slide" Target="slides/slide19.xml"/><Relationship Id="rId67" Type="http://schemas.openxmlformats.org/officeDocument/2006/relationships/font" Target="fonts/Nunito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Nunit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2dc1555a7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2dc1555a7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3" name="Google Shape;113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4" name="Google Shape;121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42dc1555a7_0_5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42dc1555a7_0_5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g342dc1555a7_0_5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2dc1555a7_0_30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5" name="Google Shape;15;g342dc1555a7_0_3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42dc1555a7_0_304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42dc1555a7_0_304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8" name="Google Shape;18;g342dc1555a7_0_3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42dc1555a7_0_304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0" name="Google Shape;20;g342dc1555a7_0_304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42dc1555a7_0_312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3" name="Google Shape;23;g342dc1555a7_0_31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4" name="Google Shape;24;g342dc1555a7_0_31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42dc1555a7_0_31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" name="Google Shape;26;g342dc1555a7_0_31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7" name="Google Shape;27;g342dc1555a7_0_31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42dc1555a7_0_31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42dc1555a7_0_31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g342dc1555a7_0_31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1" name="Google Shape;31;g342dc1555a7_0_31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42dc1555a7_0_31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g342dc1555a7_0_31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42dc1555a7_0_31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g342dc1555a7_0_312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36" name="Google Shape;36;g342dc1555a7_0_31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37" name="Google Shape;37;g342dc1555a7_0_31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42dc1555a7_0_31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" name="Google Shape;39;g342dc1555a7_0_31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40" name="Google Shape;40;g342dc1555a7_0_31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g342dc1555a7_0_31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g342dc1555a7_0_31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g342dc1555a7_0_31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4" name="Google Shape;44;g342dc1555a7_0_31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g342dc1555a7_0_31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g342dc1555a7_0_31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g342dc1555a7_0_31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g342dc1555a7_0_31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49" name="Google Shape;49;g342dc1555a7_0_31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g342dc1555a7_0_31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g342dc1555a7_0_31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42dc1555a7_0_31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42dc1555a7_0_31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g342dc1555a7_0_312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42dc1555a7_0_312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2dc1555a7_0_347"/>
          <p:cNvSpPr txBox="1"/>
          <p:nvPr>
            <p:ph idx="1" type="body"/>
          </p:nvPr>
        </p:nvSpPr>
        <p:spPr>
          <a:xfrm>
            <a:off x="6676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42dc1555a7_0_347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9" name="Google Shape;59;g342dc1555a7_0_347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0" name="Google Shape;60;g342dc1555a7_0_3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42dc1555a7_0_347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2" name="Google Shape;62;g342dc1555a7_0_347"/>
          <p:cNvSpPr txBox="1"/>
          <p:nvPr>
            <p:ph type="title"/>
          </p:nvPr>
        </p:nvSpPr>
        <p:spPr>
          <a:xfrm>
            <a:off x="6676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2dc1555a7_0_354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5" name="Google Shape;65;g342dc1555a7_0_354"/>
          <p:cNvSpPr txBox="1"/>
          <p:nvPr>
            <p:ph idx="1" type="body"/>
          </p:nvPr>
        </p:nvSpPr>
        <p:spPr>
          <a:xfrm>
            <a:off x="6519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6" name="Google Shape;66;g342dc1555a7_0_354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" name="Google Shape;67;g342dc1555a7_0_354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8" name="Google Shape;68;g342dc1555a7_0_3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42dc1555a7_0_354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0" name="Google Shape;70;g342dc1555a7_0_354"/>
          <p:cNvSpPr txBox="1"/>
          <p:nvPr>
            <p:ph idx="2" type="body"/>
          </p:nvPr>
        </p:nvSpPr>
        <p:spPr>
          <a:xfrm>
            <a:off x="6572700" y="1952700"/>
            <a:ext cx="49359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2dc1555a7_0_362"/>
          <p:cNvSpPr txBox="1"/>
          <p:nvPr>
            <p:ph type="title"/>
          </p:nvPr>
        </p:nvSpPr>
        <p:spPr>
          <a:xfrm>
            <a:off x="715400" y="1706600"/>
            <a:ext cx="5101200" cy="3444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g342dc1555a7_0_362"/>
          <p:cNvSpPr txBox="1"/>
          <p:nvPr>
            <p:ph idx="1" type="body"/>
          </p:nvPr>
        </p:nvSpPr>
        <p:spPr>
          <a:xfrm>
            <a:off x="6375400" y="1596400"/>
            <a:ext cx="48864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4" name="Google Shape;74;g342dc1555a7_0_362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5" name="Google Shape;75;g342dc1555a7_0_362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6" name="Google Shape;76;g342dc1555a7_0_362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77" name="Google Shape;77;g342dc1555a7_0_3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133" y="24100"/>
            <a:ext cx="2804501" cy="7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42dc1555a7_0_362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79" name="Google Shape;79;g342dc1555a7_0_3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342dc1555a7_0_371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82" name="Google Shape;82;g342dc1555a7_0_371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83" name="Google Shape;83;g342dc1555a7_0_371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42dc1555a7_0_371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g342dc1555a7_0_371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86" name="Google Shape;86;g342dc1555a7_0_371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g342dc1555a7_0_371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g342dc1555a7_0_371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g342dc1555a7_0_371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90" name="Google Shape;90;g342dc1555a7_0_371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g342dc1555a7_0_371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g342dc1555a7_0_371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g342dc1555a7_0_371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" name="Google Shape;94;g342dc1555a7_0_371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95" name="Google Shape;95;g342dc1555a7_0_371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96" name="Google Shape;96;g342dc1555a7_0_371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g342dc1555a7_0_371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" name="Google Shape;98;g342dc1555a7_0_371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99" name="Google Shape;99;g342dc1555a7_0_371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g342dc1555a7_0_371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g342dc1555a7_0_371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g342dc1555a7_0_371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03" name="Google Shape;103;g342dc1555a7_0_371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g342dc1555a7_0_371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g342dc1555a7_0_371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g342dc1555a7_0_371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g342dc1555a7_0_371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08" name="Google Shape;108;g342dc1555a7_0_371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g342dc1555a7_0_371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g342dc1555a7_0_371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g342dc1555a7_0_371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342dc1555a7_0_371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3" name="Google Shape;113;g342dc1555a7_0_371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g342dc1555a7_0_371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2dc1555a7_0_406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42dc1555a7_0_406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8" name="Google Shape;118;g342dc1555a7_0_406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g342dc1555a7_0_406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0" name="Google Shape;120;g342dc1555a7_0_4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42dc1555a7_0_406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g342dc1555a7_0_413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24" name="Google Shape;124;g342dc1555a7_0_41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25" name="Google Shape;125;g342dc1555a7_0_41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g342dc1555a7_0_41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" name="Google Shape;127;g342dc1555a7_0_41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28" name="Google Shape;128;g342dc1555a7_0_41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g342dc1555a7_0_41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g342dc1555a7_0_41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g342dc1555a7_0_41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32" name="Google Shape;132;g342dc1555a7_0_41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g342dc1555a7_0_41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g342dc1555a7_0_41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g342dc1555a7_0_41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" name="Google Shape;136;g342dc1555a7_0_413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37" name="Google Shape;137;g342dc1555a7_0_41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38" name="Google Shape;138;g342dc1555a7_0_41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g342dc1555a7_0_41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" name="Google Shape;140;g342dc1555a7_0_41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41" name="Google Shape;141;g342dc1555a7_0_41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g342dc1555a7_0_41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g342dc1555a7_0_41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" name="Google Shape;144;g342dc1555a7_0_41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45" name="Google Shape;145;g342dc1555a7_0_41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42dc1555a7_0_41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42dc1555a7_0_41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g342dc1555a7_0_41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g342dc1555a7_0_41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50" name="Google Shape;150;g342dc1555a7_0_41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42dc1555a7_0_41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42dc1555a7_0_41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42dc1555a7_0_41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42dc1555a7_0_41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5" name="Google Shape;155;g342dc1555a7_0_413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g342dc1555a7_0_413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2dc1555a7_0_448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7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9" name="Google Shape;159;g342dc1555a7_0_448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60" name="Google Shape;160;g342dc1555a7_0_448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1" name="Google Shape;161;g342dc1555a7_0_448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62" name="Google Shape;162;g342dc1555a7_0_4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42dc1555a7_0_448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42dc1555a7_0_455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166" name="Google Shape;166;g342dc1555a7_0_45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67" name="Google Shape;167;g342dc1555a7_0_45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42dc1555a7_0_45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42dc1555a7_0_45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70" name="Google Shape;170;g342dc1555a7_0_45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42dc1555a7_0_45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42dc1555a7_0_45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42dc1555a7_0_45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74" name="Google Shape;174;g342dc1555a7_0_45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42dc1555a7_0_45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42dc1555a7_0_45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42dc1555a7_0_45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" name="Google Shape;178;g342dc1555a7_0_455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179" name="Google Shape;179;g342dc1555a7_0_45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80" name="Google Shape;180;g342dc1555a7_0_45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42dc1555a7_0_45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42dc1555a7_0_45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83" name="Google Shape;183;g342dc1555a7_0_45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42dc1555a7_0_45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42dc1555a7_0_45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" name="Google Shape;186;g342dc1555a7_0_45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87" name="Google Shape;187;g342dc1555a7_0_45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42dc1555a7_0_45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g342dc1555a7_0_45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42dc1555a7_0_45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g342dc1555a7_0_45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92" name="Google Shape;192;g342dc1555a7_0_45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42dc1555a7_0_45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g342dc1555a7_0_45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42dc1555a7_0_45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42dc1555a7_0_45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7" name="Google Shape;197;g342dc1555a7_0_455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g342dc1555a7_0_455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2dc1555a7_0_490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7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1" name="Google Shape;201;g342dc1555a7_0_490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02" name="Google Shape;202;g342dc1555a7_0_490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03" name="Google Shape;203;g342dc1555a7_0_490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04" name="Google Shape;204;g342dc1555a7_0_4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42dc1555a7_0_490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g342dc1555a7_0_497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208" name="Google Shape;208;g342dc1555a7_0_49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09" name="Google Shape;209;g342dc1555a7_0_49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42dc1555a7_0_49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" name="Google Shape;211;g342dc1555a7_0_49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12" name="Google Shape;212;g342dc1555a7_0_49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42dc1555a7_0_49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42dc1555a7_0_49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g342dc1555a7_0_49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16" name="Google Shape;216;g342dc1555a7_0_49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42dc1555a7_0_49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42dc1555a7_0_49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g342dc1555a7_0_49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0" name="Google Shape;220;g342dc1555a7_0_497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221" name="Google Shape;221;g342dc1555a7_0_49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22" name="Google Shape;222;g342dc1555a7_0_49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g342dc1555a7_0_49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g342dc1555a7_0_49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25" name="Google Shape;225;g342dc1555a7_0_49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42dc1555a7_0_49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42dc1555a7_0_49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42dc1555a7_0_49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29" name="Google Shape;229;g342dc1555a7_0_49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42dc1555a7_0_49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42dc1555a7_0_49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42dc1555a7_0_49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g342dc1555a7_0_49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34" name="Google Shape;234;g342dc1555a7_0_49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42dc1555a7_0_49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42dc1555a7_0_49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42dc1555a7_0_49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42dc1555a7_0_49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9" name="Google Shape;239;g342dc1555a7_0_497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0" name="Google Shape;240;g342dc1555a7_0_497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2dc1555a7_0_532"/>
          <p:cNvSpPr txBox="1"/>
          <p:nvPr>
            <p:ph type="title"/>
          </p:nvPr>
        </p:nvSpPr>
        <p:spPr>
          <a:xfrm>
            <a:off x="651900" y="896700"/>
            <a:ext cx="10856700" cy="105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3" name="Google Shape;243;g342dc1555a7_0_532"/>
          <p:cNvSpPr txBox="1"/>
          <p:nvPr>
            <p:ph idx="1" type="body"/>
          </p:nvPr>
        </p:nvSpPr>
        <p:spPr>
          <a:xfrm>
            <a:off x="651900" y="1952700"/>
            <a:ext cx="10856700" cy="366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rtl="0">
              <a:spcBef>
                <a:spcPts val="1300"/>
              </a:spcBef>
              <a:spcAft>
                <a:spcPts val="0"/>
              </a:spcAft>
              <a:buSzPts val="2000"/>
              <a:buChar char="●"/>
              <a:defRPr/>
            </a:lvl1pPr>
            <a:lvl2pPr indent="-336550" lvl="1" marL="914400" rtl="0">
              <a:spcBef>
                <a:spcPts val="1300"/>
              </a:spcBef>
              <a:spcAft>
                <a:spcPts val="0"/>
              </a:spcAft>
              <a:buSzPts val="1700"/>
              <a:buChar char="○"/>
              <a:defRPr/>
            </a:lvl2pPr>
            <a:lvl3pPr indent="-323850" lvl="2" marL="1371600" rtl="0">
              <a:spcBef>
                <a:spcPts val="13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rtl="0">
              <a:spcBef>
                <a:spcPts val="13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rtl="0">
              <a:spcBef>
                <a:spcPts val="13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44" name="Google Shape;244;g342dc1555a7_0_532"/>
          <p:cNvSpPr/>
          <p:nvPr/>
        </p:nvSpPr>
        <p:spPr>
          <a:xfrm>
            <a:off x="0" y="0"/>
            <a:ext cx="12192000" cy="7824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45" name="Google Shape;245;g342dc1555a7_0_532"/>
          <p:cNvSpPr/>
          <p:nvPr/>
        </p:nvSpPr>
        <p:spPr>
          <a:xfrm>
            <a:off x="0" y="6333200"/>
            <a:ext cx="12192000" cy="5247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246" name="Google Shape;246;g342dc1555a7_0_5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00" y="73300"/>
            <a:ext cx="2428666" cy="6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42dc1555a7_0_532"/>
          <p:cNvSpPr txBox="1"/>
          <p:nvPr>
            <p:ph idx="12" type="sldNum"/>
          </p:nvPr>
        </p:nvSpPr>
        <p:spPr>
          <a:xfrm>
            <a:off x="11444695" y="633320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2dc1555a7_0_539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0" name="Google Shape;250;g342dc1555a7_0_53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g342dc1555a7_0_5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42dc1555a7_0_5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42dc1555a7_0_5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2dc1555a7_0_5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6" name="Google Shape;256;g342dc1555a7_0_5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g342dc1555a7_0_5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42dc1555a7_0_5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42dc1555a7_0_5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_1">
  <p:cSld name="TITLE_1_1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2dc1555a7_0_108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62" name="Google Shape;262;g342dc1555a7_0_10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1853" y="208940"/>
            <a:ext cx="3123360" cy="91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42dc1555a7_0_1081"/>
          <p:cNvPicPr preferRelativeResize="0"/>
          <p:nvPr/>
        </p:nvPicPr>
        <p:blipFill rotWithShape="1">
          <a:blip r:embed="rId3">
            <a:alphaModFix/>
          </a:blip>
          <a:srcRect b="-16890" l="0" r="-2543" t="0"/>
          <a:stretch/>
        </p:blipFill>
        <p:spPr>
          <a:xfrm>
            <a:off x="8770027" y="271959"/>
            <a:ext cx="25654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42dc1555a7_0_1081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265" name="Google Shape;265;g342dc1555a7_0_10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0244" y="6069333"/>
            <a:ext cx="1495185" cy="5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42dc1555a7_0_1081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unito"/>
              <a:buNone/>
              <a:defRPr sz="2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267" name="Google Shape;267;g342dc1555a7_0_1081"/>
          <p:cNvSpPr txBox="1"/>
          <p:nvPr>
            <p:ph idx="3" type="title"/>
          </p:nvPr>
        </p:nvSpPr>
        <p:spPr>
          <a:xfrm rot="-5400000">
            <a:off x="-2090850" y="3484350"/>
            <a:ext cx="5464500" cy="128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2dc1555a7_0_3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b="1"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42dc1555a7_0_30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b="1" sz="2000">
                <a:solidFill>
                  <a:schemeClr val="dk2"/>
                </a:solidFill>
              </a:defRPr>
            </a:lvl1pPr>
            <a:lvl2pPr indent="-336550" lvl="1" marL="9144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b="1" sz="1700">
                <a:solidFill>
                  <a:schemeClr val="dk2"/>
                </a:solidFill>
              </a:defRPr>
            </a:lvl2pPr>
            <a:lvl3pPr indent="-323850" lvl="2" marL="13716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 algn="just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42dc1555a7_0_30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hyperlink" Target="https://www.youtube.com/watch?v=JGZJjqhA9w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50.png"/><Relationship Id="rId6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1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43.png"/><Relationship Id="rId5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jpg"/><Relationship Id="rId4" Type="http://schemas.openxmlformats.org/officeDocument/2006/relationships/image" Target="../media/image5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7.png"/><Relationship Id="rId4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6.png"/><Relationship Id="rId4" Type="http://schemas.openxmlformats.org/officeDocument/2006/relationships/image" Target="../media/image6.png"/><Relationship Id="rId5" Type="http://schemas.openxmlformats.org/officeDocument/2006/relationships/image" Target="../media/image6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3.png"/><Relationship Id="rId4" Type="http://schemas.openxmlformats.org/officeDocument/2006/relationships/hyperlink" Target="https://www.iso.org/obp/ui#iso:std:iso:26000:ed-1:v1:es" TargetMode="External"/><Relationship Id="rId5" Type="http://schemas.openxmlformats.org/officeDocument/2006/relationships/hyperlink" Target="https://www.iso.org/obp/ui#iso:std:iso:14001:ed-3:v1:es" TargetMode="External"/><Relationship Id="rId6" Type="http://schemas.openxmlformats.org/officeDocument/2006/relationships/hyperlink" Target="https://www.youtube.com/watch?v=eIDKAE8RbdQ" TargetMode="External"/><Relationship Id="rId7" Type="http://schemas.openxmlformats.org/officeDocument/2006/relationships/hyperlink" Target="https://www.youtube.com/watch?v=Gd_3gB_PgiM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2.png"/><Relationship Id="rId4" Type="http://schemas.openxmlformats.org/officeDocument/2006/relationships/image" Target="../media/image69.png"/><Relationship Id="rId5" Type="http://schemas.openxmlformats.org/officeDocument/2006/relationships/hyperlink" Target="https://www.youtube.com/watch?v=ug63EhyK3UU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2dc1555a7_0_81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3" name="Google Shape;273;g342dc1555a7_0_816"/>
          <p:cNvSpPr txBox="1"/>
          <p:nvPr>
            <p:ph type="title"/>
          </p:nvPr>
        </p:nvSpPr>
        <p:spPr>
          <a:xfrm>
            <a:off x="2452200" y="2111800"/>
            <a:ext cx="7287600" cy="26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UD4: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sostenibilidad en las empresas</a:t>
            </a:r>
            <a:endParaRPr/>
          </a:p>
        </p:txBody>
      </p:sp>
      <p:sp>
        <p:nvSpPr>
          <p:cNvPr id="274" name="Google Shape;274;g342dc1555a7_0_816"/>
          <p:cNvSpPr txBox="1"/>
          <p:nvPr>
            <p:ph idx="2" type="title"/>
          </p:nvPr>
        </p:nvSpPr>
        <p:spPr>
          <a:xfrm>
            <a:off x="2577067" y="5422900"/>
            <a:ext cx="7287600" cy="64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>
                <a:solidFill>
                  <a:srgbClr val="211261"/>
                </a:solidFill>
              </a:rPr>
              <a:t>SOSTENIBILIDAD APLICADA AL SISTEMA PRODUCTIVO</a:t>
            </a:r>
            <a:endParaRPr b="1">
              <a:solidFill>
                <a:srgbClr val="2112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2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281" name="Google Shape;281;p2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2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b="1" lang="es-E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4.1. INTRODUCCIÓN 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CONCEPTOS DE SOSTENIBILIDAD EMPRESARIAL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293" name="Google Shape;293;p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95" name="Google Shape;2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35" y="1404655"/>
            <a:ext cx="6844705" cy="511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LOS GRUPOS DE INTERÉS (SKATEHOLDERS)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01" name="Google Shape;301;p4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03" name="Google Shape;3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641" y="2340512"/>
            <a:ext cx="2371337" cy="338366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/>
          <p:nvPr/>
        </p:nvSpPr>
        <p:spPr>
          <a:xfrm>
            <a:off x="4964405" y="5899337"/>
            <a:ext cx="1858297" cy="49858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/>
          </a:p>
        </p:txBody>
      </p:sp>
      <p:pic>
        <p:nvPicPr>
          <p:cNvPr id="305" name="Google Shape;3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0646" y="1534896"/>
            <a:ext cx="2391109" cy="2314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6733" y="1534896"/>
            <a:ext cx="2391109" cy="23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"/>
          <p:cNvSpPr/>
          <p:nvPr/>
        </p:nvSpPr>
        <p:spPr>
          <a:xfrm flipH="1" rot="10800000">
            <a:off x="2005781" y="4232778"/>
            <a:ext cx="2109019" cy="149139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2554622" y="4736269"/>
            <a:ext cx="21090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INFLUYEN</a:t>
            </a:r>
            <a:endParaRPr/>
          </a:p>
        </p:txBody>
      </p:sp>
      <p:sp>
        <p:nvSpPr>
          <p:cNvPr id="309" name="Google Shape;309;p4"/>
          <p:cNvSpPr/>
          <p:nvPr/>
        </p:nvSpPr>
        <p:spPr>
          <a:xfrm flipH="1" rot="5400000">
            <a:off x="8018263" y="3664352"/>
            <a:ext cx="1491395" cy="2224828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E75B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 txBox="1"/>
          <p:nvPr/>
        </p:nvSpPr>
        <p:spPr>
          <a:xfrm>
            <a:off x="7651546" y="4446661"/>
            <a:ext cx="18169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VEN AFECTADOS</a:t>
            </a:r>
            <a:endParaRPr/>
          </a:p>
        </p:txBody>
      </p:sp>
      <p:sp>
        <p:nvSpPr>
          <p:cNvPr id="311" name="Google Shape;311;p4"/>
          <p:cNvSpPr txBox="1"/>
          <p:nvPr/>
        </p:nvSpPr>
        <p:spPr>
          <a:xfrm>
            <a:off x="222488" y="6376800"/>
            <a:ext cx="43592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 Skateholder/Shareholder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LOS GRUPOS DE INTERÉS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17" name="Google Shape;317;p5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19" name="Google Shape;3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90" y="3433587"/>
            <a:ext cx="1608503" cy="229517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"/>
          <p:cNvSpPr/>
          <p:nvPr/>
        </p:nvSpPr>
        <p:spPr>
          <a:xfrm>
            <a:off x="2993923" y="1579155"/>
            <a:ext cx="7893799" cy="958646"/>
          </a:xfrm>
          <a:prstGeom prst="roundRect">
            <a:avLst>
              <a:gd fmla="val 50000" name="adj"/>
            </a:avLst>
          </a:prstGeom>
          <a:solidFill>
            <a:srgbClr val="26262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DEBE HACER LA EMPRESA RESPECTO A SUS GRUPOS DE INTERÉS?</a:t>
            </a:r>
            <a:endParaRPr/>
          </a:p>
        </p:txBody>
      </p:sp>
      <p:sp>
        <p:nvSpPr>
          <p:cNvPr id="321" name="Google Shape;321;p5"/>
          <p:cNvSpPr/>
          <p:nvPr/>
        </p:nvSpPr>
        <p:spPr>
          <a:xfrm>
            <a:off x="2172093" y="2787445"/>
            <a:ext cx="939817" cy="3536748"/>
          </a:xfrm>
          <a:prstGeom prst="leftBrace">
            <a:avLst>
              <a:gd fmla="val 38149" name="adj1"/>
              <a:gd fmla="val 50000" name="adj2"/>
            </a:avLst>
          </a:prstGeom>
          <a:noFill/>
          <a:ln cap="flat" cmpd="sng" w="5715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 txBox="1"/>
          <p:nvPr/>
        </p:nvSpPr>
        <p:spPr>
          <a:xfrm>
            <a:off x="3303639" y="3119235"/>
            <a:ext cx="7418438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Identificarlos 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Conocer sus expectativa e intereses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Mantener una relación de diálogo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sus necesidades a la estrategia empresarial</a:t>
            </a:r>
            <a:endParaRPr/>
          </a:p>
          <a:p>
            <a:pPr indent="-285750" lvl="0" marL="28575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Cumplir normativa y regulación</a:t>
            </a:r>
            <a:endParaRPr/>
          </a:p>
        </p:txBody>
      </p:sp>
      <p:pic>
        <p:nvPicPr>
          <p:cNvPr id="323" name="Google Shape;3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9907" y="3027945"/>
            <a:ext cx="1334799" cy="129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46316" y="5198291"/>
            <a:ext cx="1081980" cy="1077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LOS GRUPOS DE INTERÉS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30" name="Google Shape;330;p6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1" name="Google Shape;331;p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4427472" y="1579155"/>
            <a:ext cx="3052916" cy="958646"/>
          </a:xfrm>
          <a:prstGeom prst="roundRect">
            <a:avLst>
              <a:gd fmla="val 50000" name="adj"/>
            </a:avLst>
          </a:prstGeom>
          <a:solidFill>
            <a:srgbClr val="26262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GRUPOS DE INTERÉS</a:t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1873044" y="3285719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INTERNOS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8058531" y="3285719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EXTERNOS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1666566" y="4062102"/>
            <a:ext cx="2389239" cy="2344994"/>
          </a:xfrm>
          <a:prstGeom prst="rect">
            <a:avLst/>
          </a:prstGeom>
          <a:solidFill>
            <a:srgbClr val="FCD4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Accionistas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Empleados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Directivos</a:t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7884374" y="4052791"/>
            <a:ext cx="2389239" cy="2344994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Competidores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Sociedad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Gobiernos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Tercer sector, etc </a:t>
            </a:r>
            <a:endParaRPr/>
          </a:p>
        </p:txBody>
      </p:sp>
      <p:cxnSp>
        <p:nvCxnSpPr>
          <p:cNvPr id="337" name="Google Shape;337;p6"/>
          <p:cNvCxnSpPr>
            <a:stCxn id="332" idx="2"/>
            <a:endCxn id="333" idx="3"/>
          </p:cNvCxnSpPr>
          <p:nvPr/>
        </p:nvCxnSpPr>
        <p:spPr>
          <a:xfrm flipH="1">
            <a:off x="2861230" y="2537801"/>
            <a:ext cx="3092700" cy="747900"/>
          </a:xfrm>
          <a:prstGeom prst="straightConnector1">
            <a:avLst/>
          </a:prstGeom>
          <a:noFill/>
          <a:ln cap="flat" cmpd="sng" w="5715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338" name="Google Shape;338;p6"/>
          <p:cNvCxnSpPr>
            <a:stCxn id="332" idx="2"/>
            <a:endCxn id="334" idx="3"/>
          </p:cNvCxnSpPr>
          <p:nvPr/>
        </p:nvCxnSpPr>
        <p:spPr>
          <a:xfrm>
            <a:off x="5953930" y="2537801"/>
            <a:ext cx="3092700" cy="747900"/>
          </a:xfrm>
          <a:prstGeom prst="straightConnector1">
            <a:avLst/>
          </a:prstGeom>
          <a:noFill/>
          <a:ln cap="flat" cmpd="sng" w="57150">
            <a:solidFill>
              <a:srgbClr val="0C0C0C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INTERNOS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44" name="Google Shape;344;p7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476727" y="1589034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ACCIONISTAS</a:t>
            </a:r>
            <a:endParaRPr/>
          </a:p>
        </p:txBody>
      </p:sp>
      <p:pic>
        <p:nvPicPr>
          <p:cNvPr id="347" name="Google Shape;3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809" y="2603589"/>
            <a:ext cx="2620881" cy="289942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7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3892024" y="2252338"/>
            <a:ext cx="51884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los propietarios de la empresa</a:t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351" name="Google Shape;351;p7"/>
          <p:cNvSpPr txBox="1"/>
          <p:nvPr/>
        </p:nvSpPr>
        <p:spPr>
          <a:xfrm>
            <a:off x="3892024" y="3456526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Aportan capital a la empresa, necesario para existir y funcionar</a:t>
            </a: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353" name="Google Shape;353;p7"/>
          <p:cNvSpPr txBox="1"/>
          <p:nvPr/>
        </p:nvSpPr>
        <p:spPr>
          <a:xfrm>
            <a:off x="3892024" y="4660714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proporciona beneficios económicos</a:t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  <p:sp>
        <p:nvSpPr>
          <p:cNvPr id="355" name="Google Shape;355;p7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presionen para que se obtengan los máximos beneficios a toda costa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INTERNOS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61" name="Google Shape;361;p8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476727" y="1589034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EMPLEADOS</a:t>
            </a:r>
            <a:endParaRPr/>
          </a:p>
        </p:txBody>
      </p:sp>
      <p:sp>
        <p:nvSpPr>
          <p:cNvPr id="364" name="Google Shape;364;p8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el capital humano de la empresa que con sus tareas hacen que funcione</a:t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3892024" y="3456526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Proporcionan el trabajo necesario para producir y funcionar</a:t>
            </a:r>
            <a:endParaRPr/>
          </a:p>
        </p:txBody>
      </p:sp>
      <p:sp>
        <p:nvSpPr>
          <p:cNvPr id="366" name="Google Shape;366;p8"/>
          <p:cNvSpPr txBox="1"/>
          <p:nvPr/>
        </p:nvSpPr>
        <p:spPr>
          <a:xfrm>
            <a:off x="3892024" y="4660714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el salario recibido, la estabilidad, su desarrollo personal, etc.</a:t>
            </a:r>
            <a:endParaRPr/>
          </a:p>
        </p:txBody>
      </p:sp>
      <p:sp>
        <p:nvSpPr>
          <p:cNvPr id="367" name="Google Shape;367;p8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una plantilla desmotivada, poco eficiente y débilmente implicada</a:t>
            </a:r>
            <a:endParaRPr/>
          </a:p>
        </p:txBody>
      </p:sp>
      <p:pic>
        <p:nvPicPr>
          <p:cNvPr id="368" name="Google Shape;3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28" y="2517292"/>
            <a:ext cx="2730765" cy="268707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8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INTERNOS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78" name="Google Shape;378;p9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76727" y="1589034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DIRECTIVOS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personas que están al mando de la compañía</a:t>
            </a:r>
            <a:endParaRPr/>
          </a:p>
        </p:txBody>
      </p:sp>
      <p:sp>
        <p:nvSpPr>
          <p:cNvPr id="382" name="Google Shape;382;p9"/>
          <p:cNvSpPr txBox="1"/>
          <p:nvPr/>
        </p:nvSpPr>
        <p:spPr>
          <a:xfrm>
            <a:off x="3892024" y="3456526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Toman las decisiones y definen las estrategias de funcionamiento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3892023" y="4673238"/>
            <a:ext cx="709397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la retribución, prestigio profesional, satisfacción personal, etc.</a:t>
            </a:r>
            <a:endParaRPr/>
          </a:p>
        </p:txBody>
      </p:sp>
      <p:sp>
        <p:nvSpPr>
          <p:cNvPr id="384" name="Google Shape;384;p9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sus intereses personales estén por encima de los de la empresa</a:t>
            </a:r>
            <a:endParaRPr/>
          </a:p>
        </p:txBody>
      </p:sp>
      <p:pic>
        <p:nvPicPr>
          <p:cNvPr id="385" name="Google Shape;3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1" y="2574447"/>
            <a:ext cx="2841216" cy="24989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9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395" name="Google Shape;395;p10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1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476727" y="1589034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 de los productos y servicios que ofrece la empresa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3892024" y="4660714"/>
            <a:ext cx="78181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las características de los productos: calidad, precio, servicio, etc. 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Decantarse por productos de la competencia, dar referencias negativas</a:t>
            </a:r>
            <a:endParaRPr/>
          </a:p>
        </p:txBody>
      </p:sp>
      <p:pic>
        <p:nvPicPr>
          <p:cNvPr id="401" name="Google Shape;4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25" y="2652448"/>
            <a:ext cx="2523327" cy="3387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0"/>
          <p:cNvSpPr txBox="1"/>
          <p:nvPr/>
        </p:nvSpPr>
        <p:spPr>
          <a:xfrm>
            <a:off x="3892022" y="3467526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Compran y/o contratan los productos objeto de negocio de la empresa</a:t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12" name="Google Shape;412;p11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3" name="Google Shape;413;p1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76727" y="1589034"/>
            <a:ext cx="197628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empresas que suministran materias primas y otros productos</a:t>
            </a:r>
            <a:endParaRPr/>
          </a:p>
        </p:txBody>
      </p:sp>
      <p:sp>
        <p:nvSpPr>
          <p:cNvPr id="416" name="Google Shape;416;p11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el tipo de relación: fiabilidad, regularidad, volumen, pronto pago, precio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Incumplimiento de plazos, productos de mala calidad, precios elevados</a:t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3892022" y="3467526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Proveen de los recursos necesarios para el funcionamiento de su negocio</a:t>
            </a:r>
            <a:endParaRPr/>
          </a:p>
        </p:txBody>
      </p:sp>
      <p:pic>
        <p:nvPicPr>
          <p:cNvPr id="419" name="Google Shape;4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08" y="2793222"/>
            <a:ext cx="2582321" cy="258232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1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29" name="Google Shape;429;p12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0" name="Google Shape;430;p1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476727" y="1589034"/>
            <a:ext cx="207474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COMPETIDORES</a:t>
            </a: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empresas que ofrecen los mimos productos y servicios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el tipo de competencia que ejercen: desleal, colaborativa, etc.</a:t>
            </a:r>
            <a:endParaRPr/>
          </a:p>
        </p:txBody>
      </p:sp>
      <p:sp>
        <p:nvSpPr>
          <p:cNvPr id="434" name="Google Shape;434;p12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le arrebaten clientes</a:t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3892022" y="3467526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sus precios, reputación, imagen de marca, políticas comerciales</a:t>
            </a:r>
            <a:endParaRPr/>
          </a:p>
        </p:txBody>
      </p:sp>
      <p:pic>
        <p:nvPicPr>
          <p:cNvPr id="436" name="Google Shape;4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0" y="2771925"/>
            <a:ext cx="3141407" cy="181116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2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46" name="Google Shape;446;p13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7" name="Google Shape;447;p1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76727" y="1589034"/>
            <a:ext cx="207474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BANCOS</a:t>
            </a:r>
            <a:endParaRPr/>
          </a:p>
        </p:txBody>
      </p:sp>
      <p:sp>
        <p:nvSpPr>
          <p:cNvPr id="449" name="Google Shape;449;p13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 que realizan préstamos, ofrecen intereses por los depósitos, etc.</a:t>
            </a:r>
            <a:endParaRPr/>
          </a:p>
        </p:txBody>
      </p:sp>
      <p:sp>
        <p:nvSpPr>
          <p:cNvPr id="450" name="Google Shape;450;p13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su relación de fidelidad, volumen de negocio y de capital, etc.</a:t>
            </a:r>
            <a:endParaRPr/>
          </a:p>
        </p:txBody>
      </p:sp>
      <p:sp>
        <p:nvSpPr>
          <p:cNvPr id="451" name="Google Shape;451;p13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Intereses elevados, les nieguen financiación</a:t>
            </a:r>
            <a:endParaRPr/>
          </a:p>
        </p:txBody>
      </p:sp>
      <p:sp>
        <p:nvSpPr>
          <p:cNvPr id="452" name="Google Shape;452;p13"/>
          <p:cNvSpPr txBox="1"/>
          <p:nvPr/>
        </p:nvSpPr>
        <p:spPr>
          <a:xfrm>
            <a:off x="3892022" y="3467526"/>
            <a:ext cx="82999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proporcionan financiación y rentabilidad, custodian su dinero y operaciones</a:t>
            </a:r>
            <a:endParaRPr/>
          </a:p>
        </p:txBody>
      </p:sp>
      <p:pic>
        <p:nvPicPr>
          <p:cNvPr id="453" name="Google Shape;4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65471"/>
            <a:ext cx="3141407" cy="269739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63" name="Google Shape;463;p14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4" name="Google Shape;464;p1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476727" y="1589034"/>
            <a:ext cx="207474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SOCIEDAD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comunidad o habitantes del área geográfica en la que opera la empresa</a:t>
            </a:r>
            <a:endParaRPr/>
          </a:p>
        </p:txBody>
      </p:sp>
      <p:sp>
        <p:nvSpPr>
          <p:cNvPr id="467" name="Google Shape;467;p14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económico, innovación tecnológica, impacto ambiental, etc.</a:t>
            </a:r>
            <a:endParaRPr/>
          </a:p>
        </p:txBody>
      </p:sp>
      <p:sp>
        <p:nvSpPr>
          <p:cNvPr id="468" name="Google Shape;468;p14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Reputacional, cambio en las preferencias, exigencias medioambientales</a:t>
            </a:r>
            <a:endParaRPr/>
          </a:p>
        </p:txBody>
      </p:sp>
      <p:sp>
        <p:nvSpPr>
          <p:cNvPr id="469" name="Google Shape;469;p14"/>
          <p:cNvSpPr txBox="1"/>
          <p:nvPr/>
        </p:nvSpPr>
        <p:spPr>
          <a:xfrm>
            <a:off x="3892022" y="3467526"/>
            <a:ext cx="82999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 costumbres, necesidades expectativas y demandas, </a:t>
            </a:r>
            <a:endParaRPr/>
          </a:p>
        </p:txBody>
      </p:sp>
      <p:pic>
        <p:nvPicPr>
          <p:cNvPr id="470" name="Google Shape;4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85407"/>
            <a:ext cx="3141407" cy="275887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4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80" name="Google Shape;480;p15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1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476727" y="1589034"/>
            <a:ext cx="207474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GOBIERNOS</a:t>
            </a:r>
            <a:endParaRPr/>
          </a:p>
        </p:txBody>
      </p:sp>
      <p:sp>
        <p:nvSpPr>
          <p:cNvPr id="483" name="Google Shape;483;p15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instituciones que tienen capacidad de regular y de aplicar medidas </a:t>
            </a:r>
            <a:endParaRPr/>
          </a:p>
        </p:txBody>
      </p:sp>
      <p:sp>
        <p:nvSpPr>
          <p:cNvPr id="484" name="Google Shape;484;p15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económico, impacto social y medioambiental, etc.</a:t>
            </a:r>
            <a:endParaRPr/>
          </a:p>
        </p:txBody>
      </p:sp>
      <p:sp>
        <p:nvSpPr>
          <p:cNvPr id="485" name="Google Shape;485;p15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Promulguen normativa muy estricta, impongan sanciones cuantiosas</a:t>
            </a:r>
            <a:endParaRPr/>
          </a:p>
        </p:txBody>
      </p:sp>
      <p:sp>
        <p:nvSpPr>
          <p:cNvPr id="486" name="Google Shape;486;p15"/>
          <p:cNvSpPr txBox="1"/>
          <p:nvPr/>
        </p:nvSpPr>
        <p:spPr>
          <a:xfrm>
            <a:off x="3892022" y="3467526"/>
            <a:ext cx="82999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Imponen normativa que deben cumplir, potestad sancionadora</a:t>
            </a:r>
            <a:endParaRPr/>
          </a:p>
        </p:txBody>
      </p:sp>
      <p:pic>
        <p:nvPicPr>
          <p:cNvPr id="487" name="Google Shape;4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00" y="2697051"/>
            <a:ext cx="2892998" cy="2775397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5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GRUPOS DE INTERÉS EXTERNOS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497" name="Google Shape;497;p16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8" name="Google Shape;498;p1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476727" y="1589034"/>
            <a:ext cx="2074744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E4E79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TERCER SECTOR</a:t>
            </a:r>
            <a:endParaRPr/>
          </a:p>
        </p:txBody>
      </p:sp>
      <p:sp>
        <p:nvSpPr>
          <p:cNvPr id="500" name="Google Shape;500;p16"/>
          <p:cNvSpPr txBox="1"/>
          <p:nvPr/>
        </p:nvSpPr>
        <p:spPr>
          <a:xfrm>
            <a:off x="3892023" y="2252338"/>
            <a:ext cx="8228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 que tienen un cometido social, ambiental, religioso, cultural, etc.</a:t>
            </a:r>
            <a:endParaRPr/>
          </a:p>
        </p:txBody>
      </p:sp>
      <p:sp>
        <p:nvSpPr>
          <p:cNvPr id="501" name="Google Shape;501;p16"/>
          <p:cNvSpPr txBox="1"/>
          <p:nvPr/>
        </p:nvSpPr>
        <p:spPr>
          <a:xfrm>
            <a:off x="3892024" y="4660714"/>
            <a:ext cx="81262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financiera, relaciones de colaboración, valor compartido</a:t>
            </a:r>
            <a:endParaRPr/>
          </a:p>
        </p:txBody>
      </p:sp>
      <p:sp>
        <p:nvSpPr>
          <p:cNvPr id="502" name="Google Shape;502;p16"/>
          <p:cNvSpPr txBox="1"/>
          <p:nvPr/>
        </p:nvSpPr>
        <p:spPr>
          <a:xfrm>
            <a:off x="3892023" y="5864902"/>
            <a:ext cx="78181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 reputacional, de litigios, de influencia sobre consumidores, etc.</a:t>
            </a:r>
            <a:endParaRPr/>
          </a:p>
        </p:txBody>
      </p:sp>
      <p:sp>
        <p:nvSpPr>
          <p:cNvPr id="503" name="Google Shape;503;p16"/>
          <p:cNvSpPr txBox="1"/>
          <p:nvPr/>
        </p:nvSpPr>
        <p:spPr>
          <a:xfrm>
            <a:off x="3892022" y="3467526"/>
            <a:ext cx="82999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Presión social y ética, impacto en la demanda del consumidor, defensa reglas</a:t>
            </a:r>
            <a:endParaRPr/>
          </a:p>
        </p:txBody>
      </p:sp>
      <p:pic>
        <p:nvPicPr>
          <p:cNvPr id="504" name="Google Shape;5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6344"/>
            <a:ext cx="2996237" cy="2784003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6"/>
          <p:cNvSpPr/>
          <p:nvPr/>
        </p:nvSpPr>
        <p:spPr>
          <a:xfrm>
            <a:off x="3892025" y="1589034"/>
            <a:ext cx="220397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3892024" y="2793222"/>
            <a:ext cx="4426066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influyen sobre la empresa?</a:t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3892024" y="3997410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se ven afectados por la empresa?</a:t>
            </a:r>
            <a:endParaRPr/>
          </a:p>
        </p:txBody>
      </p:sp>
      <p:sp>
        <p:nvSpPr>
          <p:cNvPr id="508" name="Google Shape;508;p16"/>
          <p:cNvSpPr/>
          <p:nvPr/>
        </p:nvSpPr>
        <p:spPr>
          <a:xfrm>
            <a:off x="3892023" y="5201598"/>
            <a:ext cx="4986505" cy="522530"/>
          </a:xfrm>
          <a:prstGeom prst="roundRect">
            <a:avLst>
              <a:gd fmla="val 19902" name="adj"/>
            </a:avLst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riesgo suponen para la empresa?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LA CADENA DE VALOR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14" name="Google Shape;514;p17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5" name="Google Shape;515;p1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16" name="Google Shape;516;p17"/>
          <p:cNvSpPr txBox="1"/>
          <p:nvPr/>
        </p:nvSpPr>
        <p:spPr>
          <a:xfrm>
            <a:off x="3716593" y="2506813"/>
            <a:ext cx="4483510" cy="1446550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Secuencia de todas las tareas que realiza la empresa para añadir valor al producto o servicio objetos de su negocio, y análisis de esta secuencia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4343400" y="1669634"/>
            <a:ext cx="3229896" cy="522529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C55A1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CADENA DE VALOR</a:t>
            </a:r>
            <a:endParaRPr/>
          </a:p>
        </p:txBody>
      </p:sp>
      <p:sp>
        <p:nvSpPr>
          <p:cNvPr id="518" name="Google Shape;518;p17"/>
          <p:cNvSpPr/>
          <p:nvPr/>
        </p:nvSpPr>
        <p:spPr>
          <a:xfrm>
            <a:off x="1017639" y="4940706"/>
            <a:ext cx="2698954" cy="825910"/>
          </a:xfrm>
          <a:prstGeom prst="roundRect">
            <a:avLst>
              <a:gd fmla="val 16667" name="adj"/>
            </a:avLst>
          </a:prstGeom>
          <a:solidFill>
            <a:srgbClr val="C55A11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Conocer margen de beneficio</a:t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4608871" y="4940706"/>
            <a:ext cx="2698954" cy="825910"/>
          </a:xfrm>
          <a:prstGeom prst="roundRect">
            <a:avLst>
              <a:gd fmla="val 16667" name="adj"/>
            </a:avLst>
          </a:prstGeom>
          <a:solidFill>
            <a:srgbClr val="C55A11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Reducir costes</a:t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8200103" y="4940706"/>
            <a:ext cx="2698954" cy="825910"/>
          </a:xfrm>
          <a:prstGeom prst="roundRect">
            <a:avLst>
              <a:gd fmla="val 16667" name="adj"/>
            </a:avLst>
          </a:prstGeom>
          <a:solidFill>
            <a:srgbClr val="C55A11"/>
          </a:solidFill>
          <a:ln>
            <a:noFill/>
          </a:ln>
          <a:effectLst>
            <a:outerShdw blurRad="190500" algn="ctr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Mejorar eficiencia</a:t>
            </a:r>
            <a:endParaRPr/>
          </a:p>
        </p:txBody>
      </p:sp>
      <p:cxnSp>
        <p:nvCxnSpPr>
          <p:cNvPr id="521" name="Google Shape;521;p17"/>
          <p:cNvCxnSpPr>
            <a:stCxn id="516" idx="2"/>
            <a:endCxn id="518" idx="0"/>
          </p:cNvCxnSpPr>
          <p:nvPr/>
        </p:nvCxnSpPr>
        <p:spPr>
          <a:xfrm flipH="1">
            <a:off x="2367048" y="3953363"/>
            <a:ext cx="3591300" cy="987300"/>
          </a:xfrm>
          <a:prstGeom prst="straightConnector1">
            <a:avLst/>
          </a:prstGeom>
          <a:noFill/>
          <a:ln cap="flat" cmpd="sng" w="44450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522" name="Google Shape;522;p17"/>
          <p:cNvCxnSpPr>
            <a:stCxn id="516" idx="2"/>
            <a:endCxn id="519" idx="0"/>
          </p:cNvCxnSpPr>
          <p:nvPr/>
        </p:nvCxnSpPr>
        <p:spPr>
          <a:xfrm>
            <a:off x="5958348" y="3953363"/>
            <a:ext cx="0" cy="987300"/>
          </a:xfrm>
          <a:prstGeom prst="straightConnector1">
            <a:avLst/>
          </a:prstGeom>
          <a:noFill/>
          <a:ln cap="flat" cmpd="sng" w="44450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523" name="Google Shape;523;p17"/>
          <p:cNvCxnSpPr>
            <a:stCxn id="516" idx="2"/>
            <a:endCxn id="520" idx="0"/>
          </p:cNvCxnSpPr>
          <p:nvPr/>
        </p:nvCxnSpPr>
        <p:spPr>
          <a:xfrm>
            <a:off x="5958348" y="3953363"/>
            <a:ext cx="3591300" cy="987300"/>
          </a:xfrm>
          <a:prstGeom prst="straightConnector1">
            <a:avLst/>
          </a:prstGeom>
          <a:noFill/>
          <a:ln cap="flat" cmpd="sng" w="44450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LA CADENA DE VALOR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29" name="Google Shape;529;p18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0" name="Google Shape;530;p1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838200" y="3443748"/>
            <a:ext cx="2421194" cy="1017639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8562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Tipos de actividades de la cadena de valor</a:t>
            </a: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3510117" y="1902145"/>
            <a:ext cx="589935" cy="4070952"/>
          </a:xfrm>
          <a:prstGeom prst="leftBrace">
            <a:avLst>
              <a:gd fmla="val 55833" name="adj1"/>
              <a:gd fmla="val 50000" name="adj2"/>
            </a:avLst>
          </a:prstGeom>
          <a:noFill/>
          <a:ln cap="flat" cmpd="sng" w="381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747" y="4711858"/>
            <a:ext cx="1630099" cy="10905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8"/>
          <p:cNvSpPr/>
          <p:nvPr/>
        </p:nvSpPr>
        <p:spPr>
          <a:xfrm>
            <a:off x="4161504" y="2168014"/>
            <a:ext cx="1873045" cy="38345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4E0B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PRIMARIAS</a:t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4161504" y="4508262"/>
            <a:ext cx="1873045" cy="383458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4E0B2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SECUNDARIAS</a:t>
            </a:r>
            <a:endParaRPr/>
          </a:p>
        </p:txBody>
      </p:sp>
      <p:sp>
        <p:nvSpPr>
          <p:cNvPr id="536" name="Google Shape;536;p18"/>
          <p:cNvSpPr txBox="1"/>
          <p:nvPr/>
        </p:nvSpPr>
        <p:spPr>
          <a:xfrm>
            <a:off x="4161504" y="2875935"/>
            <a:ext cx="6327058" cy="64633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Directamente relacionadas con la fabricación y comercialización de los productos</a:t>
            </a:r>
            <a:endParaRPr/>
          </a:p>
        </p:txBody>
      </p:sp>
      <p:sp>
        <p:nvSpPr>
          <p:cNvPr id="537" name="Google Shape;537;p18"/>
          <p:cNvSpPr txBox="1"/>
          <p:nvPr/>
        </p:nvSpPr>
        <p:spPr>
          <a:xfrm>
            <a:off x="4161504" y="5218954"/>
            <a:ext cx="6327058" cy="646331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Aumentan el valor del producto y son imprescindibles para el funcionamiento de la empresa, pero no son primarias</a:t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4957917" y="2583555"/>
            <a:ext cx="280219" cy="26181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4957917" y="4931352"/>
            <a:ext cx="280219" cy="26181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48135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LA CADENA DE VALOR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45" name="Google Shape;545;p19"/>
          <p:cNvCxnSpPr/>
          <p:nvPr/>
        </p:nvCxnSpPr>
        <p:spPr>
          <a:xfrm>
            <a:off x="-8878" y="1354983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6" name="Google Shape;546;p1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Imagen que contiene Escala de tiempo&#10;&#10;Descripción generada automáticamente" id="547" name="Google Shape;5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895" y="2258373"/>
            <a:ext cx="8816630" cy="3258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9"/>
          <p:cNvSpPr/>
          <p:nvPr/>
        </p:nvSpPr>
        <p:spPr>
          <a:xfrm>
            <a:off x="8972525" y="2599481"/>
            <a:ext cx="2927616" cy="2576103"/>
          </a:xfrm>
          <a:prstGeom prst="roundRect">
            <a:avLst>
              <a:gd fmla="val 36914" name="adj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evaluación del impacto ambiental y/o social de una compañía debe extenderse a toda su cadena de valor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4" name="Google Shape;554;p20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555" name="Google Shape;555;p20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0" name="Google Shape;560;p20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4.2. CONCEPTO DE ASG O ESG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TOMA DE CONCIENCIA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68" name="Google Shape;568;p2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9" name="Google Shape;569;p2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570" name="Google Shape;570;p21"/>
          <p:cNvSpPr/>
          <p:nvPr/>
        </p:nvSpPr>
        <p:spPr>
          <a:xfrm>
            <a:off x="1356360" y="1936355"/>
            <a:ext cx="1905000" cy="42847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Años 1950-60</a:t>
            </a:r>
            <a:endParaRPr/>
          </a:p>
        </p:txBody>
      </p:sp>
      <p:sp>
        <p:nvSpPr>
          <p:cNvPr id="571" name="Google Shape;571;p21"/>
          <p:cNvSpPr txBox="1"/>
          <p:nvPr/>
        </p:nvSpPr>
        <p:spPr>
          <a:xfrm>
            <a:off x="883920" y="3124200"/>
            <a:ext cx="2849880" cy="1477328"/>
          </a:xfrm>
          <a:prstGeom prst="rect">
            <a:avLst/>
          </a:prstGeom>
          <a:noFill/>
          <a:ln cap="flat" cmpd="sng" w="9525">
            <a:solidFill>
              <a:srgbClr val="386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empresas adoptan la idea de que tienen la  responsabilidad de tomar decisiones acordes con los valores de la sociedad</a:t>
            </a:r>
            <a:endParaRPr/>
          </a:p>
        </p:txBody>
      </p:sp>
      <p:cxnSp>
        <p:nvCxnSpPr>
          <p:cNvPr id="572" name="Google Shape;572;p21"/>
          <p:cNvCxnSpPr>
            <a:stCxn id="570" idx="1"/>
            <a:endCxn id="571" idx="0"/>
          </p:cNvCxnSpPr>
          <p:nvPr/>
        </p:nvCxnSpPr>
        <p:spPr>
          <a:xfrm>
            <a:off x="2308860" y="2364825"/>
            <a:ext cx="0" cy="759300"/>
          </a:xfrm>
          <a:prstGeom prst="straightConnector1">
            <a:avLst/>
          </a:prstGeom>
          <a:noFill/>
          <a:ln cap="flat" cmpd="sng" w="47625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21"/>
          <p:cNvSpPr/>
          <p:nvPr/>
        </p:nvSpPr>
        <p:spPr>
          <a:xfrm>
            <a:off x="4869993" y="1936355"/>
            <a:ext cx="1905000" cy="42847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Años 1980-90</a:t>
            </a:r>
            <a:endParaRPr/>
          </a:p>
        </p:txBody>
      </p:sp>
      <p:sp>
        <p:nvSpPr>
          <p:cNvPr id="574" name="Google Shape;574;p21"/>
          <p:cNvSpPr txBox="1"/>
          <p:nvPr/>
        </p:nvSpPr>
        <p:spPr>
          <a:xfrm>
            <a:off x="4397553" y="3124200"/>
            <a:ext cx="2849880" cy="1477328"/>
          </a:xfrm>
          <a:prstGeom prst="rect">
            <a:avLst/>
          </a:prstGeom>
          <a:noFill/>
          <a:ln cap="flat" cmpd="sng" w="9525">
            <a:solidFill>
              <a:srgbClr val="386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Surge en el entorno empresarial la idea de que deben ampliarse los grupos de interés más allá de los clientes y accionistas</a:t>
            </a:r>
            <a:endParaRPr/>
          </a:p>
        </p:txBody>
      </p:sp>
      <p:cxnSp>
        <p:nvCxnSpPr>
          <p:cNvPr id="575" name="Google Shape;575;p21"/>
          <p:cNvCxnSpPr>
            <a:stCxn id="573" idx="1"/>
            <a:endCxn id="574" idx="0"/>
          </p:cNvCxnSpPr>
          <p:nvPr/>
        </p:nvCxnSpPr>
        <p:spPr>
          <a:xfrm>
            <a:off x="5822493" y="2364825"/>
            <a:ext cx="0" cy="759300"/>
          </a:xfrm>
          <a:prstGeom prst="straightConnector1">
            <a:avLst/>
          </a:prstGeom>
          <a:noFill/>
          <a:ln cap="flat" cmpd="sng" w="47625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6" name="Google Shape;576;p21"/>
          <p:cNvSpPr/>
          <p:nvPr/>
        </p:nvSpPr>
        <p:spPr>
          <a:xfrm>
            <a:off x="8474253" y="1936355"/>
            <a:ext cx="1905000" cy="42847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Años 2000-20</a:t>
            </a: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7941666" y="3124200"/>
            <a:ext cx="2970174" cy="1477328"/>
          </a:xfrm>
          <a:prstGeom prst="rect">
            <a:avLst/>
          </a:prstGeom>
          <a:noFill/>
          <a:ln cap="flat" cmpd="sng" w="9525">
            <a:solidFill>
              <a:srgbClr val="3864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Aparece el término de Responsabilidad Social Corporativa (RSC) o Empresarial (RSE) que valora el impacto social y ambiental</a:t>
            </a:r>
            <a:endParaRPr/>
          </a:p>
        </p:txBody>
      </p:sp>
      <p:cxnSp>
        <p:nvCxnSpPr>
          <p:cNvPr id="578" name="Google Shape;578;p21"/>
          <p:cNvCxnSpPr/>
          <p:nvPr/>
        </p:nvCxnSpPr>
        <p:spPr>
          <a:xfrm>
            <a:off x="9426347" y="2364825"/>
            <a:ext cx="0" cy="759375"/>
          </a:xfrm>
          <a:prstGeom prst="straightConnector1">
            <a:avLst/>
          </a:prstGeom>
          <a:noFill/>
          <a:ln cap="flat" cmpd="sng" w="47625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21"/>
          <p:cNvSpPr/>
          <p:nvPr/>
        </p:nvSpPr>
        <p:spPr>
          <a:xfrm>
            <a:off x="3753660" y="2078379"/>
            <a:ext cx="528484" cy="169604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FFC30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7413183" y="2062251"/>
            <a:ext cx="528484" cy="169604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FFC30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2133600" y="5518721"/>
            <a:ext cx="1539240" cy="42847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A4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Año 2020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4495800" y="5071237"/>
            <a:ext cx="3886200" cy="1323439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acuña el término ASG (Ambiental, Social y Gobernanza). En inglés ESG (</a:t>
            </a:r>
            <a:r>
              <a:rPr i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Environmental, Social and Governance)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21"/>
          <p:cNvCxnSpPr>
            <a:endCxn id="582" idx="1"/>
          </p:cNvCxnSpPr>
          <p:nvPr/>
        </p:nvCxnSpPr>
        <p:spPr>
          <a:xfrm>
            <a:off x="3558600" y="5730257"/>
            <a:ext cx="937200" cy="2700"/>
          </a:xfrm>
          <a:prstGeom prst="straightConnector1">
            <a:avLst/>
          </a:prstGeom>
          <a:noFill/>
          <a:ln cap="flat" cmpd="sng" w="50800">
            <a:solidFill>
              <a:srgbClr val="A4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2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CONCEPTO DE ASG O ESG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590" name="Google Shape;590;p2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1" name="Google Shape;591;p2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592" name="Google Shape;592;p22"/>
          <p:cNvGrpSpPr/>
          <p:nvPr/>
        </p:nvGrpSpPr>
        <p:grpSpPr>
          <a:xfrm>
            <a:off x="575494" y="1640274"/>
            <a:ext cx="5730240" cy="5046995"/>
            <a:chOff x="2831690" y="2030898"/>
            <a:chExt cx="3897583" cy="3567981"/>
          </a:xfrm>
        </p:grpSpPr>
        <p:sp>
          <p:nvSpPr>
            <p:cNvPr id="593" name="Google Shape;593;p22"/>
            <p:cNvSpPr/>
            <p:nvPr/>
          </p:nvSpPr>
          <p:spPr>
            <a:xfrm>
              <a:off x="2831690" y="2030898"/>
              <a:ext cx="2477729" cy="2477729"/>
            </a:xfrm>
            <a:prstGeom prst="ellipse">
              <a:avLst/>
            </a:prstGeom>
            <a:solidFill>
              <a:srgbClr val="548135">
                <a:alpha val="73725"/>
              </a:srgb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4251544" y="2030898"/>
              <a:ext cx="2477729" cy="2477729"/>
            </a:xfrm>
            <a:prstGeom prst="ellipse">
              <a:avLst/>
            </a:prstGeom>
            <a:solidFill>
              <a:srgbClr val="C00000">
                <a:alpha val="60000"/>
              </a:srgb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3541617" y="3121150"/>
              <a:ext cx="2477729" cy="2477729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" name="Google Shape;596;p22"/>
          <p:cNvSpPr txBox="1"/>
          <p:nvPr/>
        </p:nvSpPr>
        <p:spPr>
          <a:xfrm>
            <a:off x="636454" y="2965837"/>
            <a:ext cx="1996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MEDIOAMBIENTE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4263777" y="2965837"/>
            <a:ext cx="1996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/>
          </a:p>
        </p:txBody>
      </p:sp>
      <p:sp>
        <p:nvSpPr>
          <p:cNvPr id="598" name="Google Shape;598;p22"/>
          <p:cNvSpPr txBox="1"/>
          <p:nvPr/>
        </p:nvSpPr>
        <p:spPr>
          <a:xfrm>
            <a:off x="2442394" y="5457332"/>
            <a:ext cx="1996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2487911" y="3583043"/>
            <a:ext cx="19964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ASG</a:t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8016240" y="2225040"/>
            <a:ext cx="2834640" cy="548640"/>
          </a:xfrm>
          <a:prstGeom prst="round2DiagRect">
            <a:avLst>
              <a:gd fmla="val 33334" name="adj1"/>
              <a:gd fmla="val 0" name="adj2"/>
            </a:avLst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TRIPLE BALANCE</a:t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>
            <a:off x="9218184" y="3008859"/>
            <a:ext cx="430752" cy="61720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8016240" y="3844653"/>
            <a:ext cx="283464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son valoradas por criterios no financieros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CONCEPTO DE ASG O ESG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09" name="Google Shape;609;p2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Forma&#10;&#10;Descripción generada automáticamente" id="610" name="Google Shape;6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50" y="1325881"/>
            <a:ext cx="8873352" cy="5288918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612" name="Google Shape;612;p23"/>
          <p:cNvSpPr/>
          <p:nvPr/>
        </p:nvSpPr>
        <p:spPr>
          <a:xfrm>
            <a:off x="8854440" y="2225040"/>
            <a:ext cx="2834640" cy="548640"/>
          </a:xfrm>
          <a:prstGeom prst="round2DiagRect">
            <a:avLst>
              <a:gd fmla="val 33334" name="adj1"/>
              <a:gd fmla="val 0" name="adj2"/>
            </a:avLst>
          </a:prstGeom>
          <a:solidFill>
            <a:srgbClr val="3F3F3F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ASG / ODS</a:t>
            </a:r>
            <a:endParaRPr/>
          </a:p>
        </p:txBody>
      </p:sp>
      <p:sp>
        <p:nvSpPr>
          <p:cNvPr id="613" name="Google Shape;613;p23"/>
          <p:cNvSpPr/>
          <p:nvPr/>
        </p:nvSpPr>
        <p:spPr>
          <a:xfrm>
            <a:off x="10056384" y="3008859"/>
            <a:ext cx="430752" cy="61720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 txBox="1"/>
          <p:nvPr/>
        </p:nvSpPr>
        <p:spPr>
          <a:xfrm>
            <a:off x="8854440" y="3844653"/>
            <a:ext cx="283464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criterios ASG o ESG son la forma en cómo las empresas pueden contribuir a la consecución de los ODS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" name="Google Shape;620;p24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621" name="Google Shape;621;p24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6" name="Google Shape;626;p24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4.3. ASPECTOS AMBIENTALES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PROTECCIÓN DE LA BIODIVERSIDAD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34" name="Google Shape;634;p2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5" name="Google Shape;635;p2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636" name="Google Shape;6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703457"/>
            <a:ext cx="1608503" cy="2295174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5"/>
          <p:cNvSpPr txBox="1"/>
          <p:nvPr/>
        </p:nvSpPr>
        <p:spPr>
          <a:xfrm>
            <a:off x="552791" y="5170313"/>
            <a:ext cx="1600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</p:txBody>
      </p:sp>
      <p:sp>
        <p:nvSpPr>
          <p:cNvPr id="638" name="Google Shape;638;p25"/>
          <p:cNvSpPr txBox="1"/>
          <p:nvPr/>
        </p:nvSpPr>
        <p:spPr>
          <a:xfrm>
            <a:off x="2764500" y="3151022"/>
            <a:ext cx="2316480" cy="1477328"/>
          </a:xfrm>
          <a:prstGeom prst="rect">
            <a:avLst/>
          </a:prstGeom>
          <a:noFill/>
          <a:ln cap="flat" cmpd="sng" w="3175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Asignar responsabilidad sobre biodiversidad a un miembro de su equipo de administración</a:t>
            </a:r>
            <a:endParaRPr/>
          </a:p>
        </p:txBody>
      </p:sp>
      <p:pic>
        <p:nvPicPr>
          <p:cNvPr id="639" name="Google Shape;6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3709" y="1768524"/>
            <a:ext cx="834155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5"/>
          <p:cNvSpPr/>
          <p:nvPr/>
        </p:nvSpPr>
        <p:spPr>
          <a:xfrm>
            <a:off x="2152991" y="3804884"/>
            <a:ext cx="528484" cy="169604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 txBox="1"/>
          <p:nvPr/>
        </p:nvSpPr>
        <p:spPr>
          <a:xfrm>
            <a:off x="5775514" y="3151022"/>
            <a:ext cx="2316480" cy="1477328"/>
          </a:xfrm>
          <a:prstGeom prst="rect">
            <a:avLst/>
          </a:prstGeom>
          <a:noFill/>
          <a:ln cap="flat" cmpd="sng" w="3175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Adoptar políticas de gestión sostenible para los recursos naturales que consumen</a:t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5164005" y="3804884"/>
            <a:ext cx="528484" cy="169604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3" name="Google Shape;6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0397" y="1602660"/>
            <a:ext cx="1300520" cy="1477328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5"/>
          <p:cNvSpPr txBox="1"/>
          <p:nvPr/>
        </p:nvSpPr>
        <p:spPr>
          <a:xfrm>
            <a:off x="8786526" y="3151022"/>
            <a:ext cx="2316480" cy="1477328"/>
          </a:xfrm>
          <a:prstGeom prst="rect">
            <a:avLst/>
          </a:prstGeom>
          <a:noFill/>
          <a:ln cap="flat" cmpd="sng" w="3175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programas de conservación y recuperación de espacios naturales, con alianzas.</a:t>
            </a:r>
            <a:endParaRPr/>
          </a:p>
        </p:txBody>
      </p:sp>
      <p:pic>
        <p:nvPicPr>
          <p:cNvPr id="645" name="Google Shape;64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0473" y="1773704"/>
            <a:ext cx="1365104" cy="121137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5"/>
          <p:cNvSpPr/>
          <p:nvPr/>
        </p:nvSpPr>
        <p:spPr>
          <a:xfrm>
            <a:off x="8175019" y="3804884"/>
            <a:ext cx="528484" cy="169604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/>
          <p:nvPr/>
        </p:nvSpPr>
        <p:spPr>
          <a:xfrm rot="7548091">
            <a:off x="6017031" y="4952923"/>
            <a:ext cx="972595" cy="302952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5080980" y="5589616"/>
            <a:ext cx="1378815" cy="646331"/>
          </a:xfrm>
          <a:prstGeom prst="rect">
            <a:avLst/>
          </a:prstGeom>
          <a:noFill/>
          <a:ln cap="flat" cmpd="sng" w="3175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Innovar en el diseño</a:t>
            </a:r>
            <a:endParaRPr/>
          </a:p>
        </p:txBody>
      </p:sp>
      <p:sp>
        <p:nvSpPr>
          <p:cNvPr id="649" name="Google Shape;649;p25"/>
          <p:cNvSpPr/>
          <p:nvPr/>
        </p:nvSpPr>
        <p:spPr>
          <a:xfrm flipH="1" rot="-7548091">
            <a:off x="6870471" y="4968163"/>
            <a:ext cx="972595" cy="302952"/>
          </a:xfrm>
          <a:prstGeom prst="rightArrow">
            <a:avLst>
              <a:gd fmla="val 50000" name="adj1"/>
              <a:gd fmla="val 114567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 txBox="1"/>
          <p:nvPr/>
        </p:nvSpPr>
        <p:spPr>
          <a:xfrm>
            <a:off x="7356768" y="5589616"/>
            <a:ext cx="1378815" cy="646331"/>
          </a:xfrm>
          <a:prstGeom prst="rect">
            <a:avLst/>
          </a:prstGeom>
          <a:noFill/>
          <a:ln cap="flat" cmpd="sng" w="31750">
            <a:solidFill>
              <a:srgbClr val="757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Nuevos proveedores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EMISIONES GEI Y CAMBIO CLIMÁTICO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57" name="Google Shape;657;p2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8" name="Google Shape;658;p2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Diagrama&#10;&#10;Descripción generada automáticamente" id="659" name="Google Shape;6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1355" y="1395011"/>
            <a:ext cx="8062913" cy="507316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6"/>
          <p:cNvSpPr txBox="1"/>
          <p:nvPr/>
        </p:nvSpPr>
        <p:spPr>
          <a:xfrm>
            <a:off x="246355" y="4927317"/>
            <a:ext cx="23241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calculan la huella de carbono en todos sus alcances</a:t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7524750" y="4133850"/>
            <a:ext cx="40026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Deben reducir sus emisiones GEI recurriendo a fuentes de energía renovables, electrificación de los procesos, innovación, etc. </a:t>
            </a:r>
            <a:endParaRPr/>
          </a:p>
        </p:txBody>
      </p:sp>
      <p:sp>
        <p:nvSpPr>
          <p:cNvPr id="662" name="Google Shape;662;p26"/>
          <p:cNvSpPr txBox="1"/>
          <p:nvPr/>
        </p:nvSpPr>
        <p:spPr>
          <a:xfrm>
            <a:off x="9906000" y="1859370"/>
            <a:ext cx="215265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Compensar las emisiones que no han podido reducir hasta llegar a la neutralidad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ENERGÍAS RENOVABLES Y EFICIENCIA ENERGÉTICA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69" name="Google Shape;669;p2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2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671" name="Google Shape;671;p27"/>
          <p:cNvGrpSpPr/>
          <p:nvPr/>
        </p:nvGrpSpPr>
        <p:grpSpPr>
          <a:xfrm>
            <a:off x="1009651" y="1333502"/>
            <a:ext cx="6381750" cy="5142244"/>
            <a:chOff x="4404064" y="2266950"/>
            <a:chExt cx="4938573" cy="3912781"/>
          </a:xfrm>
        </p:grpSpPr>
        <p:sp>
          <p:nvSpPr>
            <p:cNvPr id="672" name="Google Shape;672;p27"/>
            <p:cNvSpPr/>
            <p:nvPr/>
          </p:nvSpPr>
          <p:spPr>
            <a:xfrm flipH="1">
              <a:off x="4404064" y="4998631"/>
              <a:ext cx="4938573" cy="1181100"/>
            </a:xfrm>
            <a:prstGeom prst="homePlate">
              <a:avLst>
                <a:gd fmla="val 50000" name="adj"/>
              </a:avLst>
            </a:prstGeom>
            <a:solidFill>
              <a:srgbClr val="385623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Medidas de Ahorro y Eficiencia Energética</a:t>
              </a:r>
              <a:endParaRPr/>
            </a:p>
          </p:txBody>
        </p:sp>
        <p:sp>
          <p:nvSpPr>
            <p:cNvPr id="673" name="Google Shape;673;p27"/>
            <p:cNvSpPr/>
            <p:nvPr/>
          </p:nvSpPr>
          <p:spPr>
            <a:xfrm flipH="1">
              <a:off x="5848349" y="3800459"/>
              <a:ext cx="3494286" cy="1181100"/>
            </a:xfrm>
            <a:prstGeom prst="homePlate">
              <a:avLst>
                <a:gd fmla="val 50000" name="adj"/>
              </a:avLst>
            </a:prstGeom>
            <a:solidFill>
              <a:srgbClr val="548135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Energía Eléctrica de Origen Renovable</a:t>
              </a:r>
              <a:endParaRPr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7620000" y="2266950"/>
              <a:ext cx="1543050" cy="1543050"/>
            </a:xfrm>
            <a:prstGeom prst="ellipse">
              <a:avLst/>
            </a:prstGeom>
            <a:solidFill>
              <a:srgbClr val="A8D08C"/>
            </a:solidFill>
            <a:ln>
              <a:noFill/>
            </a:ln>
            <a:effectLst>
              <a:outerShdw blurRad="44450" algn="ctr" dir="5400000" dist="27940">
                <a:srgbClr val="000000">
                  <a:alpha val="31764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 ZERO</a:t>
              </a:r>
              <a:endParaRPr/>
            </a:p>
          </p:txBody>
        </p:sp>
      </p:grpSp>
      <p:sp>
        <p:nvSpPr>
          <p:cNvPr id="675" name="Google Shape;675;p27"/>
          <p:cNvSpPr txBox="1"/>
          <p:nvPr/>
        </p:nvSpPr>
        <p:spPr>
          <a:xfrm>
            <a:off x="7658100" y="5127804"/>
            <a:ext cx="3276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procesos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Adecuación de espacios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Sustitución de tecnología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consumos</a:t>
            </a:r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7658100" y="3524812"/>
            <a:ext cx="3276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Eólica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Fotovoltaica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Hidrógeno verde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</a:t>
            </a:r>
            <a:endParaRPr/>
          </a:p>
        </p:txBody>
      </p:sp>
      <p:pic>
        <p:nvPicPr>
          <p:cNvPr id="677" name="Google Shape;6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8489" y="1270737"/>
            <a:ext cx="3045945" cy="2499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305" y="1747127"/>
            <a:ext cx="2129149" cy="1746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3100">
                <a:latin typeface="Calibri"/>
                <a:ea typeface="Calibri"/>
                <a:cs typeface="Calibri"/>
                <a:sym typeface="Calibri"/>
              </a:rPr>
              <a:t>GESTIÓN DEL AGUA Y CONTROL DE LA CONTAMINACIÓN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685" name="Google Shape;685;p2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6" name="Google Shape;686;p2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687" name="Google Shape;687;p28"/>
          <p:cNvGrpSpPr/>
          <p:nvPr/>
        </p:nvGrpSpPr>
        <p:grpSpPr>
          <a:xfrm>
            <a:off x="842361" y="2872618"/>
            <a:ext cx="5757478" cy="2281698"/>
            <a:chOff x="4160" y="142758"/>
            <a:chExt cx="5757478" cy="2281698"/>
          </a:xfrm>
        </p:grpSpPr>
        <p:sp>
          <p:nvSpPr>
            <p:cNvPr id="688" name="Google Shape;688;p28"/>
            <p:cNvSpPr/>
            <p:nvPr/>
          </p:nvSpPr>
          <p:spPr>
            <a:xfrm rot="5400000">
              <a:off x="270210" y="970768"/>
              <a:ext cx="801380" cy="1333479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 cap="flat" cmpd="sng" w="9525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136440" y="1369191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8"/>
            <p:cNvSpPr txBox="1"/>
            <p:nvPr/>
          </p:nvSpPr>
          <p:spPr>
            <a:xfrm>
              <a:off x="136440" y="1369191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Evaluar huella hídrica</a:t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1113167" y="872596"/>
              <a:ext cx="227145" cy="227145"/>
            </a:xfrm>
            <a:prstGeom prst="triangle">
              <a:avLst>
                <a:gd fmla="val 100000" name="adj"/>
              </a:avLst>
            </a:prstGeom>
            <a:gradFill>
              <a:gsLst>
                <a:gs pos="0">
                  <a:srgbClr val="6BC1D3"/>
                </a:gs>
                <a:gs pos="50000">
                  <a:srgbClr val="4EBED3"/>
                </a:gs>
                <a:gs pos="100000">
                  <a:srgbClr val="3DACC1"/>
                </a:gs>
              </a:gsLst>
              <a:lin ang="5400000" scaled="0"/>
            </a:gradFill>
            <a:ln cap="flat" cmpd="sng" w="9525">
              <a:solidFill>
                <a:srgbClr val="55BACE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 rot="5400000">
              <a:off x="1743985" y="606081"/>
              <a:ext cx="801380" cy="1333479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67CFBD"/>
                </a:gs>
                <a:gs pos="50000">
                  <a:srgbClr val="49CEBA"/>
                </a:gs>
                <a:gs pos="100000">
                  <a:srgbClr val="39BDA8"/>
                </a:gs>
              </a:gsLst>
              <a:lin ang="5400000" scaled="0"/>
            </a:gradFill>
            <a:ln cap="flat" cmpd="sng" w="9525">
              <a:solidFill>
                <a:srgbClr val="50C9B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1610215" y="1004504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 txBox="1"/>
            <p:nvPr/>
          </p:nvSpPr>
          <p:spPr>
            <a:xfrm>
              <a:off x="1610215" y="1004504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Implementar una gestión eficiente</a:t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2586942" y="507909"/>
              <a:ext cx="227145" cy="227145"/>
            </a:xfrm>
            <a:prstGeom prst="triangle">
              <a:avLst>
                <a:gd fmla="val 100000" name="adj"/>
              </a:avLst>
            </a:prstGeom>
            <a:gradFill>
              <a:gsLst>
                <a:gs pos="0">
                  <a:srgbClr val="65C998"/>
                </a:gs>
                <a:gs pos="50000">
                  <a:srgbClr val="46C78C"/>
                </a:gs>
                <a:gs pos="100000">
                  <a:srgbClr val="35B87B"/>
                </a:gs>
              </a:gsLst>
              <a:lin ang="5400000" scaled="0"/>
            </a:gradFill>
            <a:ln cap="flat" cmpd="sng" w="9525">
              <a:solidFill>
                <a:srgbClr val="4CC38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 rot="5400000">
              <a:off x="3217761" y="241394"/>
              <a:ext cx="801380" cy="1333479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61C475"/>
                </a:gs>
                <a:gs pos="50000">
                  <a:srgbClr val="42C25D"/>
                </a:gs>
                <a:gs pos="100000">
                  <a:srgbClr val="33B14F"/>
                </a:gs>
              </a:gsLst>
              <a:lin ang="5400000" scaled="0"/>
            </a:gradFill>
            <a:ln cap="flat" cmpd="sng" w="9525">
              <a:solidFill>
                <a:srgbClr val="48BD6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3083990" y="639817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8"/>
            <p:cNvSpPr txBox="1"/>
            <p:nvPr/>
          </p:nvSpPr>
          <p:spPr>
            <a:xfrm>
              <a:off x="3083990" y="639817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Tecnologías de menor consumo</a:t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4060717" y="143222"/>
              <a:ext cx="227145" cy="227145"/>
            </a:xfrm>
            <a:prstGeom prst="triangle">
              <a:avLst>
                <a:gd fmla="val 100000" name="adj"/>
              </a:avLst>
            </a:prstGeom>
            <a:gradFill>
              <a:gsLst>
                <a:gs pos="0">
                  <a:srgbClr val="65BE5F"/>
                </a:gs>
                <a:gs pos="50000">
                  <a:srgbClr val="4ABA40"/>
                </a:gs>
                <a:gs pos="100000">
                  <a:srgbClr val="3CA933"/>
                </a:gs>
              </a:gsLst>
              <a:lin ang="5400000" scaled="0"/>
            </a:gradFill>
            <a:ln cap="flat" cmpd="sng" w="9525">
              <a:solidFill>
                <a:srgbClr val="4FB5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 rot="5400000">
              <a:off x="4691536" y="-123292"/>
              <a:ext cx="801380" cy="1333479"/>
            </a:xfrm>
            <a:prstGeom prst="corner">
              <a:avLst>
                <a:gd fmla="val 16120" name="adj1"/>
                <a:gd fmla="val 16110" name="adj2"/>
              </a:avLst>
            </a:prstGeom>
            <a:gradFill>
              <a:gsLst>
                <a:gs pos="0">
                  <a:srgbClr val="7EB55F"/>
                </a:gs>
                <a:gs pos="50000">
                  <a:srgbClr val="6EB03F"/>
                </a:gs>
                <a:gs pos="100000">
                  <a:srgbClr val="5F9F34"/>
                </a:gs>
              </a:gsLst>
              <a:lin ang="5400000" scaled="0"/>
            </a:gradFill>
            <a:ln cap="flat" cmpd="sng" w="9525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4557766" y="275130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 txBox="1"/>
            <p:nvPr/>
          </p:nvSpPr>
          <p:spPr>
            <a:xfrm>
              <a:off x="4557766" y="275130"/>
              <a:ext cx="1203872" cy="10552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Sistemas de reciclado y reutilización</a:t>
              </a:r>
              <a:endParaRPr/>
            </a:p>
          </p:txBody>
        </p:sp>
      </p:grpSp>
      <p:sp>
        <p:nvSpPr>
          <p:cNvPr id="703" name="Google Shape;703;p28"/>
          <p:cNvSpPr/>
          <p:nvPr/>
        </p:nvSpPr>
        <p:spPr>
          <a:xfrm>
            <a:off x="1987006" y="5606253"/>
            <a:ext cx="3468188" cy="787562"/>
          </a:xfrm>
          <a:prstGeom prst="roundRect">
            <a:avLst>
              <a:gd fmla="val 16667" name="adj"/>
            </a:avLst>
          </a:prstGeom>
          <a:solidFill>
            <a:srgbClr val="1E4E7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Las medias deben afectar a toda la cadena de valor</a:t>
            </a:r>
            <a:endParaRPr/>
          </a:p>
        </p:txBody>
      </p:sp>
      <p:pic>
        <p:nvPicPr>
          <p:cNvPr id="704" name="Google Shape;7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642" y="1368612"/>
            <a:ext cx="1352880" cy="160691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8"/>
          <p:cNvSpPr txBox="1"/>
          <p:nvPr/>
        </p:nvSpPr>
        <p:spPr>
          <a:xfrm>
            <a:off x="1478280" y="1859370"/>
            <a:ext cx="3398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GESTIÓN DEL AGUA</a:t>
            </a:r>
            <a:endParaRPr/>
          </a:p>
        </p:txBody>
      </p:sp>
      <p:sp>
        <p:nvSpPr>
          <p:cNvPr id="706" name="Google Shape;706;p28"/>
          <p:cNvSpPr/>
          <p:nvPr/>
        </p:nvSpPr>
        <p:spPr>
          <a:xfrm>
            <a:off x="6729273" y="2975528"/>
            <a:ext cx="1820367" cy="62308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85623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BENEFICIOS</a:t>
            </a:r>
            <a:endParaRPr/>
          </a:p>
        </p:txBody>
      </p:sp>
      <p:sp>
        <p:nvSpPr>
          <p:cNvPr id="707" name="Google Shape;707;p28"/>
          <p:cNvSpPr txBox="1"/>
          <p:nvPr/>
        </p:nvSpPr>
        <p:spPr>
          <a:xfrm>
            <a:off x="9022080" y="2686906"/>
            <a:ext cx="2743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Menor impacto ambiental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costes</a:t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8664606" y="2499360"/>
            <a:ext cx="494634" cy="1606915"/>
          </a:xfrm>
          <a:prstGeom prst="leftBrace">
            <a:avLst>
              <a:gd fmla="val 51468" name="adj1"/>
              <a:gd fmla="val 50000" name="adj2"/>
            </a:avLst>
          </a:prstGeom>
          <a:noFill/>
          <a:ln cap="flat" cmpd="sng" w="47625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9" name="Google Shape;70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1610" y="4435648"/>
            <a:ext cx="3875510" cy="177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GESTIÓN DE RESIDUOS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716" name="Google Shape;716;p2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17" name="Google Shape;7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5713" y="4541520"/>
            <a:ext cx="4758433" cy="212123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1575829" y="1749223"/>
            <a:ext cx="3465872" cy="588861"/>
          </a:xfrm>
          <a:prstGeom prst="round2DiagRect">
            <a:avLst>
              <a:gd fmla="val 16667" name="adj1"/>
              <a:gd fmla="val 28644" name="adj2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RECOGIDA DE RESIDUOS</a:t>
            </a:r>
            <a:endParaRPr/>
          </a:p>
        </p:txBody>
      </p:sp>
      <p:sp>
        <p:nvSpPr>
          <p:cNvPr id="720" name="Google Shape;720;p29"/>
          <p:cNvSpPr/>
          <p:nvPr/>
        </p:nvSpPr>
        <p:spPr>
          <a:xfrm>
            <a:off x="6931670" y="1749222"/>
            <a:ext cx="3465872" cy="588861"/>
          </a:xfrm>
          <a:prstGeom prst="round2DiagRect">
            <a:avLst>
              <a:gd fmla="val 16667" name="adj1"/>
              <a:gd fmla="val 28644" name="adj2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REDUCCIÓN DE RESIDUOS</a:t>
            </a:r>
            <a:endParaRPr/>
          </a:p>
        </p:txBody>
      </p:sp>
      <p:pic>
        <p:nvPicPr>
          <p:cNvPr id="721" name="Google Shape;72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2" y="3098916"/>
            <a:ext cx="1372413" cy="1134047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9"/>
          <p:cNvSpPr/>
          <p:nvPr/>
        </p:nvSpPr>
        <p:spPr>
          <a:xfrm>
            <a:off x="1575829" y="2898036"/>
            <a:ext cx="3465872" cy="1528218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deben implementar un sistema de recogida para mantener la circularidad de los productos</a:t>
            </a:r>
            <a:endParaRPr/>
          </a:p>
        </p:txBody>
      </p:sp>
      <p:cxnSp>
        <p:nvCxnSpPr>
          <p:cNvPr id="723" name="Google Shape;723;p29"/>
          <p:cNvCxnSpPr>
            <a:stCxn id="719" idx="1"/>
            <a:endCxn id="722" idx="0"/>
          </p:cNvCxnSpPr>
          <p:nvPr/>
        </p:nvCxnSpPr>
        <p:spPr>
          <a:xfrm>
            <a:off x="3308765" y="2338084"/>
            <a:ext cx="0" cy="560100"/>
          </a:xfrm>
          <a:prstGeom prst="straightConnector1">
            <a:avLst/>
          </a:pr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4" name="Google Shape;724;p29"/>
          <p:cNvSpPr/>
          <p:nvPr/>
        </p:nvSpPr>
        <p:spPr>
          <a:xfrm>
            <a:off x="6931670" y="2874910"/>
            <a:ext cx="3465872" cy="1528218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deben desarrollar políticas para minimizar la producción de residuos y mejorar la eficiencia</a:t>
            </a:r>
            <a:endParaRPr/>
          </a:p>
        </p:txBody>
      </p:sp>
      <p:cxnSp>
        <p:nvCxnSpPr>
          <p:cNvPr id="725" name="Google Shape;725;p29"/>
          <p:cNvCxnSpPr>
            <a:endCxn id="724" idx="0"/>
          </p:cNvCxnSpPr>
          <p:nvPr/>
        </p:nvCxnSpPr>
        <p:spPr>
          <a:xfrm>
            <a:off x="8664606" y="2314810"/>
            <a:ext cx="0" cy="560100"/>
          </a:xfrm>
          <a:prstGeom prst="straightConnector1">
            <a:avLst/>
          </a:prstGeom>
          <a:noFill/>
          <a:ln cap="flat" cmpd="sng" w="381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26" name="Google Shape;72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39971" y="2909502"/>
            <a:ext cx="1585905" cy="145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2" name="Google Shape;732;p30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733" name="Google Shape;733;p30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8" name="Google Shape;738;p30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4.4. ASPECTOS SOCIALES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1"/>
          <p:cNvSpPr txBox="1"/>
          <p:nvPr>
            <p:ph type="title"/>
          </p:nvPr>
        </p:nvSpPr>
        <p:spPr>
          <a:xfrm>
            <a:off x="782561" y="40994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ASPECTOS SOCIALES</a:t>
            </a:r>
            <a:endParaRPr sz="4000"/>
          </a:p>
        </p:txBody>
      </p:sp>
      <p:cxnSp>
        <p:nvCxnSpPr>
          <p:cNvPr id="746" name="Google Shape;746;p3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7" name="Google Shape;747;p3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48" name="Google Shape;748;p31"/>
          <p:cNvSpPr/>
          <p:nvPr/>
        </p:nvSpPr>
        <p:spPr>
          <a:xfrm>
            <a:off x="1584960" y="5331933"/>
            <a:ext cx="5044440" cy="944880"/>
          </a:xfrm>
          <a:prstGeom prst="snip1Rect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PROTEGER</a:t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1584960" y="4387053"/>
            <a:ext cx="4175760" cy="944880"/>
          </a:xfrm>
          <a:prstGeom prst="snip1Rect">
            <a:avLst>
              <a:gd fmla="val 50000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RESPETAR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584960" y="3442173"/>
            <a:ext cx="3215640" cy="944880"/>
          </a:xfrm>
          <a:prstGeom prst="snip1Rect">
            <a:avLst>
              <a:gd fmla="val 50000" name="adj"/>
            </a:avLst>
          </a:prstGeom>
          <a:solidFill>
            <a:srgbClr val="2E75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REPARAR</a:t>
            </a:r>
            <a:endParaRPr/>
          </a:p>
        </p:txBody>
      </p:sp>
      <p:pic>
        <p:nvPicPr>
          <p:cNvPr descr="United Nations Guiding Principles On Business And Human Rights" id="751" name="Google Shape;7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" y="1282010"/>
            <a:ext cx="3418663" cy="1203964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1"/>
          <p:cNvSpPr txBox="1"/>
          <p:nvPr/>
        </p:nvSpPr>
        <p:spPr>
          <a:xfrm>
            <a:off x="7879080" y="5876703"/>
            <a:ext cx="262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ESTADOS</a:t>
            </a:r>
            <a:endParaRPr/>
          </a:p>
        </p:txBody>
      </p:sp>
      <p:sp>
        <p:nvSpPr>
          <p:cNvPr id="753" name="Google Shape;753;p31"/>
          <p:cNvSpPr txBox="1"/>
          <p:nvPr/>
        </p:nvSpPr>
        <p:spPr>
          <a:xfrm>
            <a:off x="7889289" y="4910646"/>
            <a:ext cx="262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7879080" y="3869370"/>
            <a:ext cx="26212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ESTADOS Y EMPRESAS</a:t>
            </a:r>
            <a:endParaRPr/>
          </a:p>
        </p:txBody>
      </p:sp>
      <p:sp>
        <p:nvSpPr>
          <p:cNvPr id="755" name="Google Shape;755;p31"/>
          <p:cNvSpPr/>
          <p:nvPr/>
        </p:nvSpPr>
        <p:spPr>
          <a:xfrm>
            <a:off x="5257801" y="3929943"/>
            <a:ext cx="2438400" cy="40011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6187441" y="4910646"/>
            <a:ext cx="1508760" cy="40011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6820713" y="5856148"/>
            <a:ext cx="875487" cy="40011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 txBox="1"/>
          <p:nvPr/>
        </p:nvSpPr>
        <p:spPr>
          <a:xfrm>
            <a:off x="5745481" y="1628827"/>
            <a:ext cx="560506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Principios Rectores constituyen un marco mundial para prevenir y abordar las violaciones de los DDHH y reconocen la responsabilidad de las empresas sobre las comunidades en  las que operan</a:t>
            </a:r>
            <a:endParaRPr/>
          </a:p>
        </p:txBody>
      </p:sp>
      <p:sp>
        <p:nvSpPr>
          <p:cNvPr id="759" name="Google Shape;759;p31"/>
          <p:cNvSpPr/>
          <p:nvPr/>
        </p:nvSpPr>
        <p:spPr>
          <a:xfrm>
            <a:off x="9464040" y="4770120"/>
            <a:ext cx="2270760" cy="656777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Diligencia Debida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2"/>
          <p:cNvSpPr txBox="1"/>
          <p:nvPr>
            <p:ph type="title"/>
          </p:nvPr>
        </p:nvSpPr>
        <p:spPr>
          <a:xfrm>
            <a:off x="782561" y="40994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ASPECTOS SOCIALES</a:t>
            </a:r>
            <a:endParaRPr sz="4000"/>
          </a:p>
        </p:txBody>
      </p:sp>
      <p:cxnSp>
        <p:nvCxnSpPr>
          <p:cNvPr id="766" name="Google Shape;766;p3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7" name="Google Shape;767;p3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335280" y="1479856"/>
            <a:ext cx="4381500" cy="656777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Diligencia Debida en materia de DDHH </a:t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>
            <a:off x="929640" y="3078479"/>
            <a:ext cx="8921115" cy="2909463"/>
          </a:xfrm>
          <a:prstGeom prst="notchedRightArrow">
            <a:avLst>
              <a:gd fmla="val 69178" name="adj1"/>
              <a:gd fmla="val 50000" name="adj2"/>
            </a:avLst>
          </a:prstGeom>
          <a:solidFill>
            <a:srgbClr val="2E75B5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1310640" y="3725656"/>
            <a:ext cx="2438400" cy="161544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2"/>
          <p:cNvSpPr txBox="1"/>
          <p:nvPr/>
        </p:nvSpPr>
        <p:spPr>
          <a:xfrm>
            <a:off x="1535430" y="3817476"/>
            <a:ext cx="189738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evaluación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impactos</a:t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3268980" y="3725656"/>
            <a:ext cx="2438400" cy="161544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5242560" y="3725656"/>
            <a:ext cx="2438400" cy="161544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7189470" y="3725656"/>
            <a:ext cx="2438400" cy="161544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 txBox="1"/>
          <p:nvPr/>
        </p:nvSpPr>
        <p:spPr>
          <a:xfrm>
            <a:off x="3585210" y="3794712"/>
            <a:ext cx="189738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Adopción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estrategias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prevención</a:t>
            </a:r>
            <a:endParaRPr/>
          </a:p>
        </p:txBody>
      </p:sp>
      <p:sp>
        <p:nvSpPr>
          <p:cNvPr id="776" name="Google Shape;776;p32"/>
          <p:cNvSpPr txBox="1"/>
          <p:nvPr/>
        </p:nvSpPr>
        <p:spPr>
          <a:xfrm>
            <a:off x="5604510" y="3936783"/>
            <a:ext cx="18973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medidas adoptadas</a:t>
            </a:r>
            <a:endParaRPr/>
          </a:p>
        </p:txBody>
      </p:sp>
      <p:sp>
        <p:nvSpPr>
          <p:cNvPr id="777" name="Google Shape;777;p32"/>
          <p:cNvSpPr txBox="1"/>
          <p:nvPr/>
        </p:nvSpPr>
        <p:spPr>
          <a:xfrm>
            <a:off x="7690485" y="3933211"/>
            <a:ext cx="18973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Mecanismos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compensación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y reparación</a:t>
            </a:r>
            <a:endParaRPr/>
          </a:p>
        </p:txBody>
      </p:sp>
      <p:sp>
        <p:nvSpPr>
          <p:cNvPr id="778" name="Google Shape;778;p32"/>
          <p:cNvSpPr/>
          <p:nvPr/>
        </p:nvSpPr>
        <p:spPr>
          <a:xfrm>
            <a:off x="335280" y="2804160"/>
            <a:ext cx="1337310" cy="427098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endParaRPr/>
          </a:p>
        </p:txBody>
      </p:sp>
      <p:sp>
        <p:nvSpPr>
          <p:cNvPr id="779" name="Google Shape;779;p32"/>
          <p:cNvSpPr/>
          <p:nvPr/>
        </p:nvSpPr>
        <p:spPr>
          <a:xfrm>
            <a:off x="2411730" y="2804160"/>
            <a:ext cx="1337310" cy="427098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Potencial</a:t>
            </a:r>
            <a:endParaRPr/>
          </a:p>
        </p:txBody>
      </p:sp>
      <p:cxnSp>
        <p:nvCxnSpPr>
          <p:cNvPr id="780" name="Google Shape;780;p32"/>
          <p:cNvCxnSpPr>
            <a:stCxn id="770" idx="0"/>
            <a:endCxn id="778" idx="2"/>
          </p:cNvCxnSpPr>
          <p:nvPr/>
        </p:nvCxnSpPr>
        <p:spPr>
          <a:xfrm rot="10800000">
            <a:off x="1003980" y="3231256"/>
            <a:ext cx="1122000" cy="49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81" name="Google Shape;781;p32"/>
          <p:cNvCxnSpPr>
            <a:stCxn id="770" idx="0"/>
            <a:endCxn id="779" idx="2"/>
          </p:cNvCxnSpPr>
          <p:nvPr/>
        </p:nvCxnSpPr>
        <p:spPr>
          <a:xfrm flipH="1" rot="10800000">
            <a:off x="2125980" y="3231256"/>
            <a:ext cx="954300" cy="49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782" name="Google Shape;782;p32"/>
          <p:cNvSpPr/>
          <p:nvPr/>
        </p:nvSpPr>
        <p:spPr>
          <a:xfrm>
            <a:off x="335280" y="5874448"/>
            <a:ext cx="1337310" cy="427098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Directos</a:t>
            </a:r>
            <a:endParaRPr/>
          </a:p>
        </p:txBody>
      </p:sp>
      <p:sp>
        <p:nvSpPr>
          <p:cNvPr id="783" name="Google Shape;783;p32"/>
          <p:cNvSpPr/>
          <p:nvPr/>
        </p:nvSpPr>
        <p:spPr>
          <a:xfrm>
            <a:off x="2484120" y="5874448"/>
            <a:ext cx="1337310" cy="427098"/>
          </a:xfrm>
          <a:prstGeom prst="roundRect">
            <a:avLst>
              <a:gd fmla="val 16667" name="adj"/>
            </a:avLst>
          </a:prstGeom>
          <a:solidFill>
            <a:srgbClr val="B3C6E7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Indirectos</a:t>
            </a:r>
            <a:endParaRPr/>
          </a:p>
        </p:txBody>
      </p:sp>
      <p:cxnSp>
        <p:nvCxnSpPr>
          <p:cNvPr id="784" name="Google Shape;784;p32"/>
          <p:cNvCxnSpPr>
            <a:endCxn id="782" idx="0"/>
          </p:cNvCxnSpPr>
          <p:nvPr/>
        </p:nvCxnSpPr>
        <p:spPr>
          <a:xfrm flipH="1">
            <a:off x="1003935" y="5317948"/>
            <a:ext cx="1268700" cy="55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785" name="Google Shape;785;p32"/>
          <p:cNvCxnSpPr>
            <a:endCxn id="783" idx="0"/>
          </p:cNvCxnSpPr>
          <p:nvPr/>
        </p:nvCxnSpPr>
        <p:spPr>
          <a:xfrm>
            <a:off x="2341275" y="5317948"/>
            <a:ext cx="811500" cy="55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786" name="Google Shape;786;p32"/>
          <p:cNvSpPr/>
          <p:nvPr/>
        </p:nvSpPr>
        <p:spPr>
          <a:xfrm>
            <a:off x="9908806" y="4156812"/>
            <a:ext cx="2179320" cy="722646"/>
          </a:xfrm>
          <a:prstGeom prst="octagon">
            <a:avLst>
              <a:gd fmla="val 29289" name="adj"/>
            </a:avLst>
          </a:prstGeom>
          <a:solidFill>
            <a:srgbClr val="8A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TRANSPARENCIA</a:t>
            </a:r>
            <a:endParaRPr/>
          </a:p>
        </p:txBody>
      </p:sp>
      <p:sp>
        <p:nvSpPr>
          <p:cNvPr id="787" name="Google Shape;787;p32"/>
          <p:cNvSpPr txBox="1"/>
          <p:nvPr/>
        </p:nvSpPr>
        <p:spPr>
          <a:xfrm>
            <a:off x="6096000" y="1509760"/>
            <a:ext cx="56997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proceso de Diligencia Debida permite identificar riesgos y definir un proceso para combatir la vulneración de los DDHH, que debe ser transparente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782561" y="40994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CONDICIONES LABORALES Y DERECHOS HUMANOS</a:t>
            </a:r>
            <a:endParaRPr sz="3200"/>
          </a:p>
        </p:txBody>
      </p:sp>
      <p:cxnSp>
        <p:nvCxnSpPr>
          <p:cNvPr id="794" name="Google Shape;794;p3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5" name="Google Shape;795;p3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796" name="Google Shape;7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0300" y="1618405"/>
            <a:ext cx="1608503" cy="2295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33"/>
          <p:cNvGrpSpPr/>
          <p:nvPr/>
        </p:nvGrpSpPr>
        <p:grpSpPr>
          <a:xfrm>
            <a:off x="2825595" y="2467186"/>
            <a:ext cx="1460091" cy="1097158"/>
            <a:chOff x="2448231" y="2331842"/>
            <a:chExt cx="1460091" cy="1097158"/>
          </a:xfrm>
        </p:grpSpPr>
        <p:sp>
          <p:nvSpPr>
            <p:cNvPr id="798" name="Google Shape;798;p33"/>
            <p:cNvSpPr/>
            <p:nvPr/>
          </p:nvSpPr>
          <p:spPr>
            <a:xfrm rot="10800000">
              <a:off x="2448231" y="2389239"/>
              <a:ext cx="1460091" cy="1039761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2781300" y="2331842"/>
              <a:ext cx="11270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DEBEN</a:t>
              </a:r>
              <a:endParaRPr/>
            </a:p>
          </p:txBody>
        </p:sp>
      </p:grpSp>
      <p:pic>
        <p:nvPicPr>
          <p:cNvPr id="800" name="Google Shape;8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039" y="3580320"/>
            <a:ext cx="1056684" cy="1254426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33"/>
          <p:cNvSpPr txBox="1"/>
          <p:nvPr/>
        </p:nvSpPr>
        <p:spPr>
          <a:xfrm>
            <a:off x="1978917" y="3676753"/>
            <a:ext cx="22143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Respetar la normativa laboral, cumplir los convenios colectivos, etc.</a:t>
            </a:r>
            <a:endParaRPr/>
          </a:p>
        </p:txBody>
      </p:sp>
      <p:grpSp>
        <p:nvGrpSpPr>
          <p:cNvPr id="802" name="Google Shape;802;p33"/>
          <p:cNvGrpSpPr/>
          <p:nvPr/>
        </p:nvGrpSpPr>
        <p:grpSpPr>
          <a:xfrm>
            <a:off x="7170637" y="2467186"/>
            <a:ext cx="1871333" cy="1113133"/>
            <a:chOff x="6793273" y="2278504"/>
            <a:chExt cx="1871333" cy="1113133"/>
          </a:xfrm>
        </p:grpSpPr>
        <p:sp>
          <p:nvSpPr>
            <p:cNvPr id="803" name="Google Shape;803;p33"/>
            <p:cNvSpPr/>
            <p:nvPr/>
          </p:nvSpPr>
          <p:spPr>
            <a:xfrm flipH="1" rot="10800000">
              <a:off x="6840110" y="2351876"/>
              <a:ext cx="1824496" cy="1039761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3"/>
            <p:cNvSpPr txBox="1"/>
            <p:nvPr/>
          </p:nvSpPr>
          <p:spPr>
            <a:xfrm>
              <a:off x="6793273" y="2278504"/>
              <a:ext cx="17120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BENEFICIAN</a:t>
              </a:r>
              <a:endParaRPr/>
            </a:p>
          </p:txBody>
        </p:sp>
      </p:grpSp>
      <p:pic>
        <p:nvPicPr>
          <p:cNvPr id="805" name="Google Shape;80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0471" y="3194381"/>
            <a:ext cx="1410520" cy="1438396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3"/>
          <p:cNvSpPr txBox="1"/>
          <p:nvPr/>
        </p:nvSpPr>
        <p:spPr>
          <a:xfrm>
            <a:off x="7675337" y="3676753"/>
            <a:ext cx="22143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ofrecer un entorno de trabajo agradable </a:t>
            </a:r>
            <a:endParaRPr/>
          </a:p>
        </p:txBody>
      </p:sp>
      <p:sp>
        <p:nvSpPr>
          <p:cNvPr id="807" name="Google Shape;807;p33"/>
          <p:cNvSpPr/>
          <p:nvPr/>
        </p:nvSpPr>
        <p:spPr>
          <a:xfrm>
            <a:off x="7882620" y="5546315"/>
            <a:ext cx="1799771" cy="802814"/>
          </a:xfrm>
          <a:prstGeom prst="roundRect">
            <a:avLst>
              <a:gd fmla="val 26099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Retener el talento</a:t>
            </a:r>
            <a:endParaRPr/>
          </a:p>
        </p:txBody>
      </p:sp>
      <p:sp>
        <p:nvSpPr>
          <p:cNvPr id="808" name="Google Shape;808;p33"/>
          <p:cNvSpPr/>
          <p:nvPr/>
        </p:nvSpPr>
        <p:spPr>
          <a:xfrm>
            <a:off x="8543704" y="4719127"/>
            <a:ext cx="477602" cy="67301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3"/>
          <p:cNvSpPr/>
          <p:nvPr/>
        </p:nvSpPr>
        <p:spPr>
          <a:xfrm>
            <a:off x="1305073" y="5546315"/>
            <a:ext cx="3644296" cy="802814"/>
          </a:xfrm>
          <a:prstGeom prst="roundRect">
            <a:avLst>
              <a:gd fmla="val 26099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Combatir la sobreexplotación y los trabajos forzados</a:t>
            </a:r>
            <a:endParaRPr/>
          </a:p>
        </p:txBody>
      </p:sp>
      <p:sp>
        <p:nvSpPr>
          <p:cNvPr id="810" name="Google Shape;810;p33"/>
          <p:cNvSpPr/>
          <p:nvPr/>
        </p:nvSpPr>
        <p:spPr>
          <a:xfrm>
            <a:off x="2847284" y="4913914"/>
            <a:ext cx="477602" cy="4782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4"/>
          <p:cNvSpPr txBox="1"/>
          <p:nvPr>
            <p:ph type="title"/>
          </p:nvPr>
        </p:nvSpPr>
        <p:spPr>
          <a:xfrm>
            <a:off x="782561" y="40994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CONDICIONES LABORALES Y DERECHOS HUMANOS</a:t>
            </a:r>
            <a:endParaRPr sz="3200"/>
          </a:p>
        </p:txBody>
      </p:sp>
      <p:cxnSp>
        <p:nvCxnSpPr>
          <p:cNvPr id="817" name="Google Shape;817;p3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8" name="Google Shape;818;p3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819" name="Google Shape;8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7601" y="1072725"/>
            <a:ext cx="2057687" cy="1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34"/>
          <p:cNvSpPr/>
          <p:nvPr/>
        </p:nvSpPr>
        <p:spPr>
          <a:xfrm>
            <a:off x="3948708" y="1648088"/>
            <a:ext cx="3644296" cy="658597"/>
          </a:xfrm>
          <a:prstGeom prst="roundRect">
            <a:avLst>
              <a:gd fmla="val 26099" name="adj"/>
            </a:avLst>
          </a:prstGeom>
          <a:solidFill>
            <a:srgbClr val="317B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Entornos agradables de trabajo</a:t>
            </a:r>
            <a:endParaRPr/>
          </a:p>
        </p:txBody>
      </p:sp>
      <p:sp>
        <p:nvSpPr>
          <p:cNvPr id="821" name="Google Shape;821;p34"/>
          <p:cNvSpPr txBox="1"/>
          <p:nvPr/>
        </p:nvSpPr>
        <p:spPr>
          <a:xfrm>
            <a:off x="3129252" y="2757710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Salario digno</a:t>
            </a:r>
            <a:endParaRPr/>
          </a:p>
        </p:txBody>
      </p:sp>
      <p:sp>
        <p:nvSpPr>
          <p:cNvPr id="822" name="Google Shape;822;p34"/>
          <p:cNvSpPr txBox="1"/>
          <p:nvPr/>
        </p:nvSpPr>
        <p:spPr>
          <a:xfrm>
            <a:off x="3129252" y="3371567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Facilidades de conciliación</a:t>
            </a:r>
            <a:endParaRPr/>
          </a:p>
        </p:txBody>
      </p:sp>
      <p:sp>
        <p:nvSpPr>
          <p:cNvPr id="823" name="Google Shape;823;p34"/>
          <p:cNvSpPr txBox="1"/>
          <p:nvPr/>
        </p:nvSpPr>
        <p:spPr>
          <a:xfrm>
            <a:off x="3129252" y="3985424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Formación y desarrollo</a:t>
            </a:r>
            <a:endParaRPr/>
          </a:p>
        </p:txBody>
      </p:sp>
      <p:sp>
        <p:nvSpPr>
          <p:cNvPr id="824" name="Google Shape;824;p34"/>
          <p:cNvSpPr txBox="1"/>
          <p:nvPr/>
        </p:nvSpPr>
        <p:spPr>
          <a:xfrm>
            <a:off x="3129252" y="4599281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Posibilidades de promoción y reconocimiento</a:t>
            </a:r>
            <a:endParaRPr/>
          </a:p>
        </p:txBody>
      </p:sp>
      <p:sp>
        <p:nvSpPr>
          <p:cNvPr id="825" name="Google Shape;825;p34"/>
          <p:cNvSpPr txBox="1"/>
          <p:nvPr/>
        </p:nvSpPr>
        <p:spPr>
          <a:xfrm>
            <a:off x="3129252" y="5213139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para favorecer el bienestar físico y mental</a:t>
            </a:r>
            <a:endParaRPr/>
          </a:p>
        </p:txBody>
      </p:sp>
      <p:pic>
        <p:nvPicPr>
          <p:cNvPr id="826" name="Google Shape;82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261" y="2160411"/>
            <a:ext cx="1244799" cy="121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7176" y="3027103"/>
            <a:ext cx="1244799" cy="113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6481" y="3605217"/>
            <a:ext cx="1248359" cy="994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2819" y="4315839"/>
            <a:ext cx="947054" cy="791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1962" y="5044825"/>
            <a:ext cx="957396" cy="85737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4"/>
          <p:cNvSpPr txBox="1"/>
          <p:nvPr/>
        </p:nvSpPr>
        <p:spPr>
          <a:xfrm>
            <a:off x="3129251" y="5832792"/>
            <a:ext cx="5254173" cy="369332"/>
          </a:xfrm>
          <a:prstGeom prst="rect">
            <a:avLst/>
          </a:prstGeom>
          <a:solidFill>
            <a:srgbClr val="C3E7D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Canales seguros para denunciar irregularidades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PARTICIPACIÓN EN LA COMUNIDAD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38" name="Google Shape;838;p3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9" name="Google Shape;839;p3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40" name="Google Shape;840;p35"/>
          <p:cNvSpPr/>
          <p:nvPr/>
        </p:nvSpPr>
        <p:spPr>
          <a:xfrm>
            <a:off x="4310740" y="1772286"/>
            <a:ext cx="3396342" cy="1325558"/>
          </a:xfrm>
          <a:prstGeom prst="roundRect">
            <a:avLst>
              <a:gd fmla="val 16667" name="adj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VINCULAR EL NEGOCIO CON LA CONTIBUCIÓN POSITIVA A LA COMUNIDAD</a:t>
            </a:r>
            <a:endParaRPr/>
          </a:p>
        </p:txBody>
      </p:sp>
      <p:sp>
        <p:nvSpPr>
          <p:cNvPr id="841" name="Google Shape;841;p35"/>
          <p:cNvSpPr/>
          <p:nvPr/>
        </p:nvSpPr>
        <p:spPr>
          <a:xfrm>
            <a:off x="562435" y="3965761"/>
            <a:ext cx="2392850" cy="1325558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Beneficio para el área geográfica</a:t>
            </a:r>
            <a:endParaRPr/>
          </a:p>
        </p:txBody>
      </p:sp>
      <p:sp>
        <p:nvSpPr>
          <p:cNvPr id="842" name="Google Shape;842;p35"/>
          <p:cNvSpPr/>
          <p:nvPr/>
        </p:nvSpPr>
        <p:spPr>
          <a:xfrm>
            <a:off x="3425904" y="3965761"/>
            <a:ext cx="2392850" cy="1325558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 relación con entrono y aumento de reputación</a:t>
            </a:r>
            <a:endParaRPr/>
          </a:p>
        </p:txBody>
      </p:sp>
      <p:sp>
        <p:nvSpPr>
          <p:cNvPr id="843" name="Google Shape;843;p35"/>
          <p:cNvSpPr/>
          <p:nvPr/>
        </p:nvSpPr>
        <p:spPr>
          <a:xfrm>
            <a:off x="6289373" y="3965761"/>
            <a:ext cx="2392850" cy="1325558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Retención de talento</a:t>
            </a:r>
            <a:endParaRPr/>
          </a:p>
        </p:txBody>
      </p:sp>
      <p:sp>
        <p:nvSpPr>
          <p:cNvPr id="844" name="Google Shape;844;p35"/>
          <p:cNvSpPr/>
          <p:nvPr/>
        </p:nvSpPr>
        <p:spPr>
          <a:xfrm>
            <a:off x="9152843" y="3965761"/>
            <a:ext cx="2392850" cy="1325558"/>
          </a:xfrm>
          <a:prstGeom prst="roundRect">
            <a:avLst>
              <a:gd fmla="val 16667" name="adj"/>
            </a:avLst>
          </a:prstGeom>
          <a:solidFill>
            <a:srgbClr val="8A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Mayor sostenibilidad económica en el tiempo</a:t>
            </a:r>
            <a:endParaRPr/>
          </a:p>
        </p:txBody>
      </p:sp>
      <p:sp>
        <p:nvSpPr>
          <p:cNvPr id="845" name="Google Shape;845;p35"/>
          <p:cNvSpPr/>
          <p:nvPr/>
        </p:nvSpPr>
        <p:spPr>
          <a:xfrm rot="-5400000">
            <a:off x="5712274" y="-1951532"/>
            <a:ext cx="743086" cy="11091500"/>
          </a:xfrm>
          <a:custGeom>
            <a:rect b="b" l="l" r="r" t="t"/>
            <a:pathLst>
              <a:path extrusionOk="0" h="11091500" w="743086">
                <a:moveTo>
                  <a:pt x="0" y="0"/>
                </a:moveTo>
                <a:cubicBezTo>
                  <a:pt x="189182" y="-9879"/>
                  <a:pt x="347996" y="160029"/>
                  <a:pt x="371543" y="337695"/>
                </a:cubicBezTo>
                <a:cubicBezTo>
                  <a:pt x="238661" y="2635878"/>
                  <a:pt x="456494" y="2834183"/>
                  <a:pt x="371543" y="5208055"/>
                </a:cubicBezTo>
                <a:cubicBezTo>
                  <a:pt x="367490" y="5398517"/>
                  <a:pt x="536589" y="5552929"/>
                  <a:pt x="743086" y="5545750"/>
                </a:cubicBezTo>
                <a:cubicBezTo>
                  <a:pt x="535809" y="5544612"/>
                  <a:pt x="402393" y="5711681"/>
                  <a:pt x="371543" y="5883445"/>
                </a:cubicBezTo>
                <a:cubicBezTo>
                  <a:pt x="421076" y="7110274"/>
                  <a:pt x="386352" y="9260358"/>
                  <a:pt x="371543" y="10753805"/>
                </a:cubicBezTo>
                <a:cubicBezTo>
                  <a:pt x="361554" y="10938779"/>
                  <a:pt x="200698" y="11095737"/>
                  <a:pt x="0" y="11091500"/>
                </a:cubicBezTo>
                <a:cubicBezTo>
                  <a:pt x="48231" y="6158219"/>
                  <a:pt x="-84455" y="1222682"/>
                  <a:pt x="0" y="0"/>
                </a:cubicBezTo>
                <a:close/>
              </a:path>
              <a:path extrusionOk="0" fill="none" h="11091500" w="743086">
                <a:moveTo>
                  <a:pt x="0" y="0"/>
                </a:moveTo>
                <a:cubicBezTo>
                  <a:pt x="172833" y="-2297"/>
                  <a:pt x="357891" y="123362"/>
                  <a:pt x="371543" y="337695"/>
                </a:cubicBezTo>
                <a:cubicBezTo>
                  <a:pt x="439474" y="1011151"/>
                  <a:pt x="225973" y="3407212"/>
                  <a:pt x="371543" y="5208055"/>
                </a:cubicBezTo>
                <a:cubicBezTo>
                  <a:pt x="356424" y="5421592"/>
                  <a:pt x="551572" y="5555919"/>
                  <a:pt x="743086" y="5545750"/>
                </a:cubicBezTo>
                <a:cubicBezTo>
                  <a:pt x="537773" y="5548494"/>
                  <a:pt x="375406" y="5694650"/>
                  <a:pt x="371543" y="5883445"/>
                </a:cubicBezTo>
                <a:cubicBezTo>
                  <a:pt x="357596" y="7058844"/>
                  <a:pt x="423276" y="10120097"/>
                  <a:pt x="371543" y="10753805"/>
                </a:cubicBezTo>
                <a:cubicBezTo>
                  <a:pt x="375008" y="10947169"/>
                  <a:pt x="179325" y="11105144"/>
                  <a:pt x="0" y="11091500"/>
                </a:cubicBezTo>
              </a:path>
              <a:path extrusionOk="0" fill="none" h="11091500" w="743086">
                <a:moveTo>
                  <a:pt x="0" y="0"/>
                </a:moveTo>
                <a:cubicBezTo>
                  <a:pt x="226980" y="12194"/>
                  <a:pt x="373741" y="151720"/>
                  <a:pt x="371543" y="337695"/>
                </a:cubicBezTo>
                <a:cubicBezTo>
                  <a:pt x="533740" y="2673503"/>
                  <a:pt x="443705" y="3047774"/>
                  <a:pt x="371543" y="5208055"/>
                </a:cubicBezTo>
                <a:cubicBezTo>
                  <a:pt x="391560" y="5424356"/>
                  <a:pt x="541292" y="5581000"/>
                  <a:pt x="743086" y="5545750"/>
                </a:cubicBezTo>
                <a:cubicBezTo>
                  <a:pt x="540912" y="5550407"/>
                  <a:pt x="383945" y="5712133"/>
                  <a:pt x="371543" y="5883445"/>
                </a:cubicBezTo>
                <a:cubicBezTo>
                  <a:pt x="221104" y="7227620"/>
                  <a:pt x="457422" y="9903729"/>
                  <a:pt x="371543" y="10753805"/>
                </a:cubicBezTo>
                <a:cubicBezTo>
                  <a:pt x="336113" y="10946127"/>
                  <a:pt x="171847" y="11068488"/>
                  <a:pt x="0" y="11091500"/>
                </a:cubicBezTo>
              </a:path>
            </a:pathLst>
          </a:custGeom>
          <a:noFill/>
          <a:ln cap="flat" cmpd="sng" w="3175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DIVERSIDAD, EQUIDAD E INCLUSIÓN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52" name="Google Shape;852;p3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3" name="Google Shape;853;p3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54" name="Google Shape;854;p36"/>
          <p:cNvSpPr/>
          <p:nvPr/>
        </p:nvSpPr>
        <p:spPr>
          <a:xfrm>
            <a:off x="4655457" y="1914824"/>
            <a:ext cx="2525486" cy="1028968"/>
          </a:xfrm>
          <a:prstGeom prst="wave">
            <a:avLst>
              <a:gd fmla="val 12500" name="adj1"/>
              <a:gd fmla="val 0" name="adj2"/>
            </a:avLst>
          </a:prstGeom>
          <a:solidFill>
            <a:srgbClr val="388901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ESTRATÉGICO</a:t>
            </a:r>
            <a:endParaRPr/>
          </a:p>
        </p:txBody>
      </p:sp>
      <p:sp>
        <p:nvSpPr>
          <p:cNvPr id="855" name="Google Shape;855;p36"/>
          <p:cNvSpPr/>
          <p:nvPr/>
        </p:nvSpPr>
        <p:spPr>
          <a:xfrm>
            <a:off x="867227" y="4101185"/>
            <a:ext cx="2743200" cy="1897741"/>
          </a:xfrm>
          <a:prstGeom prst="rect">
            <a:avLst/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Fomento de la diversidad en toda su cadena de valor, proveedores, comunidad y grupos de interés</a:t>
            </a:r>
            <a:endParaRPr/>
          </a:p>
        </p:txBody>
      </p:sp>
      <p:sp>
        <p:nvSpPr>
          <p:cNvPr id="856" name="Google Shape;856;p36"/>
          <p:cNvSpPr txBox="1"/>
          <p:nvPr/>
        </p:nvSpPr>
        <p:spPr>
          <a:xfrm>
            <a:off x="8327571" y="1690644"/>
            <a:ext cx="2950029" cy="1477328"/>
          </a:xfrm>
          <a:prstGeom prst="rect">
            <a:avLst/>
          </a:prstGeom>
          <a:solidFill>
            <a:srgbClr val="D0FEB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gozan de la capacidad de poder transformar la sociedad con la promoción y el fomento de una cultura de diversidad</a:t>
            </a:r>
            <a:endParaRPr/>
          </a:p>
        </p:txBody>
      </p:sp>
      <p:cxnSp>
        <p:nvCxnSpPr>
          <p:cNvPr id="857" name="Google Shape;857;p36"/>
          <p:cNvCxnSpPr>
            <a:stCxn id="856" idx="1"/>
            <a:endCxn id="854" idx="3"/>
          </p:cNvCxnSpPr>
          <p:nvPr/>
        </p:nvCxnSpPr>
        <p:spPr>
          <a:xfrm rot="10800000">
            <a:off x="7180971" y="2429308"/>
            <a:ext cx="1146600" cy="0"/>
          </a:xfrm>
          <a:prstGeom prst="straightConnector1">
            <a:avLst/>
          </a:prstGeom>
          <a:noFill/>
          <a:ln cap="flat" cmpd="sng" w="4445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8" name="Google Shape;858;p36"/>
          <p:cNvSpPr/>
          <p:nvPr/>
        </p:nvSpPr>
        <p:spPr>
          <a:xfrm>
            <a:off x="4517957" y="4101185"/>
            <a:ext cx="2743200" cy="1897740"/>
          </a:xfrm>
          <a:prstGeom prst="rect">
            <a:avLst/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Combatir la brecha salarial de género, desigualdad estructural</a:t>
            </a: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8168687" y="4111678"/>
            <a:ext cx="2743200" cy="1876754"/>
          </a:xfrm>
          <a:prstGeom prst="rect">
            <a:avLst/>
          </a:prstGeom>
          <a:solidFill>
            <a:srgbClr val="385623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Descartar cualquier tipo de discriminación hacia un colectivo por razones de raza, religión, etc.</a:t>
            </a:r>
            <a:endParaRPr/>
          </a:p>
        </p:txBody>
      </p:sp>
      <p:pic>
        <p:nvPicPr>
          <p:cNvPr id="860" name="Google Shape;8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302" y="1690644"/>
            <a:ext cx="2743200" cy="1463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7"/>
          <p:cNvSpPr txBox="1"/>
          <p:nvPr>
            <p:ph type="title"/>
          </p:nvPr>
        </p:nvSpPr>
        <p:spPr>
          <a:xfrm>
            <a:off x="324466" y="533807"/>
            <a:ext cx="97161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SEGURIDAD DEL PRODUCTO Y PROTECCIÓN DE CONSUMIDORES</a:t>
            </a:r>
            <a:br>
              <a:rPr b="1" lang="es-ES" sz="2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/>
          </a:p>
        </p:txBody>
      </p:sp>
      <p:cxnSp>
        <p:nvCxnSpPr>
          <p:cNvPr id="867" name="Google Shape;867;p3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8" name="Google Shape;868;p3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69" name="Google Shape;869;p37"/>
          <p:cNvSpPr/>
          <p:nvPr/>
        </p:nvSpPr>
        <p:spPr>
          <a:xfrm>
            <a:off x="1028700" y="2143131"/>
            <a:ext cx="3851614" cy="1325563"/>
          </a:xfrm>
          <a:prstGeom prst="roundRect">
            <a:avLst>
              <a:gd fmla="val 16667" name="adj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Servicios y productos seguros, no perjudiciales para la salud y el medio ambiente y de calidad</a:t>
            </a:r>
            <a:endParaRPr/>
          </a:p>
        </p:txBody>
      </p:sp>
      <p:sp>
        <p:nvSpPr>
          <p:cNvPr id="870" name="Google Shape;870;p37"/>
          <p:cNvSpPr/>
          <p:nvPr/>
        </p:nvSpPr>
        <p:spPr>
          <a:xfrm>
            <a:off x="5276850" y="2491587"/>
            <a:ext cx="2004873" cy="6286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7"/>
          <p:cNvSpPr/>
          <p:nvPr/>
        </p:nvSpPr>
        <p:spPr>
          <a:xfrm>
            <a:off x="7678259" y="2143131"/>
            <a:ext cx="3396342" cy="1325563"/>
          </a:xfrm>
          <a:prstGeom prst="roundRect">
            <a:avLst>
              <a:gd fmla="val 16667" name="adj"/>
            </a:avLst>
          </a:prstGeom>
          <a:solidFill>
            <a:srgbClr val="222A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Necesario para la sostenibilidad de la empresa en el tiempo</a:t>
            </a:r>
            <a:endParaRPr/>
          </a:p>
        </p:txBody>
      </p:sp>
      <p:sp>
        <p:nvSpPr>
          <p:cNvPr id="872" name="Google Shape;872;p37"/>
          <p:cNvSpPr/>
          <p:nvPr/>
        </p:nvSpPr>
        <p:spPr>
          <a:xfrm flipH="1" rot="10800000">
            <a:off x="2705100" y="3943350"/>
            <a:ext cx="1600200" cy="158115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7"/>
          <p:cNvSpPr/>
          <p:nvPr/>
        </p:nvSpPr>
        <p:spPr>
          <a:xfrm>
            <a:off x="4438650" y="4191000"/>
            <a:ext cx="838200" cy="1943100"/>
          </a:xfrm>
          <a:prstGeom prst="leftBrace">
            <a:avLst>
              <a:gd fmla="val 15151" name="adj1"/>
              <a:gd fmla="val 50000" name="adj2"/>
            </a:avLst>
          </a:prstGeom>
          <a:noFill/>
          <a:ln cap="flat" cmpd="sng" w="38100">
            <a:solidFill>
              <a:srgbClr val="3A383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7"/>
          <p:cNvSpPr txBox="1"/>
          <p:nvPr/>
        </p:nvSpPr>
        <p:spPr>
          <a:xfrm>
            <a:off x="5276850" y="4343400"/>
            <a:ext cx="30099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Políticas de sustitución y reparación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protección de los consumidores</a:t>
            </a:r>
            <a:endParaRPr/>
          </a:p>
        </p:txBody>
      </p:sp>
      <p:pic>
        <p:nvPicPr>
          <p:cNvPr id="875" name="Google Shape;8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7100" y="4189771"/>
            <a:ext cx="1771897" cy="188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COMPROMISO CON LOS PROVEEDORES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882" name="Google Shape;882;p3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3" name="Google Shape;883;p3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884" name="Google Shape;884;p38"/>
          <p:cNvSpPr/>
          <p:nvPr/>
        </p:nvSpPr>
        <p:spPr>
          <a:xfrm>
            <a:off x="2274329" y="2798652"/>
            <a:ext cx="2386571" cy="588861"/>
          </a:xfrm>
          <a:prstGeom prst="round2DiagRect">
            <a:avLst>
              <a:gd fmla="val 16667" name="adj1"/>
              <a:gd fmla="val 28644" name="adj2"/>
            </a:avLst>
          </a:prstGeom>
          <a:solidFill>
            <a:srgbClr val="222A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</p:txBody>
      </p:sp>
      <p:sp>
        <p:nvSpPr>
          <p:cNvPr id="885" name="Google Shape;885;p38"/>
          <p:cNvSpPr/>
          <p:nvPr/>
        </p:nvSpPr>
        <p:spPr>
          <a:xfrm>
            <a:off x="7427773" y="2798652"/>
            <a:ext cx="2386571" cy="588861"/>
          </a:xfrm>
          <a:prstGeom prst="round2DiagRect">
            <a:avLst>
              <a:gd fmla="val 16667" name="adj1"/>
              <a:gd fmla="val 28644" name="adj2"/>
            </a:avLst>
          </a:prstGeom>
          <a:solidFill>
            <a:srgbClr val="222A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/>
          </a:p>
        </p:txBody>
      </p:sp>
      <p:pic>
        <p:nvPicPr>
          <p:cNvPr id="886" name="Google Shape;88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818" y="2042441"/>
            <a:ext cx="1667557" cy="1846224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8"/>
          <p:cNvSpPr/>
          <p:nvPr/>
        </p:nvSpPr>
        <p:spPr>
          <a:xfrm>
            <a:off x="4254500" y="3841954"/>
            <a:ext cx="3644900" cy="1220675"/>
          </a:xfrm>
          <a:prstGeom prst="round2DiagRect">
            <a:avLst>
              <a:gd fmla="val 16667" name="adj1"/>
              <a:gd fmla="val 28644" name="adj2"/>
            </a:avLst>
          </a:prstGeom>
          <a:solidFill>
            <a:srgbClr val="A6B4C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Deben compartir los mismos criterios ESG ya que el impacto social-ambiental es común</a:t>
            </a:r>
            <a:endParaRPr/>
          </a:p>
        </p:txBody>
      </p:sp>
      <p:sp>
        <p:nvSpPr>
          <p:cNvPr id="888" name="Google Shape;888;p38"/>
          <p:cNvSpPr/>
          <p:nvPr/>
        </p:nvSpPr>
        <p:spPr>
          <a:xfrm>
            <a:off x="3352800" y="2005701"/>
            <a:ext cx="5486400" cy="79295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8"/>
          <p:cNvSpPr txBox="1"/>
          <p:nvPr/>
        </p:nvSpPr>
        <p:spPr>
          <a:xfrm>
            <a:off x="5086947" y="1605591"/>
            <a:ext cx="17653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ÉTICA</a:t>
            </a:r>
            <a:endParaRPr/>
          </a:p>
        </p:txBody>
      </p:sp>
      <p:sp>
        <p:nvSpPr>
          <p:cNvPr id="890" name="Google Shape;890;p38"/>
          <p:cNvSpPr/>
          <p:nvPr/>
        </p:nvSpPr>
        <p:spPr>
          <a:xfrm rot="10800000">
            <a:off x="3073400" y="4515876"/>
            <a:ext cx="5981700" cy="1408207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ACB8C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8"/>
          <p:cNvSpPr txBox="1"/>
          <p:nvPr/>
        </p:nvSpPr>
        <p:spPr>
          <a:xfrm>
            <a:off x="4895295" y="5924083"/>
            <a:ext cx="240140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HOMOLOGACIÓN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3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7" name="Google Shape;897;p39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898" name="Google Shape;898;p39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9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9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3" name="Google Shape;903;p39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4.5. ASPECTOS DE GOBERNANZA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9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GOBIERNO CORPORATIVO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11" name="Google Shape;911;p4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2" name="Google Shape;912;p4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13" name="Google Shape;9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7169" y="2942968"/>
            <a:ext cx="2048161" cy="1838582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0"/>
          <p:cNvSpPr txBox="1"/>
          <p:nvPr/>
        </p:nvSpPr>
        <p:spPr>
          <a:xfrm>
            <a:off x="4876800" y="4781550"/>
            <a:ext cx="24337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DIRECCIÓN</a:t>
            </a:r>
            <a:endParaRPr/>
          </a:p>
        </p:txBody>
      </p:sp>
      <p:sp>
        <p:nvSpPr>
          <p:cNvPr id="915" name="Google Shape;915;p40"/>
          <p:cNvSpPr/>
          <p:nvPr/>
        </p:nvSpPr>
        <p:spPr>
          <a:xfrm>
            <a:off x="756017" y="5468539"/>
            <a:ext cx="3333750" cy="781050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EAB2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Apostar por los criterios </a:t>
            </a:r>
            <a:r>
              <a:rPr b="1" lang="es-E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ESG</a:t>
            </a:r>
            <a:endParaRPr/>
          </a:p>
        </p:txBody>
      </p:sp>
      <p:sp>
        <p:nvSpPr>
          <p:cNvPr id="916" name="Google Shape;916;p40"/>
          <p:cNvSpPr/>
          <p:nvPr/>
        </p:nvSpPr>
        <p:spPr>
          <a:xfrm flipH="1" rot="-5400000">
            <a:off x="2779264" y="3235341"/>
            <a:ext cx="1500578" cy="2889617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7570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0"/>
          <p:cNvSpPr txBox="1"/>
          <p:nvPr/>
        </p:nvSpPr>
        <p:spPr>
          <a:xfrm>
            <a:off x="2251442" y="3523719"/>
            <a:ext cx="28896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DECISIÓN</a:t>
            </a:r>
            <a:endParaRPr/>
          </a:p>
        </p:txBody>
      </p:sp>
      <p:sp>
        <p:nvSpPr>
          <p:cNvPr id="918" name="Google Shape;918;p40"/>
          <p:cNvSpPr/>
          <p:nvPr/>
        </p:nvSpPr>
        <p:spPr>
          <a:xfrm>
            <a:off x="7215330" y="2404316"/>
            <a:ext cx="478563" cy="3163489"/>
          </a:xfrm>
          <a:prstGeom prst="leftBrace">
            <a:avLst>
              <a:gd fmla="val 72024" name="adj1"/>
              <a:gd fmla="val 50000" name="adj2"/>
            </a:avLst>
          </a:prstGeom>
          <a:noFill/>
          <a:ln cap="flat" cmpd="sng" w="508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0"/>
          <p:cNvSpPr txBox="1"/>
          <p:nvPr/>
        </p:nvSpPr>
        <p:spPr>
          <a:xfrm>
            <a:off x="7791450" y="2471404"/>
            <a:ext cx="315999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Fuerte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Comprometida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Capaz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 social y medioambiental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Integridad y comportamiento ético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Respuesta equilibrada a los distintos grupos de interés</a:t>
            </a:r>
            <a:endParaRPr/>
          </a:p>
        </p:txBody>
      </p:sp>
      <p:sp>
        <p:nvSpPr>
          <p:cNvPr id="920" name="Google Shape;920;p40"/>
          <p:cNvSpPr/>
          <p:nvPr/>
        </p:nvSpPr>
        <p:spPr>
          <a:xfrm>
            <a:off x="7791450" y="1489890"/>
            <a:ext cx="3333750" cy="722646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EAB2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Cualidades necesarias para la sostenibilidad empresarial</a:t>
            </a:r>
            <a:endParaRPr/>
          </a:p>
        </p:txBody>
      </p:sp>
      <p:sp>
        <p:nvSpPr>
          <p:cNvPr id="921" name="Google Shape;921;p40"/>
          <p:cNvSpPr/>
          <p:nvPr/>
        </p:nvSpPr>
        <p:spPr>
          <a:xfrm>
            <a:off x="4974362" y="1676340"/>
            <a:ext cx="2336218" cy="795051"/>
          </a:xfrm>
          <a:prstGeom prst="cloudCallout">
            <a:avLst>
              <a:gd fmla="val -26541" name="adj1"/>
              <a:gd fmla="val 28261" name="adj2"/>
            </a:avLst>
          </a:prstGeom>
          <a:solidFill>
            <a:srgbClr val="BFBFBF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Liderazgo más humano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1"/>
          <p:cNvSpPr txBox="1"/>
          <p:nvPr>
            <p:ph type="title"/>
          </p:nvPr>
        </p:nvSpPr>
        <p:spPr>
          <a:xfrm>
            <a:off x="497819" y="420746"/>
            <a:ext cx="95428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TRANSPARENCIA Y COMUNICACIÓN RESPONSABLE</a:t>
            </a:r>
            <a:endParaRPr sz="3200"/>
          </a:p>
        </p:txBody>
      </p:sp>
      <p:cxnSp>
        <p:nvCxnSpPr>
          <p:cNvPr id="928" name="Google Shape;928;p4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9" name="Google Shape;929;p4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930" name="Google Shape;930;p41"/>
          <p:cNvSpPr/>
          <p:nvPr/>
        </p:nvSpPr>
        <p:spPr>
          <a:xfrm>
            <a:off x="895350" y="2856049"/>
            <a:ext cx="2514600" cy="1028700"/>
          </a:xfrm>
          <a:prstGeom prst="decagon">
            <a:avLst>
              <a:gd fmla="val 105146" name="vf"/>
            </a:avLst>
          </a:prstGeom>
          <a:solidFill>
            <a:srgbClr val="C0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BUENA GOBERNANZA</a:t>
            </a:r>
            <a:endParaRPr/>
          </a:p>
        </p:txBody>
      </p:sp>
      <p:sp>
        <p:nvSpPr>
          <p:cNvPr id="931" name="Google Shape;931;p41"/>
          <p:cNvSpPr/>
          <p:nvPr/>
        </p:nvSpPr>
        <p:spPr>
          <a:xfrm>
            <a:off x="3708755" y="3084649"/>
            <a:ext cx="628650" cy="5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1"/>
          <p:cNvSpPr/>
          <p:nvPr/>
        </p:nvSpPr>
        <p:spPr>
          <a:xfrm>
            <a:off x="4636210" y="2398849"/>
            <a:ext cx="2514600" cy="1943100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 de transparencia y comunicación responsable en materia de sostenibilidad</a:t>
            </a:r>
            <a:endParaRPr/>
          </a:p>
        </p:txBody>
      </p:sp>
      <p:sp>
        <p:nvSpPr>
          <p:cNvPr id="933" name="Google Shape;933;p41"/>
          <p:cNvSpPr/>
          <p:nvPr/>
        </p:nvSpPr>
        <p:spPr>
          <a:xfrm>
            <a:off x="7449615" y="3084649"/>
            <a:ext cx="628650" cy="5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1"/>
          <p:cNvSpPr/>
          <p:nvPr/>
        </p:nvSpPr>
        <p:spPr>
          <a:xfrm rot="5400000">
            <a:off x="5576887" y="4606128"/>
            <a:ext cx="628650" cy="5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57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1"/>
          <p:cNvSpPr txBox="1"/>
          <p:nvPr/>
        </p:nvSpPr>
        <p:spPr>
          <a:xfrm>
            <a:off x="4491037" y="5368996"/>
            <a:ext cx="28289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dirige a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grupos de interés</a:t>
            </a:r>
            <a:endParaRPr/>
          </a:p>
        </p:txBody>
      </p:sp>
      <p:sp>
        <p:nvSpPr>
          <p:cNvPr id="936" name="Google Shape;936;p41"/>
          <p:cNvSpPr/>
          <p:nvPr/>
        </p:nvSpPr>
        <p:spPr>
          <a:xfrm>
            <a:off x="8377071" y="2281268"/>
            <a:ext cx="2514600" cy="2178262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 de resultados: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Veraz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Actualizada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Accesible</a:t>
            </a:r>
            <a:endParaRPr/>
          </a:p>
        </p:txBody>
      </p:sp>
      <p:pic>
        <p:nvPicPr>
          <p:cNvPr id="937" name="Google Shape;93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426" y="4370362"/>
            <a:ext cx="2012054" cy="1848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2"/>
          <p:cNvSpPr txBox="1"/>
          <p:nvPr>
            <p:ph type="title"/>
          </p:nvPr>
        </p:nvSpPr>
        <p:spPr>
          <a:xfrm>
            <a:off x="497819" y="420746"/>
            <a:ext cx="954282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POLÍTICA ANTICORRUPCIÓN Y ANTISOBORNO</a:t>
            </a:r>
            <a:endParaRPr sz="3600"/>
          </a:p>
        </p:txBody>
      </p:sp>
      <p:cxnSp>
        <p:nvCxnSpPr>
          <p:cNvPr id="944" name="Google Shape;944;p4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5" name="Google Shape;945;p4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Certifications, Accreditations and ISO standards | Keppel DC (Keppel ..." id="946" name="Google Shape;94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819" y="2162341"/>
            <a:ext cx="1813165" cy="1859068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2"/>
          <p:cNvSpPr/>
          <p:nvPr/>
        </p:nvSpPr>
        <p:spPr>
          <a:xfrm>
            <a:off x="4457700" y="2205251"/>
            <a:ext cx="2990850" cy="653260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3A383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 sostenible</a:t>
            </a:r>
            <a:endParaRPr/>
          </a:p>
        </p:txBody>
      </p:sp>
      <p:sp>
        <p:nvSpPr>
          <p:cNvPr id="948" name="Google Shape;948;p42"/>
          <p:cNvSpPr txBox="1"/>
          <p:nvPr/>
        </p:nvSpPr>
        <p:spPr>
          <a:xfrm>
            <a:off x="5181600" y="3675965"/>
            <a:ext cx="1543050" cy="646331"/>
          </a:xfrm>
          <a:prstGeom prst="rect">
            <a:avLst/>
          </a:prstGeom>
          <a:solidFill>
            <a:srgbClr val="ACB8C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 Políticas</a:t>
            </a:r>
            <a:endParaRPr/>
          </a:p>
        </p:txBody>
      </p:sp>
      <p:sp>
        <p:nvSpPr>
          <p:cNvPr id="949" name="Google Shape;949;p42"/>
          <p:cNvSpPr/>
          <p:nvPr/>
        </p:nvSpPr>
        <p:spPr>
          <a:xfrm>
            <a:off x="2642235" y="5425433"/>
            <a:ext cx="2219325" cy="653260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17161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Anticorrupción</a:t>
            </a:r>
            <a:endParaRPr/>
          </a:p>
        </p:txBody>
      </p:sp>
      <p:sp>
        <p:nvSpPr>
          <p:cNvPr id="950" name="Google Shape;950;p42"/>
          <p:cNvSpPr/>
          <p:nvPr/>
        </p:nvSpPr>
        <p:spPr>
          <a:xfrm>
            <a:off x="7029450" y="5398830"/>
            <a:ext cx="2219325" cy="653260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17161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Antisoborno</a:t>
            </a:r>
            <a:endParaRPr/>
          </a:p>
        </p:txBody>
      </p:sp>
      <p:cxnSp>
        <p:nvCxnSpPr>
          <p:cNvPr id="951" name="Google Shape;951;p42"/>
          <p:cNvCxnSpPr>
            <a:stCxn id="947" idx="1"/>
            <a:endCxn id="948" idx="0"/>
          </p:cNvCxnSpPr>
          <p:nvPr/>
        </p:nvCxnSpPr>
        <p:spPr>
          <a:xfrm>
            <a:off x="5953125" y="2858511"/>
            <a:ext cx="0" cy="817500"/>
          </a:xfrm>
          <a:prstGeom prst="straightConnector1">
            <a:avLst/>
          </a:prstGeom>
          <a:noFill/>
          <a:ln cap="flat" cmpd="sng" w="41275">
            <a:solidFill>
              <a:srgbClr val="2F5496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52" name="Google Shape;952;p42"/>
          <p:cNvCxnSpPr>
            <a:stCxn id="948" idx="2"/>
            <a:endCxn id="949" idx="3"/>
          </p:cNvCxnSpPr>
          <p:nvPr/>
        </p:nvCxnSpPr>
        <p:spPr>
          <a:xfrm flipH="1">
            <a:off x="3752025" y="4322296"/>
            <a:ext cx="2201100" cy="1103100"/>
          </a:xfrm>
          <a:prstGeom prst="straightConnector1">
            <a:avLst/>
          </a:prstGeom>
          <a:noFill/>
          <a:ln cap="flat" cmpd="sng" w="41275">
            <a:solidFill>
              <a:srgbClr val="2F5496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53" name="Google Shape;953;p42"/>
          <p:cNvCxnSpPr>
            <a:stCxn id="948" idx="2"/>
            <a:endCxn id="950" idx="3"/>
          </p:cNvCxnSpPr>
          <p:nvPr/>
        </p:nvCxnSpPr>
        <p:spPr>
          <a:xfrm>
            <a:off x="5953125" y="4322296"/>
            <a:ext cx="2186100" cy="1076400"/>
          </a:xfrm>
          <a:prstGeom prst="straightConnector1">
            <a:avLst/>
          </a:prstGeom>
          <a:noFill/>
          <a:ln cap="flat" cmpd="sng" w="41275">
            <a:solidFill>
              <a:srgbClr val="2F5496"/>
            </a:solidFill>
            <a:prstDash val="solid"/>
            <a:miter lim="800000"/>
            <a:headEnd len="sm" w="sm" type="none"/>
            <a:tailEnd len="lg" w="lg" type="triangle"/>
          </a:ln>
        </p:spPr>
      </p:cxnSp>
      <p:pic>
        <p:nvPicPr>
          <p:cNvPr id="954" name="Google Shape;95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8489" y="2484117"/>
            <a:ext cx="2186994" cy="1515013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42"/>
          <p:cNvSpPr/>
          <p:nvPr/>
        </p:nvSpPr>
        <p:spPr>
          <a:xfrm>
            <a:off x="8943975" y="1913949"/>
            <a:ext cx="2469043" cy="2469043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42"/>
          <p:cNvCxnSpPr>
            <a:stCxn id="955" idx="1"/>
            <a:endCxn id="955" idx="5"/>
          </p:cNvCxnSpPr>
          <p:nvPr/>
        </p:nvCxnSpPr>
        <p:spPr>
          <a:xfrm>
            <a:off x="9305558" y="2275532"/>
            <a:ext cx="1746000" cy="1746000"/>
          </a:xfrm>
          <a:prstGeom prst="straightConnector1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3"/>
          <p:cNvSpPr txBox="1"/>
          <p:nvPr>
            <p:ph type="title"/>
          </p:nvPr>
        </p:nvSpPr>
        <p:spPr>
          <a:xfrm>
            <a:off x="162232" y="420746"/>
            <a:ext cx="1019077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s-ES" sz="2800">
                <a:latin typeface="Calibri"/>
                <a:ea typeface="Calibri"/>
                <a:cs typeface="Calibri"/>
                <a:sym typeface="Calibri"/>
              </a:rPr>
              <a:t>RESPECTO A LA NORMATIVA Y CONTRIBUCIÓN A LOS IMPUESTOS</a:t>
            </a:r>
            <a:endParaRPr sz="2800"/>
          </a:p>
        </p:txBody>
      </p:sp>
      <p:cxnSp>
        <p:nvCxnSpPr>
          <p:cNvPr id="963" name="Google Shape;963;p4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4" name="Google Shape;964;p43"/>
          <p:cNvSpPr/>
          <p:nvPr/>
        </p:nvSpPr>
        <p:spPr>
          <a:xfrm>
            <a:off x="4457700" y="2094761"/>
            <a:ext cx="2990850" cy="653260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 sostenible</a:t>
            </a:r>
            <a:endParaRPr/>
          </a:p>
        </p:txBody>
      </p:sp>
      <p:sp>
        <p:nvSpPr>
          <p:cNvPr id="965" name="Google Shape;965;p43"/>
          <p:cNvSpPr txBox="1"/>
          <p:nvPr/>
        </p:nvSpPr>
        <p:spPr>
          <a:xfrm>
            <a:off x="5181600" y="3352115"/>
            <a:ext cx="1543050" cy="5847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ESG</a:t>
            </a:r>
            <a:endParaRPr/>
          </a:p>
        </p:txBody>
      </p:sp>
      <p:sp>
        <p:nvSpPr>
          <p:cNvPr id="966" name="Google Shape;966;p43"/>
          <p:cNvSpPr/>
          <p:nvPr/>
        </p:nvSpPr>
        <p:spPr>
          <a:xfrm>
            <a:off x="2352675" y="4918703"/>
            <a:ext cx="2219325" cy="1223822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Respeto riguroso a la normativa</a:t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>
            <a:off x="7334250" y="4892099"/>
            <a:ext cx="2219325" cy="1250425"/>
          </a:xfrm>
          <a:prstGeom prst="round2DiagRect">
            <a:avLst>
              <a:gd fmla="val 31248" name="adj1"/>
              <a:gd fmla="val 0" name="adj2"/>
            </a:avLst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 corriente del pago de impuestos y sin evasión fiscal</a:t>
            </a:r>
            <a:endParaRPr/>
          </a:p>
        </p:txBody>
      </p:sp>
      <p:cxnSp>
        <p:nvCxnSpPr>
          <p:cNvPr id="968" name="Google Shape;968;p43"/>
          <p:cNvCxnSpPr>
            <a:stCxn id="964" idx="1"/>
            <a:endCxn id="965" idx="0"/>
          </p:cNvCxnSpPr>
          <p:nvPr/>
        </p:nvCxnSpPr>
        <p:spPr>
          <a:xfrm>
            <a:off x="5953125" y="2748021"/>
            <a:ext cx="0" cy="604200"/>
          </a:xfrm>
          <a:prstGeom prst="straightConnector1">
            <a:avLst/>
          </a:prstGeom>
          <a:noFill/>
          <a:ln cap="flat" cmpd="sng" w="41275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69" name="Google Shape;969;p43"/>
          <p:cNvCxnSpPr>
            <a:stCxn id="965" idx="2"/>
            <a:endCxn id="966" idx="3"/>
          </p:cNvCxnSpPr>
          <p:nvPr/>
        </p:nvCxnSpPr>
        <p:spPr>
          <a:xfrm flipH="1">
            <a:off x="3462225" y="3936890"/>
            <a:ext cx="2490900" cy="981900"/>
          </a:xfrm>
          <a:prstGeom prst="straightConnector1">
            <a:avLst/>
          </a:prstGeom>
          <a:noFill/>
          <a:ln cap="flat" cmpd="sng" w="41275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970" name="Google Shape;970;p43"/>
          <p:cNvCxnSpPr>
            <a:stCxn id="965" idx="2"/>
            <a:endCxn id="967" idx="3"/>
          </p:cNvCxnSpPr>
          <p:nvPr/>
        </p:nvCxnSpPr>
        <p:spPr>
          <a:xfrm>
            <a:off x="5953125" y="3936890"/>
            <a:ext cx="2490900" cy="955200"/>
          </a:xfrm>
          <a:prstGeom prst="straightConnector1">
            <a:avLst/>
          </a:prstGeom>
          <a:noFill/>
          <a:ln cap="flat" cmpd="sng" w="41275">
            <a:solidFill>
              <a:srgbClr val="833C0B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971" name="Google Shape;971;p4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72" name="Google Shape;97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332" y="1501465"/>
            <a:ext cx="4067743" cy="28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1600" y="2117953"/>
            <a:ext cx="2407516" cy="1878153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43"/>
          <p:cNvSpPr/>
          <p:nvPr/>
        </p:nvSpPr>
        <p:spPr>
          <a:xfrm>
            <a:off x="8943975" y="1822509"/>
            <a:ext cx="2469043" cy="2469043"/>
          </a:xfrm>
          <a:prstGeom prst="ellipse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5" name="Google Shape;975;p43"/>
          <p:cNvCxnSpPr>
            <a:stCxn id="974" idx="1"/>
            <a:endCxn id="974" idx="5"/>
          </p:cNvCxnSpPr>
          <p:nvPr/>
        </p:nvCxnSpPr>
        <p:spPr>
          <a:xfrm>
            <a:off x="9305558" y="2184092"/>
            <a:ext cx="1746000" cy="1746000"/>
          </a:xfrm>
          <a:prstGeom prst="straightConnector1">
            <a:avLst/>
          </a:prstGeom>
          <a:noFill/>
          <a:ln cap="flat" cmpd="sng" w="1016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1" name="Google Shape;981;p44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982" name="Google Shape;982;p44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4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4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4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4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7" name="Google Shape;987;p44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4.6. MEDIDA Y EVALUACIÓN DE LAS ESTRATEGIAS ESG O ASG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4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5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MEDIDA IMPACTO ESTRATEGIAS ESG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995" name="Google Shape;995;p4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6" name="Google Shape;996;p4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97" name="Google Shape;99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2569" y="3116802"/>
            <a:ext cx="2067213" cy="1867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7414" y="1750189"/>
            <a:ext cx="2638793" cy="207674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45"/>
          <p:cNvSpPr/>
          <p:nvPr/>
        </p:nvSpPr>
        <p:spPr>
          <a:xfrm>
            <a:off x="6276207" y="1750188"/>
            <a:ext cx="2240280" cy="2099079"/>
          </a:xfrm>
          <a:prstGeom prst="rect">
            <a:avLst/>
          </a:prstGeom>
          <a:solidFill>
            <a:srgbClr val="385623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 Ambiental, Social y de Gobernanza</a:t>
            </a:r>
            <a:endParaRPr/>
          </a:p>
        </p:txBody>
      </p:sp>
      <p:sp>
        <p:nvSpPr>
          <p:cNvPr id="1000" name="Google Shape;1000;p45"/>
          <p:cNvSpPr/>
          <p:nvPr/>
        </p:nvSpPr>
        <p:spPr>
          <a:xfrm>
            <a:off x="3637414" y="1750188"/>
            <a:ext cx="2638793" cy="2099079"/>
          </a:xfrm>
          <a:prstGeom prst="rect">
            <a:avLst/>
          </a:prstGeom>
          <a:noFill/>
          <a:ln cap="flat" cmpd="sng" w="3175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5"/>
          <p:cNvSpPr/>
          <p:nvPr/>
        </p:nvSpPr>
        <p:spPr>
          <a:xfrm>
            <a:off x="5690124" y="4176257"/>
            <a:ext cx="773652" cy="61720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8562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5"/>
          <p:cNvSpPr/>
          <p:nvPr/>
        </p:nvSpPr>
        <p:spPr>
          <a:xfrm>
            <a:off x="2876550" y="4983963"/>
            <a:ext cx="6400800" cy="1238538"/>
          </a:xfrm>
          <a:prstGeom prst="rect">
            <a:avLst/>
          </a:prstGeom>
          <a:noFill/>
          <a:ln cap="flat" cmpd="sng" w="47625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deben recurrir a sistemas de medida que les permitan saber el grado de consecución de los objetivos</a:t>
            </a:r>
            <a:endParaRPr/>
          </a:p>
        </p:txBody>
      </p:sp>
      <p:sp>
        <p:nvSpPr>
          <p:cNvPr id="1003" name="Google Shape;1003;p45"/>
          <p:cNvSpPr/>
          <p:nvPr/>
        </p:nvSpPr>
        <p:spPr>
          <a:xfrm>
            <a:off x="365760" y="2509181"/>
            <a:ext cx="2240280" cy="209908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1EFD8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medida del impacto interesa tanto a la empresa como a sus grupos de interés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MEDIDA IMPACTO ESTRATEGIAS ESG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10" name="Google Shape;1010;p4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Un conjunto de letras negras en un fondo blanco&#10;&#10;Descripción generada automáticamente con confianza baja" id="1011" name="Google Shape;1011;p46"/>
          <p:cNvPicPr preferRelativeResize="0"/>
          <p:nvPr/>
        </p:nvPicPr>
        <p:blipFill rotWithShape="1">
          <a:blip r:embed="rId3">
            <a:alphaModFix/>
          </a:blip>
          <a:srcRect b="24221" l="11624" r="10874" t="20000"/>
          <a:stretch/>
        </p:blipFill>
        <p:spPr>
          <a:xfrm>
            <a:off x="1310640" y="2590800"/>
            <a:ext cx="9448800" cy="3825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4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13" name="Google Shape;1013;p46"/>
          <p:cNvSpPr txBox="1"/>
          <p:nvPr/>
        </p:nvSpPr>
        <p:spPr>
          <a:xfrm>
            <a:off x="701040" y="1969688"/>
            <a:ext cx="4099560" cy="1015663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implantación de cualquier sistema de medición del impacto se realiza mediante un proceso secuencial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7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INFORMES DE SOSTENIBILIDAD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20" name="Google Shape;1020;p4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1" name="Google Shape;1021;p4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22" name="Google Shape;1022;p47"/>
          <p:cNvSpPr/>
          <p:nvPr/>
        </p:nvSpPr>
        <p:spPr>
          <a:xfrm>
            <a:off x="822960" y="1950720"/>
            <a:ext cx="2834640" cy="2346959"/>
          </a:xfrm>
          <a:prstGeom prst="verticalScroll">
            <a:avLst>
              <a:gd fmla="val 12500" name="adj"/>
            </a:avLst>
          </a:prstGeom>
          <a:solidFill>
            <a:srgbClr val="9AC87A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 DE SOSTENIBILIDAD O NO FINANCIERO</a:t>
            </a:r>
            <a:endParaRPr/>
          </a:p>
        </p:txBody>
      </p:sp>
      <p:sp>
        <p:nvSpPr>
          <p:cNvPr id="1023" name="Google Shape;1023;p47"/>
          <p:cNvSpPr/>
          <p:nvPr/>
        </p:nvSpPr>
        <p:spPr>
          <a:xfrm>
            <a:off x="8427277" y="1610412"/>
            <a:ext cx="2834640" cy="97536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40A64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Identificar Riesgos y Oportunidades</a:t>
            </a:r>
            <a:endParaRPr/>
          </a:p>
        </p:txBody>
      </p:sp>
      <p:sp>
        <p:nvSpPr>
          <p:cNvPr id="1024" name="Google Shape;1024;p47"/>
          <p:cNvSpPr/>
          <p:nvPr/>
        </p:nvSpPr>
        <p:spPr>
          <a:xfrm>
            <a:off x="8427277" y="3687991"/>
            <a:ext cx="2834640" cy="97536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40A64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Instaurar Procesos de Mejora Continua</a:t>
            </a:r>
            <a:endParaRPr/>
          </a:p>
        </p:txBody>
      </p:sp>
      <p:sp>
        <p:nvSpPr>
          <p:cNvPr id="1025" name="Google Shape;1025;p47"/>
          <p:cNvSpPr/>
          <p:nvPr/>
        </p:nvSpPr>
        <p:spPr>
          <a:xfrm>
            <a:off x="4693624" y="2768575"/>
            <a:ext cx="1935480" cy="736614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PERMITEN</a:t>
            </a:r>
            <a:endParaRPr/>
          </a:p>
        </p:txBody>
      </p:sp>
      <p:cxnSp>
        <p:nvCxnSpPr>
          <p:cNvPr id="1026" name="Google Shape;1026;p47"/>
          <p:cNvCxnSpPr>
            <a:stCxn id="1022" idx="3"/>
            <a:endCxn id="1025" idx="2"/>
          </p:cNvCxnSpPr>
          <p:nvPr/>
        </p:nvCxnSpPr>
        <p:spPr>
          <a:xfrm>
            <a:off x="3364230" y="3124200"/>
            <a:ext cx="1329300" cy="12600"/>
          </a:xfrm>
          <a:prstGeom prst="straightConnector1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027" name="Google Shape;1027;p47"/>
          <p:cNvCxnSpPr>
            <a:stCxn id="1025" idx="6"/>
            <a:endCxn id="1023" idx="2"/>
          </p:cNvCxnSpPr>
          <p:nvPr/>
        </p:nvCxnSpPr>
        <p:spPr>
          <a:xfrm flipH="1" rot="10800000">
            <a:off x="6629104" y="2097982"/>
            <a:ext cx="1798200" cy="1038900"/>
          </a:xfrm>
          <a:prstGeom prst="straightConnector1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028" name="Google Shape;1028;p47"/>
          <p:cNvCxnSpPr>
            <a:stCxn id="1025" idx="6"/>
            <a:endCxn id="1024" idx="2"/>
          </p:cNvCxnSpPr>
          <p:nvPr/>
        </p:nvCxnSpPr>
        <p:spPr>
          <a:xfrm>
            <a:off x="6629104" y="3136882"/>
            <a:ext cx="1798200" cy="1038900"/>
          </a:xfrm>
          <a:prstGeom prst="straightConnector1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1029" name="Google Shape;1029;p47"/>
          <p:cNvSpPr/>
          <p:nvPr/>
        </p:nvSpPr>
        <p:spPr>
          <a:xfrm flipH="1" rot="10800000">
            <a:off x="2126277" y="4357190"/>
            <a:ext cx="906483" cy="1355873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7"/>
          <p:cNvSpPr/>
          <p:nvPr/>
        </p:nvSpPr>
        <p:spPr>
          <a:xfrm>
            <a:off x="3032760" y="4541429"/>
            <a:ext cx="331469" cy="1897749"/>
          </a:xfrm>
          <a:prstGeom prst="leftBrace">
            <a:avLst>
              <a:gd fmla="val 37745" name="adj1"/>
              <a:gd fmla="val 50000" name="adj2"/>
            </a:avLst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7"/>
          <p:cNvSpPr txBox="1"/>
          <p:nvPr/>
        </p:nvSpPr>
        <p:spPr>
          <a:xfrm>
            <a:off x="3364229" y="4739640"/>
            <a:ext cx="1661013" cy="400110"/>
          </a:xfrm>
          <a:prstGeom prst="rect">
            <a:avLst/>
          </a:prstGeom>
          <a:solidFill>
            <a:srgbClr val="D0FEB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Voluntarios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32" name="Google Shape;1032;p47"/>
          <p:cNvSpPr txBox="1"/>
          <p:nvPr/>
        </p:nvSpPr>
        <p:spPr>
          <a:xfrm>
            <a:off x="3364229" y="5895944"/>
            <a:ext cx="1661013" cy="400110"/>
          </a:xfrm>
          <a:prstGeom prst="rect">
            <a:avLst/>
          </a:prstGeom>
          <a:solidFill>
            <a:srgbClr val="D0FEB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Preceptivos</a:t>
            </a:r>
            <a:endParaRPr/>
          </a:p>
        </p:txBody>
      </p:sp>
      <p:cxnSp>
        <p:nvCxnSpPr>
          <p:cNvPr id="1033" name="Google Shape;1033;p47"/>
          <p:cNvCxnSpPr/>
          <p:nvPr/>
        </p:nvCxnSpPr>
        <p:spPr>
          <a:xfrm>
            <a:off x="4996741" y="4936024"/>
            <a:ext cx="664623" cy="3671"/>
          </a:xfrm>
          <a:prstGeom prst="straightConnector1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1034" name="Google Shape;1034;p47"/>
          <p:cNvSpPr txBox="1"/>
          <p:nvPr/>
        </p:nvSpPr>
        <p:spPr>
          <a:xfrm>
            <a:off x="5661364" y="4632871"/>
            <a:ext cx="19354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web, canal Youtube, etc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47"/>
          <p:cNvCxnSpPr/>
          <p:nvPr/>
        </p:nvCxnSpPr>
        <p:spPr>
          <a:xfrm>
            <a:off x="4975711" y="6100604"/>
            <a:ext cx="664623" cy="3671"/>
          </a:xfrm>
          <a:prstGeom prst="straightConnector1">
            <a:avLst/>
          </a:prstGeom>
          <a:noFill/>
          <a:ln cap="flat" cmpd="sng" w="50800">
            <a:solidFill>
              <a:srgbClr val="385623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1036" name="Google Shape;1036;p47"/>
          <p:cNvSpPr txBox="1"/>
          <p:nvPr/>
        </p:nvSpPr>
        <p:spPr>
          <a:xfrm>
            <a:off x="5640334" y="5675531"/>
            <a:ext cx="19354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CNMV, Red Española del Pacto Mundial, etc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ELABORAR INFORME DE SOSTENIBILIDAD 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43" name="Google Shape;1043;p4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4" name="Google Shape;1044;p4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descr="Diagrama&#10;&#10;Descripción generada automáticamente" id="1045" name="Google Shape;1045;p48"/>
          <p:cNvPicPr preferRelativeResize="0"/>
          <p:nvPr/>
        </p:nvPicPr>
        <p:blipFill rotWithShape="1">
          <a:blip r:embed="rId3">
            <a:alphaModFix/>
          </a:blip>
          <a:srcRect b="-2420" l="0" r="0" t="0"/>
          <a:stretch/>
        </p:blipFill>
        <p:spPr>
          <a:xfrm>
            <a:off x="274320" y="1969687"/>
            <a:ext cx="11643359" cy="4095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1" name="Google Shape;1051;p49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052" name="Google Shape;1052;p49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9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9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9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9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7" name="Google Shape;1057;p49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4.7. CERTIFICADOS ESG O ASG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49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5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CERTIFICACIÓN ESG O ASG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65" name="Google Shape;1065;p5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6" name="Google Shape;1066;p5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067" name="Google Shape;10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072" y="1972433"/>
            <a:ext cx="1202208" cy="13956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50"/>
          <p:cNvSpPr/>
          <p:nvPr/>
        </p:nvSpPr>
        <p:spPr>
          <a:xfrm>
            <a:off x="5396712" y="1859370"/>
            <a:ext cx="3975888" cy="1569628"/>
          </a:xfrm>
          <a:prstGeom prst="rect">
            <a:avLst/>
          </a:prstGeom>
          <a:noFill/>
          <a:ln cap="flat" cmpd="sng" w="508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50"/>
          <p:cNvSpPr txBox="1"/>
          <p:nvPr/>
        </p:nvSpPr>
        <p:spPr>
          <a:xfrm>
            <a:off x="7142528" y="2002911"/>
            <a:ext cx="192526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 Externa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reconocida y técnicamente competente</a:t>
            </a:r>
            <a:endParaRPr/>
          </a:p>
        </p:txBody>
      </p:sp>
      <p:cxnSp>
        <p:nvCxnSpPr>
          <p:cNvPr id="1070" name="Google Shape;1070;p50"/>
          <p:cNvCxnSpPr/>
          <p:nvPr/>
        </p:nvCxnSpPr>
        <p:spPr>
          <a:xfrm>
            <a:off x="6812280" y="1859370"/>
            <a:ext cx="0" cy="1569628"/>
          </a:xfrm>
          <a:prstGeom prst="straightConnector1">
            <a:avLst/>
          </a:prstGeom>
          <a:noFill/>
          <a:ln cap="flat" cmpd="sng" w="508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71" name="Google Shape;107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665540" y="3246120"/>
            <a:ext cx="1384213" cy="19751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50"/>
          <p:cNvSpPr/>
          <p:nvPr/>
        </p:nvSpPr>
        <p:spPr>
          <a:xfrm flipH="1" rot="-5400000">
            <a:off x="3366467" y="1215876"/>
            <a:ext cx="873577" cy="318691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0"/>
          <p:cNvSpPr/>
          <p:nvPr/>
        </p:nvSpPr>
        <p:spPr>
          <a:xfrm>
            <a:off x="1554752" y="5393825"/>
            <a:ext cx="1605787" cy="424856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endParaRPr/>
          </a:p>
        </p:txBody>
      </p:sp>
      <p:sp>
        <p:nvSpPr>
          <p:cNvPr id="1074" name="Google Shape;1074;p50"/>
          <p:cNvSpPr txBox="1"/>
          <p:nvPr/>
        </p:nvSpPr>
        <p:spPr>
          <a:xfrm>
            <a:off x="2113330" y="1972433"/>
            <a:ext cx="31869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Vigila si cumple criterios ASG</a:t>
            </a:r>
            <a:endParaRPr/>
          </a:p>
        </p:txBody>
      </p:sp>
      <p:sp>
        <p:nvSpPr>
          <p:cNvPr id="1075" name="Google Shape;1075;p50"/>
          <p:cNvSpPr/>
          <p:nvPr/>
        </p:nvSpPr>
        <p:spPr>
          <a:xfrm rot="10800000">
            <a:off x="3257010" y="3428694"/>
            <a:ext cx="2979648" cy="2575865"/>
          </a:xfrm>
          <a:prstGeom prst="bentArrow">
            <a:avLst>
              <a:gd fmla="val 10789" name="adj1"/>
              <a:gd fmla="val 14736" name="adj2"/>
              <a:gd fmla="val 25000" name="adj3"/>
              <a:gd fmla="val 27434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6" name="Google Shape;107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9329" y="4058227"/>
            <a:ext cx="1476581" cy="138131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50"/>
          <p:cNvSpPr txBox="1"/>
          <p:nvPr/>
        </p:nvSpPr>
        <p:spPr>
          <a:xfrm>
            <a:off x="2475537" y="6094831"/>
            <a:ext cx="47584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Otorga certificado si cumple criterios ASG</a:t>
            </a:r>
            <a:endParaRPr/>
          </a:p>
        </p:txBody>
      </p:sp>
      <p:sp>
        <p:nvSpPr>
          <p:cNvPr id="1078" name="Google Shape;1078;p50"/>
          <p:cNvSpPr txBox="1"/>
          <p:nvPr/>
        </p:nvSpPr>
        <p:spPr>
          <a:xfrm>
            <a:off x="6409329" y="5315585"/>
            <a:ext cx="13528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Certificado</a:t>
            </a:r>
            <a:endParaRPr/>
          </a:p>
        </p:txBody>
      </p:sp>
      <p:sp>
        <p:nvSpPr>
          <p:cNvPr id="1079" name="Google Shape;1079;p50"/>
          <p:cNvSpPr/>
          <p:nvPr/>
        </p:nvSpPr>
        <p:spPr>
          <a:xfrm>
            <a:off x="7762192" y="3977640"/>
            <a:ext cx="447137" cy="1381318"/>
          </a:xfrm>
          <a:prstGeom prst="leftBrace">
            <a:avLst>
              <a:gd fmla="val 42417" name="adj1"/>
              <a:gd fmla="val 50000" name="adj2"/>
            </a:avLst>
          </a:prstGeom>
          <a:noFill/>
          <a:ln cap="flat" cmpd="sng" w="508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50"/>
          <p:cNvSpPr txBox="1"/>
          <p:nvPr/>
        </p:nvSpPr>
        <p:spPr>
          <a:xfrm>
            <a:off x="8041591" y="4056001"/>
            <a:ext cx="296169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su reputación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 garantías a los grupos de interés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1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CERTIFICACIÓN ESG O ASG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087" name="Google Shape;1087;p5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8" name="Google Shape;1088;p5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89" name="Google Shape;1089;p51"/>
          <p:cNvSpPr/>
          <p:nvPr/>
        </p:nvSpPr>
        <p:spPr>
          <a:xfrm>
            <a:off x="883920" y="3474720"/>
            <a:ext cx="2819400" cy="97536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NORMAS RECONOCIDAS</a:t>
            </a:r>
            <a:endParaRPr/>
          </a:p>
        </p:txBody>
      </p:sp>
      <p:pic>
        <p:nvPicPr>
          <p:cNvPr id="1090" name="Google Shape;109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036" y="2260639"/>
            <a:ext cx="705835" cy="878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51">
            <a:hlinkClick r:id="rId4"/>
          </p:cNvPr>
          <p:cNvSpPr txBox="1"/>
          <p:nvPr/>
        </p:nvSpPr>
        <p:spPr>
          <a:xfrm>
            <a:off x="6262234" y="2346042"/>
            <a:ext cx="2835898" cy="707886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 26000: Guía de Responsabilidad Social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1"/>
          <p:cNvSpPr txBox="1"/>
          <p:nvPr/>
        </p:nvSpPr>
        <p:spPr>
          <a:xfrm>
            <a:off x="9337089" y="2443318"/>
            <a:ext cx="23009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certificable</a:t>
            </a:r>
            <a:endParaRPr/>
          </a:p>
        </p:txBody>
      </p:sp>
      <p:pic>
        <p:nvPicPr>
          <p:cNvPr id="1093" name="Google Shape;10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036" y="4935639"/>
            <a:ext cx="705835" cy="878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51">
            <a:hlinkClick r:id="rId5"/>
          </p:cNvPr>
          <p:cNvSpPr txBox="1"/>
          <p:nvPr/>
        </p:nvSpPr>
        <p:spPr>
          <a:xfrm>
            <a:off x="6262234" y="5021043"/>
            <a:ext cx="2835898" cy="707886"/>
          </a:xfrm>
          <a:prstGeom prst="rect">
            <a:avLst/>
          </a:prstGeom>
          <a:solidFill>
            <a:srgbClr val="FFE7E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UNE-EN-ISO 14001: Gestión Medioambiental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51"/>
          <p:cNvCxnSpPr>
            <a:stCxn id="1089" idx="3"/>
            <a:endCxn id="1090" idx="1"/>
          </p:cNvCxnSpPr>
          <p:nvPr/>
        </p:nvCxnSpPr>
        <p:spPr>
          <a:xfrm flipH="1" rot="10800000">
            <a:off x="3703320" y="2700000"/>
            <a:ext cx="1279800" cy="1262400"/>
          </a:xfrm>
          <a:prstGeom prst="straightConnector1">
            <a:avLst/>
          </a:prstGeom>
          <a:noFill/>
          <a:ln cap="flat" cmpd="sng" w="50800">
            <a:solidFill>
              <a:srgbClr val="3F3F3F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096" name="Google Shape;1096;p51"/>
          <p:cNvCxnSpPr>
            <a:stCxn id="1089" idx="3"/>
            <a:endCxn id="1093" idx="1"/>
          </p:cNvCxnSpPr>
          <p:nvPr/>
        </p:nvCxnSpPr>
        <p:spPr>
          <a:xfrm>
            <a:off x="3703320" y="3962400"/>
            <a:ext cx="1279800" cy="1412700"/>
          </a:xfrm>
          <a:prstGeom prst="straightConnector1">
            <a:avLst/>
          </a:prstGeom>
          <a:noFill/>
          <a:ln cap="flat" cmpd="sng" w="50800">
            <a:solidFill>
              <a:srgbClr val="3F3F3F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097" name="Google Shape;1097;p51"/>
          <p:cNvCxnSpPr>
            <a:stCxn id="1090" idx="3"/>
            <a:endCxn id="1091" idx="1"/>
          </p:cNvCxnSpPr>
          <p:nvPr/>
        </p:nvCxnSpPr>
        <p:spPr>
          <a:xfrm>
            <a:off x="5688871" y="2699986"/>
            <a:ext cx="573300" cy="0"/>
          </a:xfrm>
          <a:prstGeom prst="straightConnector1">
            <a:avLst/>
          </a:prstGeom>
          <a:noFill/>
          <a:ln cap="flat" cmpd="sng" w="508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8" name="Google Shape;1098;p51"/>
          <p:cNvCxnSpPr/>
          <p:nvPr/>
        </p:nvCxnSpPr>
        <p:spPr>
          <a:xfrm flipH="1" rot="10800000">
            <a:off x="5688871" y="5374984"/>
            <a:ext cx="573363" cy="1"/>
          </a:xfrm>
          <a:prstGeom prst="straightConnector1">
            <a:avLst/>
          </a:prstGeom>
          <a:noFill/>
          <a:ln cap="flat" cmpd="sng" w="50800">
            <a:solidFill>
              <a:srgbClr val="75707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9" name="Google Shape;1099;p51"/>
          <p:cNvSpPr txBox="1"/>
          <p:nvPr/>
        </p:nvSpPr>
        <p:spPr>
          <a:xfrm>
            <a:off x="6262234" y="5938955"/>
            <a:ext cx="28358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51"/>
          <p:cNvSpPr txBox="1"/>
          <p:nvPr/>
        </p:nvSpPr>
        <p:spPr>
          <a:xfrm>
            <a:off x="6262234" y="3302435"/>
            <a:ext cx="28358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6" name="Google Shape;1106;p52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07" name="Google Shape;1107;p52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52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52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52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52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2" name="Google Shape;1112;p52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4.8. EL ESG/ASG Y LOS INVERSORES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52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3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ESG O ASG Y LOS INVERSORES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120" name="Google Shape;1120;p5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1" name="Google Shape;1121;p5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122" name="Google Shape;1122;p53"/>
          <p:cNvSpPr/>
          <p:nvPr/>
        </p:nvSpPr>
        <p:spPr>
          <a:xfrm>
            <a:off x="4770120" y="1961681"/>
            <a:ext cx="2529840" cy="1082040"/>
          </a:xfrm>
          <a:prstGeom prst="rect">
            <a:avLst/>
          </a:prstGeom>
          <a:solidFill>
            <a:srgbClr val="186A6A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ASG</a:t>
            </a: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ESG</a:t>
            </a:r>
            <a:endParaRPr/>
          </a:p>
        </p:txBody>
      </p:sp>
      <p:sp>
        <p:nvSpPr>
          <p:cNvPr id="1123" name="Google Shape;1123;p53"/>
          <p:cNvSpPr txBox="1"/>
          <p:nvPr/>
        </p:nvSpPr>
        <p:spPr>
          <a:xfrm>
            <a:off x="1310640" y="3596639"/>
            <a:ext cx="2514600" cy="1200329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Solamente las empresas que apuesten por ellos serán económicamente viables a largo plazo</a:t>
            </a:r>
            <a:endParaRPr/>
          </a:p>
        </p:txBody>
      </p:sp>
      <p:sp>
        <p:nvSpPr>
          <p:cNvPr id="1124" name="Google Shape;1124;p53"/>
          <p:cNvSpPr/>
          <p:nvPr/>
        </p:nvSpPr>
        <p:spPr>
          <a:xfrm>
            <a:off x="4358640" y="5408133"/>
            <a:ext cx="3352800" cy="731520"/>
          </a:xfrm>
          <a:prstGeom prst="rect">
            <a:avLst/>
          </a:prstGeom>
          <a:solidFill>
            <a:srgbClr val="186A6A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también una cuestión de sostenibilidad económica</a:t>
            </a:r>
            <a:endParaRPr/>
          </a:p>
        </p:txBody>
      </p:sp>
      <p:sp>
        <p:nvSpPr>
          <p:cNvPr id="1125" name="Google Shape;1125;p53"/>
          <p:cNvSpPr txBox="1"/>
          <p:nvPr/>
        </p:nvSpPr>
        <p:spPr>
          <a:xfrm>
            <a:off x="8244397" y="3596640"/>
            <a:ext cx="2514600" cy="1200329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vez más los inversores tienen en cuenta estas cuestiones para tomar decisiones</a:t>
            </a:r>
            <a:endParaRPr/>
          </a:p>
        </p:txBody>
      </p:sp>
      <p:sp>
        <p:nvSpPr>
          <p:cNvPr id="1126" name="Google Shape;1126;p53"/>
          <p:cNvSpPr/>
          <p:nvPr/>
        </p:nvSpPr>
        <p:spPr>
          <a:xfrm flipH="1" rot="-5400000">
            <a:off x="2916012" y="1925351"/>
            <a:ext cx="873577" cy="204216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53"/>
          <p:cNvSpPr/>
          <p:nvPr/>
        </p:nvSpPr>
        <p:spPr>
          <a:xfrm rot="5400000">
            <a:off x="8227817" y="1925351"/>
            <a:ext cx="873577" cy="204216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53"/>
          <p:cNvSpPr/>
          <p:nvPr/>
        </p:nvSpPr>
        <p:spPr>
          <a:xfrm rot="-5400000">
            <a:off x="2869995" y="4432056"/>
            <a:ext cx="873577" cy="204216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3"/>
          <p:cNvSpPr/>
          <p:nvPr/>
        </p:nvSpPr>
        <p:spPr>
          <a:xfrm flipH="1" rot="5400000">
            <a:off x="8329466" y="4432056"/>
            <a:ext cx="873577" cy="2042161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3A38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0" name="Google Shape;11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7058" y="3444301"/>
            <a:ext cx="2255520" cy="177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4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ESG O ASG Y LOS INVERSORES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137" name="Google Shape;1137;p5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8" name="Google Shape;1138;p5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139" name="Google Shape;1139;p54"/>
          <p:cNvSpPr/>
          <p:nvPr/>
        </p:nvSpPr>
        <p:spPr>
          <a:xfrm>
            <a:off x="1889760" y="2440136"/>
            <a:ext cx="2819400" cy="1523911"/>
          </a:xfrm>
          <a:prstGeom prst="roundRect">
            <a:avLst>
              <a:gd fmla="val 16667" name="adj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CAPITAL SOCIALMENTE RESPONSABLE</a:t>
            </a:r>
            <a:endParaRPr/>
          </a:p>
        </p:txBody>
      </p:sp>
      <p:sp>
        <p:nvSpPr>
          <p:cNvPr id="1140" name="Google Shape;1140;p54"/>
          <p:cNvSpPr/>
          <p:nvPr/>
        </p:nvSpPr>
        <p:spPr>
          <a:xfrm>
            <a:off x="7193280" y="2440136"/>
            <a:ext cx="2819400" cy="1523911"/>
          </a:xfrm>
          <a:prstGeom prst="roundRect">
            <a:avLst>
              <a:gd fmla="val 16667" name="adj"/>
            </a:avLst>
          </a:prstGeom>
          <a:solidFill>
            <a:srgbClr val="833C0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INVERSIÓN SOCIALMENTE RESPONSABLE</a:t>
            </a:r>
            <a:endParaRPr/>
          </a:p>
        </p:txBody>
      </p:sp>
      <p:sp>
        <p:nvSpPr>
          <p:cNvPr id="1141" name="Google Shape;1141;p54"/>
          <p:cNvSpPr txBox="1"/>
          <p:nvPr/>
        </p:nvSpPr>
        <p:spPr>
          <a:xfrm>
            <a:off x="1889760" y="4623749"/>
            <a:ext cx="2819400" cy="1631216"/>
          </a:xfrm>
          <a:prstGeom prst="rect">
            <a:avLst/>
          </a:prstGeom>
          <a:solidFill>
            <a:srgbClr val="FEFEC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Grupos de capital cuya finalidad es buscar inversiones en empresas que se ajusten a criterios ESG o ASG</a:t>
            </a:r>
            <a:endParaRPr/>
          </a:p>
        </p:txBody>
      </p:sp>
      <p:pic>
        <p:nvPicPr>
          <p:cNvPr id="1142" name="Google Shape;114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31" y="2497143"/>
            <a:ext cx="1819529" cy="1409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74" y="2587643"/>
            <a:ext cx="1581371" cy="1228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4"/>
          <p:cNvSpPr/>
          <p:nvPr/>
        </p:nvSpPr>
        <p:spPr>
          <a:xfrm>
            <a:off x="4735830" y="2832667"/>
            <a:ext cx="2415540" cy="738848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4"/>
          <p:cNvSpPr txBox="1"/>
          <p:nvPr/>
        </p:nvSpPr>
        <p:spPr>
          <a:xfrm>
            <a:off x="7193280" y="4649623"/>
            <a:ext cx="2819400" cy="1631216"/>
          </a:xfrm>
          <a:prstGeom prst="rect">
            <a:avLst/>
          </a:prstGeom>
          <a:solidFill>
            <a:srgbClr val="FEFEC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inversiones que se rigen tanto por criterios económicos como por criterios éticos, sociales y ambientales</a:t>
            </a:r>
            <a:endParaRPr/>
          </a:p>
        </p:txBody>
      </p:sp>
      <p:cxnSp>
        <p:nvCxnSpPr>
          <p:cNvPr id="1146" name="Google Shape;1146;p54"/>
          <p:cNvCxnSpPr>
            <a:stCxn id="1139" idx="2"/>
            <a:endCxn id="1141" idx="0"/>
          </p:cNvCxnSpPr>
          <p:nvPr/>
        </p:nvCxnSpPr>
        <p:spPr>
          <a:xfrm>
            <a:off x="3299460" y="3964047"/>
            <a:ext cx="0" cy="659700"/>
          </a:xfrm>
          <a:prstGeom prst="straightConnector1">
            <a:avLst/>
          </a:prstGeom>
          <a:noFill/>
          <a:ln cap="flat" cmpd="sng" w="50800">
            <a:solidFill>
              <a:srgbClr val="EAB2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7" name="Google Shape;1147;p54"/>
          <p:cNvCxnSpPr/>
          <p:nvPr/>
        </p:nvCxnSpPr>
        <p:spPr>
          <a:xfrm>
            <a:off x="8587740" y="3964047"/>
            <a:ext cx="0" cy="659702"/>
          </a:xfrm>
          <a:prstGeom prst="straightConnector1">
            <a:avLst/>
          </a:prstGeom>
          <a:noFill/>
          <a:ln cap="flat" cmpd="sng" w="50800">
            <a:solidFill>
              <a:srgbClr val="EAB2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8" name="Google Shape;1148;p54"/>
          <p:cNvSpPr txBox="1"/>
          <p:nvPr/>
        </p:nvSpPr>
        <p:spPr>
          <a:xfrm>
            <a:off x="7193279" y="1630680"/>
            <a:ext cx="28193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en aumento</a:t>
            </a:r>
            <a:endParaRPr/>
          </a:p>
        </p:txBody>
      </p:sp>
      <p:sp>
        <p:nvSpPr>
          <p:cNvPr id="1149" name="Google Shape;1149;p54"/>
          <p:cNvSpPr txBox="1"/>
          <p:nvPr/>
        </p:nvSpPr>
        <p:spPr>
          <a:xfrm>
            <a:off x="5186235" y="6278659"/>
            <a:ext cx="18195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Vídeo Explicativo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5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5" name="Google Shape;1155;p55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56" name="Google Shape;1156;p55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55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55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5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55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1" name="Google Shape;1161;p55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4.9. EL PAPEL DE LOS GOBIERNOS Y LA NORMATIVA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55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6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EL PAPEL DE LOS GOBIERNOS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169" name="Google Shape;1169;p5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0" name="Google Shape;1170;p5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171" name="Google Shape;117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832" y="2780300"/>
            <a:ext cx="1547840" cy="148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56"/>
          <p:cNvSpPr txBox="1"/>
          <p:nvPr/>
        </p:nvSpPr>
        <p:spPr>
          <a:xfrm>
            <a:off x="5166212" y="2100405"/>
            <a:ext cx="17830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GOBIERNOS</a:t>
            </a:r>
            <a:endParaRPr/>
          </a:p>
        </p:txBody>
      </p:sp>
      <p:sp>
        <p:nvSpPr>
          <p:cNvPr id="1173" name="Google Shape;1173;p56"/>
          <p:cNvSpPr/>
          <p:nvPr/>
        </p:nvSpPr>
        <p:spPr>
          <a:xfrm>
            <a:off x="4998424" y="1942617"/>
            <a:ext cx="2118656" cy="2540821"/>
          </a:xfrm>
          <a:prstGeom prst="rect">
            <a:avLst/>
          </a:prstGeom>
          <a:noFill/>
          <a:ln cap="flat" cmpd="sng" w="508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6"/>
          <p:cNvSpPr/>
          <p:nvPr/>
        </p:nvSpPr>
        <p:spPr>
          <a:xfrm>
            <a:off x="1447800" y="2569690"/>
            <a:ext cx="2407920" cy="95017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99E0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ESTABLECEN POLÍTICAS</a:t>
            </a:r>
            <a:endParaRPr/>
          </a:p>
        </p:txBody>
      </p:sp>
      <p:sp>
        <p:nvSpPr>
          <p:cNvPr id="1175" name="Google Shape;1175;p56"/>
          <p:cNvSpPr/>
          <p:nvPr/>
        </p:nvSpPr>
        <p:spPr>
          <a:xfrm>
            <a:off x="8290264" y="2569690"/>
            <a:ext cx="2407920" cy="95017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99E0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DECIDEN FINANCIACIÓN</a:t>
            </a:r>
            <a:endParaRPr/>
          </a:p>
        </p:txBody>
      </p:sp>
      <p:sp>
        <p:nvSpPr>
          <p:cNvPr id="1176" name="Google Shape;1176;p56"/>
          <p:cNvSpPr/>
          <p:nvPr/>
        </p:nvSpPr>
        <p:spPr>
          <a:xfrm>
            <a:off x="4853792" y="5443011"/>
            <a:ext cx="2407920" cy="950177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E99E09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DICTAN REGULACIÓN</a:t>
            </a:r>
            <a:endParaRPr/>
          </a:p>
        </p:txBody>
      </p:sp>
      <p:sp>
        <p:nvSpPr>
          <p:cNvPr id="1177" name="Google Shape;1177;p56"/>
          <p:cNvSpPr/>
          <p:nvPr/>
        </p:nvSpPr>
        <p:spPr>
          <a:xfrm>
            <a:off x="7337098" y="2877138"/>
            <a:ext cx="724566" cy="33528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56"/>
          <p:cNvSpPr/>
          <p:nvPr/>
        </p:nvSpPr>
        <p:spPr>
          <a:xfrm flipH="1">
            <a:off x="4029482" y="2877138"/>
            <a:ext cx="724566" cy="33528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6"/>
          <p:cNvSpPr/>
          <p:nvPr/>
        </p:nvSpPr>
        <p:spPr>
          <a:xfrm rot="5400000">
            <a:off x="5695469" y="4740590"/>
            <a:ext cx="724566" cy="335280"/>
          </a:xfrm>
          <a:prstGeom prst="chevron">
            <a:avLst>
              <a:gd fmla="val 50000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6"/>
          <p:cNvSpPr txBox="1"/>
          <p:nvPr/>
        </p:nvSpPr>
        <p:spPr>
          <a:xfrm>
            <a:off x="603441" y="4483438"/>
            <a:ext cx="3426041" cy="1631216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papel es fundamental para lograr que las empresas adopten criterios ESG o ASG y avanzar hacia una economía más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sostenible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7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57"/>
          <p:cNvGrpSpPr/>
          <p:nvPr/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87" name="Google Shape;1187;p57"/>
            <p:cNvSpPr/>
            <p:nvPr/>
          </p:nvSpPr>
          <p:spPr>
            <a:xfrm>
              <a:off x="1560551" y="36937"/>
              <a:ext cx="9313016" cy="6858000"/>
            </a:xfrm>
            <a:custGeom>
              <a:rect b="b" l="l" r="r" t="t"/>
              <a:pathLst>
                <a:path extrusionOk="0" h="6858000" w="9313016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57"/>
            <p:cNvSpPr/>
            <p:nvPr/>
          </p:nvSpPr>
          <p:spPr>
            <a:xfrm>
              <a:off x="1659468" y="36937"/>
              <a:ext cx="9065550" cy="6858000"/>
            </a:xfrm>
            <a:custGeom>
              <a:rect b="b" l="l" r="r" t="t"/>
              <a:pathLst>
                <a:path extrusionOk="0" h="6858000" w="906555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57"/>
            <p:cNvSpPr/>
            <p:nvPr/>
          </p:nvSpPr>
          <p:spPr>
            <a:xfrm>
              <a:off x="1648217" y="36937"/>
              <a:ext cx="9088051" cy="6858000"/>
            </a:xfrm>
            <a:custGeom>
              <a:rect b="b" l="l" r="r" t="t"/>
              <a:pathLst>
                <a:path extrusionOk="0" h="6858000" w="9088051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57"/>
            <p:cNvSpPr/>
            <p:nvPr/>
          </p:nvSpPr>
          <p:spPr>
            <a:xfrm>
              <a:off x="1629061" y="36937"/>
              <a:ext cx="9107210" cy="6858000"/>
            </a:xfrm>
            <a:custGeom>
              <a:rect b="b" l="l" r="r" t="t"/>
              <a:pathLst>
                <a:path extrusionOk="0" h="6858000" w="910721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7843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57"/>
            <p:cNvSpPr/>
            <p:nvPr/>
          </p:nvSpPr>
          <p:spPr>
            <a:xfrm>
              <a:off x="1318434" y="36937"/>
              <a:ext cx="9747620" cy="6858000"/>
            </a:xfrm>
            <a:custGeom>
              <a:rect b="b" l="l" r="r" t="t"/>
              <a:pathLst>
                <a:path extrusionOk="0" h="6858000" w="974762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20000"/>
                  </a:srgbClr>
                </a:gs>
                <a:gs pos="85000">
                  <a:srgbClr val="4472C4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2" name="Google Shape;1192;p57"/>
          <p:cNvSpPr txBox="1"/>
          <p:nvPr/>
        </p:nvSpPr>
        <p:spPr>
          <a:xfrm>
            <a:off x="3469566" y="2571306"/>
            <a:ext cx="47845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s-ES" sz="5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4.10. NUEVOS MODELOS DE HACER NEGOCIOS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7"/>
          <p:cNvSpPr txBox="1"/>
          <p:nvPr/>
        </p:nvSpPr>
        <p:spPr>
          <a:xfrm>
            <a:off x="7433263" y="6452911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8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NUEVOS MODELOS DE HACER NEGOCIOS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200" name="Google Shape;1200;p5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1" name="Google Shape;1201;p5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grpSp>
        <p:nvGrpSpPr>
          <p:cNvPr id="1202" name="Google Shape;1202;p58"/>
          <p:cNvGrpSpPr/>
          <p:nvPr/>
        </p:nvGrpSpPr>
        <p:grpSpPr>
          <a:xfrm>
            <a:off x="4610970" y="2897116"/>
            <a:ext cx="2970060" cy="2533310"/>
            <a:chOff x="3925416" y="1660162"/>
            <a:chExt cx="3030020" cy="2896844"/>
          </a:xfrm>
        </p:grpSpPr>
        <p:grpSp>
          <p:nvGrpSpPr>
            <p:cNvPr id="1203" name="Google Shape;1203;p58"/>
            <p:cNvGrpSpPr/>
            <p:nvPr/>
          </p:nvGrpSpPr>
          <p:grpSpPr>
            <a:xfrm>
              <a:off x="3925416" y="1660162"/>
              <a:ext cx="3030020" cy="2896844"/>
              <a:chOff x="2321468" y="1540241"/>
              <a:chExt cx="6343138" cy="4066012"/>
            </a:xfrm>
          </p:grpSpPr>
          <p:sp>
            <p:nvSpPr>
              <p:cNvPr id="1204" name="Google Shape;1204;p58"/>
              <p:cNvSpPr/>
              <p:nvPr/>
            </p:nvSpPr>
            <p:spPr>
              <a:xfrm>
                <a:off x="2321468" y="1828735"/>
                <a:ext cx="3117954" cy="3777518"/>
              </a:xfrm>
              <a:prstGeom prst="curvedRightArrow">
                <a:avLst>
                  <a:gd fmla="val 25000" name="adj1"/>
                  <a:gd fmla="val 50000" name="adj2"/>
                  <a:gd fmla="val 25000" name="adj3"/>
                </a:avLst>
              </a:prstGeom>
              <a:solidFill>
                <a:srgbClr val="548135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58"/>
              <p:cNvSpPr/>
              <p:nvPr/>
            </p:nvSpPr>
            <p:spPr>
              <a:xfrm rot="10800000">
                <a:off x="5546652" y="1540241"/>
                <a:ext cx="3117954" cy="3777518"/>
              </a:xfrm>
              <a:prstGeom prst="curvedRightArrow">
                <a:avLst>
                  <a:gd fmla="val 25000" name="adj1"/>
                  <a:gd fmla="val 50000" name="adj2"/>
                  <a:gd fmla="val 25000" name="adj3"/>
                </a:avLst>
              </a:prstGeom>
              <a:solidFill>
                <a:srgbClr val="548135"/>
              </a:solidFill>
              <a:ln cap="flat" cmpd="sng" w="127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6" name="Google Shape;1206;p58"/>
            <p:cNvSpPr txBox="1"/>
            <p:nvPr/>
          </p:nvSpPr>
          <p:spPr>
            <a:xfrm>
              <a:off x="4221003" y="2689920"/>
              <a:ext cx="255618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EMPRESAS REGENERADORAS</a:t>
              </a:r>
              <a:endParaRPr/>
            </a:p>
          </p:txBody>
        </p:sp>
      </p:grpSp>
      <p:sp>
        <p:nvSpPr>
          <p:cNvPr id="1207" name="Google Shape;1207;p58"/>
          <p:cNvSpPr/>
          <p:nvPr/>
        </p:nvSpPr>
        <p:spPr>
          <a:xfrm>
            <a:off x="934512" y="1876107"/>
            <a:ext cx="2833141" cy="991266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833C0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Constituyen un paso más allá del ESG o ASG</a:t>
            </a:r>
            <a:endParaRPr/>
          </a:p>
        </p:txBody>
      </p:sp>
      <p:pic>
        <p:nvPicPr>
          <p:cNvPr id="1208" name="Google Shape;120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3231" y="1422349"/>
            <a:ext cx="1459926" cy="1256379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58"/>
          <p:cNvSpPr/>
          <p:nvPr/>
        </p:nvSpPr>
        <p:spPr>
          <a:xfrm>
            <a:off x="8489164" y="1876107"/>
            <a:ext cx="2833141" cy="991266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833C0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Buscan un papel más activo en la sostenibilidad</a:t>
            </a:r>
            <a:endParaRPr/>
          </a:p>
        </p:txBody>
      </p:sp>
      <p:sp>
        <p:nvSpPr>
          <p:cNvPr id="1210" name="Google Shape;1210;p58"/>
          <p:cNvSpPr/>
          <p:nvPr/>
        </p:nvSpPr>
        <p:spPr>
          <a:xfrm>
            <a:off x="934512" y="4998631"/>
            <a:ext cx="2833141" cy="991266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833C0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Reparan los daños ambientales</a:t>
            </a:r>
            <a:endParaRPr/>
          </a:p>
        </p:txBody>
      </p:sp>
      <p:sp>
        <p:nvSpPr>
          <p:cNvPr id="1211" name="Google Shape;1211;p58"/>
          <p:cNvSpPr/>
          <p:nvPr/>
        </p:nvSpPr>
        <p:spPr>
          <a:xfrm>
            <a:off x="8489164" y="4998631"/>
            <a:ext cx="2833141" cy="991266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833C0B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Combaten las desigualdades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9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ECONOMÍA AZUL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218" name="Google Shape;1218;p5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9" name="Google Shape;1219;p5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220" name="Google Shape;1220;p59"/>
          <p:cNvSpPr/>
          <p:nvPr/>
        </p:nvSpPr>
        <p:spPr>
          <a:xfrm>
            <a:off x="3489359" y="1719502"/>
            <a:ext cx="5039374" cy="586113"/>
          </a:xfrm>
          <a:prstGeom prst="snip2SameRect">
            <a:avLst>
              <a:gd fmla="val 32251" name="adj1"/>
              <a:gd fmla="val 0" name="adj2"/>
            </a:avLst>
          </a:prstGeom>
          <a:solidFill>
            <a:srgbClr val="1F386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PRINCIPIOS DE LA ECONOMÍA AZUL</a:t>
            </a:r>
            <a:endParaRPr/>
          </a:p>
        </p:txBody>
      </p:sp>
      <p:sp>
        <p:nvSpPr>
          <p:cNvPr id="1221" name="Google Shape;1221;p59"/>
          <p:cNvSpPr/>
          <p:nvPr/>
        </p:nvSpPr>
        <p:spPr>
          <a:xfrm>
            <a:off x="524654" y="2872333"/>
            <a:ext cx="2608288" cy="111295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Inspirarse continuamente en la naturaleza</a:t>
            </a:r>
            <a:endParaRPr/>
          </a:p>
        </p:txBody>
      </p:sp>
      <p:sp>
        <p:nvSpPr>
          <p:cNvPr id="1222" name="Google Shape;1222;p59"/>
          <p:cNvSpPr/>
          <p:nvPr/>
        </p:nvSpPr>
        <p:spPr>
          <a:xfrm>
            <a:off x="2891791" y="4580495"/>
            <a:ext cx="6234509" cy="1743217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Cambiar las reglas del juego. 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 empresas se diseñan</a:t>
            </a:r>
            <a:r>
              <a:rPr b="1"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el cambio y la mejora continuos, estableciendo flujos económicos diversificados con un análisis de la rentabilidad global de todo el negocio y no a nivel de producto, ya que son variados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9"/>
          <p:cNvSpPr/>
          <p:nvPr/>
        </p:nvSpPr>
        <p:spPr>
          <a:xfrm>
            <a:off x="8901391" y="2872333"/>
            <a:ext cx="2608288" cy="111295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Centrarse en lo que hay disponible localmente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9"/>
          <p:cNvSpPr/>
          <p:nvPr/>
        </p:nvSpPr>
        <p:spPr>
          <a:xfrm>
            <a:off x="4713022" y="2872333"/>
            <a:ext cx="2608288" cy="1112950"/>
          </a:xfrm>
          <a:prstGeom prst="roundRect">
            <a:avLst>
              <a:gd fmla="val 16667" name="adj"/>
            </a:avLst>
          </a:prstGeom>
          <a:solidFill>
            <a:srgbClr val="BBD6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única constante es percibir cambios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0"/>
          <p:cNvSpPr txBox="1"/>
          <p:nvPr>
            <p:ph type="title"/>
          </p:nvPr>
        </p:nvSpPr>
        <p:spPr>
          <a:xfrm>
            <a:off x="838200" y="533807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NET POSITIVE</a:t>
            </a:r>
            <a:br>
              <a:rPr b="1" lang="es-ES" sz="4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cxnSp>
        <p:nvCxnSpPr>
          <p:cNvPr id="1231" name="Google Shape;1231;p6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2" name="Google Shape;1232;p6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233" name="Google Shape;1233;p60"/>
          <p:cNvSpPr/>
          <p:nvPr/>
        </p:nvSpPr>
        <p:spPr>
          <a:xfrm>
            <a:off x="4821701" y="2353459"/>
            <a:ext cx="2473377" cy="1060554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57785" algn="ctr" dir="3180000" dist="3302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EMPRESAS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 POSITIVE</a:t>
            </a:r>
            <a:endParaRPr/>
          </a:p>
        </p:txBody>
      </p:sp>
      <p:sp>
        <p:nvSpPr>
          <p:cNvPr id="1234" name="Google Shape;1234;p60"/>
          <p:cNvSpPr txBox="1"/>
          <p:nvPr/>
        </p:nvSpPr>
        <p:spPr>
          <a:xfrm>
            <a:off x="689545" y="2592303"/>
            <a:ext cx="2443397" cy="1323439"/>
          </a:xfrm>
          <a:prstGeom prst="rect">
            <a:avLst/>
          </a:prstGeom>
          <a:solidFill>
            <a:srgbClr val="FFFF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responsabilizan de todos sus impactos y consecuencias, sean intencionados o no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0"/>
          <p:cNvSpPr txBox="1"/>
          <p:nvPr/>
        </p:nvSpPr>
        <p:spPr>
          <a:xfrm>
            <a:off x="1884467" y="4154875"/>
            <a:ext cx="2443397" cy="1323439"/>
          </a:xfrm>
          <a:prstGeom prst="rect">
            <a:avLst/>
          </a:prstGeom>
          <a:solidFill>
            <a:srgbClr val="FFFF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Operan para el beneficio a largo plazo de la compañía y la sociedad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0"/>
          <p:cNvSpPr txBox="1"/>
          <p:nvPr/>
        </p:nvSpPr>
        <p:spPr>
          <a:xfrm>
            <a:off x="7597248" y="4154874"/>
            <a:ext cx="2443397" cy="1323439"/>
          </a:xfrm>
          <a:prstGeom prst="rect">
            <a:avLst/>
          </a:prstGeom>
          <a:solidFill>
            <a:srgbClr val="FFFF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responsabilizan de todos sus impactos y consecuencias, sean intencionados o no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60"/>
          <p:cNvSpPr txBox="1"/>
          <p:nvPr/>
        </p:nvSpPr>
        <p:spPr>
          <a:xfrm>
            <a:off x="4874301" y="5578104"/>
            <a:ext cx="2443397" cy="1015663"/>
          </a:xfrm>
          <a:prstGeom prst="rect">
            <a:avLst/>
          </a:prstGeom>
          <a:solidFill>
            <a:srgbClr val="FFFF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Crean retornos positivos para todos los grupos de interés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0"/>
          <p:cNvSpPr txBox="1"/>
          <p:nvPr/>
        </p:nvSpPr>
        <p:spPr>
          <a:xfrm>
            <a:off x="8983836" y="2638209"/>
            <a:ext cx="2443397" cy="1323439"/>
          </a:xfrm>
          <a:prstGeom prst="rect">
            <a:avLst/>
          </a:prstGeom>
          <a:solidFill>
            <a:srgbClr val="FFFF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beneficios de sus accionistas son un resultado, no un objetivo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9" name="Google Shape;1239;p60"/>
          <p:cNvCxnSpPr>
            <a:stCxn id="1233" idx="2"/>
            <a:endCxn id="1234" idx="3"/>
          </p:cNvCxnSpPr>
          <p:nvPr/>
        </p:nvCxnSpPr>
        <p:spPr>
          <a:xfrm flipH="1">
            <a:off x="3133001" y="2883736"/>
            <a:ext cx="1688700" cy="3702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pic>
        <p:nvPicPr>
          <p:cNvPr id="1240" name="Google Shape;124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0574"/>
            <a:ext cx="876423" cy="8526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1" name="Google Shape;1241;p60"/>
          <p:cNvCxnSpPr>
            <a:stCxn id="1233" idx="4"/>
          </p:cNvCxnSpPr>
          <p:nvPr/>
        </p:nvCxnSpPr>
        <p:spPr>
          <a:xfrm>
            <a:off x="6058390" y="3414013"/>
            <a:ext cx="37500" cy="23010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242" name="Google Shape;1242;p60"/>
          <p:cNvCxnSpPr>
            <a:stCxn id="1233" idx="6"/>
            <a:endCxn id="1238" idx="1"/>
          </p:cNvCxnSpPr>
          <p:nvPr/>
        </p:nvCxnSpPr>
        <p:spPr>
          <a:xfrm>
            <a:off x="7295078" y="2883736"/>
            <a:ext cx="1688700" cy="4161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243" name="Google Shape;1243;p60"/>
          <p:cNvCxnSpPr>
            <a:stCxn id="1233" idx="4"/>
            <a:endCxn id="1235" idx="3"/>
          </p:cNvCxnSpPr>
          <p:nvPr/>
        </p:nvCxnSpPr>
        <p:spPr>
          <a:xfrm flipH="1">
            <a:off x="4327990" y="3414013"/>
            <a:ext cx="1730400" cy="14025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cxnSp>
        <p:nvCxnSpPr>
          <p:cNvPr id="1244" name="Google Shape;1244;p60"/>
          <p:cNvCxnSpPr>
            <a:stCxn id="1233" idx="4"/>
            <a:endCxn id="1236" idx="1"/>
          </p:cNvCxnSpPr>
          <p:nvPr/>
        </p:nvCxnSpPr>
        <p:spPr>
          <a:xfrm>
            <a:off x="6058389" y="3414013"/>
            <a:ext cx="1539000" cy="1402500"/>
          </a:xfrm>
          <a:prstGeom prst="straightConnector1">
            <a:avLst/>
          </a:prstGeom>
          <a:noFill/>
          <a:ln cap="flat" cmpd="sng" w="50800">
            <a:solidFill>
              <a:srgbClr val="3A3838"/>
            </a:solidFill>
            <a:prstDash val="solid"/>
            <a:miter lim="800000"/>
            <a:headEnd len="sm" w="sm" type="none"/>
            <a:tailEnd len="lg" w="lg" type="triangle"/>
          </a:ln>
        </p:spPr>
      </p:cxnSp>
      <p:pic>
        <p:nvPicPr>
          <p:cNvPr id="1245" name="Google Shape;124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0373" y="1239222"/>
            <a:ext cx="876423" cy="85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42dc1555a7_0_551"/>
          <p:cNvSpPr txBox="1"/>
          <p:nvPr>
            <p:ph type="title"/>
          </p:nvPr>
        </p:nvSpPr>
        <p:spPr>
          <a:xfrm>
            <a:off x="2190800" y="2180400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FIN DE LA UD4</a:t>
            </a:r>
            <a:endParaRPr/>
          </a:p>
        </p:txBody>
      </p:sp>
      <p:sp>
        <p:nvSpPr>
          <p:cNvPr id="1252" name="Google Shape;1252;g342dc1555a7_0_551"/>
          <p:cNvSpPr txBox="1"/>
          <p:nvPr/>
        </p:nvSpPr>
        <p:spPr>
          <a:xfrm>
            <a:off x="0" y="6526975"/>
            <a:ext cx="1219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dk2"/>
                </a:solidFill>
              </a:rPr>
              <a:t>Materiales extraídos de SOSTENIBILIDAD APLICADA AL SISTEMA PRODUCTIVO de Asunción León Blasco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2024-04-15T10:19:16Z</dcterms:created>
  <dc:creator>Rosa Castillo</dc:creator>
</cp:coreProperties>
</file>