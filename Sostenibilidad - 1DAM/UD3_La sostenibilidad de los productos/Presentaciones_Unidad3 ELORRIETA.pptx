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Nunito"/>
      <p:regular r:id="rId43"/>
      <p:bold r:id="rId44"/>
      <p:italic r:id="rId45"/>
      <p:boldItalic r:id="rId46"/>
    </p:embeddedFont>
    <p:embeddedFont>
      <p:font typeface="Maven Pro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gOhWvEjuym5RrMQ4KLEUAfDyRc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Nunito-bold.fntdata"/><Relationship Id="rId43" Type="http://schemas.openxmlformats.org/officeDocument/2006/relationships/font" Target="fonts/Nunito-regular.fntdata"/><Relationship Id="rId46" Type="http://schemas.openxmlformats.org/officeDocument/2006/relationships/font" Target="fonts/Nunito-boldItalic.fntdata"/><Relationship Id="rId45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avenPro-bold.fntdata"/><Relationship Id="rId47" Type="http://schemas.openxmlformats.org/officeDocument/2006/relationships/font" Target="fonts/MavenPro-regular.fntdata"/><Relationship Id="rId4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2db7c05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2db7c05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8" name="Google Shape;4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0" name="Google Shape;4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5" name="Google Shape;5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2" name="Google Shape;5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3" name="Google Shape;53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42db7c0585_0_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42db7c0585_0_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42db7c0585_0_5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jp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jp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2db7c0585_0_27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5" name="Google Shape;15;g342db7c0585_0_2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42db7c0585_0_277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42db7c0585_0_277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8" name="Google Shape;18;g342db7c0585_0_2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42db7c0585_0_277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0" name="Google Shape;20;g342db7c0585_0_277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42db7c0585_0_285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3" name="Google Shape;23;g342db7c0585_0_28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4" name="Google Shape;24;g342db7c0585_0_28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42db7c0585_0_28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" name="Google Shape;26;g342db7c0585_0_28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7" name="Google Shape;27;g342db7c0585_0_28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42db7c0585_0_28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42db7c0585_0_28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g342db7c0585_0_28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31" name="Google Shape;31;g342db7c0585_0_28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42db7c0585_0_28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g342db7c0585_0_28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42db7c0585_0_28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g342db7c0585_0_285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36" name="Google Shape;36;g342db7c0585_0_28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7" name="Google Shape;37;g342db7c0585_0_28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42db7c0585_0_28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g342db7c0585_0_28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40" name="Google Shape;40;g342db7c0585_0_28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g342db7c0585_0_28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g342db7c0585_0_28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g342db7c0585_0_28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4" name="Google Shape;44;g342db7c0585_0_28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g342db7c0585_0_28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g342db7c0585_0_28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g342db7c0585_0_28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g342db7c0585_0_28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9" name="Google Shape;49;g342db7c0585_0_28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g342db7c0585_0_28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g342db7c0585_0_28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g342db7c0585_0_28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42db7c0585_0_28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g342db7c0585_0_285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42db7c0585_0_28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2db7c0585_0_320"/>
          <p:cNvSpPr txBox="1"/>
          <p:nvPr>
            <p:ph idx="1" type="body"/>
          </p:nvPr>
        </p:nvSpPr>
        <p:spPr>
          <a:xfrm>
            <a:off x="6676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342db7c0585_0_320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9" name="Google Shape;59;g342db7c0585_0_320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0" name="Google Shape;60;g342db7c0585_0_3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42db7c0585_0_320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2" name="Google Shape;62;g342db7c0585_0_320"/>
          <p:cNvSpPr txBox="1"/>
          <p:nvPr>
            <p:ph type="title"/>
          </p:nvPr>
        </p:nvSpPr>
        <p:spPr>
          <a:xfrm>
            <a:off x="6676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2db7c0585_0_327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" name="Google Shape;65;g342db7c0585_0_327"/>
          <p:cNvSpPr txBox="1"/>
          <p:nvPr>
            <p:ph idx="1" type="body"/>
          </p:nvPr>
        </p:nvSpPr>
        <p:spPr>
          <a:xfrm>
            <a:off x="6519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6" name="Google Shape;66;g342db7c0585_0_327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" name="Google Shape;67;g342db7c0585_0_327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8" name="Google Shape;68;g342db7c0585_0_3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42db7c0585_0_327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0" name="Google Shape;70;g342db7c0585_0_327"/>
          <p:cNvSpPr txBox="1"/>
          <p:nvPr>
            <p:ph idx="2" type="body"/>
          </p:nvPr>
        </p:nvSpPr>
        <p:spPr>
          <a:xfrm>
            <a:off x="65727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2db7c0585_0_335"/>
          <p:cNvSpPr txBox="1"/>
          <p:nvPr>
            <p:ph type="title"/>
          </p:nvPr>
        </p:nvSpPr>
        <p:spPr>
          <a:xfrm>
            <a:off x="715400" y="1706600"/>
            <a:ext cx="5101200" cy="344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3" name="Google Shape;73;g342db7c0585_0_335"/>
          <p:cNvSpPr txBox="1"/>
          <p:nvPr>
            <p:ph idx="1" type="body"/>
          </p:nvPr>
        </p:nvSpPr>
        <p:spPr>
          <a:xfrm>
            <a:off x="6375400" y="1596400"/>
            <a:ext cx="48864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4" name="Google Shape;74;g342db7c0585_0_335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5" name="Google Shape;75;g342db7c0585_0_335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6" name="Google Shape;76;g342db7c0585_0_33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77" name="Google Shape;77;g342db7c0585_0_3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33" y="24100"/>
            <a:ext cx="2804501" cy="7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42db7c0585_0_335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79" name="Google Shape;79;g342db7c0585_0_3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342db7c0585_0_344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82" name="Google Shape;82;g342db7c0585_0_34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83" name="Google Shape;83;g342db7c0585_0_34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42db7c0585_0_34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g342db7c0585_0_34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86" name="Google Shape;86;g342db7c0585_0_34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g342db7c0585_0_34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g342db7c0585_0_34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g342db7c0585_0_34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90" name="Google Shape;90;g342db7c0585_0_34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g342db7c0585_0_34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g342db7c0585_0_34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g342db7c0585_0_34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" name="Google Shape;94;g342db7c0585_0_344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95" name="Google Shape;95;g342db7c0585_0_34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96" name="Google Shape;96;g342db7c0585_0_34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g342db7c0585_0_34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" name="Google Shape;98;g342db7c0585_0_34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99" name="Google Shape;99;g342db7c0585_0_34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g342db7c0585_0_34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g342db7c0585_0_34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g342db7c0585_0_34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03" name="Google Shape;103;g342db7c0585_0_34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g342db7c0585_0_34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g342db7c0585_0_34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g342db7c0585_0_34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" name="Google Shape;107;g342db7c0585_0_34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08" name="Google Shape;108;g342db7c0585_0_34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g342db7c0585_0_34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g342db7c0585_0_34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g342db7c0585_0_34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342db7c0585_0_34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" name="Google Shape;113;g342db7c0585_0_344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g342db7c0585_0_344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2db7c0585_0_379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42db7c0585_0_379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8" name="Google Shape;118;g342db7c0585_0_379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9" name="Google Shape;119;g342db7c0585_0_379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0" name="Google Shape;120;g342db7c0585_0_3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42db7c0585_0_379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g342db7c0585_0_386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24" name="Google Shape;124;g342db7c0585_0_38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25" name="Google Shape;125;g342db7c0585_0_38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g342db7c0585_0_38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g342db7c0585_0_38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28" name="Google Shape;128;g342db7c0585_0_38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g342db7c0585_0_38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g342db7c0585_0_38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g342db7c0585_0_38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32" name="Google Shape;132;g342db7c0585_0_38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g342db7c0585_0_38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g342db7c0585_0_38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g342db7c0585_0_38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" name="Google Shape;136;g342db7c0585_0_386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37" name="Google Shape;137;g342db7c0585_0_38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38" name="Google Shape;138;g342db7c0585_0_38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g342db7c0585_0_38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g342db7c0585_0_38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41" name="Google Shape;141;g342db7c0585_0_38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g342db7c0585_0_38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g342db7c0585_0_38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g342db7c0585_0_38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45" name="Google Shape;145;g342db7c0585_0_38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42db7c0585_0_38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42db7c0585_0_38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g342db7c0585_0_38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g342db7c0585_0_38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50" name="Google Shape;150;g342db7c0585_0_38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42db7c0585_0_38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42db7c0585_0_38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42db7c0585_0_38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42db7c0585_0_38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5" name="Google Shape;155;g342db7c0585_0_386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g342db7c0585_0_386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2db7c0585_0_421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9" name="Google Shape;159;g342db7c0585_0_421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0" name="Google Shape;160;g342db7c0585_0_421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1" name="Google Shape;161;g342db7c0585_0_421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62" name="Google Shape;162;g342db7c0585_0_4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42db7c0585_0_421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42db7c0585_0_428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66" name="Google Shape;166;g342db7c0585_0_428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67" name="Google Shape;167;g342db7c0585_0_428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42db7c0585_0_428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42db7c0585_0_428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70" name="Google Shape;170;g342db7c0585_0_428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42db7c0585_0_428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42db7c0585_0_428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42db7c0585_0_42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74" name="Google Shape;174;g342db7c0585_0_428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42db7c0585_0_428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42db7c0585_0_428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42db7c0585_0_428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" name="Google Shape;178;g342db7c0585_0_428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79" name="Google Shape;179;g342db7c0585_0_428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80" name="Google Shape;180;g342db7c0585_0_428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42db7c0585_0_428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42db7c0585_0_428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83" name="Google Shape;183;g342db7c0585_0_42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42db7c0585_0_428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42db7c0585_0_428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g342db7c0585_0_428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87" name="Google Shape;187;g342db7c0585_0_428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42db7c0585_0_428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g342db7c0585_0_428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42db7c0585_0_428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g342db7c0585_0_428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92" name="Google Shape;192;g342db7c0585_0_428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42db7c0585_0_42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g342db7c0585_0_428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42db7c0585_0_428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42db7c0585_0_428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7" name="Google Shape;197;g342db7c0585_0_428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g342db7c0585_0_428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2db7c0585_0_463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1" name="Google Shape;201;g342db7c0585_0_463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02" name="Google Shape;202;g342db7c0585_0_463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03" name="Google Shape;203;g342db7c0585_0_463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04" name="Google Shape;204;g342db7c0585_0_4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42db7c0585_0_463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g342db7c0585_0_470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08" name="Google Shape;208;g342db7c0585_0_47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9" name="Google Shape;209;g342db7c0585_0_47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42db7c0585_0_47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" name="Google Shape;211;g342db7c0585_0_47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12" name="Google Shape;212;g342db7c0585_0_47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42db7c0585_0_47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42db7c0585_0_47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g342db7c0585_0_47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16" name="Google Shape;216;g342db7c0585_0_47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42db7c0585_0_47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42db7c0585_0_47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g342db7c0585_0_47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0" name="Google Shape;220;g342db7c0585_0_470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221" name="Google Shape;221;g342db7c0585_0_47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22" name="Google Shape;222;g342db7c0585_0_47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g342db7c0585_0_47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g342db7c0585_0_47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25" name="Google Shape;225;g342db7c0585_0_47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42db7c0585_0_47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42db7c0585_0_47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42db7c0585_0_47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29" name="Google Shape;229;g342db7c0585_0_47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42db7c0585_0_47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42db7c0585_0_47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42db7c0585_0_47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g342db7c0585_0_47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34" name="Google Shape;234;g342db7c0585_0_47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42db7c0585_0_47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42db7c0585_0_47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42db7c0585_0_47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42db7c0585_0_47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9" name="Google Shape;239;g342db7c0585_0_470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g342db7c0585_0_470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2db7c0585_0_505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3" name="Google Shape;243;g342db7c0585_0_505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4" name="Google Shape;244;g342db7c0585_0_505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45" name="Google Shape;245;g342db7c0585_0_505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46" name="Google Shape;246;g342db7c0585_0_5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42db7c0585_0_50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2db7c0585_0_51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0" name="Google Shape;250;g342db7c0585_0_51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g342db7c0585_0_5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42db7c0585_0_5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42db7c0585_0_5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_1">
  <p:cSld name="TITLE_1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2db7c0585_0_51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6" name="Google Shape;256;g342db7c0585_0_5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42db7c0585_0_518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42db7c0585_0_518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259" name="Google Shape;259;g342db7c0585_0_5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42db7c0585_0_518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61" name="Google Shape;261;g342db7c0585_0_518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2db7c0585_0_5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4" name="Google Shape;264;g342db7c0585_0_5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65" name="Google Shape;265;g342db7c0585_0_5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342db7c0585_0_5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g342db7c0585_0_5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2db7c0585_0_27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b="1"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42db7c0585_0_27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b="1" sz="2000">
                <a:solidFill>
                  <a:schemeClr val="dk2"/>
                </a:solidFill>
              </a:defRPr>
            </a:lvl1pPr>
            <a:lvl2pPr indent="-336550" lvl="1" marL="9144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b="1" sz="1700">
                <a:solidFill>
                  <a:schemeClr val="dk2"/>
                </a:solidFill>
              </a:defRPr>
            </a:lvl2pPr>
            <a:lvl3pPr indent="-323850" lvl="2" marL="13716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42db7c0585_0_27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lg6bOeTRSe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FmGz3XCvRL0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90p13ZQmPec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hyperlink" Target="https://www.youtube.com/watch?v=JO36VGjdMq8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ZEgLWrMJd2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HeviGu8XzjM" TargetMode="External"/><Relationship Id="rId4" Type="http://schemas.openxmlformats.org/officeDocument/2006/relationships/hyperlink" Target="https://sustainabledevelopment.un.org/rio20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www.unep.org/es/node/19231" TargetMode="External"/><Relationship Id="rId7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HeviGu8XzjM" TargetMode="External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youtube.com/watch?v=zCRKvDyyHmI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ricoh.com/sustainability/environment/management/policy/comet" TargetMode="External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gKB_7MUPxT4" TargetMode="External"/><Relationship Id="rId5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hyperlink" Target="https://biomimicry.org/chapterone/" TargetMode="External"/><Relationship Id="rId5" Type="http://schemas.openxmlformats.org/officeDocument/2006/relationships/image" Target="../media/image27.png"/><Relationship Id="rId6" Type="http://schemas.openxmlformats.org/officeDocument/2006/relationships/hyperlink" Target="https://www.youtube.com/watch?v=J2Luc9LMamY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sknature.org/" TargetMode="External"/><Relationship Id="rId4" Type="http://schemas.openxmlformats.org/officeDocument/2006/relationships/image" Target="../media/image37.png"/><Relationship Id="rId5" Type="http://schemas.openxmlformats.org/officeDocument/2006/relationships/hyperlink" Target="https://www.youtube.com/watch?v=r1CpzEGhs3c&amp;t=96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watch?v=QMsF1P-_vWc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gloop.site/" TargetMode="External"/><Relationship Id="rId4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youtube.com/watch?v=4VReody58_0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2db7c0585_0_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73" name="Google Shape;273;g342db7c0585_0_0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UD3: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sostenibilidad de los productos</a:t>
            </a:r>
            <a:endParaRPr/>
          </a:p>
        </p:txBody>
      </p:sp>
      <p:sp>
        <p:nvSpPr>
          <p:cNvPr id="274" name="Google Shape;274;g342db7c0585_0_0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rgbClr val="211261"/>
                </a:solidFill>
              </a:rPr>
              <a:t>SOSTENIBILIDAD APLICADA AL SISTEMA PRODUCTIVO</a:t>
            </a:r>
            <a:endParaRPr b="1">
              <a:solidFill>
                <a:srgbClr val="21126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2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281" name="Google Shape;281;p2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b="1" lang="es-E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3.1. INTRODUCCIÓN 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EL SISTEMA MACROECONÓMICO GLOBAL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293" name="Google Shape;293;p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p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295" name="Google Shape;295;p3"/>
          <p:cNvSpPr/>
          <p:nvPr/>
        </p:nvSpPr>
        <p:spPr>
          <a:xfrm>
            <a:off x="2388964" y="2025498"/>
            <a:ext cx="1313155" cy="470875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PIB</a:t>
            </a:r>
            <a:endParaRPr/>
          </a:p>
        </p:txBody>
      </p:sp>
      <p:sp>
        <p:nvSpPr>
          <p:cNvPr id="296" name="Google Shape;296;p3"/>
          <p:cNvSpPr/>
          <p:nvPr/>
        </p:nvSpPr>
        <p:spPr>
          <a:xfrm>
            <a:off x="914399" y="3030786"/>
            <a:ext cx="4262284" cy="1871962"/>
          </a:xfrm>
          <a:prstGeom prst="roundRect">
            <a:avLst>
              <a:gd fmla="val 16667" name="adj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PODUCTO INTERIOR BRUTO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un indicador macroeconómico que mide la riqueza generada dentro de las fronteras de un país</a:t>
            </a:r>
            <a:endParaRPr/>
          </a:p>
        </p:txBody>
      </p:sp>
      <p:cxnSp>
        <p:nvCxnSpPr>
          <p:cNvPr id="297" name="Google Shape;297;p3"/>
          <p:cNvCxnSpPr>
            <a:stCxn id="296" idx="0"/>
            <a:endCxn id="295" idx="1"/>
          </p:cNvCxnSpPr>
          <p:nvPr/>
        </p:nvCxnSpPr>
        <p:spPr>
          <a:xfrm rot="10800000">
            <a:off x="3045541" y="2496486"/>
            <a:ext cx="0" cy="534300"/>
          </a:xfrm>
          <a:prstGeom prst="straightConnector1">
            <a:avLst/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8" name="Google Shape;298;p3"/>
          <p:cNvSpPr/>
          <p:nvPr/>
        </p:nvSpPr>
        <p:spPr>
          <a:xfrm>
            <a:off x="6968661" y="1649959"/>
            <a:ext cx="4018887" cy="1941270"/>
          </a:xfrm>
          <a:prstGeom prst="roundRect">
            <a:avLst>
              <a:gd fmla="val 16667" name="adj"/>
            </a:avLst>
          </a:prstGeom>
          <a:solidFill>
            <a:srgbClr val="323F4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 emplea la OCDE (Organización para la Cooperación y el Desarrollo Económico) como mediada del estado de la economía de los países</a:t>
            </a:r>
            <a:endParaRPr/>
          </a:p>
        </p:txBody>
      </p:sp>
      <p:sp>
        <p:nvSpPr>
          <p:cNvPr id="299" name="Google Shape;299;p3"/>
          <p:cNvSpPr/>
          <p:nvPr/>
        </p:nvSpPr>
        <p:spPr>
          <a:xfrm>
            <a:off x="6958837" y="5208040"/>
            <a:ext cx="4018887" cy="1146051"/>
          </a:xfrm>
          <a:prstGeom prst="roundRect">
            <a:avLst>
              <a:gd fmla="val 16667" name="adj"/>
            </a:avLst>
          </a:prstGeom>
          <a:solidFill>
            <a:srgbClr val="323F4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gobiernos de los países se marcan como objetivo su aumento porcentual anual</a:t>
            </a:r>
            <a:endParaRPr/>
          </a:p>
        </p:txBody>
      </p:sp>
      <p:cxnSp>
        <p:nvCxnSpPr>
          <p:cNvPr id="300" name="Google Shape;300;p3"/>
          <p:cNvCxnSpPr>
            <a:stCxn id="296" idx="3"/>
            <a:endCxn id="298" idx="1"/>
          </p:cNvCxnSpPr>
          <p:nvPr/>
        </p:nvCxnSpPr>
        <p:spPr>
          <a:xfrm flipH="1" rot="10800000">
            <a:off x="5176683" y="2620667"/>
            <a:ext cx="1791900" cy="1346100"/>
          </a:xfrm>
          <a:prstGeom prst="straightConnector1">
            <a:avLst/>
          </a:prstGeom>
          <a:noFill/>
          <a:ln cap="flat" cmpd="sng" w="50800">
            <a:solidFill>
              <a:srgbClr val="1F3864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01" name="Google Shape;301;p3"/>
          <p:cNvCxnSpPr>
            <a:stCxn id="296" idx="3"/>
            <a:endCxn id="299" idx="1"/>
          </p:cNvCxnSpPr>
          <p:nvPr/>
        </p:nvCxnSpPr>
        <p:spPr>
          <a:xfrm>
            <a:off x="5176683" y="3966767"/>
            <a:ext cx="1782300" cy="1814400"/>
          </a:xfrm>
          <a:prstGeom prst="straightConnector1">
            <a:avLst/>
          </a:prstGeom>
          <a:noFill/>
          <a:ln cap="flat" cmpd="sng" w="50800">
            <a:solidFill>
              <a:srgbClr val="1F3864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302" name="Google Shape;302;p3"/>
          <p:cNvSpPr txBox="1"/>
          <p:nvPr/>
        </p:nvSpPr>
        <p:spPr>
          <a:xfrm>
            <a:off x="838200" y="5073453"/>
            <a:ext cx="4328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Simon Kuznets, 1930, EEUU, autor del PIB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3910" y="5481780"/>
            <a:ext cx="963262" cy="13461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"/>
          <p:cNvSpPr txBox="1"/>
          <p:nvPr/>
        </p:nvSpPr>
        <p:spPr>
          <a:xfrm>
            <a:off x="4440928" y="6458622"/>
            <a:ext cx="25219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PIB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CRECIMIENTO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10" name="Google Shape;310;p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12" name="Google Shape;3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15" y="1652339"/>
            <a:ext cx="3718560" cy="285395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"/>
          <p:cNvSpPr txBox="1"/>
          <p:nvPr/>
        </p:nvSpPr>
        <p:spPr>
          <a:xfrm>
            <a:off x="462715" y="2115645"/>
            <a:ext cx="7079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PIB</a:t>
            </a:r>
            <a:endParaRPr/>
          </a:p>
        </p:txBody>
      </p:sp>
      <p:sp>
        <p:nvSpPr>
          <p:cNvPr id="314" name="Google Shape;314;p4"/>
          <p:cNvSpPr txBox="1"/>
          <p:nvPr/>
        </p:nvSpPr>
        <p:spPr>
          <a:xfrm>
            <a:off x="1130410" y="4199851"/>
            <a:ext cx="13662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/>
          </a:p>
        </p:txBody>
      </p:sp>
      <p:sp>
        <p:nvSpPr>
          <p:cNvPr id="315" name="Google Shape;315;p4"/>
          <p:cNvSpPr/>
          <p:nvPr/>
        </p:nvSpPr>
        <p:spPr>
          <a:xfrm>
            <a:off x="417011" y="5513125"/>
            <a:ext cx="3051275" cy="1238864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políticas económicas de la mayoría de los países se orientan a conseguir un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 constante de su PIB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indicador de bonanza</a:t>
            </a:r>
            <a:endParaRPr/>
          </a:p>
        </p:txBody>
      </p:sp>
      <p:sp>
        <p:nvSpPr>
          <p:cNvPr id="316" name="Google Shape;316;p4"/>
          <p:cNvSpPr/>
          <p:nvPr/>
        </p:nvSpPr>
        <p:spPr>
          <a:xfrm>
            <a:off x="5043955" y="3111909"/>
            <a:ext cx="2286000" cy="10323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 txBox="1"/>
          <p:nvPr/>
        </p:nvSpPr>
        <p:spPr>
          <a:xfrm>
            <a:off x="5457561" y="3412659"/>
            <a:ext cx="135685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CRÍTICAS</a:t>
            </a:r>
            <a:endParaRPr/>
          </a:p>
        </p:txBody>
      </p:sp>
      <p:sp>
        <p:nvSpPr>
          <p:cNvPr id="318" name="Google Shape;318;p4"/>
          <p:cNvSpPr/>
          <p:nvPr/>
        </p:nvSpPr>
        <p:spPr>
          <a:xfrm>
            <a:off x="7892578" y="1953689"/>
            <a:ext cx="3684906" cy="471391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planetarios limitados</a:t>
            </a:r>
            <a:endParaRPr/>
          </a:p>
        </p:txBody>
      </p:sp>
      <p:sp>
        <p:nvSpPr>
          <p:cNvPr id="319" name="Google Shape;319;p4"/>
          <p:cNvSpPr/>
          <p:nvPr/>
        </p:nvSpPr>
        <p:spPr>
          <a:xfrm>
            <a:off x="7892578" y="3366071"/>
            <a:ext cx="3684906" cy="471391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 desigualdades sociales</a:t>
            </a:r>
            <a:endParaRPr/>
          </a:p>
        </p:txBody>
      </p:sp>
      <p:sp>
        <p:nvSpPr>
          <p:cNvPr id="320" name="Google Shape;320;p4"/>
          <p:cNvSpPr/>
          <p:nvPr/>
        </p:nvSpPr>
        <p:spPr>
          <a:xfrm>
            <a:off x="7892578" y="4778453"/>
            <a:ext cx="3684906" cy="471391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previsión de crisis financiera</a:t>
            </a:r>
            <a:endParaRPr/>
          </a:p>
        </p:txBody>
      </p:sp>
      <p:sp>
        <p:nvSpPr>
          <p:cNvPr id="321" name="Google Shape;321;p4"/>
          <p:cNvSpPr/>
          <p:nvPr/>
        </p:nvSpPr>
        <p:spPr>
          <a:xfrm>
            <a:off x="7462159" y="1699005"/>
            <a:ext cx="460443" cy="3863003"/>
          </a:xfrm>
          <a:prstGeom prst="leftBrace">
            <a:avLst>
              <a:gd fmla="val 40364" name="adj1"/>
              <a:gd fmla="val 50000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"/>
          <p:cNvSpPr/>
          <p:nvPr/>
        </p:nvSpPr>
        <p:spPr>
          <a:xfrm>
            <a:off x="3773451" y="4556489"/>
            <a:ext cx="3459235" cy="44392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9595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Reparto desigual de la riqueza</a:t>
            </a:r>
            <a:endParaRPr/>
          </a:p>
        </p:txBody>
      </p:sp>
      <p:sp>
        <p:nvSpPr>
          <p:cNvPr id="323" name="Google Shape;323;p4"/>
          <p:cNvSpPr txBox="1"/>
          <p:nvPr/>
        </p:nvSpPr>
        <p:spPr>
          <a:xfrm>
            <a:off x="4147458" y="5046844"/>
            <a:ext cx="2462980" cy="1815882"/>
          </a:xfrm>
          <a:prstGeom prst="rect">
            <a:avLst/>
          </a:prstGeom>
          <a:solidFill>
            <a:srgbClr val="D0CECE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2023, el 1,5% de la población adulta mundial controlaba el 47,5 % de la riqueza total, mientras que el 39,5% de la población poseía únicamente el 0,5% de la riqueza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EL SISTEMA MACROECONÓMICO GLOBAL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30" name="Google Shape;330;p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1" name="Google Shape;331;p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32" name="Google Shape;332;p5"/>
          <p:cNvSpPr txBox="1"/>
          <p:nvPr/>
        </p:nvSpPr>
        <p:spPr>
          <a:xfrm>
            <a:off x="208134" y="1546720"/>
            <a:ext cx="2992266" cy="1938992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Frente al modelo macroeconómico actual, cuestionado, cuyo objetivo es el aumento continuado del PIB, surgen nuevas tendencias </a:t>
            </a:r>
            <a:endParaRPr/>
          </a:p>
        </p:txBody>
      </p:sp>
      <p:sp>
        <p:nvSpPr>
          <p:cNvPr id="333" name="Google Shape;333;p5"/>
          <p:cNvSpPr/>
          <p:nvPr/>
        </p:nvSpPr>
        <p:spPr>
          <a:xfrm>
            <a:off x="1010554" y="4944703"/>
            <a:ext cx="2834768" cy="1078067"/>
          </a:xfrm>
          <a:prstGeom prst="roundRect">
            <a:avLst>
              <a:gd fmla="val 31048" name="adj"/>
            </a:avLst>
          </a:prstGeom>
          <a:solidFill>
            <a:srgbClr val="E5CB0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Decrecimiento sostenible</a:t>
            </a:r>
            <a:endParaRPr/>
          </a:p>
        </p:txBody>
      </p:sp>
      <p:sp>
        <p:nvSpPr>
          <p:cNvPr id="334" name="Google Shape;334;p5"/>
          <p:cNvSpPr/>
          <p:nvPr/>
        </p:nvSpPr>
        <p:spPr>
          <a:xfrm>
            <a:off x="4678615" y="4944702"/>
            <a:ext cx="2881933" cy="1078067"/>
          </a:xfrm>
          <a:prstGeom prst="roundRect">
            <a:avLst>
              <a:gd fmla="val 31048" name="adj"/>
            </a:avLst>
          </a:prstGeom>
          <a:solidFill>
            <a:srgbClr val="E5CB0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Postcrecimiento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8346679" y="4944702"/>
            <a:ext cx="2881933" cy="1078067"/>
          </a:xfrm>
          <a:prstGeom prst="roundRect">
            <a:avLst>
              <a:gd fmla="val 31048" name="adj"/>
            </a:avLst>
          </a:prstGeom>
          <a:solidFill>
            <a:srgbClr val="E5CB0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Economía Rosquilla</a:t>
            </a:r>
            <a:endParaRPr/>
          </a:p>
        </p:txBody>
      </p:sp>
      <p:sp>
        <p:nvSpPr>
          <p:cNvPr id="336" name="Google Shape;336;p5"/>
          <p:cNvSpPr/>
          <p:nvPr/>
        </p:nvSpPr>
        <p:spPr>
          <a:xfrm rot="-5400000">
            <a:off x="5649685" y="-1045771"/>
            <a:ext cx="892630" cy="10468431"/>
          </a:xfrm>
          <a:prstGeom prst="rightBrace">
            <a:avLst>
              <a:gd fmla="val 20662" name="adj1"/>
              <a:gd fmla="val 50000" name="adj2"/>
            </a:avLst>
          </a:prstGeom>
          <a:noFill/>
          <a:ln cap="flat" cmpd="sng" w="4445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4306529" y="2172042"/>
            <a:ext cx="3583858" cy="1216123"/>
          </a:xfrm>
          <a:prstGeom prst="rect">
            <a:avLst/>
          </a:prstGeom>
          <a:solidFill>
            <a:srgbClr val="38562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Nuevas corrientes económicas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DECRECIMIENTO SOSTENIBLE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43" name="Google Shape;343;p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" name="Google Shape;344;p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45" name="Google Shape;345;p6"/>
          <p:cNvSpPr txBox="1"/>
          <p:nvPr/>
        </p:nvSpPr>
        <p:spPr>
          <a:xfrm>
            <a:off x="3038168" y="6468173"/>
            <a:ext cx="44245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Decrecimiento Sostenible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805" y="1483246"/>
            <a:ext cx="4601217" cy="34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"/>
          <p:cNvSpPr txBox="1"/>
          <p:nvPr/>
        </p:nvSpPr>
        <p:spPr>
          <a:xfrm>
            <a:off x="462715" y="1879672"/>
            <a:ext cx="7079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PIB</a:t>
            </a:r>
            <a:endParaRPr/>
          </a:p>
        </p:txBody>
      </p:sp>
      <p:sp>
        <p:nvSpPr>
          <p:cNvPr id="348" name="Google Shape;348;p6"/>
          <p:cNvSpPr txBox="1"/>
          <p:nvPr/>
        </p:nvSpPr>
        <p:spPr>
          <a:xfrm>
            <a:off x="2961590" y="4508022"/>
            <a:ext cx="13662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/>
          </a:p>
        </p:txBody>
      </p:sp>
      <p:sp>
        <p:nvSpPr>
          <p:cNvPr id="349" name="Google Shape;349;p6"/>
          <p:cNvSpPr/>
          <p:nvPr/>
        </p:nvSpPr>
        <p:spPr>
          <a:xfrm>
            <a:off x="310002" y="5117699"/>
            <a:ext cx="6428037" cy="1238864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Decrecimiento Sostenible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corriente de pensamiento económico, político y social que defiende la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la producción y el consumo actual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buscar un equilibrio con la naturaleza y mayor justicia social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50" name="Google Shape;350;p6"/>
          <p:cNvSpPr/>
          <p:nvPr/>
        </p:nvSpPr>
        <p:spPr>
          <a:xfrm>
            <a:off x="5251077" y="3111909"/>
            <a:ext cx="1670509" cy="10323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5251077" y="3412659"/>
            <a:ext cx="135685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IMPLICA</a:t>
            </a: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8999917" y="1791760"/>
            <a:ext cx="460443" cy="1412904"/>
          </a:xfrm>
          <a:prstGeom prst="leftBrace">
            <a:avLst>
              <a:gd fmla="val 40364" name="adj1"/>
              <a:gd fmla="val 50000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7533417" y="2276246"/>
            <a:ext cx="1367001" cy="44393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DEAF6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</a:t>
            </a:r>
            <a:endParaRPr/>
          </a:p>
        </p:txBody>
      </p:sp>
      <p:sp>
        <p:nvSpPr>
          <p:cNvPr id="354" name="Google Shape;354;p6"/>
          <p:cNvSpPr/>
          <p:nvPr/>
        </p:nvSpPr>
        <p:spPr>
          <a:xfrm>
            <a:off x="7066421" y="1679270"/>
            <a:ext cx="460443" cy="3863003"/>
          </a:xfrm>
          <a:prstGeom prst="leftBrace">
            <a:avLst>
              <a:gd fmla="val 40364" name="adj1"/>
              <a:gd fmla="val 50000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7526864" y="4357559"/>
            <a:ext cx="1367001" cy="44393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DEAF6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</a:t>
            </a:r>
            <a:endParaRPr/>
          </a:p>
        </p:txBody>
      </p:sp>
      <p:sp>
        <p:nvSpPr>
          <p:cNvPr id="356" name="Google Shape;356;p6"/>
          <p:cNvSpPr txBox="1"/>
          <p:nvPr/>
        </p:nvSpPr>
        <p:spPr>
          <a:xfrm>
            <a:off x="9622588" y="1800796"/>
            <a:ext cx="16894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/>
          </a:p>
        </p:txBody>
      </p:sp>
      <p:sp>
        <p:nvSpPr>
          <p:cNvPr id="357" name="Google Shape;357;p6"/>
          <p:cNvSpPr txBox="1"/>
          <p:nvPr/>
        </p:nvSpPr>
        <p:spPr>
          <a:xfrm>
            <a:off x="9627508" y="2793846"/>
            <a:ext cx="16894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Consumo</a:t>
            </a:r>
            <a:endParaRPr/>
          </a:p>
        </p:txBody>
      </p:sp>
      <p:sp>
        <p:nvSpPr>
          <p:cNvPr id="358" name="Google Shape;358;p6"/>
          <p:cNvSpPr/>
          <p:nvPr/>
        </p:nvSpPr>
        <p:spPr>
          <a:xfrm>
            <a:off x="9004837" y="3861445"/>
            <a:ext cx="460443" cy="1412904"/>
          </a:xfrm>
          <a:prstGeom prst="leftBrace">
            <a:avLst>
              <a:gd fmla="val 40364" name="adj1"/>
              <a:gd fmla="val 50000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6"/>
          <p:cNvSpPr txBox="1"/>
          <p:nvPr/>
        </p:nvSpPr>
        <p:spPr>
          <a:xfrm>
            <a:off x="9627508" y="3870481"/>
            <a:ext cx="21713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Bienestar humano</a:t>
            </a:r>
            <a:endParaRPr/>
          </a:p>
        </p:txBody>
      </p:sp>
      <p:sp>
        <p:nvSpPr>
          <p:cNvPr id="360" name="Google Shape;360;p6"/>
          <p:cNvSpPr txBox="1"/>
          <p:nvPr/>
        </p:nvSpPr>
        <p:spPr>
          <a:xfrm>
            <a:off x="9632428" y="4863531"/>
            <a:ext cx="16894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Medio natural</a:t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9409979" y="5655280"/>
            <a:ext cx="2374490" cy="551700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Nuevos indicadores de prosperidad </a:t>
            </a:r>
            <a:endParaRPr/>
          </a:p>
        </p:txBody>
      </p:sp>
      <p:sp>
        <p:nvSpPr>
          <p:cNvPr id="362" name="Google Shape;362;p6"/>
          <p:cNvSpPr/>
          <p:nvPr/>
        </p:nvSpPr>
        <p:spPr>
          <a:xfrm>
            <a:off x="9559264" y="3843546"/>
            <a:ext cx="2090670" cy="1430803"/>
          </a:xfrm>
          <a:prstGeom prst="rect">
            <a:avLst/>
          </a:prstGeom>
          <a:noFill/>
          <a:ln cap="flat" cmpd="sng" w="28575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6"/>
          <p:cNvCxnSpPr>
            <a:stCxn id="361" idx="0"/>
            <a:endCxn id="362" idx="2"/>
          </p:cNvCxnSpPr>
          <p:nvPr/>
        </p:nvCxnSpPr>
        <p:spPr>
          <a:xfrm flipH="1" rot="10800000">
            <a:off x="10597224" y="5274280"/>
            <a:ext cx="7500" cy="381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" name="Google Shape;364;p6"/>
          <p:cNvSpPr txBox="1"/>
          <p:nvPr/>
        </p:nvSpPr>
        <p:spPr>
          <a:xfrm>
            <a:off x="2964430" y="1483246"/>
            <a:ext cx="33672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Decrecimiento ≠ Crisis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598" y="1385020"/>
            <a:ext cx="4048690" cy="334374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POSTCRECIMIENTO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71" name="Google Shape;371;p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2" name="Google Shape;372;p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462715" y="1879672"/>
            <a:ext cx="7079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PIB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2961590" y="4508022"/>
            <a:ext cx="13662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310002" y="5117699"/>
            <a:ext cx="5785709" cy="1238864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Postcrecimiento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corriente de pensamiento económico, político y social que prescinde de cualquier objetivo relativo al PIB y apuesta por políticas sociales y medioambientales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5251077" y="3111909"/>
            <a:ext cx="1670509" cy="10323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5251077" y="3412659"/>
            <a:ext cx="135685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IMPLICA</a:t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7066421" y="1679270"/>
            <a:ext cx="460443" cy="3863003"/>
          </a:xfrm>
          <a:prstGeom prst="leftBrace">
            <a:avLst>
              <a:gd fmla="val 40364" name="adj1"/>
              <a:gd fmla="val 50000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7802799" y="1953689"/>
            <a:ext cx="3684906" cy="471391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el bienestar humano</a:t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7802799" y="3364618"/>
            <a:ext cx="3684906" cy="471391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Protección del medioambiente</a:t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7802799" y="4775546"/>
            <a:ext cx="3684906" cy="471391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nuevas estrategias</a:t>
            </a:r>
            <a:endParaRPr/>
          </a:p>
        </p:txBody>
      </p:sp>
      <p:sp>
        <p:nvSpPr>
          <p:cNvPr id="382" name="Google Shape;382;p7"/>
          <p:cNvSpPr txBox="1"/>
          <p:nvPr/>
        </p:nvSpPr>
        <p:spPr>
          <a:xfrm>
            <a:off x="7922597" y="5737131"/>
            <a:ext cx="34453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término “post” indica el inicio de un nuevo sistema</a:t>
            </a:r>
            <a:endParaRPr/>
          </a:p>
        </p:txBody>
      </p:sp>
      <p:cxnSp>
        <p:nvCxnSpPr>
          <p:cNvPr id="383" name="Google Shape;383;p7"/>
          <p:cNvCxnSpPr>
            <a:stCxn id="382" idx="0"/>
            <a:endCxn id="381" idx="2"/>
          </p:cNvCxnSpPr>
          <p:nvPr/>
        </p:nvCxnSpPr>
        <p:spPr>
          <a:xfrm rot="10800000">
            <a:off x="9645252" y="5246931"/>
            <a:ext cx="0" cy="490200"/>
          </a:xfrm>
          <a:prstGeom prst="straightConnector1">
            <a:avLst/>
          </a:prstGeom>
          <a:noFill/>
          <a:ln cap="flat" cmpd="sng" w="508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"/>
          <p:cNvSpPr/>
          <p:nvPr/>
        </p:nvSpPr>
        <p:spPr>
          <a:xfrm>
            <a:off x="3512574" y="1723104"/>
            <a:ext cx="4419600" cy="4419600"/>
          </a:xfrm>
          <a:prstGeom prst="ellipse">
            <a:avLst/>
          </a:prstGeom>
          <a:solidFill>
            <a:srgbClr val="C4E0B2"/>
          </a:solidFill>
          <a:ln cap="flat" cmpd="sng" w="635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6400" sx="102000" rotWithShape="0" algn="ctr" sy="102000">
              <a:srgbClr val="000000">
                <a:alpha val="5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ECONOMÍA ROSQUILLA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90" name="Google Shape;390;p8"/>
          <p:cNvCxnSpPr/>
          <p:nvPr/>
        </p:nvCxnSpPr>
        <p:spPr>
          <a:xfrm>
            <a:off x="-44961" y="1209470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1" name="Google Shape;391;p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392" name="Google Shape;392;p8"/>
          <p:cNvGrpSpPr/>
          <p:nvPr/>
        </p:nvGrpSpPr>
        <p:grpSpPr>
          <a:xfrm>
            <a:off x="4291781" y="2502311"/>
            <a:ext cx="2861187" cy="2861187"/>
            <a:chOff x="3436374" y="3129116"/>
            <a:chExt cx="2861187" cy="2861187"/>
          </a:xfrm>
        </p:grpSpPr>
        <p:sp>
          <p:nvSpPr>
            <p:cNvPr id="393" name="Google Shape;393;p8"/>
            <p:cNvSpPr/>
            <p:nvPr/>
          </p:nvSpPr>
          <p:spPr>
            <a:xfrm>
              <a:off x="3436374" y="3129116"/>
              <a:ext cx="2861187" cy="2861187"/>
            </a:xfrm>
            <a:prstGeom prst="ellipse">
              <a:avLst/>
            </a:prstGeom>
            <a:solidFill>
              <a:schemeClr val="lt1"/>
            </a:solidFill>
            <a:ln cap="flat" cmpd="sng" w="635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3613355" y="3306097"/>
              <a:ext cx="2507225" cy="2507225"/>
            </a:xfrm>
            <a:prstGeom prst="ellipse">
              <a:avLst/>
            </a:prstGeom>
            <a:solidFill>
              <a:schemeClr val="lt1"/>
            </a:solidFill>
            <a:ln cap="flat" cmpd="sng" w="635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8"/>
          <p:cNvSpPr txBox="1"/>
          <p:nvPr/>
        </p:nvSpPr>
        <p:spPr>
          <a:xfrm>
            <a:off x="5007078" y="3471239"/>
            <a:ext cx="1371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Privaciones humanas críticas</a:t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1404099" y="3471250"/>
            <a:ext cx="17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Degradación planetaria crítica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818810" y="5471652"/>
            <a:ext cx="245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Fundamento social</a:t>
            </a:r>
            <a:endParaRPr/>
          </a:p>
        </p:txBody>
      </p:sp>
      <p:sp>
        <p:nvSpPr>
          <p:cNvPr id="398" name="Google Shape;398;p8"/>
          <p:cNvSpPr txBox="1"/>
          <p:nvPr/>
        </p:nvSpPr>
        <p:spPr>
          <a:xfrm>
            <a:off x="801241" y="4929630"/>
            <a:ext cx="245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Techo ecológico</a:t>
            </a:r>
            <a:endParaRPr/>
          </a:p>
        </p:txBody>
      </p:sp>
      <p:cxnSp>
        <p:nvCxnSpPr>
          <p:cNvPr id="399" name="Google Shape;399;p8"/>
          <p:cNvCxnSpPr>
            <a:endCxn id="393" idx="3"/>
          </p:cNvCxnSpPr>
          <p:nvPr/>
        </p:nvCxnSpPr>
        <p:spPr>
          <a:xfrm flipH="1" rot="10800000">
            <a:off x="2724192" y="4944487"/>
            <a:ext cx="1986600" cy="7089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400" name="Google Shape;400;p8"/>
          <p:cNvCxnSpPr/>
          <p:nvPr/>
        </p:nvCxnSpPr>
        <p:spPr>
          <a:xfrm flipH="1" rot="10800000">
            <a:off x="2527165" y="4741996"/>
            <a:ext cx="1085700" cy="372300"/>
          </a:xfrm>
          <a:prstGeom prst="bentConnector3">
            <a:avLst>
              <a:gd fmla="val 50006" name="adj1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01" name="Google Shape;401;p8"/>
          <p:cNvSpPr txBox="1"/>
          <p:nvPr/>
        </p:nvSpPr>
        <p:spPr>
          <a:xfrm>
            <a:off x="596766" y="1633383"/>
            <a:ext cx="279427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Espacio seguro para la Naturaleza y justo para la humanidad</a:t>
            </a:r>
            <a:endParaRPr/>
          </a:p>
        </p:txBody>
      </p:sp>
      <p:cxnSp>
        <p:nvCxnSpPr>
          <p:cNvPr id="402" name="Google Shape;402;p8"/>
          <p:cNvCxnSpPr/>
          <p:nvPr/>
        </p:nvCxnSpPr>
        <p:spPr>
          <a:xfrm>
            <a:off x="3251932" y="2111139"/>
            <a:ext cx="1216800" cy="662700"/>
          </a:xfrm>
          <a:prstGeom prst="bentConnector3">
            <a:avLst>
              <a:gd fmla="val 50001" name="adj1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03" name="Google Shape;403;p8"/>
          <p:cNvSpPr txBox="1"/>
          <p:nvPr/>
        </p:nvSpPr>
        <p:spPr>
          <a:xfrm>
            <a:off x="8756835" y="1807412"/>
            <a:ext cx="2767193" cy="4154984"/>
          </a:xfrm>
          <a:prstGeom prst="rect">
            <a:avLst/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 teoría económica defiende que la actividad humana debe desarrollarse entre dos límites: el social para garantizar el bienestar de la humanidad y el ecológico para no degradar el planeta más allá de lo que es capaz de regenerarse</a:t>
            </a:r>
            <a:endParaRPr/>
          </a:p>
        </p:txBody>
      </p:sp>
      <p:sp>
        <p:nvSpPr>
          <p:cNvPr id="404" name="Google Shape;404;p8"/>
          <p:cNvSpPr txBox="1"/>
          <p:nvPr/>
        </p:nvSpPr>
        <p:spPr>
          <a:xfrm>
            <a:off x="3512574" y="6468173"/>
            <a:ext cx="3905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CRECIMIENTO VERDE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10" name="Google Shape;410;p9"/>
          <p:cNvCxnSpPr/>
          <p:nvPr/>
        </p:nvCxnSpPr>
        <p:spPr>
          <a:xfrm>
            <a:off x="-44961" y="1209470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412" name="Google Shape;4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7" y="1652339"/>
            <a:ext cx="4629796" cy="355332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9"/>
          <p:cNvSpPr txBox="1"/>
          <p:nvPr/>
        </p:nvSpPr>
        <p:spPr>
          <a:xfrm>
            <a:off x="20267" y="2115645"/>
            <a:ext cx="7079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PIB</a:t>
            </a:r>
            <a:endParaRPr/>
          </a:p>
        </p:txBody>
      </p:sp>
      <p:sp>
        <p:nvSpPr>
          <p:cNvPr id="414" name="Google Shape;414;p9"/>
          <p:cNvSpPr txBox="1"/>
          <p:nvPr/>
        </p:nvSpPr>
        <p:spPr>
          <a:xfrm>
            <a:off x="2519142" y="4743995"/>
            <a:ext cx="13662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462715" y="5442155"/>
            <a:ext cx="6441478" cy="1238864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Crecimiento Verde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consiste en mantener el objetivo de aumento constante del PIB como indicador de bonanza pero que este aumento no esté ligado a un mayor consumo de recursos naturales mediante el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desacoplamiento</a:t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4055809" y="3141405"/>
            <a:ext cx="2954270" cy="10323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4085305" y="3442155"/>
            <a:ext cx="264061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DESACOPLAMIENTO</a:t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7695645" y="1479845"/>
            <a:ext cx="3882575" cy="44393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Desacoplamiento de recursos</a:t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7066421" y="1479845"/>
            <a:ext cx="460443" cy="4338427"/>
          </a:xfrm>
          <a:prstGeom prst="leftBrace">
            <a:avLst>
              <a:gd fmla="val 40364" name="adj1"/>
              <a:gd fmla="val 50000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7689092" y="3944611"/>
            <a:ext cx="3882575" cy="44393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BD6EE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Desacoplamiento del impacto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7689092" y="2286007"/>
            <a:ext cx="3882575" cy="1200329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medidas de eficiencia para utilizar menos recursos materiales para mantener el nivel de producción y consumo crecientes actuales.</a:t>
            </a:r>
            <a:endParaRPr/>
          </a:p>
        </p:txBody>
      </p:sp>
      <p:cxnSp>
        <p:nvCxnSpPr>
          <p:cNvPr id="422" name="Google Shape;422;p9"/>
          <p:cNvCxnSpPr>
            <a:stCxn id="421" idx="0"/>
            <a:endCxn id="418" idx="1"/>
          </p:cNvCxnSpPr>
          <p:nvPr/>
        </p:nvCxnSpPr>
        <p:spPr>
          <a:xfrm flipH="1" rot="10800000">
            <a:off x="9630380" y="1923907"/>
            <a:ext cx="6600" cy="362100"/>
          </a:xfrm>
          <a:prstGeom prst="straightConnector1">
            <a:avLst/>
          </a:prstGeom>
          <a:noFill/>
          <a:ln cap="flat" cmpd="sng" w="508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9"/>
          <p:cNvSpPr txBox="1"/>
          <p:nvPr/>
        </p:nvSpPr>
        <p:spPr>
          <a:xfrm>
            <a:off x="7695644" y="4791225"/>
            <a:ext cx="3882575" cy="1200329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Cambiar de estrategias de producción para que el impacto medioambiental de la actividad económica sea mucho menor.</a:t>
            </a:r>
            <a:endParaRPr/>
          </a:p>
        </p:txBody>
      </p:sp>
      <p:cxnSp>
        <p:nvCxnSpPr>
          <p:cNvPr id="424" name="Google Shape;424;p9"/>
          <p:cNvCxnSpPr/>
          <p:nvPr/>
        </p:nvCxnSpPr>
        <p:spPr>
          <a:xfrm flipH="1" rot="10800000">
            <a:off x="9633656" y="4455509"/>
            <a:ext cx="6553" cy="362229"/>
          </a:xfrm>
          <a:prstGeom prst="straightConnector1">
            <a:avLst/>
          </a:prstGeom>
          <a:noFill/>
          <a:ln cap="flat" cmpd="sng" w="508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p9"/>
          <p:cNvSpPr txBox="1"/>
          <p:nvPr/>
        </p:nvSpPr>
        <p:spPr>
          <a:xfrm>
            <a:off x="7856364" y="6075723"/>
            <a:ext cx="35780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Crítico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10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432" name="Google Shape;432;p10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10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3.2. FORMAS DE PRODUCCIÓN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FORMAS DE PRODUCCIÓN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45" name="Google Shape;445;p1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6" name="Google Shape;446;p1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447" name="Google Shape;4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62" y="1548585"/>
            <a:ext cx="11590350" cy="4775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ECONOMÍA LINEAL</a:t>
            </a:r>
            <a:endParaRPr sz="4000"/>
          </a:p>
        </p:txBody>
      </p:sp>
      <p:cxnSp>
        <p:nvCxnSpPr>
          <p:cNvPr id="454" name="Google Shape;454;p1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1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456" name="Google Shape;456;p12"/>
          <p:cNvPicPr preferRelativeResize="0"/>
          <p:nvPr/>
        </p:nvPicPr>
        <p:blipFill rotWithShape="1">
          <a:blip r:embed="rId3">
            <a:alphaModFix/>
          </a:blip>
          <a:srcRect b="0" l="0" r="0" t="34095"/>
          <a:stretch/>
        </p:blipFill>
        <p:spPr>
          <a:xfrm>
            <a:off x="1803313" y="1554315"/>
            <a:ext cx="8517453" cy="308777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2"/>
          <p:cNvSpPr/>
          <p:nvPr/>
        </p:nvSpPr>
        <p:spPr>
          <a:xfrm>
            <a:off x="929140" y="5317731"/>
            <a:ext cx="1862308" cy="855406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Materias primas de la naturaleza</a:t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3698209" y="5317731"/>
            <a:ext cx="1862308" cy="855406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Productos elaborados con consumo Ener.</a:t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6467278" y="5317731"/>
            <a:ext cx="1862308" cy="855406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Después de adquirirlos </a:t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9236346" y="5317731"/>
            <a:ext cx="1862308" cy="855406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vertederos, incinerados o enterrados</a:t>
            </a:r>
            <a:endParaRPr/>
          </a:p>
        </p:txBody>
      </p:sp>
      <p:cxnSp>
        <p:nvCxnSpPr>
          <p:cNvPr id="461" name="Google Shape;461;p12"/>
          <p:cNvCxnSpPr>
            <a:stCxn id="457" idx="0"/>
          </p:cNvCxnSpPr>
          <p:nvPr/>
        </p:nvCxnSpPr>
        <p:spPr>
          <a:xfrm flipH="1" rot="10800000">
            <a:off x="1860294" y="4085331"/>
            <a:ext cx="1694100" cy="1232400"/>
          </a:xfrm>
          <a:prstGeom prst="straightConnector1">
            <a:avLst/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462" name="Google Shape;462;p12"/>
          <p:cNvCxnSpPr>
            <a:stCxn id="458" idx="0"/>
          </p:cNvCxnSpPr>
          <p:nvPr/>
        </p:nvCxnSpPr>
        <p:spPr>
          <a:xfrm flipH="1" rot="10800000">
            <a:off x="4629363" y="4085331"/>
            <a:ext cx="473700" cy="1232400"/>
          </a:xfrm>
          <a:prstGeom prst="straightConnector1">
            <a:avLst/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463" name="Google Shape;463;p12"/>
          <p:cNvCxnSpPr>
            <a:stCxn id="459" idx="0"/>
          </p:cNvCxnSpPr>
          <p:nvPr/>
        </p:nvCxnSpPr>
        <p:spPr>
          <a:xfrm rot="10800000">
            <a:off x="6970632" y="4085331"/>
            <a:ext cx="427800" cy="1232400"/>
          </a:xfrm>
          <a:prstGeom prst="straightConnector1">
            <a:avLst/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464" name="Google Shape;464;p12"/>
          <p:cNvCxnSpPr>
            <a:stCxn id="460" idx="0"/>
          </p:cNvCxnSpPr>
          <p:nvPr/>
        </p:nvCxnSpPr>
        <p:spPr>
          <a:xfrm rot="10800000">
            <a:off x="8774000" y="4085331"/>
            <a:ext cx="1393500" cy="1232400"/>
          </a:xfrm>
          <a:prstGeom prst="straightConnector1">
            <a:avLst/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ECONOMÍA LINEAL</a:t>
            </a:r>
            <a:endParaRPr sz="4000"/>
          </a:p>
        </p:txBody>
      </p:sp>
      <p:cxnSp>
        <p:nvCxnSpPr>
          <p:cNvPr id="471" name="Google Shape;471;p1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1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473" name="Google Shape;473;p13"/>
          <p:cNvGrpSpPr/>
          <p:nvPr/>
        </p:nvGrpSpPr>
        <p:grpSpPr>
          <a:xfrm>
            <a:off x="239488" y="2025498"/>
            <a:ext cx="3497944" cy="1970998"/>
            <a:chOff x="239488" y="2025498"/>
            <a:chExt cx="3497944" cy="1970998"/>
          </a:xfrm>
        </p:grpSpPr>
        <p:sp>
          <p:nvSpPr>
            <p:cNvPr id="474" name="Google Shape;474;p13"/>
            <p:cNvSpPr/>
            <p:nvPr/>
          </p:nvSpPr>
          <p:spPr>
            <a:xfrm>
              <a:off x="1030517" y="2025498"/>
              <a:ext cx="1915885" cy="470875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0000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Características</a:t>
              </a:r>
              <a:endParaRPr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239488" y="3006825"/>
              <a:ext cx="3497944" cy="989671"/>
            </a:xfrm>
            <a:prstGeom prst="roundRect">
              <a:avLst>
                <a:gd fmla="val 16667" name="adj"/>
              </a:avLst>
            </a:prstGeom>
            <a:solidFill>
              <a:srgbClr val="75707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 centra constantemente en el aumento de los beneficios de las empresas</a:t>
              </a:r>
              <a:endParaRPr/>
            </a:p>
          </p:txBody>
        </p:sp>
        <p:cxnSp>
          <p:nvCxnSpPr>
            <p:cNvPr id="476" name="Google Shape;476;p13"/>
            <p:cNvCxnSpPr>
              <a:stCxn id="475" idx="0"/>
              <a:endCxn id="474" idx="1"/>
            </p:cNvCxnSpPr>
            <p:nvPr/>
          </p:nvCxnSpPr>
          <p:spPr>
            <a:xfrm rot="10800000">
              <a:off x="1988460" y="2496225"/>
              <a:ext cx="0" cy="510600"/>
            </a:xfrm>
            <a:prstGeom prst="straightConnector1">
              <a:avLst/>
            </a:prstGeom>
            <a:noFill/>
            <a:ln cap="flat" cmpd="sng" w="38100">
              <a:solidFill>
                <a:srgbClr val="3A383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77" name="Google Shape;477;p13"/>
          <p:cNvGrpSpPr/>
          <p:nvPr/>
        </p:nvGrpSpPr>
        <p:grpSpPr>
          <a:xfrm>
            <a:off x="4299535" y="2025498"/>
            <a:ext cx="3497944" cy="3580755"/>
            <a:chOff x="4593768" y="2025498"/>
            <a:chExt cx="3497944" cy="3580755"/>
          </a:xfrm>
        </p:grpSpPr>
        <p:sp>
          <p:nvSpPr>
            <p:cNvPr id="478" name="Google Shape;478;p13"/>
            <p:cNvSpPr/>
            <p:nvPr/>
          </p:nvSpPr>
          <p:spPr>
            <a:xfrm>
              <a:off x="5384797" y="2025498"/>
              <a:ext cx="1915885" cy="470875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0000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Ventajas</a:t>
              </a:r>
              <a:endParaRPr/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4593768" y="3006825"/>
              <a:ext cx="3497944" cy="2599428"/>
            </a:xfrm>
            <a:prstGeom prst="roundRect">
              <a:avLst>
                <a:gd fmla="val 16667" name="adj"/>
              </a:avLst>
            </a:prstGeom>
            <a:solidFill>
              <a:srgbClr val="75707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posibilitado beneficios importantes a pequeñas y medianas empresas durante dos siglos.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logrado mejorar el estado material de mucha gente.</a:t>
              </a:r>
              <a:endParaRPr/>
            </a:p>
          </p:txBody>
        </p:sp>
        <p:cxnSp>
          <p:nvCxnSpPr>
            <p:cNvPr id="480" name="Google Shape;480;p13"/>
            <p:cNvCxnSpPr>
              <a:stCxn id="479" idx="0"/>
              <a:endCxn id="478" idx="1"/>
            </p:cNvCxnSpPr>
            <p:nvPr/>
          </p:nvCxnSpPr>
          <p:spPr>
            <a:xfrm rot="10800000">
              <a:off x="6342740" y="2496225"/>
              <a:ext cx="0" cy="510600"/>
            </a:xfrm>
            <a:prstGeom prst="straightConnector1">
              <a:avLst/>
            </a:prstGeom>
            <a:noFill/>
            <a:ln cap="flat" cmpd="sng" w="38100">
              <a:solidFill>
                <a:srgbClr val="3A383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81" name="Google Shape;481;p13"/>
          <p:cNvGrpSpPr/>
          <p:nvPr/>
        </p:nvGrpSpPr>
        <p:grpSpPr>
          <a:xfrm>
            <a:off x="8174182" y="2025498"/>
            <a:ext cx="3683345" cy="4218284"/>
            <a:chOff x="8359583" y="2025498"/>
            <a:chExt cx="3497944" cy="3580755"/>
          </a:xfrm>
        </p:grpSpPr>
        <p:sp>
          <p:nvSpPr>
            <p:cNvPr id="482" name="Google Shape;482;p13"/>
            <p:cNvSpPr/>
            <p:nvPr/>
          </p:nvSpPr>
          <p:spPr>
            <a:xfrm>
              <a:off x="9150612" y="2025498"/>
              <a:ext cx="1915885" cy="470875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0000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Inconvenientes</a:t>
              </a:r>
              <a:endParaRPr/>
            </a:p>
          </p:txBody>
        </p:sp>
        <p:sp>
          <p:nvSpPr>
            <p:cNvPr id="483" name="Google Shape;483;p13"/>
            <p:cNvSpPr/>
            <p:nvPr/>
          </p:nvSpPr>
          <p:spPr>
            <a:xfrm>
              <a:off x="8359583" y="3006825"/>
              <a:ext cx="3497944" cy="2599428"/>
            </a:xfrm>
            <a:prstGeom prst="roundRect">
              <a:avLst>
                <a:gd fmla="val 16667" name="adj"/>
              </a:avLst>
            </a:prstGeom>
            <a:solidFill>
              <a:srgbClr val="757070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agotado recursos materiales.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deforestado.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reducido la biodiversidad.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emitido gran cantidad de GEI.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 contaminado.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Obsolscencia programada.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4" name="Google Shape;484;p13"/>
            <p:cNvCxnSpPr>
              <a:stCxn id="483" idx="0"/>
              <a:endCxn id="482" idx="1"/>
            </p:cNvCxnSpPr>
            <p:nvPr/>
          </p:nvCxnSpPr>
          <p:spPr>
            <a:xfrm rot="10800000">
              <a:off x="10108555" y="2496225"/>
              <a:ext cx="0" cy="510600"/>
            </a:xfrm>
            <a:prstGeom prst="straightConnector1">
              <a:avLst/>
            </a:prstGeom>
            <a:noFill/>
            <a:ln cap="flat" cmpd="sng" w="38100">
              <a:solidFill>
                <a:srgbClr val="3A383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5" name="Google Shape;485;p13"/>
          <p:cNvSpPr/>
          <p:nvPr/>
        </p:nvSpPr>
        <p:spPr>
          <a:xfrm>
            <a:off x="362857" y="4949370"/>
            <a:ext cx="3120572" cy="1485835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 diseño es contrario a los ciclos de la naturaleza</a:t>
            </a:r>
            <a:endParaRPr/>
          </a:p>
        </p:txBody>
      </p:sp>
      <p:sp>
        <p:nvSpPr>
          <p:cNvPr id="486" name="Google Shape;486;p13"/>
          <p:cNvSpPr txBox="1"/>
          <p:nvPr/>
        </p:nvSpPr>
        <p:spPr>
          <a:xfrm>
            <a:off x="4586514" y="6435205"/>
            <a:ext cx="26561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4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ECONOMÍA VERDE</a:t>
            </a:r>
            <a:endParaRPr sz="4000"/>
          </a:p>
        </p:txBody>
      </p:sp>
      <p:cxnSp>
        <p:nvCxnSpPr>
          <p:cNvPr id="493" name="Google Shape;493;p1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4" name="Google Shape;494;p1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95" name="Google Shape;495;p14"/>
          <p:cNvSpPr txBox="1"/>
          <p:nvPr/>
        </p:nvSpPr>
        <p:spPr>
          <a:xfrm>
            <a:off x="4410583" y="6468173"/>
            <a:ext cx="284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186" y="2132077"/>
            <a:ext cx="5515745" cy="133368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4"/>
          <p:cNvSpPr/>
          <p:nvPr/>
        </p:nvSpPr>
        <p:spPr>
          <a:xfrm>
            <a:off x="2632446" y="1446223"/>
            <a:ext cx="1194894" cy="378489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6438484" y="2430210"/>
            <a:ext cx="780027" cy="73742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8008297" y="2493558"/>
            <a:ext cx="2890756" cy="610725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ECONOMÍA VERDE</a:t>
            </a:r>
            <a:endParaRPr/>
          </a:p>
        </p:txBody>
      </p:sp>
      <p:sp>
        <p:nvSpPr>
          <p:cNvPr id="500" name="Google Shape;500;p14"/>
          <p:cNvSpPr txBox="1"/>
          <p:nvPr/>
        </p:nvSpPr>
        <p:spPr>
          <a:xfrm>
            <a:off x="1224249" y="4155758"/>
            <a:ext cx="5206181" cy="1938992"/>
          </a:xfrm>
          <a:prstGeom prst="rect">
            <a:avLst/>
          </a:prstGeom>
          <a:solidFill>
            <a:srgbClr val="FFFFE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Economía Verde </a:t>
            </a:r>
            <a:r>
              <a:rPr lang="es-E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aquella que logra mejores bienestar humano y equidad social, reduciendo significativamente los riesgos ambientales y las escaseces ecológicas.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1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2470" y="3370422"/>
            <a:ext cx="3660549" cy="289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5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ECONOMÍA VERDE</a:t>
            </a:r>
            <a:endParaRPr sz="4000"/>
          </a:p>
        </p:txBody>
      </p:sp>
      <p:cxnSp>
        <p:nvCxnSpPr>
          <p:cNvPr id="508" name="Google Shape;508;p1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9" name="Google Shape;509;p1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10" name="Google Shape;510;p15"/>
          <p:cNvSpPr txBox="1"/>
          <p:nvPr/>
        </p:nvSpPr>
        <p:spPr>
          <a:xfrm>
            <a:off x="4410583" y="6468173"/>
            <a:ext cx="284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377788" y="3481888"/>
            <a:ext cx="2890756" cy="610725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3402302" y="1568385"/>
            <a:ext cx="1386349" cy="4437730"/>
          </a:xfrm>
          <a:prstGeom prst="leftBrace">
            <a:avLst>
              <a:gd fmla="val 22163" name="adj1"/>
              <a:gd fmla="val 50000" name="adj2"/>
            </a:avLst>
          </a:prstGeom>
          <a:noFill/>
          <a:ln cap="flat" cmpd="sng" w="41275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 txBox="1"/>
          <p:nvPr/>
        </p:nvSpPr>
        <p:spPr>
          <a:xfrm>
            <a:off x="4524208" y="1740313"/>
            <a:ext cx="6394987" cy="923330"/>
          </a:xfrm>
          <a:prstGeom prst="rect">
            <a:avLst/>
          </a:prstGeom>
          <a:solidFill>
            <a:srgbClr val="F5FEC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Una baja emisión de gases de efecto invernadero y de residuos nocivos para el medio ambiente, apostando por la protección de los ecosistemas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 txBox="1"/>
          <p:nvPr/>
        </p:nvSpPr>
        <p:spPr>
          <a:xfrm>
            <a:off x="4524208" y="3201739"/>
            <a:ext cx="6394987" cy="1200329"/>
          </a:xfrm>
          <a:prstGeom prst="rect">
            <a:avLst/>
          </a:prstGeom>
          <a:solidFill>
            <a:srgbClr val="F5FEC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uso eficiente de los recursos naturales, extrayendo el mayor partido posible de cada uno de ellos, como lucha contra la sobreexplotación. Para ello, se debe fomentar la innovación y el reciclaje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 txBox="1"/>
          <p:nvPr/>
        </p:nvSpPr>
        <p:spPr>
          <a:xfrm>
            <a:off x="4524208" y="4940165"/>
            <a:ext cx="6394987" cy="923330"/>
          </a:xfrm>
          <a:prstGeom prst="rect">
            <a:avLst/>
          </a:prstGeom>
          <a:solidFill>
            <a:srgbClr val="F5FEC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justicia y la inclusión social, sin dejar a nadie atrás, para que la actividad económica beneficie a todas y cada una de las personas, incluyendo a los grupos más vulnerables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5168" y="5039012"/>
            <a:ext cx="835933" cy="72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05168" y="3429000"/>
            <a:ext cx="812977" cy="72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60615" y="1828069"/>
            <a:ext cx="690659" cy="74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ECONOMÍA CIRCULAR</a:t>
            </a:r>
            <a:endParaRPr sz="4000"/>
          </a:p>
        </p:txBody>
      </p:sp>
      <p:cxnSp>
        <p:nvCxnSpPr>
          <p:cNvPr id="525" name="Google Shape;525;p1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6" name="Google Shape;526;p1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27" name="Google Shape;527;p16"/>
          <p:cNvSpPr txBox="1"/>
          <p:nvPr/>
        </p:nvSpPr>
        <p:spPr>
          <a:xfrm>
            <a:off x="4470400" y="6468173"/>
            <a:ext cx="284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Google Shape;5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650" y="1334677"/>
            <a:ext cx="7206660" cy="5101857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6"/>
          <p:cNvSpPr txBox="1"/>
          <p:nvPr/>
        </p:nvSpPr>
        <p:spPr>
          <a:xfrm>
            <a:off x="8810763" y="2109169"/>
            <a:ext cx="2595583" cy="3816429"/>
          </a:xfrm>
          <a:prstGeom prst="rect">
            <a:avLst/>
          </a:prstGeom>
          <a:solidFill>
            <a:srgbClr val="F9DD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mayoría de los materiales empleados en el ciclo productivo se recuperan y reutilizan o se emplean para regenerar la naturaleza, en lugar de convertirse en desperdicios.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ECONOMÍA CIRCULAR</a:t>
            </a:r>
            <a:endParaRPr sz="4000"/>
          </a:p>
        </p:txBody>
      </p:sp>
      <p:cxnSp>
        <p:nvCxnSpPr>
          <p:cNvPr id="536" name="Google Shape;536;p1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7" name="Google Shape;537;p1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538" name="Google Shape;538;p17"/>
          <p:cNvGrpSpPr/>
          <p:nvPr/>
        </p:nvGrpSpPr>
        <p:grpSpPr>
          <a:xfrm>
            <a:off x="4236540" y="1292322"/>
            <a:ext cx="4463886" cy="4193902"/>
            <a:chOff x="1408128" y="174"/>
            <a:chExt cx="4463886" cy="4193902"/>
          </a:xfrm>
        </p:grpSpPr>
        <p:sp>
          <p:nvSpPr>
            <p:cNvPr id="539" name="Google Shape;539;p17"/>
            <p:cNvSpPr/>
            <p:nvPr/>
          </p:nvSpPr>
          <p:spPr>
            <a:xfrm>
              <a:off x="2016172" y="482791"/>
              <a:ext cx="3228669" cy="3228669"/>
            </a:xfrm>
            <a:prstGeom prst="blockArc">
              <a:avLst>
                <a:gd fmla="val 10800000" name="adj1"/>
                <a:gd fmla="val 16200000" name="adj2"/>
                <a:gd fmla="val 4639" name="adj3"/>
              </a:avLst>
            </a:prstGeom>
            <a:solidFill>
              <a:srgbClr val="F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2016172" y="482791"/>
              <a:ext cx="3228669" cy="3228669"/>
            </a:xfrm>
            <a:prstGeom prst="blockArc">
              <a:avLst>
                <a:gd fmla="val 5400000" name="adj1"/>
                <a:gd fmla="val 10800000" name="adj2"/>
                <a:gd fmla="val 4639" name="adj3"/>
              </a:avLst>
            </a:prstGeom>
            <a:solidFill>
              <a:srgbClr val="D83E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7"/>
            <p:cNvSpPr/>
            <p:nvPr/>
          </p:nvSpPr>
          <p:spPr>
            <a:xfrm>
              <a:off x="2016172" y="482791"/>
              <a:ext cx="3228669" cy="3228669"/>
            </a:xfrm>
            <a:prstGeom prst="blockArc">
              <a:avLst>
                <a:gd fmla="val 0" name="adj1"/>
                <a:gd fmla="val 5400000" name="adj2"/>
                <a:gd fmla="val 4639" name="adj3"/>
              </a:avLst>
            </a:prstGeom>
            <a:solidFill>
              <a:srgbClr val="B976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2016172" y="482791"/>
              <a:ext cx="3228669" cy="3228669"/>
            </a:xfrm>
            <a:prstGeom prst="blockArc">
              <a:avLst>
                <a:gd fmla="val 16200000" name="adj1"/>
                <a:gd fmla="val 0" name="adj2"/>
                <a:gd fmla="val 4639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7"/>
            <p:cNvSpPr/>
            <p:nvPr/>
          </p:nvSpPr>
          <p:spPr>
            <a:xfrm>
              <a:off x="2733721" y="1308512"/>
              <a:ext cx="1793571" cy="1577226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7"/>
            <p:cNvSpPr txBox="1"/>
            <p:nvPr/>
          </p:nvSpPr>
          <p:spPr>
            <a:xfrm>
              <a:off x="2996383" y="1539491"/>
              <a:ext cx="1268247" cy="1115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Sostenibilidad de la Economía Circular</a:t>
              </a:r>
              <a:endParaRPr/>
            </a:p>
          </p:txBody>
        </p:sp>
        <p:sp>
          <p:nvSpPr>
            <p:cNvPr id="545" name="Google Shape;545;p17"/>
            <p:cNvSpPr/>
            <p:nvPr/>
          </p:nvSpPr>
          <p:spPr>
            <a:xfrm>
              <a:off x="2972937" y="174"/>
              <a:ext cx="1315140" cy="1040121"/>
            </a:xfrm>
            <a:prstGeom prst="ellipse">
              <a:avLst/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7"/>
            <p:cNvSpPr txBox="1"/>
            <p:nvPr/>
          </p:nvSpPr>
          <p:spPr>
            <a:xfrm>
              <a:off x="3165535" y="152496"/>
              <a:ext cx="929944" cy="73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Respetar los ciclos biológicos en la extracción de recursos naturales</a:t>
              </a:r>
              <a:endParaRPr/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4542780" y="1577065"/>
              <a:ext cx="1329234" cy="1040121"/>
            </a:xfrm>
            <a:prstGeom prst="ellipse">
              <a:avLst/>
            </a:prstGeom>
            <a:gradFill>
              <a:gsLst>
                <a:gs pos="0">
                  <a:srgbClr val="C18585"/>
                </a:gs>
                <a:gs pos="50000">
                  <a:srgbClr val="BC7272"/>
                </a:gs>
                <a:gs pos="100000">
                  <a:srgbClr val="A8606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7"/>
            <p:cNvSpPr txBox="1"/>
            <p:nvPr/>
          </p:nvSpPr>
          <p:spPr>
            <a:xfrm>
              <a:off x="4737442" y="1729387"/>
              <a:ext cx="939910" cy="73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Crear sistema de recirculación para materiales sintéticos</a:t>
              </a:r>
              <a:endParaRPr/>
            </a:p>
          </p:txBody>
        </p:sp>
        <p:sp>
          <p:nvSpPr>
            <p:cNvPr id="549" name="Google Shape;549;p17"/>
            <p:cNvSpPr/>
            <p:nvPr/>
          </p:nvSpPr>
          <p:spPr>
            <a:xfrm>
              <a:off x="2984061" y="3153955"/>
              <a:ext cx="1292892" cy="1040121"/>
            </a:xfrm>
            <a:prstGeom prst="ellipse">
              <a:avLst/>
            </a:prstGeom>
            <a:gradFill>
              <a:gsLst>
                <a:gs pos="0">
                  <a:srgbClr val="DC5B5B"/>
                </a:gs>
                <a:gs pos="50000">
                  <a:srgbClr val="DE3636"/>
                </a:gs>
                <a:gs pos="100000">
                  <a:srgbClr val="CD262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7"/>
            <p:cNvSpPr txBox="1"/>
            <p:nvPr/>
          </p:nvSpPr>
          <p:spPr>
            <a:xfrm>
              <a:off x="3173401" y="3306277"/>
              <a:ext cx="914212" cy="73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Usar fuentes de energía renovables</a:t>
              </a:r>
              <a:endParaRPr/>
            </a:p>
          </p:txBody>
        </p:sp>
        <p:sp>
          <p:nvSpPr>
            <p:cNvPr id="551" name="Google Shape;551;p17"/>
            <p:cNvSpPr/>
            <p:nvPr/>
          </p:nvSpPr>
          <p:spPr>
            <a:xfrm>
              <a:off x="1408128" y="1577065"/>
              <a:ext cx="1290978" cy="1040121"/>
            </a:xfrm>
            <a:prstGeom prst="ellipse">
              <a:avLst/>
            </a:prstGeom>
            <a:gradFill>
              <a:gsLst>
                <a:gs pos="0">
                  <a:srgbClr val="FF4747"/>
                </a:gs>
                <a:gs pos="50000">
                  <a:srgbClr val="FF0000"/>
                </a:gs>
                <a:gs pos="100000">
                  <a:srgbClr val="E3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7"/>
            <p:cNvSpPr txBox="1"/>
            <p:nvPr/>
          </p:nvSpPr>
          <p:spPr>
            <a:xfrm>
              <a:off x="1597187" y="1729387"/>
              <a:ext cx="912860" cy="735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Diversificar productos para mayor resiliencia</a:t>
              </a:r>
              <a:endParaRPr/>
            </a:p>
          </p:txBody>
        </p:sp>
      </p:grpSp>
      <p:sp>
        <p:nvSpPr>
          <p:cNvPr id="553" name="Google Shape;553;p17"/>
          <p:cNvSpPr txBox="1"/>
          <p:nvPr/>
        </p:nvSpPr>
        <p:spPr>
          <a:xfrm>
            <a:off x="523106" y="1618650"/>
            <a:ext cx="3429464" cy="170816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s-E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sobreexplotación de recursos.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s-E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Contribuye a mejora de biodiversidad.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s-E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 el cambio climático.</a:t>
            </a:r>
            <a:endParaRPr/>
          </a:p>
        </p:txBody>
      </p:sp>
      <p:pic>
        <p:nvPicPr>
          <p:cNvPr id="554" name="Google Shape;5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2368" y="3576480"/>
            <a:ext cx="1170940" cy="117824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7"/>
          <p:cNvSpPr/>
          <p:nvPr/>
        </p:nvSpPr>
        <p:spPr>
          <a:xfrm>
            <a:off x="464115" y="5161932"/>
            <a:ext cx="3547446" cy="1420754"/>
          </a:xfrm>
          <a:prstGeom prst="roundRect">
            <a:avLst>
              <a:gd fmla="val 16667" name="adj"/>
            </a:avLst>
          </a:prstGeom>
          <a:solidFill>
            <a:srgbClr val="C68D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 12.2: De aquí al 2030, lograr la gestión sostenible y el uso eficiente de los recursos naturales</a:t>
            </a:r>
            <a:endParaRPr/>
          </a:p>
        </p:txBody>
      </p:sp>
      <p:cxnSp>
        <p:nvCxnSpPr>
          <p:cNvPr id="556" name="Google Shape;556;p17"/>
          <p:cNvCxnSpPr>
            <a:stCxn id="555" idx="0"/>
            <a:endCxn id="554" idx="2"/>
          </p:cNvCxnSpPr>
          <p:nvPr/>
        </p:nvCxnSpPr>
        <p:spPr>
          <a:xfrm rot="10800000">
            <a:off x="2237838" y="4754832"/>
            <a:ext cx="0" cy="407100"/>
          </a:xfrm>
          <a:prstGeom prst="straightConnector1">
            <a:avLst/>
          </a:prstGeom>
          <a:noFill/>
          <a:ln cap="flat" cmpd="sng" w="3175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7" name="Google Shape;557;p17"/>
          <p:cNvSpPr/>
          <p:nvPr/>
        </p:nvSpPr>
        <p:spPr>
          <a:xfrm>
            <a:off x="8048354" y="4130164"/>
            <a:ext cx="3439351" cy="2250988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 sz="2000" u="sng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economía circular</a:t>
            </a:r>
            <a:r>
              <a:rPr b="1" lang="es-ES" sz="2000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el instrumento para lograr un </a:t>
            </a:r>
            <a:r>
              <a:rPr b="1" lang="es-ES" sz="2000" u="sng">
                <a:solidFill>
                  <a:srgbClr val="C4E0B2"/>
                </a:solidFill>
                <a:latin typeface="Calibri"/>
                <a:ea typeface="Calibri"/>
                <a:cs typeface="Calibri"/>
                <a:sym typeface="Calibri"/>
              </a:rPr>
              <a:t>crecimiento verde</a:t>
            </a: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ya que produce desacoplamiento entre nivel de producción y el consumo de recursos naturales.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EJEMPLO ECONOMÍA CIRCULAR: RICOH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64" name="Google Shape;564;p1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5" name="Google Shape;565;p1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566" name="Google Shape;566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5230" y="1316052"/>
            <a:ext cx="9421540" cy="393437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8"/>
          <p:cNvSpPr txBox="1"/>
          <p:nvPr/>
        </p:nvSpPr>
        <p:spPr>
          <a:xfrm>
            <a:off x="162232" y="1607574"/>
            <a:ext cx="22122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líneas naranjas representan el flujo del producto</a:t>
            </a:r>
            <a:endParaRPr/>
          </a:p>
        </p:txBody>
      </p:sp>
      <p:cxnSp>
        <p:nvCxnSpPr>
          <p:cNvPr id="568" name="Google Shape;568;p18"/>
          <p:cNvCxnSpPr/>
          <p:nvPr/>
        </p:nvCxnSpPr>
        <p:spPr>
          <a:xfrm>
            <a:off x="2064774" y="2215196"/>
            <a:ext cx="412955" cy="2140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9" name="Google Shape;569;p18"/>
          <p:cNvSpPr txBox="1"/>
          <p:nvPr/>
        </p:nvSpPr>
        <p:spPr>
          <a:xfrm>
            <a:off x="10108555" y="1196588"/>
            <a:ext cx="192121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línea superior es la que se seguiría exclusivamente en un modelo de producción lineal</a:t>
            </a:r>
            <a:endParaRPr/>
          </a:p>
        </p:txBody>
      </p:sp>
      <p:cxnSp>
        <p:nvCxnSpPr>
          <p:cNvPr id="570" name="Google Shape;570;p18"/>
          <p:cNvCxnSpPr/>
          <p:nvPr/>
        </p:nvCxnSpPr>
        <p:spPr>
          <a:xfrm flipH="1">
            <a:off x="9719187" y="1393569"/>
            <a:ext cx="398284" cy="2140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1" name="Google Shape;571;p18"/>
          <p:cNvSpPr txBox="1"/>
          <p:nvPr/>
        </p:nvSpPr>
        <p:spPr>
          <a:xfrm>
            <a:off x="0" y="3687097"/>
            <a:ext cx="17698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de mantenimiento prolonga la vida útil del producto</a:t>
            </a:r>
            <a:endParaRPr/>
          </a:p>
        </p:txBody>
      </p:sp>
      <p:cxnSp>
        <p:nvCxnSpPr>
          <p:cNvPr id="572" name="Google Shape;572;p18"/>
          <p:cNvCxnSpPr/>
          <p:nvPr/>
        </p:nvCxnSpPr>
        <p:spPr>
          <a:xfrm flipH="1" rot="10800000">
            <a:off x="1637070" y="3248704"/>
            <a:ext cx="1651820" cy="9315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3" name="Google Shape;573;p18"/>
          <p:cNvSpPr txBox="1"/>
          <p:nvPr/>
        </p:nvSpPr>
        <p:spPr>
          <a:xfrm>
            <a:off x="162231" y="5486788"/>
            <a:ext cx="644504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centro de recolección recoge todos los aparatos que se retiran de uso. Parte los envía al centro de recuperación, y volverán al ciclo como productos acabados,  y otra parte al de reciclaje que extraerá elementos que volverán al ciclo como materiales</a:t>
            </a:r>
            <a:endParaRPr/>
          </a:p>
        </p:txBody>
      </p:sp>
      <p:cxnSp>
        <p:nvCxnSpPr>
          <p:cNvPr id="574" name="Google Shape;574;p18"/>
          <p:cNvCxnSpPr>
            <a:stCxn id="573" idx="0"/>
          </p:cNvCxnSpPr>
          <p:nvPr/>
        </p:nvCxnSpPr>
        <p:spPr>
          <a:xfrm rot="10800000">
            <a:off x="2992654" y="4409788"/>
            <a:ext cx="392100" cy="10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5" name="Google Shape;575;p18"/>
          <p:cNvSpPr txBox="1"/>
          <p:nvPr/>
        </p:nvSpPr>
        <p:spPr>
          <a:xfrm>
            <a:off x="6969110" y="5426856"/>
            <a:ext cx="410005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piezas que no se han recuperado se llevan a la empresa trituradora que extraerá los elementos de ellas</a:t>
            </a:r>
            <a:endParaRPr/>
          </a:p>
        </p:txBody>
      </p:sp>
      <p:cxnSp>
        <p:nvCxnSpPr>
          <p:cNvPr id="576" name="Google Shape;576;p18"/>
          <p:cNvCxnSpPr/>
          <p:nvPr/>
        </p:nvCxnSpPr>
        <p:spPr>
          <a:xfrm rot="10800000">
            <a:off x="5914103" y="4800131"/>
            <a:ext cx="2533283" cy="74181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7" name="Google Shape;577;p18"/>
          <p:cNvSpPr txBox="1"/>
          <p:nvPr/>
        </p:nvSpPr>
        <p:spPr>
          <a:xfrm>
            <a:off x="10758997" y="3336537"/>
            <a:ext cx="127077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aceites que se han extraído se emplean para generar energía</a:t>
            </a:r>
            <a:endParaRPr/>
          </a:p>
        </p:txBody>
      </p:sp>
      <p:cxnSp>
        <p:nvCxnSpPr>
          <p:cNvPr id="578" name="Google Shape;578;p18"/>
          <p:cNvCxnSpPr/>
          <p:nvPr/>
        </p:nvCxnSpPr>
        <p:spPr>
          <a:xfrm flipH="1">
            <a:off x="9719187" y="3541206"/>
            <a:ext cx="943946" cy="173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4" name="Google Shape;584;p19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585" name="Google Shape;585;p19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9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p19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3.3. HACIA UN NUEVO SISTEMA PRODUCTIVO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HACIA UN NUEVO SISTEMA PRODUCTIVO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98" name="Google Shape;598;p2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9" name="Google Shape;599;p2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00" name="Google Shape;6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010" y="1281014"/>
            <a:ext cx="8363436" cy="518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ECOEFICIENCIA O 3R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07" name="Google Shape;607;p2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8" name="Google Shape;608;p2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09" name="Google Shape;6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718" y="1599418"/>
            <a:ext cx="7933870" cy="4784197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1"/>
          <p:cNvSpPr txBox="1"/>
          <p:nvPr/>
        </p:nvSpPr>
        <p:spPr>
          <a:xfrm>
            <a:off x="2286000" y="6468173"/>
            <a:ext cx="33626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Canción sobre las 3R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2743" y="1712039"/>
            <a:ext cx="1136384" cy="158078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1"/>
          <p:cNvSpPr txBox="1"/>
          <p:nvPr/>
        </p:nvSpPr>
        <p:spPr>
          <a:xfrm>
            <a:off x="8664606" y="3465863"/>
            <a:ext cx="2632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Koizumi Junichiro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9700716" y="4068240"/>
            <a:ext cx="560439" cy="63648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 txBox="1"/>
          <p:nvPr/>
        </p:nvSpPr>
        <p:spPr>
          <a:xfrm>
            <a:off x="10444456" y="3986850"/>
            <a:ext cx="13008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Cumbre G8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2004</a:t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9100399" y="4852210"/>
            <a:ext cx="1761072" cy="33876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Mottanai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 txBox="1"/>
          <p:nvPr/>
        </p:nvSpPr>
        <p:spPr>
          <a:xfrm>
            <a:off x="9100399" y="5486398"/>
            <a:ext cx="17610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Malestar por desperdiciar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ECOEFICIENCIA O 3R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23" name="Google Shape;623;p2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2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>
            <a:off x="1017907" y="2407929"/>
            <a:ext cx="1761072" cy="33876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Reducir</a:t>
            </a:r>
            <a:endParaRPr/>
          </a:p>
        </p:txBody>
      </p:sp>
      <p:sp>
        <p:nvSpPr>
          <p:cNvPr id="626" name="Google Shape;626;p22"/>
          <p:cNvSpPr/>
          <p:nvPr/>
        </p:nvSpPr>
        <p:spPr>
          <a:xfrm>
            <a:off x="2895188" y="1445260"/>
            <a:ext cx="412955" cy="2247828"/>
          </a:xfrm>
          <a:prstGeom prst="leftBrace">
            <a:avLst>
              <a:gd fmla="val 44047" name="adj1"/>
              <a:gd fmla="val 50000" name="adj2"/>
            </a:avLst>
          </a:prstGeom>
          <a:noFill/>
          <a:ln cap="flat" cmpd="sng" w="3175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3308143" y="1520576"/>
            <a:ext cx="2359742" cy="646331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materiales en la fabricación</a:t>
            </a:r>
            <a:endParaRPr/>
          </a:p>
        </p:txBody>
      </p:sp>
      <p:sp>
        <p:nvSpPr>
          <p:cNvPr id="628" name="Google Shape;628;p22"/>
          <p:cNvSpPr txBox="1"/>
          <p:nvPr/>
        </p:nvSpPr>
        <p:spPr>
          <a:xfrm>
            <a:off x="3308143" y="2317249"/>
            <a:ext cx="2359742" cy="646331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Consumo de energía en la producción</a:t>
            </a:r>
            <a:endParaRPr/>
          </a:p>
        </p:txBody>
      </p:sp>
      <p:sp>
        <p:nvSpPr>
          <p:cNvPr id="629" name="Google Shape;629;p22"/>
          <p:cNvSpPr txBox="1"/>
          <p:nvPr/>
        </p:nvSpPr>
        <p:spPr>
          <a:xfrm>
            <a:off x="3308143" y="3046759"/>
            <a:ext cx="2359742" cy="646331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del consumo de productos</a:t>
            </a:r>
            <a:endParaRPr/>
          </a:p>
        </p:txBody>
      </p:sp>
      <p:sp>
        <p:nvSpPr>
          <p:cNvPr id="630" name="Google Shape;630;p22"/>
          <p:cNvSpPr/>
          <p:nvPr/>
        </p:nvSpPr>
        <p:spPr>
          <a:xfrm>
            <a:off x="1017907" y="5182166"/>
            <a:ext cx="1761072" cy="33876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Reutilizar</a:t>
            </a:r>
            <a:endParaRPr/>
          </a:p>
        </p:txBody>
      </p:sp>
      <p:sp>
        <p:nvSpPr>
          <p:cNvPr id="631" name="Google Shape;631;p22"/>
          <p:cNvSpPr/>
          <p:nvPr/>
        </p:nvSpPr>
        <p:spPr>
          <a:xfrm>
            <a:off x="2895188" y="4219497"/>
            <a:ext cx="412955" cy="2247828"/>
          </a:xfrm>
          <a:prstGeom prst="leftBrace">
            <a:avLst>
              <a:gd fmla="val 44047" name="adj1"/>
              <a:gd fmla="val 50000" name="adj2"/>
            </a:avLst>
          </a:prstGeom>
          <a:noFill/>
          <a:ln cap="flat" cmpd="sng" w="3175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3308143" y="4294813"/>
            <a:ext cx="2359742" cy="646331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Darles nuevos usos a los productos</a:t>
            </a:r>
            <a:endParaRPr/>
          </a:p>
        </p:txBody>
      </p:sp>
      <p:sp>
        <p:nvSpPr>
          <p:cNvPr id="633" name="Google Shape;633;p22"/>
          <p:cNvSpPr txBox="1"/>
          <p:nvPr/>
        </p:nvSpPr>
        <p:spPr>
          <a:xfrm>
            <a:off x="3308143" y="5143331"/>
            <a:ext cx="2359742" cy="1200329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Recuperar piezas para nuevos productos mediante procesos mecánicos</a:t>
            </a:r>
            <a:endParaRPr/>
          </a:p>
        </p:txBody>
      </p:sp>
      <p:sp>
        <p:nvSpPr>
          <p:cNvPr id="634" name="Google Shape;634;p22"/>
          <p:cNvSpPr/>
          <p:nvPr/>
        </p:nvSpPr>
        <p:spPr>
          <a:xfrm>
            <a:off x="6517964" y="3752163"/>
            <a:ext cx="1761072" cy="33876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Reciclar</a:t>
            </a: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8395245" y="2789494"/>
            <a:ext cx="412955" cy="2247828"/>
          </a:xfrm>
          <a:prstGeom prst="leftBrace">
            <a:avLst>
              <a:gd fmla="val 44047" name="adj1"/>
              <a:gd fmla="val 50000" name="adj2"/>
            </a:avLst>
          </a:prstGeom>
          <a:noFill/>
          <a:ln cap="flat" cmpd="sng" w="3175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8808200" y="2864810"/>
            <a:ext cx="2359742" cy="646331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Transformar los productos en nuevos</a:t>
            </a:r>
            <a:endParaRPr/>
          </a:p>
        </p:txBody>
      </p:sp>
      <p:sp>
        <p:nvSpPr>
          <p:cNvPr id="637" name="Google Shape;637;p22"/>
          <p:cNvSpPr txBox="1"/>
          <p:nvPr/>
        </p:nvSpPr>
        <p:spPr>
          <a:xfrm>
            <a:off x="8808200" y="3727329"/>
            <a:ext cx="2359742" cy="1200329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Recuperar materias primas para otros usos mediante procesos químicos</a:t>
            </a:r>
            <a:endParaRPr/>
          </a:p>
        </p:txBody>
      </p:sp>
      <p:pic>
        <p:nvPicPr>
          <p:cNvPr id="638" name="Google Shape;6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566" y="2806890"/>
            <a:ext cx="661753" cy="70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121" y="5736632"/>
            <a:ext cx="849352" cy="73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0806" y="4204767"/>
            <a:ext cx="835062" cy="68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TIPOS DE RECICLAJE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47" name="Google Shape;647;p2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p2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2990237" y="1766180"/>
            <a:ext cx="1761072" cy="5417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UPCYCLING</a:t>
            </a:r>
            <a:endParaRPr/>
          </a:p>
        </p:txBody>
      </p:sp>
      <p:sp>
        <p:nvSpPr>
          <p:cNvPr id="650" name="Google Shape;650;p23"/>
          <p:cNvSpPr/>
          <p:nvPr/>
        </p:nvSpPr>
        <p:spPr>
          <a:xfrm>
            <a:off x="5023354" y="1766180"/>
            <a:ext cx="574536" cy="4036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 txBox="1"/>
          <p:nvPr/>
        </p:nvSpPr>
        <p:spPr>
          <a:xfrm>
            <a:off x="6095999" y="1614042"/>
            <a:ext cx="4168877" cy="707886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calidad del producto final es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superior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 del producto de partida</a:t>
            </a:r>
            <a:endParaRPr/>
          </a:p>
        </p:txBody>
      </p:sp>
      <p:pic>
        <p:nvPicPr>
          <p:cNvPr id="652" name="Google Shape;6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23" y="1487725"/>
            <a:ext cx="2055800" cy="136412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3"/>
          <p:cNvSpPr/>
          <p:nvPr/>
        </p:nvSpPr>
        <p:spPr>
          <a:xfrm>
            <a:off x="2856326" y="3578549"/>
            <a:ext cx="1894983" cy="5417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DOWNCYCLING</a:t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5269215" y="3647618"/>
            <a:ext cx="574536" cy="4036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6341860" y="3495480"/>
            <a:ext cx="4168877" cy="707886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calidad del producto final es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inferior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 del producto de partida</a:t>
            </a:r>
            <a:endParaRPr/>
          </a:p>
        </p:txBody>
      </p:sp>
      <p:pic>
        <p:nvPicPr>
          <p:cNvPr id="656" name="Google Shape;6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123" y="3007717"/>
            <a:ext cx="2079079" cy="1334863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3"/>
          <p:cNvSpPr/>
          <p:nvPr/>
        </p:nvSpPr>
        <p:spPr>
          <a:xfrm>
            <a:off x="2924501" y="5327251"/>
            <a:ext cx="2026190" cy="54174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RECYCLING</a:t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>
            <a:off x="5337390" y="5396320"/>
            <a:ext cx="614316" cy="4036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 txBox="1"/>
          <p:nvPr/>
        </p:nvSpPr>
        <p:spPr>
          <a:xfrm>
            <a:off x="6410036" y="5244182"/>
            <a:ext cx="4290382" cy="707886"/>
          </a:xfrm>
          <a:prstGeom prst="rect">
            <a:avLst/>
          </a:prstGeom>
          <a:solidFill>
            <a:srgbClr val="D2F3C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calidad del producto final es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igual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 del producto de partida</a:t>
            </a:r>
            <a:endParaRPr/>
          </a:p>
        </p:txBody>
      </p:sp>
      <p:pic>
        <p:nvPicPr>
          <p:cNvPr id="660" name="Google Shape;6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122" y="4853114"/>
            <a:ext cx="2079079" cy="1376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ECOEFICIENCIA O 3R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67" name="Google Shape;667;p2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8" name="Google Shape;668;p2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69" name="Google Shape;669;p24"/>
          <p:cNvSpPr/>
          <p:nvPr/>
        </p:nvSpPr>
        <p:spPr>
          <a:xfrm>
            <a:off x="1710813" y="2094271"/>
            <a:ext cx="2477729" cy="483039"/>
          </a:xfrm>
          <a:prstGeom prst="snip1Rect">
            <a:avLst>
              <a:gd fmla="val 16667" name="adj"/>
            </a:avLst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/>
          </a:p>
        </p:txBody>
      </p:sp>
      <p:sp>
        <p:nvSpPr>
          <p:cNvPr id="670" name="Google Shape;670;p24"/>
          <p:cNvSpPr/>
          <p:nvPr/>
        </p:nvSpPr>
        <p:spPr>
          <a:xfrm>
            <a:off x="7143135" y="2094270"/>
            <a:ext cx="2477729" cy="483039"/>
          </a:xfrm>
          <a:prstGeom prst="snip1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INCONVENIENTES</a:t>
            </a:r>
            <a:endParaRPr/>
          </a:p>
        </p:txBody>
      </p:sp>
      <p:sp>
        <p:nvSpPr>
          <p:cNvPr id="671" name="Google Shape;671;p24"/>
          <p:cNvSpPr txBox="1"/>
          <p:nvPr/>
        </p:nvSpPr>
        <p:spPr>
          <a:xfrm>
            <a:off x="1297858" y="3429000"/>
            <a:ext cx="3333136" cy="1754326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Menos necesidad de recursos naturales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Menos residuos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Menos contaminación</a:t>
            </a:r>
            <a:endParaRPr/>
          </a:p>
        </p:txBody>
      </p:sp>
      <p:sp>
        <p:nvSpPr>
          <p:cNvPr id="672" name="Google Shape;672;p24"/>
          <p:cNvSpPr txBox="1"/>
          <p:nvPr/>
        </p:nvSpPr>
        <p:spPr>
          <a:xfrm>
            <a:off x="6775419" y="3429000"/>
            <a:ext cx="3333136" cy="1938992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Insuficiente para lograr los ODS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Retrasa la llegada de materiales al vertedero pero no la evita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BIOMÍMESIS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79" name="Google Shape;679;p2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0" name="Google Shape;680;p2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81" name="Google Shape;6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46" y="1859370"/>
            <a:ext cx="1355281" cy="1470352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5"/>
          <p:cNvSpPr txBox="1"/>
          <p:nvPr/>
        </p:nvSpPr>
        <p:spPr>
          <a:xfrm>
            <a:off x="-98991" y="3498557"/>
            <a:ext cx="30701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Janine Benyus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3" name="Google Shape;683;p2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8194" y="1987324"/>
            <a:ext cx="1979803" cy="2051019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5"/>
          <p:cNvSpPr txBox="1"/>
          <p:nvPr/>
        </p:nvSpPr>
        <p:spPr>
          <a:xfrm>
            <a:off x="3067671" y="2259015"/>
            <a:ext cx="6349478" cy="92333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Janine Benyus es bióloga, escritora, consultora y fundadora del “</a:t>
            </a:r>
            <a:r>
              <a:rPr i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Biomimicry Institute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e inventora del término Biomímesis como la aplicación al diseño de estrategias imitadas de la naturaleza.</a:t>
            </a:r>
            <a:endParaRPr/>
          </a:p>
        </p:txBody>
      </p:sp>
      <p:sp>
        <p:nvSpPr>
          <p:cNvPr id="685" name="Google Shape;685;p25"/>
          <p:cNvSpPr/>
          <p:nvPr/>
        </p:nvSpPr>
        <p:spPr>
          <a:xfrm>
            <a:off x="4077887" y="3645072"/>
            <a:ext cx="3279172" cy="792916"/>
          </a:xfrm>
          <a:prstGeom prst="roundRect">
            <a:avLst>
              <a:gd fmla="val 16667" name="adj"/>
            </a:avLst>
          </a:prstGeom>
          <a:solidFill>
            <a:srgbClr val="AA2812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la ciencia que trata de emular a la naturaleza para diseñar productos y procesos sostenibles</a:t>
            </a:r>
            <a:endParaRPr/>
          </a:p>
        </p:txBody>
      </p:sp>
      <p:sp>
        <p:nvSpPr>
          <p:cNvPr id="686" name="Google Shape;686;p25"/>
          <p:cNvSpPr/>
          <p:nvPr/>
        </p:nvSpPr>
        <p:spPr>
          <a:xfrm>
            <a:off x="628286" y="5505393"/>
            <a:ext cx="2297681" cy="879830"/>
          </a:xfrm>
          <a:prstGeom prst="roundRect">
            <a:avLst>
              <a:gd fmla="val 16667" name="adj"/>
            </a:avLst>
          </a:prstGeom>
          <a:solidFill>
            <a:srgbClr val="E486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Ethos o rasgos distintivos</a:t>
            </a: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observar con admiración para crear diseños respetuosos con la vida</a:t>
            </a:r>
            <a:endParaRPr/>
          </a:p>
        </p:txBody>
      </p:sp>
      <p:sp>
        <p:nvSpPr>
          <p:cNvPr id="687" name="Google Shape;687;p25"/>
          <p:cNvSpPr/>
          <p:nvPr/>
        </p:nvSpPr>
        <p:spPr>
          <a:xfrm>
            <a:off x="4358961" y="5505393"/>
            <a:ext cx="2412561" cy="879830"/>
          </a:xfrm>
          <a:prstGeom prst="roundRect">
            <a:avLst>
              <a:gd fmla="val 16667" name="adj"/>
            </a:avLst>
          </a:prstGeom>
          <a:solidFill>
            <a:srgbClr val="E486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Emular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Investigar con rigor las soluciones de la naturaleza y aplicarlas en el diseño</a:t>
            </a:r>
            <a:endParaRPr/>
          </a:p>
        </p:txBody>
      </p:sp>
      <p:sp>
        <p:nvSpPr>
          <p:cNvPr id="688" name="Google Shape;688;p25"/>
          <p:cNvSpPr/>
          <p:nvPr/>
        </p:nvSpPr>
        <p:spPr>
          <a:xfrm>
            <a:off x="8258118" y="5505393"/>
            <a:ext cx="2297681" cy="879830"/>
          </a:xfrm>
          <a:prstGeom prst="roundRect">
            <a:avLst>
              <a:gd fmla="val 16667" name="adj"/>
            </a:avLst>
          </a:prstGeom>
          <a:solidFill>
            <a:srgbClr val="E48638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(Re)Conectar</a:t>
            </a: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Sentir que somos parte de la naturaleza y reconocer su genialidad</a:t>
            </a:r>
            <a:endParaRPr/>
          </a:p>
        </p:txBody>
      </p:sp>
      <p:sp>
        <p:nvSpPr>
          <p:cNvPr id="689" name="Google Shape;689;p25"/>
          <p:cNvSpPr txBox="1"/>
          <p:nvPr/>
        </p:nvSpPr>
        <p:spPr>
          <a:xfrm>
            <a:off x="8437077" y="4001022"/>
            <a:ext cx="16964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0" name="Google Shape;690;p25"/>
          <p:cNvCxnSpPr>
            <a:endCxn id="686" idx="0"/>
          </p:cNvCxnSpPr>
          <p:nvPr/>
        </p:nvCxnSpPr>
        <p:spPr>
          <a:xfrm flipH="1">
            <a:off x="1777127" y="4437993"/>
            <a:ext cx="3807300" cy="1067400"/>
          </a:xfrm>
          <a:prstGeom prst="straightConnector1">
            <a:avLst/>
          </a:prstGeom>
          <a:noFill/>
          <a:ln cap="flat" cmpd="sng" w="38100">
            <a:solidFill>
              <a:srgbClr val="548135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91" name="Google Shape;691;p25"/>
          <p:cNvCxnSpPr>
            <a:endCxn id="687" idx="0"/>
          </p:cNvCxnSpPr>
          <p:nvPr/>
        </p:nvCxnSpPr>
        <p:spPr>
          <a:xfrm flipH="1">
            <a:off x="5565242" y="4450293"/>
            <a:ext cx="9600" cy="1055100"/>
          </a:xfrm>
          <a:prstGeom prst="straightConnector1">
            <a:avLst/>
          </a:prstGeom>
          <a:noFill/>
          <a:ln cap="flat" cmpd="sng" w="38100">
            <a:solidFill>
              <a:srgbClr val="548135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692" name="Google Shape;692;p25"/>
          <p:cNvCxnSpPr>
            <a:endCxn id="688" idx="0"/>
          </p:cNvCxnSpPr>
          <p:nvPr/>
        </p:nvCxnSpPr>
        <p:spPr>
          <a:xfrm>
            <a:off x="5574758" y="4437993"/>
            <a:ext cx="3832200" cy="1067400"/>
          </a:xfrm>
          <a:prstGeom prst="straightConnector1">
            <a:avLst/>
          </a:prstGeom>
          <a:noFill/>
          <a:ln cap="flat" cmpd="sng" w="38100">
            <a:solidFill>
              <a:srgbClr val="548135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BIOMÍMESIS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99" name="Google Shape;699;p2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0" name="Google Shape;700;p2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701" name="Google Shape;701;p26"/>
          <p:cNvGrpSpPr/>
          <p:nvPr/>
        </p:nvGrpSpPr>
        <p:grpSpPr>
          <a:xfrm>
            <a:off x="1436710" y="1371602"/>
            <a:ext cx="9966783" cy="5062248"/>
            <a:chOff x="1513499" y="0"/>
            <a:chExt cx="9966783" cy="5062248"/>
          </a:xfrm>
        </p:grpSpPr>
        <p:sp>
          <p:nvSpPr>
            <p:cNvPr id="702" name="Google Shape;702;p26"/>
            <p:cNvSpPr/>
            <p:nvPr/>
          </p:nvSpPr>
          <p:spPr>
            <a:xfrm rot="5400000">
              <a:off x="1684355" y="749190"/>
              <a:ext cx="644885" cy="73417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gradFill>
              <a:gsLst>
                <a:gs pos="0">
                  <a:srgbClr val="F7D2C6"/>
                </a:gs>
                <a:gs pos="50000">
                  <a:srgbClr val="F6C9B9"/>
                </a:gs>
                <a:gs pos="100000">
                  <a:srgbClr val="DFAF9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>
              <a:off x="1513499" y="34322"/>
              <a:ext cx="1085607" cy="759890"/>
            </a:xfrm>
            <a:prstGeom prst="roundRect">
              <a:avLst>
                <a:gd fmla="val 1667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6"/>
            <p:cNvSpPr txBox="1"/>
            <p:nvPr/>
          </p:nvSpPr>
          <p:spPr>
            <a:xfrm>
              <a:off x="1550600" y="71423"/>
              <a:ext cx="1011405" cy="685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Define</a:t>
              </a:r>
              <a:endParaRPr/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2589683" y="0"/>
              <a:ext cx="2430738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6"/>
            <p:cNvSpPr txBox="1"/>
            <p:nvPr/>
          </p:nvSpPr>
          <p:spPr>
            <a:xfrm>
              <a:off x="2589683" y="0"/>
              <a:ext cx="2430738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Concretar el problema que se quiere resolver</a:t>
              </a:r>
              <a:r>
                <a:rPr b="0" i="0" lang="es-ES" sz="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707" name="Google Shape;707;p26"/>
            <p:cNvSpPr/>
            <p:nvPr/>
          </p:nvSpPr>
          <p:spPr>
            <a:xfrm rot="5400000">
              <a:off x="2978320" y="1602798"/>
              <a:ext cx="644885" cy="73417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gradFill>
              <a:gsLst>
                <a:gs pos="0">
                  <a:srgbClr val="F2D9D3"/>
                </a:gs>
                <a:gs pos="50000">
                  <a:srgbClr val="F0D0C9"/>
                </a:gs>
                <a:gs pos="100000">
                  <a:srgbClr val="D6B6A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2807464" y="887929"/>
              <a:ext cx="1085607" cy="759890"/>
            </a:xfrm>
            <a:prstGeom prst="roundRect">
              <a:avLst>
                <a:gd fmla="val 16670" name="adj"/>
              </a:avLst>
            </a:prstGeom>
            <a:gradFill>
              <a:gsLst>
                <a:gs pos="0">
                  <a:srgbClr val="DF8763"/>
                </a:gs>
                <a:gs pos="50000">
                  <a:srgbClr val="E27542"/>
                </a:gs>
                <a:gs pos="100000">
                  <a:srgbClr val="CF643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6"/>
            <p:cNvSpPr txBox="1"/>
            <p:nvPr/>
          </p:nvSpPr>
          <p:spPr>
            <a:xfrm>
              <a:off x="2844565" y="925030"/>
              <a:ext cx="1011405" cy="685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Biologiza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4049146" y="898622"/>
              <a:ext cx="2224148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6"/>
            <p:cNvSpPr txBox="1"/>
            <p:nvPr/>
          </p:nvSpPr>
          <p:spPr>
            <a:xfrm>
              <a:off x="4049146" y="898622"/>
              <a:ext cx="2224148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Traducir ese problema en términos de funcionalidad.</a:t>
              </a: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 rot="5400000">
              <a:off x="4276577" y="2456405"/>
              <a:ext cx="644885" cy="73417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gradFill>
              <a:gsLst>
                <a:gs pos="0">
                  <a:srgbClr val="F0E2E0"/>
                </a:gs>
                <a:gs pos="50000">
                  <a:srgbClr val="EEDBD7"/>
                </a:gs>
                <a:gs pos="100000">
                  <a:srgbClr val="D3C0B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4105721" y="1741536"/>
              <a:ext cx="1085607" cy="759890"/>
            </a:xfrm>
            <a:prstGeom prst="roundRect">
              <a:avLst>
                <a:gd fmla="val 16670" name="adj"/>
              </a:avLst>
            </a:prstGeom>
            <a:gradFill>
              <a:gsLst>
                <a:gs pos="0">
                  <a:srgbClr val="D08A76"/>
                </a:gs>
                <a:gs pos="50000">
                  <a:srgbClr val="CF795D"/>
                </a:gs>
                <a:gs pos="100000">
                  <a:srgbClr val="BD674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6"/>
            <p:cNvSpPr txBox="1"/>
            <p:nvPr/>
          </p:nvSpPr>
          <p:spPr>
            <a:xfrm>
              <a:off x="4142822" y="1778637"/>
              <a:ext cx="1011405" cy="685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Descubre</a:t>
              </a:r>
              <a:endParaRPr/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5417046" y="1784670"/>
              <a:ext cx="2969365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6"/>
            <p:cNvSpPr txBox="1"/>
            <p:nvPr/>
          </p:nvSpPr>
          <p:spPr>
            <a:xfrm>
              <a:off x="5417046" y="1784670"/>
              <a:ext cx="2969365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Investiga observando la naturaleza y buscando fuentes bibliográficas</a:t>
              </a: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 rot="5400000">
              <a:off x="5566250" y="3310012"/>
              <a:ext cx="644885" cy="73417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gradFill>
              <a:gsLst>
                <a:gs pos="0">
                  <a:srgbClr val="F0EAE9"/>
                </a:gs>
                <a:gs pos="50000">
                  <a:srgbClr val="ECE3E2"/>
                </a:gs>
                <a:gs pos="100000">
                  <a:srgbClr val="D1C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5395395" y="2595144"/>
              <a:ext cx="1085607" cy="759890"/>
            </a:xfrm>
            <a:prstGeom prst="roundRect">
              <a:avLst>
                <a:gd fmla="val 16670" name="adj"/>
              </a:avLst>
            </a:prstGeom>
            <a:gradFill>
              <a:gsLst>
                <a:gs pos="0">
                  <a:srgbClr val="C39289"/>
                </a:gs>
                <a:gs pos="50000">
                  <a:srgbClr val="BF8275"/>
                </a:gs>
                <a:gs pos="100000">
                  <a:srgbClr val="AB706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6"/>
            <p:cNvSpPr txBox="1"/>
            <p:nvPr/>
          </p:nvSpPr>
          <p:spPr>
            <a:xfrm>
              <a:off x="5432496" y="2632245"/>
              <a:ext cx="1011405" cy="685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Abstrae</a:t>
              </a: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6518435" y="2638118"/>
              <a:ext cx="2311853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6"/>
            <p:cNvSpPr txBox="1"/>
            <p:nvPr/>
          </p:nvSpPr>
          <p:spPr>
            <a:xfrm>
              <a:off x="6518435" y="2638118"/>
              <a:ext cx="2311853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Descubre las claves del éxito de esa solución natural</a:t>
              </a: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 rot="5400000">
              <a:off x="6860215" y="4163619"/>
              <a:ext cx="644885" cy="734179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gradFill>
              <a:gsLst>
                <a:gs pos="0">
                  <a:srgbClr val="F2F3F3"/>
                </a:gs>
                <a:gs pos="50000">
                  <a:srgbClr val="ECEEEE"/>
                </a:gs>
                <a:gs pos="100000">
                  <a:srgbClr val="D0D1D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689360" y="3448751"/>
              <a:ext cx="1085607" cy="759890"/>
            </a:xfrm>
            <a:prstGeom prst="roundRect">
              <a:avLst>
                <a:gd fmla="val 16670" name="adj"/>
              </a:avLst>
            </a:prstGeom>
            <a:gradFill>
              <a:gsLst>
                <a:gs pos="0">
                  <a:srgbClr val="B79E9B"/>
                </a:gs>
                <a:gs pos="50000">
                  <a:srgbClr val="B0918E"/>
                </a:gs>
                <a:gs pos="100000">
                  <a:srgbClr val="9D7E7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6"/>
            <p:cNvSpPr txBox="1"/>
            <p:nvPr/>
          </p:nvSpPr>
          <p:spPr>
            <a:xfrm>
              <a:off x="6726461" y="3485852"/>
              <a:ext cx="1011405" cy="685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Emula</a:t>
              </a: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7945648" y="3491725"/>
              <a:ext cx="2070530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6"/>
            <p:cNvSpPr txBox="1"/>
            <p:nvPr/>
          </p:nvSpPr>
          <p:spPr>
            <a:xfrm>
              <a:off x="7945648" y="3491725"/>
              <a:ext cx="2070530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Propón una solución amigable con la vida</a:t>
              </a: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7983325" y="4302358"/>
              <a:ext cx="1085607" cy="759890"/>
            </a:xfrm>
            <a:prstGeom prst="roundRect">
              <a:avLst>
                <a:gd fmla="val 16670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6"/>
            <p:cNvSpPr txBox="1"/>
            <p:nvPr/>
          </p:nvSpPr>
          <p:spPr>
            <a:xfrm>
              <a:off x="8020426" y="4339459"/>
              <a:ext cx="1011405" cy="6856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Evalúa</a:t>
              </a: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9270765" y="4361571"/>
              <a:ext cx="2209517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6"/>
            <p:cNvSpPr txBox="1"/>
            <p:nvPr/>
          </p:nvSpPr>
          <p:spPr>
            <a:xfrm>
              <a:off x="9270765" y="4361571"/>
              <a:ext cx="2209517" cy="61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Perfecciona la solución hasta llegar a una sostenible</a:t>
              </a:r>
              <a:endParaRPr/>
            </a:p>
          </p:txBody>
        </p:sp>
      </p:grpSp>
      <p:pic>
        <p:nvPicPr>
          <p:cNvPr id="731" name="Google Shape;731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295" y="4675345"/>
            <a:ext cx="3126658" cy="186181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26"/>
          <p:cNvSpPr txBox="1"/>
          <p:nvPr/>
        </p:nvSpPr>
        <p:spPr>
          <a:xfrm>
            <a:off x="8170606" y="1859370"/>
            <a:ext cx="3238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460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 LA CUNA A LA CUNA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39" name="Google Shape;739;p2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" name="Google Shape;740;p2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41" name="Google Shape;741;p27"/>
          <p:cNvSpPr/>
          <p:nvPr/>
        </p:nvSpPr>
        <p:spPr>
          <a:xfrm>
            <a:off x="6140235" y="1548667"/>
            <a:ext cx="3333135" cy="634164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DESECHOS = COMIDA</a:t>
            </a:r>
            <a:endParaRPr/>
          </a:p>
        </p:txBody>
      </p:sp>
      <p:grpSp>
        <p:nvGrpSpPr>
          <p:cNvPr id="742" name="Google Shape;742;p27"/>
          <p:cNvGrpSpPr/>
          <p:nvPr/>
        </p:nvGrpSpPr>
        <p:grpSpPr>
          <a:xfrm>
            <a:off x="4341461" y="2682393"/>
            <a:ext cx="6930684" cy="3609677"/>
            <a:chOff x="2167" y="176101"/>
            <a:chExt cx="6930684" cy="3609677"/>
          </a:xfrm>
        </p:grpSpPr>
        <p:sp>
          <p:nvSpPr>
            <p:cNvPr id="743" name="Google Shape;743;p27"/>
            <p:cNvSpPr/>
            <p:nvPr/>
          </p:nvSpPr>
          <p:spPr>
            <a:xfrm>
              <a:off x="2167" y="176101"/>
              <a:ext cx="2113013" cy="727428"/>
            </a:xfrm>
            <a:prstGeom prst="rect">
              <a:avLst/>
            </a:prstGeom>
            <a:gradFill>
              <a:gsLst>
                <a:gs pos="0">
                  <a:srgbClr val="DC7E4F"/>
                </a:gs>
                <a:gs pos="50000">
                  <a:srgbClr val="DE6B1F"/>
                </a:gs>
                <a:gs pos="100000">
                  <a:srgbClr val="CB5C13"/>
                </a:gs>
              </a:gsLst>
              <a:lin ang="5400000" scaled="0"/>
            </a:gradFill>
            <a:ln cap="flat" cmpd="sng" w="9525">
              <a:solidFill>
                <a:srgbClr val="D66E2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7"/>
            <p:cNvSpPr txBox="1"/>
            <p:nvPr/>
          </p:nvSpPr>
          <p:spPr>
            <a:xfrm>
              <a:off x="2167" y="176101"/>
              <a:ext cx="2113013" cy="727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275" lIns="142225" spcFirstLastPara="1" rIns="142225" wrap="square" tIns="8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Nutrientes Biológicos</a:t>
              </a:r>
              <a:endParaRPr/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2167" y="903529"/>
              <a:ext cx="2113013" cy="2882249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7"/>
            <p:cNvSpPr txBox="1"/>
            <p:nvPr/>
          </p:nvSpPr>
          <p:spPr>
            <a:xfrm>
              <a:off x="2167" y="903529"/>
              <a:ext cx="2113013" cy="288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0000" lIns="106675" spcFirstLastPara="1" rIns="142225" wrap="square" tIns="106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Materiales totalmente biodegradables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Deben estar exentos de cualquier tóxico.</a:t>
              </a:r>
              <a:endParaRPr/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2411002" y="176101"/>
              <a:ext cx="2113013" cy="727428"/>
            </a:xfrm>
            <a:prstGeom prst="rect">
              <a:avLst/>
            </a:prstGeom>
            <a:gradFill>
              <a:gsLst>
                <a:gs pos="0">
                  <a:srgbClr val="E99873"/>
                </a:gs>
                <a:gs pos="50000">
                  <a:srgbClr val="EA8858"/>
                </a:gs>
                <a:gs pos="100000">
                  <a:srgbClr val="D77545"/>
                </a:gs>
              </a:gsLst>
              <a:lin ang="5400000" scaled="0"/>
            </a:gradFill>
            <a:ln cap="flat" cmpd="sng" w="9525">
              <a:solidFill>
                <a:srgbClr val="E58B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7"/>
            <p:cNvSpPr txBox="1"/>
            <p:nvPr/>
          </p:nvSpPr>
          <p:spPr>
            <a:xfrm>
              <a:off x="2411002" y="176101"/>
              <a:ext cx="2113013" cy="727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275" lIns="142225" spcFirstLastPara="1" rIns="142225" wrap="square" tIns="8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Nutrientes técnicos</a:t>
              </a:r>
              <a:endParaRPr/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2411002" y="903529"/>
              <a:ext cx="2113013" cy="2882249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7"/>
            <p:cNvSpPr txBox="1"/>
            <p:nvPr/>
          </p:nvSpPr>
          <p:spPr>
            <a:xfrm>
              <a:off x="2411002" y="903529"/>
              <a:ext cx="2113013" cy="288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0000" lIns="106675" spcFirstLastPara="1" rIns="142225" wrap="square" tIns="106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Materiales sintéticos, no biodegradables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Deben poderse reciclar (</a:t>
              </a:r>
              <a:r>
                <a:rPr b="0" i="1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 upcycling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una y otra vez</a:t>
              </a:r>
              <a:endParaRPr/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4819838" y="176101"/>
              <a:ext cx="2113013" cy="727428"/>
            </a:xfrm>
            <a:prstGeom prst="rect">
              <a:avLst/>
            </a:prstGeom>
            <a:gradFill>
              <a:gsLst>
                <a:gs pos="0">
                  <a:srgbClr val="F3BAA4"/>
                </a:gs>
                <a:gs pos="50000">
                  <a:srgbClr val="F4AD93"/>
                </a:gs>
                <a:gs pos="100000">
                  <a:srgbClr val="DE967B"/>
                </a:gs>
              </a:gsLst>
              <a:lin ang="5400000" scaled="0"/>
            </a:gradFill>
            <a:ln cap="flat" cmpd="sng" w="9525">
              <a:solidFill>
                <a:srgbClr val="F1B09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7"/>
            <p:cNvSpPr txBox="1"/>
            <p:nvPr/>
          </p:nvSpPr>
          <p:spPr>
            <a:xfrm>
              <a:off x="4819838" y="176101"/>
              <a:ext cx="2113013" cy="727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275" lIns="142225" spcFirstLastPara="1" rIns="142225" wrap="square" tIns="8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Monstruos híbridos</a:t>
              </a:r>
              <a:endParaRPr/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4819838" y="903529"/>
              <a:ext cx="2113013" cy="2882249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cap="flat" cmpd="sng" w="9525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7"/>
            <p:cNvSpPr txBox="1"/>
            <p:nvPr/>
          </p:nvSpPr>
          <p:spPr>
            <a:xfrm>
              <a:off x="4819838" y="903529"/>
              <a:ext cx="2113013" cy="288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0000" lIns="106675" spcFirstLastPara="1" rIns="142225" wrap="square" tIns="106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Mezcla de materiales biodegradables y no biodegradables sin que se puedan separar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deben evitar</a:t>
              </a:r>
              <a:endParaRPr/>
            </a:p>
          </p:txBody>
        </p:sp>
      </p:grpSp>
      <p:sp>
        <p:nvSpPr>
          <p:cNvPr id="755" name="Google Shape;755;p27"/>
          <p:cNvSpPr/>
          <p:nvPr/>
        </p:nvSpPr>
        <p:spPr>
          <a:xfrm>
            <a:off x="737410" y="3764564"/>
            <a:ext cx="1784555" cy="1445336"/>
          </a:xfrm>
          <a:prstGeom prst="rect">
            <a:avLst/>
          </a:prstGeom>
          <a:solidFill>
            <a:srgbClr val="C55A1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Materiales</a:t>
            </a:r>
            <a:endParaRPr/>
          </a:p>
        </p:txBody>
      </p:sp>
      <p:sp>
        <p:nvSpPr>
          <p:cNvPr id="756" name="Google Shape;756;p27"/>
          <p:cNvSpPr/>
          <p:nvPr/>
        </p:nvSpPr>
        <p:spPr>
          <a:xfrm>
            <a:off x="2861178" y="4273380"/>
            <a:ext cx="1091380" cy="4277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B08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7"/>
          <p:cNvSpPr txBox="1"/>
          <p:nvPr/>
        </p:nvSpPr>
        <p:spPr>
          <a:xfrm>
            <a:off x="339213" y="1581588"/>
            <a:ext cx="309716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filosofía defiende que solamente se deben trabajar con dos tipos de materiales, los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nutrientes biológicos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los 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nutrientes técnicos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758" name="Google Shape;758;p27"/>
          <p:cNvSpPr txBox="1"/>
          <p:nvPr/>
        </p:nvSpPr>
        <p:spPr>
          <a:xfrm>
            <a:off x="163521" y="5730882"/>
            <a:ext cx="3272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450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 LA CUNA A LA CUNA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65" name="Google Shape;765;p2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6" name="Google Shape;766;p2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Diagrama&#10;&#10;Descripción generada automáticamente" id="767" name="Google Shape;767;p28"/>
          <p:cNvPicPr preferRelativeResize="0"/>
          <p:nvPr/>
        </p:nvPicPr>
        <p:blipFill rotWithShape="1">
          <a:blip r:embed="rId3">
            <a:alphaModFix/>
          </a:blip>
          <a:srcRect b="26914" l="0" r="0" t="27058"/>
          <a:stretch/>
        </p:blipFill>
        <p:spPr>
          <a:xfrm>
            <a:off x="265471" y="1385549"/>
            <a:ext cx="8082116" cy="5261646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28"/>
          <p:cNvSpPr/>
          <p:nvPr/>
        </p:nvSpPr>
        <p:spPr>
          <a:xfrm>
            <a:off x="8952271" y="2064774"/>
            <a:ext cx="2344994" cy="2787445"/>
          </a:xfrm>
          <a:prstGeom prst="roundRect">
            <a:avLst>
              <a:gd fmla="val 16667" name="adj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definen dos ciclos o “metabolismos” diferenciados, el biológico y el técnico, que no se mezclan entre sí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s-ES" sz="4400">
                <a:latin typeface="Calibri"/>
                <a:ea typeface="Calibri"/>
                <a:cs typeface="Calibri"/>
                <a:sym typeface="Calibri"/>
              </a:rPr>
              <a:t>E LA CUNA A LA CUNA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75" name="Google Shape;775;p2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6" name="Google Shape;776;p2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77" name="Google Shape;777;p29"/>
          <p:cNvSpPr/>
          <p:nvPr/>
        </p:nvSpPr>
        <p:spPr>
          <a:xfrm>
            <a:off x="4429432" y="1542288"/>
            <a:ext cx="3333135" cy="634164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Otras Características</a:t>
            </a:r>
            <a:endParaRPr/>
          </a:p>
        </p:txBody>
      </p:sp>
      <p:sp>
        <p:nvSpPr>
          <p:cNvPr id="778" name="Google Shape;778;p29"/>
          <p:cNvSpPr txBox="1"/>
          <p:nvPr/>
        </p:nvSpPr>
        <p:spPr>
          <a:xfrm>
            <a:off x="280220" y="2577310"/>
            <a:ext cx="11518490" cy="36933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Retirar y almacenar de forma segura materiales que son peligrosos hasta que aparezca la tecnología de recuperación.</a:t>
            </a:r>
            <a:endParaRPr/>
          </a:p>
        </p:txBody>
      </p:sp>
      <p:sp>
        <p:nvSpPr>
          <p:cNvPr id="779" name="Google Shape;779;p29"/>
          <p:cNvSpPr txBox="1"/>
          <p:nvPr/>
        </p:nvSpPr>
        <p:spPr>
          <a:xfrm>
            <a:off x="280220" y="3380583"/>
            <a:ext cx="11518490" cy="36933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aplicación industrial </a:t>
            </a:r>
            <a:r>
              <a:rPr i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cradle to cradle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la economía debe ser local y de tamaño moderado.</a:t>
            </a:r>
            <a:endParaRPr/>
          </a:p>
        </p:txBody>
      </p:sp>
      <p:sp>
        <p:nvSpPr>
          <p:cNvPr id="780" name="Google Shape;780;p29"/>
          <p:cNvSpPr txBox="1"/>
          <p:nvPr/>
        </p:nvSpPr>
        <p:spPr>
          <a:xfrm>
            <a:off x="280220" y="4183856"/>
            <a:ext cx="11518490" cy="36933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 ser capaz de crear riqueza en los alrededores y ser considerada con los trabajadores.</a:t>
            </a:r>
            <a:endParaRPr/>
          </a:p>
        </p:txBody>
      </p:sp>
      <p:sp>
        <p:nvSpPr>
          <p:cNvPr id="781" name="Google Shape;781;p29"/>
          <p:cNvSpPr txBox="1"/>
          <p:nvPr/>
        </p:nvSpPr>
        <p:spPr>
          <a:xfrm>
            <a:off x="280220" y="4987129"/>
            <a:ext cx="11518490" cy="36933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necesaria la diversidad de productos y adaptada al entorno.</a:t>
            </a:r>
            <a:endParaRPr/>
          </a:p>
        </p:txBody>
      </p:sp>
      <p:sp>
        <p:nvSpPr>
          <p:cNvPr id="782" name="Google Shape;782;p29"/>
          <p:cNvSpPr txBox="1"/>
          <p:nvPr/>
        </p:nvSpPr>
        <p:spPr>
          <a:xfrm>
            <a:off x="336754" y="5790402"/>
            <a:ext cx="11518490" cy="369332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Basada en energías renovables, no contaminante y capaz de regenerar la naturaleza.</a:t>
            </a:r>
            <a:endParaRPr/>
          </a:p>
        </p:txBody>
      </p:sp>
      <p:sp>
        <p:nvSpPr>
          <p:cNvPr id="783" name="Google Shape;783;p29"/>
          <p:cNvSpPr/>
          <p:nvPr/>
        </p:nvSpPr>
        <p:spPr>
          <a:xfrm>
            <a:off x="8609645" y="1451712"/>
            <a:ext cx="498844" cy="819727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595959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/>
          <p:nvPr/>
        </p:nvSpPr>
        <p:spPr>
          <a:xfrm rot="10800000">
            <a:off x="9365834" y="1451712"/>
            <a:ext cx="498844" cy="819727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595959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0" name="Google Shape;790;p30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791" name="Google Shape;791;p30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6" name="Google Shape;796;p30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3.4. DISEÑO, FABRICACIÓN Y UTILIZACIÓN DE PRODUCTOS SOSTENIBLES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0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CICLO DE VIDA DE LOS PRODUCTOS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04" name="Google Shape;804;p3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5" name="Google Shape;805;p3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806" name="Google Shape;806;p31"/>
          <p:cNvGrpSpPr/>
          <p:nvPr/>
        </p:nvGrpSpPr>
        <p:grpSpPr>
          <a:xfrm>
            <a:off x="5604926" y="1302202"/>
            <a:ext cx="6247035" cy="5354172"/>
            <a:chOff x="1213223" y="4339"/>
            <a:chExt cx="6247035" cy="5354172"/>
          </a:xfrm>
        </p:grpSpPr>
        <p:sp>
          <p:nvSpPr>
            <p:cNvPr id="807" name="Google Shape;807;p31"/>
            <p:cNvSpPr/>
            <p:nvPr/>
          </p:nvSpPr>
          <p:spPr>
            <a:xfrm>
              <a:off x="4812770" y="74070"/>
              <a:ext cx="1827306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 txBox="1"/>
            <p:nvPr/>
          </p:nvSpPr>
          <p:spPr>
            <a:xfrm>
              <a:off x="4812770" y="74070"/>
              <a:ext cx="1827306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Acondicionamiento y embalaje</a:t>
              </a: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1937265" y="116766"/>
              <a:ext cx="5241745" cy="5241745"/>
            </a:xfrm>
            <a:custGeom>
              <a:rect b="b" l="l" r="r" t="t"/>
              <a:pathLst>
                <a:path extrusionOk="0" h="120000" w="120000">
                  <a:moveTo>
                    <a:pt x="102468" y="22275"/>
                  </a:moveTo>
                  <a:lnTo>
                    <a:pt x="102468" y="22275"/>
                  </a:lnTo>
                  <a:cubicBezTo>
                    <a:pt x="107285" y="27697"/>
                    <a:pt x="111019" y="33992"/>
                    <a:pt x="113468" y="40820"/>
                  </a:cubicBezTo>
                  <a:lnTo>
                    <a:pt x="116538" y="39955"/>
                  </a:lnTo>
                  <a:lnTo>
                    <a:pt x="112369" y="45246"/>
                  </a:lnTo>
                  <a:lnTo>
                    <a:pt x="105773" y="42988"/>
                  </a:lnTo>
                  <a:lnTo>
                    <a:pt x="108843" y="42123"/>
                  </a:lnTo>
                  <a:cubicBezTo>
                    <a:pt x="106599" y="35992"/>
                    <a:pt x="103221" y="30339"/>
                    <a:pt x="98885" y="254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6386661" y="208841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1"/>
            <p:cNvSpPr txBox="1"/>
            <p:nvPr/>
          </p:nvSpPr>
          <p:spPr>
            <a:xfrm>
              <a:off x="6386661" y="208841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Transporte</a:t>
              </a: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1908512" y="4339"/>
              <a:ext cx="5241745" cy="5241745"/>
            </a:xfrm>
            <a:custGeom>
              <a:rect b="b" l="l" r="r" t="t"/>
              <a:pathLst>
                <a:path extrusionOk="0" h="120000" w="120000">
                  <a:moveTo>
                    <a:pt x="115358" y="72737"/>
                  </a:moveTo>
                  <a:lnTo>
                    <a:pt x="115358" y="72737"/>
                  </a:lnTo>
                  <a:cubicBezTo>
                    <a:pt x="113375" y="81355"/>
                    <a:pt x="109407" y="89391"/>
                    <a:pt x="103771" y="96206"/>
                  </a:cubicBezTo>
                  <a:lnTo>
                    <a:pt x="106081" y="98405"/>
                  </a:lnTo>
                  <a:lnTo>
                    <a:pt x="99403" y="97518"/>
                  </a:lnTo>
                  <a:lnTo>
                    <a:pt x="97981" y="90693"/>
                  </a:lnTo>
                  <a:lnTo>
                    <a:pt x="100291" y="92892"/>
                  </a:lnTo>
                  <a:cubicBezTo>
                    <a:pt x="105340" y="86707"/>
                    <a:pt x="108897" y="79443"/>
                    <a:pt x="110687" y="71662"/>
                  </a:cubicBezTo>
                  <a:close/>
                </a:path>
              </a:pathLst>
            </a:custGeom>
            <a:solidFill>
              <a:srgbClr val="DB78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5189623" y="416174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 txBox="1"/>
            <p:nvPr/>
          </p:nvSpPr>
          <p:spPr>
            <a:xfrm>
              <a:off x="5189623" y="416174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Uso</a:t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1908512" y="4339"/>
              <a:ext cx="5241745" cy="5241745"/>
            </a:xfrm>
            <a:custGeom>
              <a:rect b="b" l="l" r="r" t="t"/>
              <a:pathLst>
                <a:path extrusionOk="0" h="120000" w="120000">
                  <a:moveTo>
                    <a:pt x="75666" y="114602"/>
                  </a:moveTo>
                  <a:cubicBezTo>
                    <a:pt x="66721" y="117168"/>
                    <a:pt x="57283" y="117497"/>
                    <a:pt x="48181" y="115561"/>
                  </a:cubicBezTo>
                  <a:lnTo>
                    <a:pt x="47302" y="118627"/>
                  </a:lnTo>
                  <a:lnTo>
                    <a:pt x="44995" y="112298"/>
                  </a:lnTo>
                  <a:lnTo>
                    <a:pt x="50386" y="107877"/>
                  </a:lnTo>
                  <a:lnTo>
                    <a:pt x="49506" y="110942"/>
                  </a:lnTo>
                  <a:cubicBezTo>
                    <a:pt x="57740" y="112638"/>
                    <a:pt x="66263" y="112313"/>
                    <a:pt x="74344" y="109995"/>
                  </a:cubicBezTo>
                  <a:close/>
                </a:path>
              </a:pathLst>
            </a:custGeom>
            <a:solidFill>
              <a:srgbClr val="CB7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1"/>
            <p:cNvSpPr/>
            <p:nvPr/>
          </p:nvSpPr>
          <p:spPr>
            <a:xfrm>
              <a:off x="2795548" y="416174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1"/>
            <p:cNvSpPr txBox="1"/>
            <p:nvPr/>
          </p:nvSpPr>
          <p:spPr>
            <a:xfrm>
              <a:off x="2795548" y="416174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Desecho</a:t>
              </a:r>
              <a:endParaRPr/>
            </a:p>
          </p:txBody>
        </p:sp>
        <p:sp>
          <p:nvSpPr>
            <p:cNvPr id="818" name="Google Shape;818;p31"/>
            <p:cNvSpPr/>
            <p:nvPr/>
          </p:nvSpPr>
          <p:spPr>
            <a:xfrm>
              <a:off x="1908512" y="4339"/>
              <a:ext cx="5241745" cy="5241745"/>
            </a:xfrm>
            <a:custGeom>
              <a:rect b="b" l="l" r="r" t="t"/>
              <a:pathLst>
                <a:path extrusionOk="0" h="120000" w="120000">
                  <a:moveTo>
                    <a:pt x="18861" y="99171"/>
                  </a:moveTo>
                  <a:lnTo>
                    <a:pt x="18861" y="99171"/>
                  </a:lnTo>
                  <a:cubicBezTo>
                    <a:pt x="12763" y="92766"/>
                    <a:pt x="8244" y="85026"/>
                    <a:pt x="5665" y="76567"/>
                  </a:cubicBezTo>
                  <a:lnTo>
                    <a:pt x="2557" y="77282"/>
                  </a:lnTo>
                  <a:lnTo>
                    <a:pt x="6977" y="72199"/>
                  </a:lnTo>
                  <a:lnTo>
                    <a:pt x="13456" y="74774"/>
                  </a:lnTo>
                  <a:lnTo>
                    <a:pt x="10348" y="75489"/>
                  </a:lnTo>
                  <a:cubicBezTo>
                    <a:pt x="12726" y="83111"/>
                    <a:pt x="16827" y="90083"/>
                    <a:pt x="22332" y="95866"/>
                  </a:cubicBezTo>
                  <a:close/>
                </a:path>
              </a:pathLst>
            </a:custGeom>
            <a:solidFill>
              <a:srgbClr val="BC8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1"/>
            <p:cNvSpPr/>
            <p:nvPr/>
          </p:nvSpPr>
          <p:spPr>
            <a:xfrm>
              <a:off x="1213223" y="2088413"/>
              <a:ext cx="1844172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1"/>
            <p:cNvSpPr txBox="1"/>
            <p:nvPr/>
          </p:nvSpPr>
          <p:spPr>
            <a:xfrm>
              <a:off x="1213223" y="2088413"/>
              <a:ext cx="1844172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Extracción de materias primas</a:t>
              </a:r>
              <a:endParaRPr/>
            </a:p>
          </p:txBody>
        </p:sp>
        <p:sp>
          <p:nvSpPr>
            <p:cNvPr id="821" name="Google Shape;821;p31"/>
            <p:cNvSpPr/>
            <p:nvPr/>
          </p:nvSpPr>
          <p:spPr>
            <a:xfrm>
              <a:off x="1908512" y="4339"/>
              <a:ext cx="5241745" cy="5241745"/>
            </a:xfrm>
            <a:custGeom>
              <a:rect b="b" l="l" r="r" t="t"/>
              <a:pathLst>
                <a:path extrusionOk="0" h="120000" w="120000">
                  <a:moveTo>
                    <a:pt x="4642" y="47263"/>
                  </a:moveTo>
                  <a:lnTo>
                    <a:pt x="4642" y="47263"/>
                  </a:lnTo>
                  <a:cubicBezTo>
                    <a:pt x="6625" y="38645"/>
                    <a:pt x="10593" y="30609"/>
                    <a:pt x="16229" y="23794"/>
                  </a:cubicBezTo>
                  <a:lnTo>
                    <a:pt x="13919" y="21595"/>
                  </a:lnTo>
                  <a:lnTo>
                    <a:pt x="20597" y="22482"/>
                  </a:lnTo>
                  <a:lnTo>
                    <a:pt x="22019" y="29307"/>
                  </a:lnTo>
                  <a:lnTo>
                    <a:pt x="19709" y="27108"/>
                  </a:lnTo>
                  <a:lnTo>
                    <a:pt x="19709" y="27108"/>
                  </a:lnTo>
                  <a:cubicBezTo>
                    <a:pt x="14660" y="33293"/>
                    <a:pt x="11103" y="40557"/>
                    <a:pt x="9313" y="48338"/>
                  </a:cubicBezTo>
                  <a:close/>
                </a:path>
              </a:pathLst>
            </a:custGeom>
            <a:solidFill>
              <a:srgbClr val="AF93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1"/>
            <p:cNvSpPr/>
            <p:nvPr/>
          </p:nvSpPr>
          <p:spPr>
            <a:xfrm>
              <a:off x="2795548" y="1508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 txBox="1"/>
            <p:nvPr/>
          </p:nvSpPr>
          <p:spPr>
            <a:xfrm>
              <a:off x="2795548" y="15083"/>
              <a:ext cx="1073597" cy="1073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Fabricación</a:t>
              </a:r>
              <a:endParaRPr/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1781608" y="37018"/>
              <a:ext cx="5241745" cy="5241745"/>
            </a:xfrm>
            <a:custGeom>
              <a:rect b="b" l="l" r="r" t="t"/>
              <a:pathLst>
                <a:path extrusionOk="0" h="120000" w="120000">
                  <a:moveTo>
                    <a:pt x="47346" y="4623"/>
                  </a:moveTo>
                  <a:lnTo>
                    <a:pt x="47346" y="4623"/>
                  </a:lnTo>
                  <a:cubicBezTo>
                    <a:pt x="53397" y="3240"/>
                    <a:pt x="59633" y="2859"/>
                    <a:pt x="65808" y="3493"/>
                  </a:cubicBezTo>
                  <a:lnTo>
                    <a:pt x="66354" y="351"/>
                  </a:lnTo>
                  <a:lnTo>
                    <a:pt x="69324" y="6397"/>
                  </a:lnTo>
                  <a:lnTo>
                    <a:pt x="64438" y="11370"/>
                  </a:lnTo>
                  <a:lnTo>
                    <a:pt x="64984" y="8228"/>
                  </a:lnTo>
                  <a:lnTo>
                    <a:pt x="64984" y="8228"/>
                  </a:lnTo>
                  <a:cubicBezTo>
                    <a:pt x="59439" y="7694"/>
                    <a:pt x="53844" y="8054"/>
                    <a:pt x="48413" y="9295"/>
                  </a:cubicBezTo>
                  <a:close/>
                </a:path>
              </a:pathLst>
            </a:custGeom>
            <a:solidFill>
              <a:srgbClr val="A4A4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25" name="Google Shape;8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3215" y="5556378"/>
            <a:ext cx="3012360" cy="958478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31"/>
          <p:cNvSpPr/>
          <p:nvPr/>
        </p:nvSpPr>
        <p:spPr>
          <a:xfrm>
            <a:off x="5855070" y="4439269"/>
            <a:ext cx="1435533" cy="118915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1"/>
          <p:cNvSpPr/>
          <p:nvPr/>
        </p:nvSpPr>
        <p:spPr>
          <a:xfrm>
            <a:off x="6032052" y="5917633"/>
            <a:ext cx="987322" cy="25908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3982" y="4190969"/>
            <a:ext cx="4736690" cy="10585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31"/>
          <p:cNvGrpSpPr/>
          <p:nvPr/>
        </p:nvGrpSpPr>
        <p:grpSpPr>
          <a:xfrm>
            <a:off x="243475" y="1787499"/>
            <a:ext cx="4199955" cy="1219380"/>
            <a:chOff x="361459" y="1536778"/>
            <a:chExt cx="4199955" cy="1219380"/>
          </a:xfrm>
        </p:grpSpPr>
        <p:pic>
          <p:nvPicPr>
            <p:cNvPr id="830" name="Google Shape;830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1459" y="1536778"/>
              <a:ext cx="1172847" cy="1219379"/>
            </a:xfrm>
            <a:prstGeom prst="rect">
              <a:avLst/>
            </a:prstGeom>
            <a:noFill/>
            <a:ln cap="flat" cmpd="sng" w="9525">
              <a:solidFill>
                <a:srgbClr val="385623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31" name="Google Shape;831;p31"/>
            <p:cNvSpPr/>
            <p:nvPr/>
          </p:nvSpPr>
          <p:spPr>
            <a:xfrm>
              <a:off x="1549054" y="1536779"/>
              <a:ext cx="3012360" cy="1219379"/>
            </a:xfrm>
            <a:prstGeom prst="rect">
              <a:avLst/>
            </a:prstGeom>
            <a:solidFill>
              <a:srgbClr val="548135"/>
            </a:solidFill>
            <a:ln cap="flat" cmpd="sng" w="12700">
              <a:solidFill>
                <a:srgbClr val="38562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 huella ecológica de un producto la conforman los impactos producidos en todo su ciclo de vida</a:t>
              </a:r>
              <a:endParaRPr/>
            </a:p>
          </p:txBody>
        </p:sp>
      </p:grpSp>
      <p:sp>
        <p:nvSpPr>
          <p:cNvPr id="832" name="Google Shape;832;p31"/>
          <p:cNvSpPr/>
          <p:nvPr/>
        </p:nvSpPr>
        <p:spPr>
          <a:xfrm>
            <a:off x="2051009" y="3151402"/>
            <a:ext cx="584887" cy="52148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8562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1"/>
          <p:cNvSpPr txBox="1"/>
          <p:nvPr/>
        </p:nvSpPr>
        <p:spPr>
          <a:xfrm>
            <a:off x="243475" y="3760842"/>
            <a:ext cx="41999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Para reducirla hay que actuar sobre todas las fases del ciclo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SOSTENIBILIDAD EN EL CICLO DE VIDA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40" name="Google Shape;840;p3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1" name="Google Shape;841;p3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42" name="Google Shape;842;p32"/>
          <p:cNvSpPr/>
          <p:nvPr/>
        </p:nvSpPr>
        <p:spPr>
          <a:xfrm>
            <a:off x="4719483" y="1401108"/>
            <a:ext cx="2507226" cy="693174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POSIBLES ESTRATEGIAS</a:t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1401096" y="2305681"/>
            <a:ext cx="3318387" cy="82591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Intraemprendimiento verde o modelo incremental</a:t>
            </a:r>
            <a:endParaRPr/>
          </a:p>
        </p:txBody>
      </p:sp>
      <p:sp>
        <p:nvSpPr>
          <p:cNvPr id="844" name="Google Shape;844;p32"/>
          <p:cNvSpPr/>
          <p:nvPr/>
        </p:nvSpPr>
        <p:spPr>
          <a:xfrm>
            <a:off x="7226709" y="2305681"/>
            <a:ext cx="3318387" cy="82591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Emprendimiento verde o modelo innovador</a:t>
            </a:r>
            <a:endParaRPr/>
          </a:p>
        </p:txBody>
      </p:sp>
      <p:sp>
        <p:nvSpPr>
          <p:cNvPr id="845" name="Google Shape;845;p32"/>
          <p:cNvSpPr/>
          <p:nvPr/>
        </p:nvSpPr>
        <p:spPr>
          <a:xfrm>
            <a:off x="2772697" y="3288902"/>
            <a:ext cx="471948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2"/>
          <p:cNvSpPr txBox="1"/>
          <p:nvPr/>
        </p:nvSpPr>
        <p:spPr>
          <a:xfrm>
            <a:off x="707923" y="3263270"/>
            <a:ext cx="20647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del producto existente</a:t>
            </a:r>
            <a:endParaRPr/>
          </a:p>
        </p:txBody>
      </p:sp>
      <p:sp>
        <p:nvSpPr>
          <p:cNvPr id="847" name="Google Shape;847;p32"/>
          <p:cNvSpPr/>
          <p:nvPr/>
        </p:nvSpPr>
        <p:spPr>
          <a:xfrm>
            <a:off x="1061885" y="4035090"/>
            <a:ext cx="3893572" cy="1325564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Menos consumo energético en la fabricación, menos materiales, menos tóxicos, menos embalajes, proveedores más próximos </a:t>
            </a:r>
            <a:endParaRPr/>
          </a:p>
        </p:txBody>
      </p:sp>
      <p:sp>
        <p:nvSpPr>
          <p:cNvPr id="848" name="Google Shape;848;p32"/>
          <p:cNvSpPr/>
          <p:nvPr/>
        </p:nvSpPr>
        <p:spPr>
          <a:xfrm>
            <a:off x="2772697" y="5455578"/>
            <a:ext cx="471948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2"/>
          <p:cNvSpPr txBox="1"/>
          <p:nvPr/>
        </p:nvSpPr>
        <p:spPr>
          <a:xfrm>
            <a:off x="733792" y="6124779"/>
            <a:ext cx="45608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SIN VALIDEZ A LARGO PLAZO</a:t>
            </a:r>
            <a:endParaRPr/>
          </a:p>
        </p:txBody>
      </p:sp>
      <p:sp>
        <p:nvSpPr>
          <p:cNvPr id="850" name="Google Shape;850;p32"/>
          <p:cNvSpPr/>
          <p:nvPr/>
        </p:nvSpPr>
        <p:spPr>
          <a:xfrm>
            <a:off x="8937521" y="3293830"/>
            <a:ext cx="471948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2"/>
          <p:cNvSpPr/>
          <p:nvPr/>
        </p:nvSpPr>
        <p:spPr>
          <a:xfrm>
            <a:off x="7226709" y="4040018"/>
            <a:ext cx="3893572" cy="1325564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pone el foco en el medioambiente y en los aspectos sociales con todos los impactos resueltos en todo su ciclo de vida </a:t>
            </a:r>
            <a:endParaRPr/>
          </a:p>
        </p:txBody>
      </p:sp>
      <p:sp>
        <p:nvSpPr>
          <p:cNvPr id="852" name="Google Shape;852;p32"/>
          <p:cNvSpPr/>
          <p:nvPr/>
        </p:nvSpPr>
        <p:spPr>
          <a:xfrm>
            <a:off x="8937521" y="5460506"/>
            <a:ext cx="471948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 txBox="1"/>
          <p:nvPr/>
        </p:nvSpPr>
        <p:spPr>
          <a:xfrm>
            <a:off x="6898616" y="6129707"/>
            <a:ext cx="45608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VÁLIDA A LARGO PLAZO</a:t>
            </a:r>
            <a:endParaRPr/>
          </a:p>
        </p:txBody>
      </p:sp>
      <p:sp>
        <p:nvSpPr>
          <p:cNvPr id="854" name="Google Shape;854;p32"/>
          <p:cNvSpPr txBox="1"/>
          <p:nvPr/>
        </p:nvSpPr>
        <p:spPr>
          <a:xfrm>
            <a:off x="9527458" y="3254736"/>
            <a:ext cx="24629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un producto nuevo e innovador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EJEMPLO DOS MODELOS: PASTA DE DIENTES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61" name="Google Shape;861;p3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2" name="Google Shape;862;p3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63" name="Google Shape;863;p33"/>
          <p:cNvSpPr/>
          <p:nvPr/>
        </p:nvSpPr>
        <p:spPr>
          <a:xfrm>
            <a:off x="1283111" y="3429786"/>
            <a:ext cx="3318387" cy="82591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Intraemprendimiento verde o modelo incremental</a:t>
            </a:r>
            <a:endParaRPr/>
          </a:p>
        </p:txBody>
      </p:sp>
      <p:sp>
        <p:nvSpPr>
          <p:cNvPr id="864" name="Google Shape;864;p33"/>
          <p:cNvSpPr/>
          <p:nvPr/>
        </p:nvSpPr>
        <p:spPr>
          <a:xfrm>
            <a:off x="7440610" y="3392915"/>
            <a:ext cx="3318387" cy="82591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Emprendimiento verde o modelo innovador</a:t>
            </a:r>
            <a:endParaRPr/>
          </a:p>
        </p:txBody>
      </p:sp>
      <p:sp>
        <p:nvSpPr>
          <p:cNvPr id="865" name="Google Shape;865;p33"/>
          <p:cNvSpPr/>
          <p:nvPr/>
        </p:nvSpPr>
        <p:spPr>
          <a:xfrm>
            <a:off x="1283111" y="1494763"/>
            <a:ext cx="5442153" cy="1477325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composición de la pasta de dientes suele contener microplásticos y los envases de la pasta de dientes están formados por varias capas de plástico que se degradan en cientos de años </a:t>
            </a:r>
            <a:endParaRPr/>
          </a:p>
        </p:txBody>
      </p:sp>
      <p:sp>
        <p:nvSpPr>
          <p:cNvPr id="866" name="Google Shape;866;p33"/>
          <p:cNvSpPr txBox="1"/>
          <p:nvPr/>
        </p:nvSpPr>
        <p:spPr>
          <a:xfrm>
            <a:off x="716527" y="4477453"/>
            <a:ext cx="445155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la cantidad de plástico del envase.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un envase alternativo (tarro cristal).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una composición química de la pasta sin microplásticos o con menos.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</p:txBody>
      </p:sp>
      <p:pic>
        <p:nvPicPr>
          <p:cNvPr descr="Imagen que contiene tabla, grande, parado, cepillo&#10;&#10;Descripción generada automáticamente" id="867" name="Google Shape;86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5829" y="5031472"/>
            <a:ext cx="3853387" cy="1507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8380" y="1635048"/>
            <a:ext cx="1873045" cy="119675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33"/>
          <p:cNvSpPr txBox="1"/>
          <p:nvPr/>
        </p:nvSpPr>
        <p:spPr>
          <a:xfrm>
            <a:off x="7079226" y="4477453"/>
            <a:ext cx="39599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Nuevo producto: pasta en cápsulas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3100">
                <a:latin typeface="Calibri"/>
                <a:ea typeface="Calibri"/>
                <a:cs typeface="Calibri"/>
                <a:sym typeface="Calibri"/>
              </a:rPr>
              <a:t>EJEMPLO MODELO INNOVADOR: CUBIERTOS COMESTIBLES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76" name="Google Shape;876;p3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7" name="Google Shape;877;p3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878" name="Google Shape;878;p3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5782" y="1431991"/>
            <a:ext cx="9556955" cy="4968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ECODISEÑO Y DISEÑO SOSTENIBLE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85" name="Google Shape;885;p3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6" name="Google Shape;886;p3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87" name="Google Shape;887;p35"/>
          <p:cNvSpPr/>
          <p:nvPr/>
        </p:nvSpPr>
        <p:spPr>
          <a:xfrm>
            <a:off x="3170904" y="1379980"/>
            <a:ext cx="5088193" cy="5088193"/>
          </a:xfrm>
          <a:prstGeom prst="ellipse">
            <a:avLst/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5"/>
          <p:cNvSpPr/>
          <p:nvPr/>
        </p:nvSpPr>
        <p:spPr>
          <a:xfrm>
            <a:off x="3536881" y="2359491"/>
            <a:ext cx="2433483" cy="2433483"/>
          </a:xfrm>
          <a:prstGeom prst="ellipse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ECODISEÑO</a:t>
            </a:r>
            <a:endParaRPr/>
          </a:p>
        </p:txBody>
      </p:sp>
      <p:sp>
        <p:nvSpPr>
          <p:cNvPr id="889" name="Google Shape;889;p35"/>
          <p:cNvSpPr txBox="1"/>
          <p:nvPr/>
        </p:nvSpPr>
        <p:spPr>
          <a:xfrm>
            <a:off x="5970364" y="3775587"/>
            <a:ext cx="181678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SOSTENIBLE</a:t>
            </a:r>
            <a:endParaRPr/>
          </a:p>
        </p:txBody>
      </p:sp>
      <p:sp>
        <p:nvSpPr>
          <p:cNvPr id="890" name="Google Shape;890;p35"/>
          <p:cNvSpPr txBox="1"/>
          <p:nvPr/>
        </p:nvSpPr>
        <p:spPr>
          <a:xfrm>
            <a:off x="250723" y="2068955"/>
            <a:ext cx="27579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productos y/o servicios sin perjuicio medioambiental</a:t>
            </a:r>
            <a:endParaRPr/>
          </a:p>
        </p:txBody>
      </p:sp>
      <p:cxnSp>
        <p:nvCxnSpPr>
          <p:cNvPr id="891" name="Google Shape;891;p35"/>
          <p:cNvCxnSpPr/>
          <p:nvPr/>
        </p:nvCxnSpPr>
        <p:spPr>
          <a:xfrm>
            <a:off x="2802194" y="2580968"/>
            <a:ext cx="840658" cy="499469"/>
          </a:xfrm>
          <a:prstGeom prst="straightConnector1">
            <a:avLst/>
          </a:prstGeom>
          <a:noFill/>
          <a:ln cap="flat" cmpd="sng" w="50800">
            <a:solidFill>
              <a:srgbClr val="548135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892" name="Google Shape;892;p35"/>
          <p:cNvSpPr/>
          <p:nvPr/>
        </p:nvSpPr>
        <p:spPr>
          <a:xfrm>
            <a:off x="1393723" y="3182721"/>
            <a:ext cx="471948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5"/>
          <p:cNvSpPr txBox="1"/>
          <p:nvPr/>
        </p:nvSpPr>
        <p:spPr>
          <a:xfrm>
            <a:off x="250723" y="3887474"/>
            <a:ext cx="2757948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al máximo su huella ecológica en todo el ciclo de vida del producto y tiene presente su recuperación y reciclado final</a:t>
            </a:r>
            <a:endParaRPr/>
          </a:p>
        </p:txBody>
      </p:sp>
      <p:sp>
        <p:nvSpPr>
          <p:cNvPr id="894" name="Google Shape;894;p35"/>
          <p:cNvSpPr txBox="1"/>
          <p:nvPr/>
        </p:nvSpPr>
        <p:spPr>
          <a:xfrm>
            <a:off x="8883445" y="2068955"/>
            <a:ext cx="27579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 del ecodiseño, incorpora el aspecto social y económico</a:t>
            </a:r>
            <a:endParaRPr/>
          </a:p>
        </p:txBody>
      </p:sp>
      <p:cxnSp>
        <p:nvCxnSpPr>
          <p:cNvPr id="895" name="Google Shape;895;p35"/>
          <p:cNvCxnSpPr/>
          <p:nvPr/>
        </p:nvCxnSpPr>
        <p:spPr>
          <a:xfrm flipH="1">
            <a:off x="8008374" y="2567744"/>
            <a:ext cx="961103" cy="262958"/>
          </a:xfrm>
          <a:prstGeom prst="straightConnector1">
            <a:avLst/>
          </a:prstGeom>
          <a:noFill/>
          <a:ln cap="flat" cmpd="sng" w="50800">
            <a:solidFill>
              <a:srgbClr val="C4E0B2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896" name="Google Shape;896;p35"/>
          <p:cNvSpPr/>
          <p:nvPr/>
        </p:nvSpPr>
        <p:spPr>
          <a:xfrm>
            <a:off x="10026445" y="3182721"/>
            <a:ext cx="471948" cy="64633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4E0B2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5"/>
          <p:cNvSpPr txBox="1"/>
          <p:nvPr/>
        </p:nvSpPr>
        <p:spPr>
          <a:xfrm>
            <a:off x="8883445" y="3887474"/>
            <a:ext cx="275794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Evalúa los impactos sociales, las expectativas de sus grupos de interés, además de analizar y buscar la rentabilidad económica</a:t>
            </a:r>
            <a:endParaRPr/>
          </a:p>
        </p:txBody>
      </p:sp>
      <p:sp>
        <p:nvSpPr>
          <p:cNvPr id="898" name="Google Shape;898;p35"/>
          <p:cNvSpPr txBox="1"/>
          <p:nvPr/>
        </p:nvSpPr>
        <p:spPr>
          <a:xfrm>
            <a:off x="4603496" y="6505473"/>
            <a:ext cx="2275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DISEÑO DE PRODUCTOS SOSTENIBLES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05" name="Google Shape;905;p3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6" name="Google Shape;906;p3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Diagrama&#10;&#10;Descripción generada automáticamente" id="907" name="Google Shape;9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987" y="1790666"/>
            <a:ext cx="11377538" cy="4344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CERTIFICACIÓN DE PRODUCTOS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14" name="Google Shape;914;p3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5" name="Google Shape;915;p3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916" name="Google Shape;9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05" y="1368615"/>
            <a:ext cx="7778176" cy="5480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42db7c0585_0_532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FIN DE LA UD3</a:t>
            </a:r>
            <a:endParaRPr/>
          </a:p>
        </p:txBody>
      </p:sp>
      <p:sp>
        <p:nvSpPr>
          <p:cNvPr id="923" name="Google Shape;923;g342db7c0585_0_532"/>
          <p:cNvSpPr txBox="1"/>
          <p:nvPr/>
        </p:nvSpPr>
        <p:spPr>
          <a:xfrm>
            <a:off x="0" y="6526975"/>
            <a:ext cx="1219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2"/>
                </a:solidFill>
              </a:rPr>
              <a:t>Materiales extraídos de SOSTENIBILIDAD APLICADA AL SISTEMA PRODUCTIVO de Asunción León Blasco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2024-04-15T10:19:16Z</dcterms:created>
  <dc:creator>Rosa Castillo</dc:creator>
</cp:coreProperties>
</file>