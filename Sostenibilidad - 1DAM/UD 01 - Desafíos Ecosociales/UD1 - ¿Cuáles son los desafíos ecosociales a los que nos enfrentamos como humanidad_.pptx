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Maven Pro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gLZM/rpGl8nPf3K80Vvd9OLpZz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avenPro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69a9ed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e69a9ed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e69a9ed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e69a9ed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6390" y="156705"/>
            <a:ext cx="2342520" cy="68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2"/>
          <p:cNvPicPr preferRelativeResize="0"/>
          <p:nvPr/>
        </p:nvPicPr>
        <p:blipFill rotWithShape="1">
          <a:blip r:embed="rId3">
            <a:alphaModFix/>
          </a:blip>
          <a:srcRect b="-16890" l="0" r="-2541" t="0"/>
          <a:stretch/>
        </p:blipFill>
        <p:spPr>
          <a:xfrm>
            <a:off x="6577520" y="203969"/>
            <a:ext cx="19240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2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4" name="Google Shape;1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183" y="4552000"/>
            <a:ext cx="112138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None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6" name="Google Shape;16;p12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1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3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3" name="Google Shape;23;p1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4889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" name="Google Shape;27;p14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4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49295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536550" y="1279950"/>
            <a:ext cx="38259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4781550" y="1197300"/>
            <a:ext cx="36648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" name="Google Shape;35;p15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50" y="18075"/>
            <a:ext cx="2103376" cy="5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○"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hyperlink" Target="https://www.wwf.org.mx/?324210/Glosario-ambiental-Servicios-ecosis-qu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s://www.ecologiapolitica.info/navegando-por-los-turbulentos-tiempos-del-antropoceno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climatica.coop/limites-planetarios-cuantificados-los-9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climatica.coop/limites-planetarios-cuantificados-los-9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climatica.coop/limites-planetarios-cuantificados-los-9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hyperlink" Target="https://overshoot.footprintnetwork.org/newsroom/press-release-june-2025-english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hyperlink" Target="https://yearbook.enerdata.net/crude-oil/world-production-statistics.html" TargetMode="External"/><Relationship Id="rId10" Type="http://schemas.openxmlformats.org/officeDocument/2006/relationships/hyperlink" Target="https://world-nuclear.org/information-library/nuclear-fuel-cycle/mining-of-uranium/world-uranium-mining-production" TargetMode="External"/><Relationship Id="rId9" Type="http://schemas.openxmlformats.org/officeDocument/2006/relationships/hyperlink" Target="https://world-nuclear.org/information-library/nuclear-fuel-cycle/mining-of-uranium/world-uranium-mining-production" TargetMode="External"/><Relationship Id="rId5" Type="http://schemas.openxmlformats.org/officeDocument/2006/relationships/hyperlink" Target="https://yearbook.enerdata.net/natural-gas/world-natural-gas-production-statistics.html" TargetMode="External"/><Relationship Id="rId6" Type="http://schemas.openxmlformats.org/officeDocument/2006/relationships/hyperlink" Target="https://yearbook.enerdata.net/natural-gas/world-natural-gas-production-statistics.html" TargetMode="External"/><Relationship Id="rId7" Type="http://schemas.openxmlformats.org/officeDocument/2006/relationships/hyperlink" Target="https://yearbook.enerdata.net/coal-lignite/coal-production-data.html" TargetMode="External"/><Relationship Id="rId8" Type="http://schemas.openxmlformats.org/officeDocument/2006/relationships/hyperlink" Target="https://yearbook.enerdata.net/coal-lignite/coal-production-data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hyperlink" Target="https://oxfamilibrary.openrepository.com/bitstream/handle/10546/621656/bp-carbon-inequality-kills-281024-es.pdf;jsessionid=853CDE97B9F12510203436DA94DE0946?sequence=17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1"/>
          <p:cNvSpPr txBox="1"/>
          <p:nvPr>
            <p:ph type="title"/>
          </p:nvPr>
        </p:nvSpPr>
        <p:spPr>
          <a:xfrm>
            <a:off x="1054325" y="1399200"/>
            <a:ext cx="7173300" cy="21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ES"/>
              <a:t>UD 1: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ES"/>
              <a:t>¿Cuáles son los desafíos ecosociales a los que nos enfrentamos como humanidad?</a:t>
            </a:r>
            <a:endParaRPr/>
          </a:p>
        </p:txBody>
      </p:sp>
      <p:sp>
        <p:nvSpPr>
          <p:cNvPr id="47" name="Google Shape;47;p1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ES"/>
              <a:t>Sostenibilidad aplicada al sistema productivo</a:t>
            </a:r>
            <a:endParaRPr/>
          </a:p>
        </p:txBody>
      </p:sp>
      <p:sp>
        <p:nvSpPr>
          <p:cNvPr id="48" name="Google Shape;48;p1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ES"/>
              <a:t>1º DESARROLLO  DE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ES"/>
              <a:t>APLICACIONES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idx="1" type="body"/>
          </p:nvPr>
        </p:nvSpPr>
        <p:spPr>
          <a:xfrm>
            <a:off x="500700" y="1257975"/>
            <a:ext cx="5596500" cy="3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rmAutofit fontScale="62500"/>
          </a:bodyPr>
          <a:lstStyle/>
          <a:p>
            <a:pPr indent="-192576" lvl="0" marL="269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La vida humana es </a:t>
            </a:r>
            <a:r>
              <a:rPr lang="es-ES">
                <a:solidFill>
                  <a:schemeClr val="dk1"/>
                </a:solidFill>
              </a:rPr>
              <a:t>ecodependiente</a:t>
            </a:r>
            <a:r>
              <a:rPr lang="es-ES"/>
              <a:t>: necesitamos aire limpio, agua potable, suelos fértiles, biodiversidad y un clima estable para sostener nuestra salud y nuestras economías.</a:t>
            </a:r>
            <a:endParaRPr/>
          </a:p>
          <a:p>
            <a:pPr indent="-192576" lvl="0" marL="269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También somos </a:t>
            </a:r>
            <a:r>
              <a:rPr lang="es-ES">
                <a:solidFill>
                  <a:schemeClr val="dk1"/>
                </a:solidFill>
              </a:rPr>
              <a:t>interdependientes</a:t>
            </a:r>
            <a:r>
              <a:rPr lang="es-ES"/>
              <a:t>: cada vida se apoya en una red de cuidados, trabajos reproductivos y servicios comunitarios que permiten el desarrollo personal y profesional.</a:t>
            </a:r>
            <a:endParaRPr/>
          </a:p>
          <a:p>
            <a:pPr indent="-192576" lvl="0" marL="269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El antropocentrismo moderno y la mercantilización de la naturaleza invisibilizan que toda producción depende de </a:t>
            </a:r>
            <a:r>
              <a:rPr lang="es-ES">
                <a:solidFill>
                  <a:schemeClr val="dk1"/>
                </a:solidFill>
              </a:rPr>
              <a:t>funciones ecosistémicas que no pueden reemplazarse ilimitadamente</a:t>
            </a:r>
            <a:r>
              <a:rPr lang="es-ES"/>
              <a:t>.</a:t>
            </a:r>
            <a:endParaRPr/>
          </a:p>
          <a:p>
            <a:pPr indent="-192576" lvl="0" marL="269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El sistema productivo extrae materiales y energía, y devuelve residuos y contaminación: cuando no se reconocen límites, se trasladan </a:t>
            </a:r>
            <a:r>
              <a:rPr lang="es-ES">
                <a:solidFill>
                  <a:schemeClr val="dk1"/>
                </a:solidFill>
              </a:rPr>
              <a:t>costes ambientales y sociales a otros territorios y generaciones</a:t>
            </a:r>
            <a:r>
              <a:rPr lang="es-ES"/>
              <a:t>.</a:t>
            </a:r>
            <a:endParaRPr/>
          </a:p>
          <a:p>
            <a:pPr indent="-192576" lvl="0" marL="269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Comprender esta </a:t>
            </a:r>
            <a:r>
              <a:rPr lang="es-ES">
                <a:solidFill>
                  <a:schemeClr val="dk1"/>
                </a:solidFill>
              </a:rPr>
              <a:t>doble dependencia</a:t>
            </a:r>
            <a:r>
              <a:rPr lang="es-ES"/>
              <a:t> (eco + inter) es </a:t>
            </a:r>
            <a:r>
              <a:rPr lang="es-ES">
                <a:solidFill>
                  <a:schemeClr val="dk1"/>
                </a:solidFill>
              </a:rPr>
              <a:t>clave para juzgar</a:t>
            </a:r>
            <a:r>
              <a:rPr lang="es-ES"/>
              <a:t> la viabilidad y justicia de cualquier modelo económico o tecnológico.</a:t>
            </a:r>
            <a:endParaRPr/>
          </a:p>
        </p:txBody>
      </p:sp>
      <p:sp>
        <p:nvSpPr>
          <p:cNvPr id="54" name="Google Shape;54;p2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La humanidad y la naturaleza</a:t>
            </a:r>
            <a:endParaRPr/>
          </a:p>
        </p:txBody>
      </p:sp>
      <p:pic>
        <p:nvPicPr>
          <p:cNvPr id="55" name="Google Shape;5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1587" y="1684068"/>
            <a:ext cx="2291376" cy="22268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6391338" y="3915950"/>
            <a:ext cx="2302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ES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Funciones ecosistémicas. WWF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idx="1" type="body"/>
          </p:nvPr>
        </p:nvSpPr>
        <p:spPr>
          <a:xfrm>
            <a:off x="500700" y="1232625"/>
            <a:ext cx="58296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93051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Desde mediados del siglo XX, la ‘Gran Aceleración’ muestra un fuerte aumento de población, PIB y consumo de energía y materiales, acompañado de más presión sobre los ecosistemas.</a:t>
            </a:r>
            <a:endParaRPr/>
          </a:p>
          <a:p>
            <a:pPr indent="-293051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Diversos ‘límites planetarios’ aparecen comprometidos (clima, biodiversidad, ciclos del nitrógeno y fósforo, agua dulce, suelos), con riesgos de pérdida de resiliencia y puntos de no retorno.</a:t>
            </a:r>
            <a:endParaRPr/>
          </a:p>
          <a:p>
            <a:pPr indent="-293051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El desacople relativo por eficiencia no garantiza menos impacto absoluto si el volumen total de producción y consumo sigue creciendo: aparece el efecto rebote.</a:t>
            </a:r>
            <a:endParaRPr/>
          </a:p>
          <a:p>
            <a:pPr indent="-293051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Los picos y tensiones en combustibles fósiles y minerales críticos plantean restricciones materiales y geopolíticas a los modelos intensivos.</a:t>
            </a:r>
            <a:endParaRPr/>
          </a:p>
          <a:p>
            <a:pPr indent="-293051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96666"/>
              <a:buChar char="●"/>
            </a:pPr>
            <a:r>
              <a:rPr lang="es-ES"/>
              <a:t>Una transición ordenada requiere suficiencia material y energética, priorización y cambios estructurales más allá de mejoras incrementales.</a:t>
            </a:r>
            <a:endParaRPr/>
          </a:p>
        </p:txBody>
      </p:sp>
      <p:sp>
        <p:nvSpPr>
          <p:cNvPr id="62" name="Google Shape;62;p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El problema de crecer sin límite</a:t>
            </a:r>
            <a:endParaRPr/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0925" y="672525"/>
            <a:ext cx="1585275" cy="37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6756550" y="4331900"/>
            <a:ext cx="18312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ES" sz="7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La gran aceleración. Navegando por los turbulentos tiempos del Antropoceno - Ecología Política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500700" y="1211740"/>
            <a:ext cx="814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El debate ‘Antropoceno/Capitaloceno’ subraya la responsabilidad histórica de un modelo de crecimiento concreto.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Se indican varios límites planetarios transgredidos que reducen la resiliencia del sistema Tierra.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Límites referenciados: clima, biodiversidad, nitrógeno, fósforo, agua dulce, nuevas entidades.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Excepción destacada: la capa de ozono en recuperación (Protocolo de Montreal).</a:t>
            </a:r>
            <a:endParaRPr/>
          </a:p>
        </p:txBody>
      </p:sp>
      <p:sp>
        <p:nvSpPr>
          <p:cNvPr id="70" name="Google Shape;70;p18"/>
          <p:cNvSpPr txBox="1"/>
          <p:nvPr>
            <p:ph type="title"/>
          </p:nvPr>
        </p:nvSpPr>
        <p:spPr>
          <a:xfrm>
            <a:off x="500700" y="672525"/>
            <a:ext cx="81426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s-ES"/>
              <a:t>Antropoceno/Capitaloceno y límites planetarios</a:t>
            </a:r>
            <a:endParaRPr/>
          </a:p>
        </p:txBody>
      </p:sp>
      <p:pic>
        <p:nvPicPr>
          <p:cNvPr id="71" name="Google Shape;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313" y="3041527"/>
            <a:ext cx="3893376" cy="169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300" y="4468900"/>
            <a:ext cx="3385401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/>
          <p:nvPr/>
        </p:nvSpPr>
        <p:spPr>
          <a:xfrm>
            <a:off x="2625325" y="4690100"/>
            <a:ext cx="38934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Evolución de los límites planetarios</a:t>
            </a:r>
            <a:endParaRPr sz="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69a9ed64_0_0"/>
          <p:cNvSpPr txBox="1"/>
          <p:nvPr>
            <p:ph idx="1" type="body"/>
          </p:nvPr>
        </p:nvSpPr>
        <p:spPr>
          <a:xfrm>
            <a:off x="500700" y="1211740"/>
            <a:ext cx="814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El debate ‘Antropoceno/Capitaloceno’ subraya la responsabilidad histórica de un modelo de crecimiento concreto.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Se indican varios límites planetarios transgredidos que reducen la resiliencia del sistema Tierra.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Límites referenciados: clima, biodiversidad, nitrógeno, fósforo, agua dulce, nuevas entidades.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Excepción destacada: la capa de ozono en recuperación (Protocolo de Montreal).</a:t>
            </a:r>
            <a:endParaRPr/>
          </a:p>
        </p:txBody>
      </p:sp>
      <p:sp>
        <p:nvSpPr>
          <p:cNvPr id="79" name="Google Shape;79;g37e69a9ed64_0_0"/>
          <p:cNvSpPr txBox="1"/>
          <p:nvPr>
            <p:ph type="title"/>
          </p:nvPr>
        </p:nvSpPr>
        <p:spPr>
          <a:xfrm>
            <a:off x="500700" y="672525"/>
            <a:ext cx="81426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s-ES"/>
              <a:t>Antropoceno/Capitaloceno y límites planetarios</a:t>
            </a:r>
            <a:endParaRPr/>
          </a:p>
        </p:txBody>
      </p:sp>
      <p:pic>
        <p:nvPicPr>
          <p:cNvPr id="80" name="Google Shape;80;g37e69a9ed6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313" y="3041527"/>
            <a:ext cx="3893376" cy="169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7e69a9ed6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300" y="4468900"/>
            <a:ext cx="3385401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7e69a9ed64_0_0"/>
          <p:cNvSpPr txBox="1"/>
          <p:nvPr/>
        </p:nvSpPr>
        <p:spPr>
          <a:xfrm>
            <a:off x="2625325" y="4690100"/>
            <a:ext cx="38934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Evolución de los límites planetarios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83" name="Google Shape;83;g37e69a9ed64_0_0"/>
          <p:cNvSpPr/>
          <p:nvPr/>
        </p:nvSpPr>
        <p:spPr>
          <a:xfrm>
            <a:off x="1302775" y="79875"/>
            <a:ext cx="4323000" cy="1106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dk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7e69a9ed64_0_0"/>
          <p:cNvSpPr txBox="1"/>
          <p:nvPr/>
        </p:nvSpPr>
        <p:spPr>
          <a:xfrm>
            <a:off x="1468700" y="190504"/>
            <a:ext cx="39822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Antropoceno</a:t>
            </a:r>
            <a:r>
              <a:rPr lang="es-ES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s-ES" sz="1250">
                <a:solidFill>
                  <a:srgbClr val="444746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50">
                <a:solidFill>
                  <a:schemeClr val="lt1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</a:rPr>
              <a:t>Época geológica caracterizada por el impacto global y significativo de la actividad humana en el planeta, alterando el clima, la geología y los ecosistemas.</a:t>
            </a:r>
            <a:endParaRPr sz="17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e69a9ed64_0_8"/>
          <p:cNvSpPr txBox="1"/>
          <p:nvPr>
            <p:ph idx="1" type="body"/>
          </p:nvPr>
        </p:nvSpPr>
        <p:spPr>
          <a:xfrm>
            <a:off x="500700" y="1211740"/>
            <a:ext cx="814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El debate ‘Antropoceno/Capitaloceno’ subraya la responsabilidad histórica de un modelo de crecimiento concreto.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Se indican varios límites planetarios transgredidos que reducen la resiliencia del sistema Tierra.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Límites referenciados: clima, biodiversidad, nitrógeno, fósforo, agua dulce, nuevas entidades.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Excepción destacada: la capa de ozono en recuperación (Protocolo de Montreal).</a:t>
            </a:r>
            <a:endParaRPr/>
          </a:p>
        </p:txBody>
      </p:sp>
      <p:sp>
        <p:nvSpPr>
          <p:cNvPr id="90" name="Google Shape;90;g37e69a9ed64_0_8"/>
          <p:cNvSpPr txBox="1"/>
          <p:nvPr>
            <p:ph type="title"/>
          </p:nvPr>
        </p:nvSpPr>
        <p:spPr>
          <a:xfrm>
            <a:off x="500700" y="672525"/>
            <a:ext cx="81426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s-ES"/>
              <a:t>Antropoceno/Capitaloceno y límites planetarios</a:t>
            </a:r>
            <a:endParaRPr/>
          </a:p>
        </p:txBody>
      </p:sp>
      <p:pic>
        <p:nvPicPr>
          <p:cNvPr id="91" name="Google Shape;91;g37e69a9ed6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313" y="3041527"/>
            <a:ext cx="3893376" cy="169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7e69a9ed64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300" y="4468900"/>
            <a:ext cx="3385401" cy="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7e69a9ed64_0_8"/>
          <p:cNvSpPr txBox="1"/>
          <p:nvPr/>
        </p:nvSpPr>
        <p:spPr>
          <a:xfrm>
            <a:off x="2625325" y="4690100"/>
            <a:ext cx="38934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u="sng">
                <a:solidFill>
                  <a:schemeClr val="lt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Evolución de los límites planetarios</a:t>
            </a:r>
            <a:endParaRPr sz="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idx="1" type="body"/>
          </p:nvPr>
        </p:nvSpPr>
        <p:spPr>
          <a:xfrm>
            <a:off x="500700" y="1331875"/>
            <a:ext cx="3911400" cy="3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La huella ecológica estima la superficie bioproductiva necesaria para sostener nuestro consumo y absorber residuos.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Vivimos por encima de la biocapacidad: 1.7 planetas equivalentes.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El ‘Día de la Sobrecapacidad’ marca cuándo empezamos a consumir ‘a crédito’ ecológico. </a:t>
            </a:r>
            <a:r>
              <a:rPr lang="es-ES"/>
              <a:t>En 2024 fue el 1 de agosto, mientras que, por ejemplo, en 1996 fue el 30 de septiembre y en 1970 el 30 de diciembre.</a:t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Huella ecológica y Overshoot Day</a:t>
            </a:r>
            <a:endParaRPr/>
          </a:p>
        </p:txBody>
      </p:sp>
      <p:pic>
        <p:nvPicPr>
          <p:cNvPr id="100" name="Google Shape;1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605" y="1312500"/>
            <a:ext cx="1787533" cy="12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775" y="2617625"/>
            <a:ext cx="2465200" cy="18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 txBox="1"/>
          <p:nvPr/>
        </p:nvSpPr>
        <p:spPr>
          <a:xfrm>
            <a:off x="5027225" y="4358900"/>
            <a:ext cx="37923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" u="sng">
                <a:solidFill>
                  <a:schemeClr val="hlink"/>
                </a:solidFill>
                <a:hlinkClick r:id="rId5"/>
              </a:rPr>
              <a:t>Día de la Sobrecapacidad de la Tierra (1971-2025)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500700" y="1273775"/>
            <a:ext cx="81426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Pico del petróleo: 2018.</a:t>
            </a:r>
            <a:endParaRPr/>
          </a:p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El resto de los combustibles fósiles seguirán el mismo camino y parece que estamos cerca de alcanzarlos (gas natural y carbón). En el caso del uranio, el cénit de extracción se alcanzó en 2016</a:t>
            </a:r>
            <a:endParaRPr/>
          </a:p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Minerales críticos referenciados: cobre, litio, cobalto, fósforo.</a:t>
            </a:r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Picos de combustibles fósiles y minerales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80425"/>
            <a:ext cx="8839200" cy="1201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159825" y="3889100"/>
            <a:ext cx="1796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" u="sng">
                <a:solidFill>
                  <a:schemeClr val="hlink"/>
                </a:solidFill>
                <a:hlinkClick r:id="rId4"/>
              </a:rPr>
              <a:t>Extracción de petróleo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419025" y="3889100"/>
            <a:ext cx="1796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" u="sng">
                <a:solidFill>
                  <a:schemeClr val="hlink"/>
                </a:solidFill>
                <a:hlinkClick r:id="rId5"/>
              </a:rPr>
              <a:t>Extracción de </a:t>
            </a:r>
            <a:r>
              <a:rPr lang="es-ES" sz="700" u="sng">
                <a:solidFill>
                  <a:schemeClr val="hlink"/>
                </a:solidFill>
                <a:hlinkClick r:id="rId6"/>
              </a:rPr>
              <a:t>gas natural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629775" y="3889100"/>
            <a:ext cx="1796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" u="sng">
                <a:solidFill>
                  <a:schemeClr val="hlink"/>
                </a:solidFill>
                <a:hlinkClick r:id="rId7"/>
              </a:rPr>
              <a:t>Extracción de </a:t>
            </a:r>
            <a:r>
              <a:rPr lang="es-ES" sz="700" u="sng">
                <a:solidFill>
                  <a:schemeClr val="hlink"/>
                </a:solidFill>
                <a:hlinkClick r:id="rId8"/>
              </a:rPr>
              <a:t>carbón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6884125" y="3889100"/>
            <a:ext cx="1796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" u="sng">
                <a:solidFill>
                  <a:schemeClr val="hlink"/>
                </a:solidFill>
                <a:hlinkClick r:id="rId9"/>
              </a:rPr>
              <a:t>Extracción de </a:t>
            </a:r>
            <a:r>
              <a:rPr lang="es-ES" sz="700" u="sng">
                <a:solidFill>
                  <a:schemeClr val="hlink"/>
                </a:solidFill>
                <a:hlinkClick r:id="rId10"/>
              </a:rPr>
              <a:t>uranio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23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>
                <a:solidFill>
                  <a:schemeClr val="dk1"/>
                </a:solidFill>
              </a:rPr>
              <a:t>Clima</a:t>
            </a:r>
            <a:r>
              <a:rPr lang="es-ES"/>
              <a:t>: más olas de calor, lluvias torrenciales/DANA, sequías e incendios, con efectos directos en salud, infraestructuras y economía.</a:t>
            </a:r>
            <a:endParaRPr/>
          </a:p>
          <a:p>
            <a:pPr indent="-323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>
                <a:solidFill>
                  <a:schemeClr val="dk1"/>
                </a:solidFill>
              </a:rPr>
              <a:t>Biodiversidad</a:t>
            </a:r>
            <a:r>
              <a:rPr lang="es-ES"/>
              <a:t>: pérdida acelerada de especies y de diversidad genética que debilita polinización, suelos y regulación hídrica.</a:t>
            </a:r>
            <a:endParaRPr/>
          </a:p>
          <a:p>
            <a:pPr indent="-323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>
                <a:solidFill>
                  <a:schemeClr val="dk1"/>
                </a:solidFill>
              </a:rPr>
              <a:t>Recursos y contaminación</a:t>
            </a:r>
            <a:r>
              <a:rPr lang="es-ES"/>
              <a:t>: degradación de suelos y aguas, tóxicos persistentes y residuos tecnológicos con impactos locales y globales.</a:t>
            </a:r>
            <a:endParaRPr/>
          </a:p>
          <a:p>
            <a:pPr indent="-323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>
                <a:solidFill>
                  <a:schemeClr val="dk1"/>
                </a:solidFill>
              </a:rPr>
              <a:t>Salud y zoonosis</a:t>
            </a:r>
            <a:r>
              <a:rPr lang="es-ES"/>
              <a:t>: ecosistemas alterados aumentan riesgos sanitarios y la exposición a eventos extremos climáticos.</a:t>
            </a:r>
            <a:endParaRPr/>
          </a:p>
          <a:p>
            <a:pPr indent="-3239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>
                <a:solidFill>
                  <a:schemeClr val="dk1"/>
                </a:solidFill>
              </a:rPr>
              <a:t>Territorios</a:t>
            </a:r>
            <a:r>
              <a:rPr lang="es-ES"/>
              <a:t>: desigual vulnerabilidad según ubicación, renta y acceso a servicios, con fracturas urbano-rurales y periferias más expuestas.</a:t>
            </a:r>
            <a:endParaRPr/>
          </a:p>
        </p:txBody>
      </p:sp>
      <p:sp>
        <p:nvSpPr>
          <p:cNvPr id="119" name="Google Shape;119;p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Manifestaciones de la crisis ecosocial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500700" y="1327050"/>
            <a:ext cx="4642800" cy="3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337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 sz="1200"/>
              <a:t>Varios problemas a la vez y conectados: clima, naturaleza, economía y cuidados.</a:t>
            </a:r>
            <a:endParaRPr sz="1200"/>
          </a:p>
          <a:p>
            <a:pPr indent="-29337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 sz="1200"/>
              <a:t>Efecto dominó: lo que pasa en uno empeora los demás                 (p. ej., sequía → menos producción → precios ↑).</a:t>
            </a:r>
            <a:endParaRPr sz="1200"/>
          </a:p>
          <a:p>
            <a:pPr indent="-29337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 sz="1200"/>
              <a:t>Clima: más calor extremo, lluvias intensas e incendios; afecta a la salud y a los servicios.</a:t>
            </a:r>
            <a:endParaRPr sz="1200"/>
          </a:p>
          <a:p>
            <a:pPr indent="-29337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 sz="1200"/>
              <a:t>Naturaleza: menos biodiversidad = perdemos polinización, suelos sanos y agua limpia.</a:t>
            </a:r>
            <a:endParaRPr sz="1200"/>
          </a:p>
          <a:p>
            <a:pPr indent="-29337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 sz="1200"/>
              <a:t>Energía y materiales: suben costes y hay cortes; golpea más a quien menos tiene.</a:t>
            </a:r>
            <a:endParaRPr sz="1200"/>
          </a:p>
          <a:p>
            <a:pPr indent="-29337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 sz="1200"/>
              <a:t>Respuesta: reducir impactos en origen, cuidar a las personas y planificar con justicia.</a:t>
            </a:r>
            <a:endParaRPr sz="1200"/>
          </a:p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Crisis multisistémica</a:t>
            </a:r>
            <a:endParaRPr/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4491" y="1235022"/>
            <a:ext cx="1781750" cy="316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4431600" y="1464525"/>
            <a:ext cx="42117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9562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Quema de combustibles fósiles en energía, transporte e industria.</a:t>
            </a:r>
            <a:endParaRPr/>
          </a:p>
          <a:p>
            <a:pPr indent="-309562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Cambio de usos del suelo y urbanización expansiva.</a:t>
            </a:r>
            <a:endParaRPr/>
          </a:p>
          <a:p>
            <a:pPr indent="-309562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Destrucción de sumideros naturales: bosques y suelos.</a:t>
            </a:r>
            <a:endParaRPr/>
          </a:p>
          <a:p>
            <a:pPr indent="-309562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Cadenas globales de producción y consumo intensivas en materiales y energía.</a:t>
            </a:r>
            <a:endParaRPr/>
          </a:p>
        </p:txBody>
      </p:sp>
      <p:sp>
        <p:nvSpPr>
          <p:cNvPr id="132" name="Google Shape;132;p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Emergencia climática</a:t>
            </a:r>
            <a:endParaRPr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92" y="1602178"/>
            <a:ext cx="3716959" cy="24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500700" y="1152825"/>
            <a:ext cx="81426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2418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Estamos en la ‘Sexta Gran Extinción’, con ritmos de pérdida de especies muy superiores a la extinción de fondo.</a:t>
            </a:r>
            <a:endParaRPr/>
          </a:p>
          <a:p>
            <a:pPr indent="-302418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Causas principales: uso del suelo, invasoras, sobreexplotación, clima, contaminación…</a:t>
            </a:r>
            <a:endParaRPr/>
          </a:p>
          <a:p>
            <a:pPr indent="-302418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Impactos: pérdida de servicios ecosistémicos clave (polinización, suelos, agua) y aumento de vulnerabilidades.</a:t>
            </a:r>
            <a:endParaRPr/>
          </a:p>
        </p:txBody>
      </p:sp>
      <p:sp>
        <p:nvSpPr>
          <p:cNvPr id="139" name="Google Shape;139;p17"/>
          <p:cNvSpPr txBox="1"/>
          <p:nvPr>
            <p:ph type="title"/>
          </p:nvPr>
        </p:nvSpPr>
        <p:spPr>
          <a:xfrm>
            <a:off x="500700" y="672525"/>
            <a:ext cx="8142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20"/>
              <a:buFont typeface="Arial"/>
              <a:buNone/>
            </a:pPr>
            <a:r>
              <a:rPr lang="es-ES" sz="2220"/>
              <a:t>Biodiversidad — Sexta Gran Extinción y Causas/Impactos</a:t>
            </a:r>
            <a:endParaRPr sz="2220"/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439" y="2741325"/>
            <a:ext cx="6867124" cy="18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500700" y="1464525"/>
            <a:ext cx="40341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Contaminación del aire, agua y suelos; residuos y tóxicos persistentes.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Extracción y externalización de costes hacia territorios más vulnerables.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Residuos tecnológicos (RAEE): necesidad de trazabilidad y fin de vida responsable.</a:t>
            </a:r>
            <a:endParaRPr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Pérdida de biodiversidad por cambio de usos del suelo y sobreexplotación.</a:t>
            </a:r>
            <a:endParaRPr/>
          </a:p>
        </p:txBody>
      </p:sp>
      <p:sp>
        <p:nvSpPr>
          <p:cNvPr id="146" name="Google Shape;146;p7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Impactos de nuestros modelos industriales</a:t>
            </a:r>
            <a:endParaRPr/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9075" y="1587175"/>
            <a:ext cx="3778774" cy="250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500700" y="1307675"/>
            <a:ext cx="35871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Impactos en salud: olas de calor, calidad del aire, riesgos de zoonosis y afectación a la salud mental.</a:t>
            </a:r>
            <a:endParaRPr/>
          </a:p>
          <a:p>
            <a:pPr indent="-323850" lvl="0" marL="314999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Migraciones y desplazamientos vinculados a eventos extremos y degradación ambiental exigen enfoque de justicia.</a:t>
            </a:r>
            <a:endParaRPr/>
          </a:p>
        </p:txBody>
      </p:sp>
      <p:sp>
        <p:nvSpPr>
          <p:cNvPr id="153" name="Google Shape;153;p2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Salud y migraciones</a:t>
            </a:r>
            <a:endParaRPr/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64525"/>
            <a:ext cx="4136151" cy="275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idx="1" type="body"/>
          </p:nvPr>
        </p:nvSpPr>
        <p:spPr>
          <a:xfrm>
            <a:off x="4402925" y="1329000"/>
            <a:ext cx="42405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-312420" lvl="0" marL="3600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/>
              <a:t>Las contribuciones a la crisis y los impactos sufridos se distribuyen de forma desigual entre países y dentro de ellos.</a:t>
            </a:r>
            <a:endParaRPr/>
          </a:p>
          <a:p>
            <a:pPr indent="-312420" lvl="0" marL="3600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/>
              <a:t>La dimensión de género es clave: el trabajo de cuidados no remunerado sostiene la vida pero suele quedar invisibilizado y precarizado.</a:t>
            </a:r>
            <a:endParaRPr/>
          </a:p>
          <a:p>
            <a:pPr indent="-312420" lvl="0" marL="3600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/>
              <a:t>Colectivos con menos renta y menor capacidad de adaptación sufren más los eventos extremos y las degradaciones ambientales.</a:t>
            </a:r>
            <a:endParaRPr/>
          </a:p>
          <a:p>
            <a:pPr indent="-312420" lvl="0" marL="3600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/>
              <a:t>La justicia ecosocial reclama repartir cargas y beneficios, garantizar participación y reparar daños, poniendo la sostenibilidad de la vida en el centro.</a:t>
            </a:r>
            <a:endParaRPr/>
          </a:p>
          <a:p>
            <a:pPr indent="-312420" lvl="0" marL="3600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60000"/>
              <a:buChar char="●"/>
            </a:pPr>
            <a:r>
              <a:rPr lang="es-ES"/>
              <a:t>Pensar la transición con enfoque de género y equidad mejora eficacia y legitimidad de las políticas públicas y organizacionales.</a:t>
            </a:r>
            <a:endParaRPr/>
          </a:p>
        </p:txBody>
      </p:sp>
      <p:sp>
        <p:nvSpPr>
          <p:cNvPr id="160" name="Google Shape;160;p5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Desigualdad social, económica y de género</a:t>
            </a:r>
            <a:endParaRPr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00" y="1547100"/>
            <a:ext cx="4021750" cy="274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324650" y="4336975"/>
            <a:ext cx="3799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ES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La desigualdad de las emisiones de carbono mata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idx="1" type="body"/>
          </p:nvPr>
        </p:nvSpPr>
        <p:spPr>
          <a:xfrm>
            <a:off x="500700" y="1237675"/>
            <a:ext cx="8142600" cy="3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ES" sz="1800">
                <a:solidFill>
                  <a:schemeClr val="dk1"/>
                </a:solidFill>
              </a:rPr>
              <a:t>Descarbonización</a:t>
            </a:r>
            <a:endParaRPr sz="1800"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Reducir drásticamente emisiones: eficiencia + electrificación con renovables.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Suficiencia energética y gestión de la demanda para evitar efecto rebote.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Planificación con equidad: transición justa entre sectores y territorios.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-ES" sz="1800">
                <a:solidFill>
                  <a:schemeClr val="dk1"/>
                </a:solidFill>
              </a:rPr>
              <a:t>Movilidad sostenible</a:t>
            </a:r>
            <a:endParaRPr sz="18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Priorizar proximidad, caminar y bicicleta; transporte público de calidad.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Gestión de la demanda y teletrabajo cuando tenga sentido.</a:t>
            </a:r>
            <a:endParaRPr/>
          </a:p>
          <a:p>
            <a:pPr indent="-3238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-ES"/>
              <a:t>Electrificación y combustibles alternativos con criterios de ciclo de vida.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8" name="Google Shape;168;p8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Principales retos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500700" y="1464525"/>
            <a:ext cx="41103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90"/>
              <a:buNone/>
            </a:pPr>
            <a:r>
              <a:rPr lang="es-ES" sz="1800">
                <a:solidFill>
                  <a:schemeClr val="dk1"/>
                </a:solidFill>
              </a:rPr>
              <a:t>Pobreza alimentaria</a:t>
            </a:r>
            <a:endParaRPr sz="1800"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La degradación ecológica y el clima elevan precios y precarizan el acceso a alimentos.</a:t>
            </a:r>
            <a:endParaRPr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Derecho a la alimentación: políticas públicas y redes comunitarias de apoyo.</a:t>
            </a:r>
            <a:endParaRPr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-ES"/>
              <a:t>Producción sostenible y de proximidad para resiliencia y salud.</a:t>
            </a:r>
            <a:endParaRPr/>
          </a:p>
        </p:txBody>
      </p:sp>
      <p:sp>
        <p:nvSpPr>
          <p:cNvPr id="174" name="Google Shape;174;p1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-ES"/>
              <a:t>Principales retos</a:t>
            </a:r>
            <a:endParaRPr/>
          </a:p>
        </p:txBody>
      </p:sp>
      <p:pic>
        <p:nvPicPr>
          <p:cNvPr id="175" name="Google Shape;1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1200" y="1423899"/>
            <a:ext cx="3219126" cy="26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