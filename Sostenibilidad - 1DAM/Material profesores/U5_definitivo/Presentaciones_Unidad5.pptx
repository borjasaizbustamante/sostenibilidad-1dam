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260" r:id="rId3"/>
    <p:sldId id="263" r:id="rId4"/>
    <p:sldId id="351" r:id="rId5"/>
    <p:sldId id="340" r:id="rId6"/>
    <p:sldId id="354" r:id="rId7"/>
    <p:sldId id="297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58" r:id="rId16"/>
    <p:sldId id="360" r:id="rId17"/>
    <p:sldId id="348" r:id="rId18"/>
    <p:sldId id="349" r:id="rId19"/>
    <p:sldId id="350" r:id="rId20"/>
    <p:sldId id="352" r:id="rId21"/>
    <p:sldId id="353" r:id="rId22"/>
    <p:sldId id="355" r:id="rId23"/>
    <p:sldId id="356" r:id="rId24"/>
    <p:sldId id="357" r:id="rId25"/>
    <p:sldId id="359" r:id="rId26"/>
    <p:sldId id="361" r:id="rId27"/>
    <p:sldId id="362" r:id="rId28"/>
    <p:sldId id="363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80" r:id="rId37"/>
    <p:sldId id="372" r:id="rId38"/>
    <p:sldId id="373" r:id="rId39"/>
    <p:sldId id="374" r:id="rId40"/>
    <p:sldId id="375" r:id="rId41"/>
    <p:sldId id="379" r:id="rId42"/>
    <p:sldId id="383" r:id="rId43"/>
    <p:sldId id="382" r:id="rId44"/>
    <p:sldId id="381" r:id="rId45"/>
    <p:sldId id="377" r:id="rId46"/>
    <p:sldId id="376" r:id="rId47"/>
    <p:sldId id="378" r:id="rId48"/>
    <p:sldId id="384" r:id="rId49"/>
    <p:sldId id="364" r:id="rId50"/>
    <p:sldId id="385" r:id="rId51"/>
    <p:sldId id="386" r:id="rId52"/>
    <p:sldId id="387" r:id="rId53"/>
    <p:sldId id="388" r:id="rId54"/>
    <p:sldId id="389" r:id="rId55"/>
    <p:sldId id="390" r:id="rId56"/>
    <p:sldId id="391" r:id="rId57"/>
    <p:sldId id="392" r:id="rId58"/>
    <p:sldId id="338" r:id="rId5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dad5: El paln de sostenibilidad" id="{25193AA9-8668-4949-BBC6-7336EC209A2E}">
          <p14:sldIdLst>
            <p14:sldId id="256"/>
          </p14:sldIdLst>
        </p14:section>
        <p14:section name="5.1. Introducción" id="{B6C341E1-91D7-41DA-9610-64E428C50B83}">
          <p14:sldIdLst>
            <p14:sldId id="260"/>
            <p14:sldId id="263"/>
            <p14:sldId id="351"/>
            <p14:sldId id="340"/>
            <p14:sldId id="354"/>
          </p14:sldIdLst>
        </p14:section>
        <p14:section name="5.2. Fases para la definición de un plan de sostenibilidad" id="{A5541D46-6C24-44BB-A6EA-2F18AA60E2DA}">
          <p14:sldIdLst>
            <p14:sldId id="297"/>
            <p14:sldId id="341"/>
            <p14:sldId id="342"/>
            <p14:sldId id="343"/>
            <p14:sldId id="344"/>
            <p14:sldId id="345"/>
            <p14:sldId id="346"/>
            <p14:sldId id="347"/>
            <p14:sldId id="358"/>
            <p14:sldId id="360"/>
            <p14:sldId id="348"/>
            <p14:sldId id="349"/>
            <p14:sldId id="350"/>
            <p14:sldId id="352"/>
            <p14:sldId id="353"/>
            <p14:sldId id="355"/>
            <p14:sldId id="356"/>
            <p14:sldId id="357"/>
            <p14:sldId id="359"/>
            <p14:sldId id="361"/>
            <p14:sldId id="362"/>
            <p14:sldId id="363"/>
            <p14:sldId id="365"/>
            <p14:sldId id="366"/>
            <p14:sldId id="367"/>
            <p14:sldId id="368"/>
            <p14:sldId id="369"/>
            <p14:sldId id="370"/>
            <p14:sldId id="371"/>
            <p14:sldId id="380"/>
            <p14:sldId id="372"/>
            <p14:sldId id="373"/>
            <p14:sldId id="374"/>
            <p14:sldId id="375"/>
            <p14:sldId id="379"/>
            <p14:sldId id="383"/>
            <p14:sldId id="382"/>
            <p14:sldId id="381"/>
            <p14:sldId id="377"/>
            <p14:sldId id="376"/>
            <p14:sldId id="378"/>
            <p14:sldId id="384"/>
          </p14:sldIdLst>
        </p14:section>
        <p14:section name="5.3. Estrategias de seguimiento y mejora continua" id="{5CB9D9C8-B692-4B8C-B502-9C2798F2056A}">
          <p14:sldIdLst>
            <p14:sldId id="36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B800"/>
    <a:srgbClr val="1390BD"/>
    <a:srgbClr val="EF540F"/>
    <a:srgbClr val="FFFFD9"/>
    <a:srgbClr val="A80000"/>
    <a:srgbClr val="CDEDCB"/>
    <a:srgbClr val="FCEEEE"/>
    <a:srgbClr val="AFAC24"/>
    <a:srgbClr val="4F2270"/>
    <a:srgbClr val="BCB5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465" autoAdjust="0"/>
    <p:restoredTop sz="94660"/>
  </p:normalViewPr>
  <p:slideViewPr>
    <p:cSldViewPr snapToGrid="0">
      <p:cViewPr>
        <p:scale>
          <a:sx n="50" d="100"/>
          <a:sy n="50" d="100"/>
        </p:scale>
        <p:origin x="7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A7D1AD-0780-4270-B04B-A2834108E26D}" type="doc">
      <dgm:prSet loTypeId="urn:microsoft.com/office/officeart/2005/8/layout/equation2" loCatId="process" qsTypeId="urn:microsoft.com/office/officeart/2009/2/quickstyle/3d8" qsCatId="3D" csTypeId="urn:microsoft.com/office/officeart/2005/8/colors/colorful5" csCatId="colorful" phldr="1"/>
      <dgm:spPr/>
    </dgm:pt>
    <dgm:pt modelId="{13C5B151-BFCF-4276-808B-0F5CCC316155}">
      <dgm:prSet phldrT="[Texto]"/>
      <dgm:spPr/>
      <dgm:t>
        <a:bodyPr/>
        <a:lstStyle/>
        <a:p>
          <a:r>
            <a:rPr lang="es-ES" b="1" dirty="0"/>
            <a:t>Materialidad Financiera</a:t>
          </a:r>
        </a:p>
      </dgm:t>
    </dgm:pt>
    <dgm:pt modelId="{B77AD818-A9E2-4236-A99D-F28D04384B0D}" type="parTrans" cxnId="{9E1D079F-4213-4E86-85D6-C5EB638E5127}">
      <dgm:prSet/>
      <dgm:spPr/>
      <dgm:t>
        <a:bodyPr/>
        <a:lstStyle/>
        <a:p>
          <a:endParaRPr lang="es-ES"/>
        </a:p>
      </dgm:t>
    </dgm:pt>
    <dgm:pt modelId="{857C574C-BE08-4823-8083-C5F0CD92417D}" type="sibTrans" cxnId="{9E1D079F-4213-4E86-85D6-C5EB638E5127}">
      <dgm:prSet/>
      <dgm:spPr/>
      <dgm:t>
        <a:bodyPr/>
        <a:lstStyle/>
        <a:p>
          <a:endParaRPr lang="es-ES"/>
        </a:p>
      </dgm:t>
    </dgm:pt>
    <dgm:pt modelId="{FF5D395F-278C-4DF5-B486-72625CC6967F}">
      <dgm:prSet phldrT="[Texto]"/>
      <dgm:spPr/>
      <dgm:t>
        <a:bodyPr/>
        <a:lstStyle/>
        <a:p>
          <a:r>
            <a:rPr lang="es-ES" b="1" dirty="0"/>
            <a:t>Materialidad de Impacto</a:t>
          </a:r>
        </a:p>
      </dgm:t>
    </dgm:pt>
    <dgm:pt modelId="{7166273F-490C-4C2F-AD56-4CF816FAE49C}" type="parTrans" cxnId="{6506FA3C-3475-4A90-85BC-B61A61E61022}">
      <dgm:prSet/>
      <dgm:spPr/>
      <dgm:t>
        <a:bodyPr/>
        <a:lstStyle/>
        <a:p>
          <a:endParaRPr lang="es-ES"/>
        </a:p>
      </dgm:t>
    </dgm:pt>
    <dgm:pt modelId="{3A292687-EC2D-4AEF-BEA6-A158FB8677A7}" type="sibTrans" cxnId="{6506FA3C-3475-4A90-85BC-B61A61E61022}">
      <dgm:prSet/>
      <dgm:spPr/>
      <dgm:t>
        <a:bodyPr/>
        <a:lstStyle/>
        <a:p>
          <a:endParaRPr lang="es-ES"/>
        </a:p>
      </dgm:t>
    </dgm:pt>
    <dgm:pt modelId="{501E1AE2-267E-4712-8E54-B66133530B15}">
      <dgm:prSet phldrT="[Texto]"/>
      <dgm:spPr/>
      <dgm:t>
        <a:bodyPr/>
        <a:lstStyle/>
        <a:p>
          <a:r>
            <a:rPr lang="es-ES" b="1" dirty="0"/>
            <a:t>Cuestiones Materiales</a:t>
          </a:r>
        </a:p>
      </dgm:t>
    </dgm:pt>
    <dgm:pt modelId="{AA79C00A-3D5E-475B-8A91-6B45717263AB}" type="parTrans" cxnId="{AA2BFA8F-F73F-4ED1-9B64-088324AF84EC}">
      <dgm:prSet/>
      <dgm:spPr/>
      <dgm:t>
        <a:bodyPr/>
        <a:lstStyle/>
        <a:p>
          <a:endParaRPr lang="es-ES"/>
        </a:p>
      </dgm:t>
    </dgm:pt>
    <dgm:pt modelId="{8BA291D6-5280-40AE-AFEC-113D9E721F7D}" type="sibTrans" cxnId="{AA2BFA8F-F73F-4ED1-9B64-088324AF84EC}">
      <dgm:prSet/>
      <dgm:spPr/>
      <dgm:t>
        <a:bodyPr/>
        <a:lstStyle/>
        <a:p>
          <a:endParaRPr lang="es-ES"/>
        </a:p>
      </dgm:t>
    </dgm:pt>
    <dgm:pt modelId="{FA70DEF8-2892-4EBC-B888-61D9FB304E90}" type="pres">
      <dgm:prSet presAssocID="{03A7D1AD-0780-4270-B04B-A2834108E26D}" presName="Name0" presStyleCnt="0">
        <dgm:presLayoutVars>
          <dgm:dir/>
          <dgm:resizeHandles val="exact"/>
        </dgm:presLayoutVars>
      </dgm:prSet>
      <dgm:spPr/>
    </dgm:pt>
    <dgm:pt modelId="{23CE6F97-8044-4A6E-9BF5-27874CF2B141}" type="pres">
      <dgm:prSet presAssocID="{03A7D1AD-0780-4270-B04B-A2834108E26D}" presName="vNodes" presStyleCnt="0"/>
      <dgm:spPr/>
    </dgm:pt>
    <dgm:pt modelId="{8CC068D5-2565-4698-ABF4-E1182A592EAA}" type="pres">
      <dgm:prSet presAssocID="{13C5B151-BFCF-4276-808B-0F5CCC316155}" presName="node" presStyleLbl="node1" presStyleIdx="0" presStyleCnt="3">
        <dgm:presLayoutVars>
          <dgm:bulletEnabled val="1"/>
        </dgm:presLayoutVars>
      </dgm:prSet>
      <dgm:spPr/>
    </dgm:pt>
    <dgm:pt modelId="{506D29FE-F91E-42AD-9F36-F41893658AD1}" type="pres">
      <dgm:prSet presAssocID="{857C574C-BE08-4823-8083-C5F0CD92417D}" presName="spacerT" presStyleCnt="0"/>
      <dgm:spPr/>
    </dgm:pt>
    <dgm:pt modelId="{18DE51B0-78E1-445B-87D5-E9BBBA0F709F}" type="pres">
      <dgm:prSet presAssocID="{857C574C-BE08-4823-8083-C5F0CD92417D}" presName="sibTrans" presStyleLbl="sibTrans2D1" presStyleIdx="0" presStyleCnt="2"/>
      <dgm:spPr/>
    </dgm:pt>
    <dgm:pt modelId="{803DF438-7362-4EE5-9C6C-57F5D543D649}" type="pres">
      <dgm:prSet presAssocID="{857C574C-BE08-4823-8083-C5F0CD92417D}" presName="spacerB" presStyleCnt="0"/>
      <dgm:spPr/>
    </dgm:pt>
    <dgm:pt modelId="{DEE977D4-F626-472A-B65B-EAB72D8DAA38}" type="pres">
      <dgm:prSet presAssocID="{FF5D395F-278C-4DF5-B486-72625CC6967F}" presName="node" presStyleLbl="node1" presStyleIdx="1" presStyleCnt="3">
        <dgm:presLayoutVars>
          <dgm:bulletEnabled val="1"/>
        </dgm:presLayoutVars>
      </dgm:prSet>
      <dgm:spPr/>
    </dgm:pt>
    <dgm:pt modelId="{DB168C15-217E-4813-AE39-9D5A5DB8FFC0}" type="pres">
      <dgm:prSet presAssocID="{03A7D1AD-0780-4270-B04B-A2834108E26D}" presName="sibTransLast" presStyleLbl="sibTrans2D1" presStyleIdx="1" presStyleCnt="2"/>
      <dgm:spPr/>
    </dgm:pt>
    <dgm:pt modelId="{2619588F-95C6-4A25-B68F-37F96E410601}" type="pres">
      <dgm:prSet presAssocID="{03A7D1AD-0780-4270-B04B-A2834108E26D}" presName="connectorText" presStyleLbl="sibTrans2D1" presStyleIdx="1" presStyleCnt="2"/>
      <dgm:spPr/>
    </dgm:pt>
    <dgm:pt modelId="{E09B91F9-0263-441F-8710-2064825D5096}" type="pres">
      <dgm:prSet presAssocID="{03A7D1AD-0780-4270-B04B-A2834108E26D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8EC09918-6848-48D3-9F33-D693D21BFCAA}" type="presOf" srcId="{FF5D395F-278C-4DF5-B486-72625CC6967F}" destId="{DEE977D4-F626-472A-B65B-EAB72D8DAA38}" srcOrd="0" destOrd="0" presId="urn:microsoft.com/office/officeart/2005/8/layout/equation2"/>
    <dgm:cxn modelId="{77AD762C-01AE-45BC-B179-D493D15CE30A}" type="presOf" srcId="{857C574C-BE08-4823-8083-C5F0CD92417D}" destId="{18DE51B0-78E1-445B-87D5-E9BBBA0F709F}" srcOrd="0" destOrd="0" presId="urn:microsoft.com/office/officeart/2005/8/layout/equation2"/>
    <dgm:cxn modelId="{6506FA3C-3475-4A90-85BC-B61A61E61022}" srcId="{03A7D1AD-0780-4270-B04B-A2834108E26D}" destId="{FF5D395F-278C-4DF5-B486-72625CC6967F}" srcOrd="1" destOrd="0" parTransId="{7166273F-490C-4C2F-AD56-4CF816FAE49C}" sibTransId="{3A292687-EC2D-4AEF-BEA6-A158FB8677A7}"/>
    <dgm:cxn modelId="{D9484A42-1BB0-41C9-AA37-123010759368}" type="presOf" srcId="{3A292687-EC2D-4AEF-BEA6-A158FB8677A7}" destId="{DB168C15-217E-4813-AE39-9D5A5DB8FFC0}" srcOrd="0" destOrd="0" presId="urn:microsoft.com/office/officeart/2005/8/layout/equation2"/>
    <dgm:cxn modelId="{B67C8388-7A97-4D6D-8E3B-4BC504F7B23C}" type="presOf" srcId="{501E1AE2-267E-4712-8E54-B66133530B15}" destId="{E09B91F9-0263-441F-8710-2064825D5096}" srcOrd="0" destOrd="0" presId="urn:microsoft.com/office/officeart/2005/8/layout/equation2"/>
    <dgm:cxn modelId="{AA2BFA8F-F73F-4ED1-9B64-088324AF84EC}" srcId="{03A7D1AD-0780-4270-B04B-A2834108E26D}" destId="{501E1AE2-267E-4712-8E54-B66133530B15}" srcOrd="2" destOrd="0" parTransId="{AA79C00A-3D5E-475B-8A91-6B45717263AB}" sibTransId="{8BA291D6-5280-40AE-AFEC-113D9E721F7D}"/>
    <dgm:cxn modelId="{9E1D079F-4213-4E86-85D6-C5EB638E5127}" srcId="{03A7D1AD-0780-4270-B04B-A2834108E26D}" destId="{13C5B151-BFCF-4276-808B-0F5CCC316155}" srcOrd="0" destOrd="0" parTransId="{B77AD818-A9E2-4236-A99D-F28D04384B0D}" sibTransId="{857C574C-BE08-4823-8083-C5F0CD92417D}"/>
    <dgm:cxn modelId="{3D3975AF-B656-43C5-ABE2-311540EA2FE8}" type="presOf" srcId="{03A7D1AD-0780-4270-B04B-A2834108E26D}" destId="{FA70DEF8-2892-4EBC-B888-61D9FB304E90}" srcOrd="0" destOrd="0" presId="urn:microsoft.com/office/officeart/2005/8/layout/equation2"/>
    <dgm:cxn modelId="{896333D7-9339-486A-9D48-14006E99570B}" type="presOf" srcId="{3A292687-EC2D-4AEF-BEA6-A158FB8677A7}" destId="{2619588F-95C6-4A25-B68F-37F96E410601}" srcOrd="1" destOrd="0" presId="urn:microsoft.com/office/officeart/2005/8/layout/equation2"/>
    <dgm:cxn modelId="{538354F6-C491-46B1-B1AD-EA7BFBE47775}" type="presOf" srcId="{13C5B151-BFCF-4276-808B-0F5CCC316155}" destId="{8CC068D5-2565-4698-ABF4-E1182A592EAA}" srcOrd="0" destOrd="0" presId="urn:microsoft.com/office/officeart/2005/8/layout/equation2"/>
    <dgm:cxn modelId="{B83345CB-1CCF-4923-901D-2C13F81C45E6}" type="presParOf" srcId="{FA70DEF8-2892-4EBC-B888-61D9FB304E90}" destId="{23CE6F97-8044-4A6E-9BF5-27874CF2B141}" srcOrd="0" destOrd="0" presId="urn:microsoft.com/office/officeart/2005/8/layout/equation2"/>
    <dgm:cxn modelId="{6C9910BB-49B8-4780-8E6A-AE42DB33233B}" type="presParOf" srcId="{23CE6F97-8044-4A6E-9BF5-27874CF2B141}" destId="{8CC068D5-2565-4698-ABF4-E1182A592EAA}" srcOrd="0" destOrd="0" presId="urn:microsoft.com/office/officeart/2005/8/layout/equation2"/>
    <dgm:cxn modelId="{AD8FE8A9-780F-42A2-A6CE-1135CE766F7A}" type="presParOf" srcId="{23CE6F97-8044-4A6E-9BF5-27874CF2B141}" destId="{506D29FE-F91E-42AD-9F36-F41893658AD1}" srcOrd="1" destOrd="0" presId="urn:microsoft.com/office/officeart/2005/8/layout/equation2"/>
    <dgm:cxn modelId="{73E6C636-9878-4C54-9816-2A0383A718E6}" type="presParOf" srcId="{23CE6F97-8044-4A6E-9BF5-27874CF2B141}" destId="{18DE51B0-78E1-445B-87D5-E9BBBA0F709F}" srcOrd="2" destOrd="0" presId="urn:microsoft.com/office/officeart/2005/8/layout/equation2"/>
    <dgm:cxn modelId="{D55D0E25-C845-4C33-A44D-F492F8ADF998}" type="presParOf" srcId="{23CE6F97-8044-4A6E-9BF5-27874CF2B141}" destId="{803DF438-7362-4EE5-9C6C-57F5D543D649}" srcOrd="3" destOrd="0" presId="urn:microsoft.com/office/officeart/2005/8/layout/equation2"/>
    <dgm:cxn modelId="{04FD6909-9606-4B5C-8281-EEDC7ABFABED}" type="presParOf" srcId="{23CE6F97-8044-4A6E-9BF5-27874CF2B141}" destId="{DEE977D4-F626-472A-B65B-EAB72D8DAA38}" srcOrd="4" destOrd="0" presId="urn:microsoft.com/office/officeart/2005/8/layout/equation2"/>
    <dgm:cxn modelId="{96B0B399-24BF-4553-9AA8-9296724D0515}" type="presParOf" srcId="{FA70DEF8-2892-4EBC-B888-61D9FB304E90}" destId="{DB168C15-217E-4813-AE39-9D5A5DB8FFC0}" srcOrd="1" destOrd="0" presId="urn:microsoft.com/office/officeart/2005/8/layout/equation2"/>
    <dgm:cxn modelId="{6B2424FF-B8AA-4359-A7FB-6189C23C56DA}" type="presParOf" srcId="{DB168C15-217E-4813-AE39-9D5A5DB8FFC0}" destId="{2619588F-95C6-4A25-B68F-37F96E410601}" srcOrd="0" destOrd="0" presId="urn:microsoft.com/office/officeart/2005/8/layout/equation2"/>
    <dgm:cxn modelId="{8020184F-019B-4103-A951-4E7B174D8CCD}" type="presParOf" srcId="{FA70DEF8-2892-4EBC-B888-61D9FB304E90}" destId="{E09B91F9-0263-441F-8710-2064825D5096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0F07FE-DC4C-4921-96F3-168F893E3E89}" type="doc">
      <dgm:prSet loTypeId="urn:microsoft.com/office/officeart/2005/8/layout/hProcess11" loCatId="process" qsTypeId="urn:microsoft.com/office/officeart/2005/8/quickstyle/3d1" qsCatId="3D" csTypeId="urn:microsoft.com/office/officeart/2005/8/colors/colorful2" csCatId="colorful" phldr="1"/>
      <dgm:spPr/>
    </dgm:pt>
    <dgm:pt modelId="{3035AF51-6613-4977-A546-A764FC8CBF36}">
      <dgm:prSet phldrT="[Texto]"/>
      <dgm:spPr/>
      <dgm:t>
        <a:bodyPr/>
        <a:lstStyle/>
        <a:p>
          <a:r>
            <a:rPr lang="es-ES_tradnl" b="1" u="none" dirty="0"/>
            <a:t>Determinación de los grupos de interés</a:t>
          </a:r>
          <a:endParaRPr lang="es-ES" b="1" u="none" dirty="0"/>
        </a:p>
      </dgm:t>
    </dgm:pt>
    <dgm:pt modelId="{BD2675AF-9A97-4408-9C33-D46A0FC1E150}" type="parTrans" cxnId="{D76D5E3A-781C-451E-8277-F037F9FE8CB3}">
      <dgm:prSet/>
      <dgm:spPr/>
      <dgm:t>
        <a:bodyPr/>
        <a:lstStyle/>
        <a:p>
          <a:endParaRPr lang="es-ES"/>
        </a:p>
      </dgm:t>
    </dgm:pt>
    <dgm:pt modelId="{2AED2170-E496-458D-8C7F-6510F2DE5E21}" type="sibTrans" cxnId="{D76D5E3A-781C-451E-8277-F037F9FE8CB3}">
      <dgm:prSet/>
      <dgm:spPr/>
      <dgm:t>
        <a:bodyPr/>
        <a:lstStyle/>
        <a:p>
          <a:endParaRPr lang="es-ES"/>
        </a:p>
      </dgm:t>
    </dgm:pt>
    <dgm:pt modelId="{37E8066C-7826-447C-B44A-70FF7A30CA24}">
      <dgm:prSet phldrT="[Texto]"/>
      <dgm:spPr/>
      <dgm:t>
        <a:bodyPr/>
        <a:lstStyle/>
        <a:p>
          <a:r>
            <a:rPr lang="es-ES_tradnl" b="1" u="none" dirty="0"/>
            <a:t>Estudio de su capacidad de influencia e impacto y definición de la estrategia de participación de cada uno de ellos</a:t>
          </a:r>
          <a:endParaRPr lang="es-ES" b="1" u="none" dirty="0"/>
        </a:p>
      </dgm:t>
    </dgm:pt>
    <dgm:pt modelId="{ED023C60-5B26-4E52-AF3E-E1898C208F6F}" type="parTrans" cxnId="{269E99C1-7514-4D6D-9467-C5E33ED0EA7F}">
      <dgm:prSet/>
      <dgm:spPr/>
      <dgm:t>
        <a:bodyPr/>
        <a:lstStyle/>
        <a:p>
          <a:endParaRPr lang="es-ES"/>
        </a:p>
      </dgm:t>
    </dgm:pt>
    <dgm:pt modelId="{BA0410FC-7FE6-42DC-B1B4-EFE8493FA889}" type="sibTrans" cxnId="{269E99C1-7514-4D6D-9467-C5E33ED0EA7F}">
      <dgm:prSet/>
      <dgm:spPr/>
      <dgm:t>
        <a:bodyPr/>
        <a:lstStyle/>
        <a:p>
          <a:endParaRPr lang="es-ES"/>
        </a:p>
      </dgm:t>
    </dgm:pt>
    <dgm:pt modelId="{2B0228D1-AB9F-4869-BDF2-EA130A6C39E4}">
      <dgm:prSet phldrT="[Texto]"/>
      <dgm:spPr/>
      <dgm:t>
        <a:bodyPr/>
        <a:lstStyle/>
        <a:p>
          <a:r>
            <a:rPr lang="es-ES_tradnl" b="1" u="none" dirty="0"/>
            <a:t>Identificación, numeración y clasificación de las cuestiones materiales</a:t>
          </a:r>
          <a:endParaRPr lang="es-ES" b="1" u="none" dirty="0"/>
        </a:p>
      </dgm:t>
    </dgm:pt>
    <dgm:pt modelId="{E5E770CF-2B8D-41D6-9993-3D0BFCEA76B6}" type="parTrans" cxnId="{B3E98E10-4E9A-44C0-A051-4D8E8A1749F6}">
      <dgm:prSet/>
      <dgm:spPr/>
      <dgm:t>
        <a:bodyPr/>
        <a:lstStyle/>
        <a:p>
          <a:endParaRPr lang="es-ES"/>
        </a:p>
      </dgm:t>
    </dgm:pt>
    <dgm:pt modelId="{FC2B1074-B42D-48AB-A236-3CBB529F052E}" type="sibTrans" cxnId="{B3E98E10-4E9A-44C0-A051-4D8E8A1749F6}">
      <dgm:prSet/>
      <dgm:spPr/>
      <dgm:t>
        <a:bodyPr/>
        <a:lstStyle/>
        <a:p>
          <a:endParaRPr lang="es-ES"/>
        </a:p>
      </dgm:t>
    </dgm:pt>
    <dgm:pt modelId="{ED9470D5-238F-4975-A0EE-EA7F7840B265}">
      <dgm:prSet phldrT="[Texto]"/>
      <dgm:spPr/>
      <dgm:t>
        <a:bodyPr/>
        <a:lstStyle/>
        <a:p>
          <a:r>
            <a:rPr lang="es-ES_tradnl" b="1" u="none" dirty="0"/>
            <a:t>Construcción de la matriz de doble materialidad</a:t>
          </a:r>
          <a:endParaRPr lang="es-ES" b="1" u="none" dirty="0"/>
        </a:p>
      </dgm:t>
    </dgm:pt>
    <dgm:pt modelId="{97BE4752-F4A5-45E6-A934-A1E12D04DDAA}" type="parTrans" cxnId="{10B262F8-FCC6-419F-AC5A-B18CE66711F1}">
      <dgm:prSet/>
      <dgm:spPr/>
      <dgm:t>
        <a:bodyPr/>
        <a:lstStyle/>
        <a:p>
          <a:endParaRPr lang="es-ES"/>
        </a:p>
      </dgm:t>
    </dgm:pt>
    <dgm:pt modelId="{3780BCA0-77B7-4F59-890C-94E3C271F64D}" type="sibTrans" cxnId="{10B262F8-FCC6-419F-AC5A-B18CE66711F1}">
      <dgm:prSet/>
      <dgm:spPr/>
      <dgm:t>
        <a:bodyPr/>
        <a:lstStyle/>
        <a:p>
          <a:endParaRPr lang="es-ES"/>
        </a:p>
      </dgm:t>
    </dgm:pt>
    <dgm:pt modelId="{0D7E6DFD-1887-42E8-97E7-4F661DAAB9EE}" type="pres">
      <dgm:prSet presAssocID="{7B0F07FE-DC4C-4921-96F3-168F893E3E89}" presName="Name0" presStyleCnt="0">
        <dgm:presLayoutVars>
          <dgm:dir/>
          <dgm:resizeHandles val="exact"/>
        </dgm:presLayoutVars>
      </dgm:prSet>
      <dgm:spPr/>
    </dgm:pt>
    <dgm:pt modelId="{0DE10496-F140-4312-8F7F-5170D076A379}" type="pres">
      <dgm:prSet presAssocID="{7B0F07FE-DC4C-4921-96F3-168F893E3E89}" presName="arrow" presStyleLbl="bgShp" presStyleIdx="0" presStyleCnt="1"/>
      <dgm:spPr/>
    </dgm:pt>
    <dgm:pt modelId="{B36CD17D-10E8-4443-919B-313FDA8A255D}" type="pres">
      <dgm:prSet presAssocID="{7B0F07FE-DC4C-4921-96F3-168F893E3E89}" presName="points" presStyleCnt="0"/>
      <dgm:spPr/>
    </dgm:pt>
    <dgm:pt modelId="{2F99EF5C-D0B9-442A-8880-376F14393A66}" type="pres">
      <dgm:prSet presAssocID="{3035AF51-6613-4977-A546-A764FC8CBF36}" presName="compositeA" presStyleCnt="0"/>
      <dgm:spPr/>
    </dgm:pt>
    <dgm:pt modelId="{6C1B0330-50EA-4894-969F-7BABEC2CBC0B}" type="pres">
      <dgm:prSet presAssocID="{3035AF51-6613-4977-A546-A764FC8CBF36}" presName="textA" presStyleLbl="revTx" presStyleIdx="0" presStyleCnt="4">
        <dgm:presLayoutVars>
          <dgm:bulletEnabled val="1"/>
        </dgm:presLayoutVars>
      </dgm:prSet>
      <dgm:spPr/>
    </dgm:pt>
    <dgm:pt modelId="{100EFE9C-EDB0-427F-B38F-A623DE0A1C1C}" type="pres">
      <dgm:prSet presAssocID="{3035AF51-6613-4977-A546-A764FC8CBF36}" presName="circleA" presStyleLbl="node1" presStyleIdx="0" presStyleCnt="4"/>
      <dgm:spPr/>
    </dgm:pt>
    <dgm:pt modelId="{B9B8EF88-5AFF-4210-AF68-DCA7AEF8117D}" type="pres">
      <dgm:prSet presAssocID="{3035AF51-6613-4977-A546-A764FC8CBF36}" presName="spaceA" presStyleCnt="0"/>
      <dgm:spPr/>
    </dgm:pt>
    <dgm:pt modelId="{17ECD04A-A0A8-4EF2-915B-EE751FDBCD2A}" type="pres">
      <dgm:prSet presAssocID="{2AED2170-E496-458D-8C7F-6510F2DE5E21}" presName="space" presStyleCnt="0"/>
      <dgm:spPr/>
    </dgm:pt>
    <dgm:pt modelId="{515DE2C0-1C97-45FC-82F1-8F961EF1B511}" type="pres">
      <dgm:prSet presAssocID="{37E8066C-7826-447C-B44A-70FF7A30CA24}" presName="compositeB" presStyleCnt="0"/>
      <dgm:spPr/>
    </dgm:pt>
    <dgm:pt modelId="{8AE7DF40-785A-40B2-99EB-0393698BF4F1}" type="pres">
      <dgm:prSet presAssocID="{37E8066C-7826-447C-B44A-70FF7A30CA24}" presName="textB" presStyleLbl="revTx" presStyleIdx="1" presStyleCnt="4">
        <dgm:presLayoutVars>
          <dgm:bulletEnabled val="1"/>
        </dgm:presLayoutVars>
      </dgm:prSet>
      <dgm:spPr/>
    </dgm:pt>
    <dgm:pt modelId="{3A1BC200-763C-4CBE-AB33-790F73B69082}" type="pres">
      <dgm:prSet presAssocID="{37E8066C-7826-447C-B44A-70FF7A30CA24}" presName="circleB" presStyleLbl="node1" presStyleIdx="1" presStyleCnt="4"/>
      <dgm:spPr/>
    </dgm:pt>
    <dgm:pt modelId="{B38CF6A9-6FF7-485D-B39C-7113E587CCC6}" type="pres">
      <dgm:prSet presAssocID="{37E8066C-7826-447C-B44A-70FF7A30CA24}" presName="spaceB" presStyleCnt="0"/>
      <dgm:spPr/>
    </dgm:pt>
    <dgm:pt modelId="{F0F8A82D-9D8E-43B5-BF48-92AD42CCC9D2}" type="pres">
      <dgm:prSet presAssocID="{BA0410FC-7FE6-42DC-B1B4-EFE8493FA889}" presName="space" presStyleCnt="0"/>
      <dgm:spPr/>
    </dgm:pt>
    <dgm:pt modelId="{209B81D2-7803-401C-B0FE-4925E7712706}" type="pres">
      <dgm:prSet presAssocID="{2B0228D1-AB9F-4869-BDF2-EA130A6C39E4}" presName="compositeA" presStyleCnt="0"/>
      <dgm:spPr/>
    </dgm:pt>
    <dgm:pt modelId="{440E73DE-87C4-4F4C-AF96-35ED45FF2022}" type="pres">
      <dgm:prSet presAssocID="{2B0228D1-AB9F-4869-BDF2-EA130A6C39E4}" presName="textA" presStyleLbl="revTx" presStyleIdx="2" presStyleCnt="4">
        <dgm:presLayoutVars>
          <dgm:bulletEnabled val="1"/>
        </dgm:presLayoutVars>
      </dgm:prSet>
      <dgm:spPr/>
    </dgm:pt>
    <dgm:pt modelId="{08400D75-8BCA-417C-8057-B723B1101B11}" type="pres">
      <dgm:prSet presAssocID="{2B0228D1-AB9F-4869-BDF2-EA130A6C39E4}" presName="circleA" presStyleLbl="node1" presStyleIdx="2" presStyleCnt="4"/>
      <dgm:spPr/>
    </dgm:pt>
    <dgm:pt modelId="{D8C22456-C151-479B-9D9B-92E843D5AACF}" type="pres">
      <dgm:prSet presAssocID="{2B0228D1-AB9F-4869-BDF2-EA130A6C39E4}" presName="spaceA" presStyleCnt="0"/>
      <dgm:spPr/>
    </dgm:pt>
    <dgm:pt modelId="{33922F56-2B46-4CF6-A302-1679270103B3}" type="pres">
      <dgm:prSet presAssocID="{FC2B1074-B42D-48AB-A236-3CBB529F052E}" presName="space" presStyleCnt="0"/>
      <dgm:spPr/>
    </dgm:pt>
    <dgm:pt modelId="{0C2C6A36-AA47-494E-8E8D-0E7E4D84A222}" type="pres">
      <dgm:prSet presAssocID="{ED9470D5-238F-4975-A0EE-EA7F7840B265}" presName="compositeB" presStyleCnt="0"/>
      <dgm:spPr/>
    </dgm:pt>
    <dgm:pt modelId="{63432D66-8A88-48F6-BE2D-9575DC441071}" type="pres">
      <dgm:prSet presAssocID="{ED9470D5-238F-4975-A0EE-EA7F7840B265}" presName="textB" presStyleLbl="revTx" presStyleIdx="3" presStyleCnt="4">
        <dgm:presLayoutVars>
          <dgm:bulletEnabled val="1"/>
        </dgm:presLayoutVars>
      </dgm:prSet>
      <dgm:spPr/>
    </dgm:pt>
    <dgm:pt modelId="{00CC8606-A49B-4B51-9F2B-022EF7B039A6}" type="pres">
      <dgm:prSet presAssocID="{ED9470D5-238F-4975-A0EE-EA7F7840B265}" presName="circleB" presStyleLbl="node1" presStyleIdx="3" presStyleCnt="4"/>
      <dgm:spPr/>
    </dgm:pt>
    <dgm:pt modelId="{D65F6F25-C35C-44B8-A7CF-CE052194FCCB}" type="pres">
      <dgm:prSet presAssocID="{ED9470D5-238F-4975-A0EE-EA7F7840B265}" presName="spaceB" presStyleCnt="0"/>
      <dgm:spPr/>
    </dgm:pt>
  </dgm:ptLst>
  <dgm:cxnLst>
    <dgm:cxn modelId="{59E2D505-2248-4E03-A22F-4CE1BB58627D}" type="presOf" srcId="{ED9470D5-238F-4975-A0EE-EA7F7840B265}" destId="{63432D66-8A88-48F6-BE2D-9575DC441071}" srcOrd="0" destOrd="0" presId="urn:microsoft.com/office/officeart/2005/8/layout/hProcess11"/>
    <dgm:cxn modelId="{B3E98E10-4E9A-44C0-A051-4D8E8A1749F6}" srcId="{7B0F07FE-DC4C-4921-96F3-168F893E3E89}" destId="{2B0228D1-AB9F-4869-BDF2-EA130A6C39E4}" srcOrd="2" destOrd="0" parTransId="{E5E770CF-2B8D-41D6-9993-3D0BFCEA76B6}" sibTransId="{FC2B1074-B42D-48AB-A236-3CBB529F052E}"/>
    <dgm:cxn modelId="{D76D5E3A-781C-451E-8277-F037F9FE8CB3}" srcId="{7B0F07FE-DC4C-4921-96F3-168F893E3E89}" destId="{3035AF51-6613-4977-A546-A764FC8CBF36}" srcOrd="0" destOrd="0" parTransId="{BD2675AF-9A97-4408-9C33-D46A0FC1E150}" sibTransId="{2AED2170-E496-458D-8C7F-6510F2DE5E21}"/>
    <dgm:cxn modelId="{C55B9F44-6957-4321-86E3-F49A3F486E43}" type="presOf" srcId="{2B0228D1-AB9F-4869-BDF2-EA130A6C39E4}" destId="{440E73DE-87C4-4F4C-AF96-35ED45FF2022}" srcOrd="0" destOrd="0" presId="urn:microsoft.com/office/officeart/2005/8/layout/hProcess11"/>
    <dgm:cxn modelId="{B0F10265-922E-4E58-AADC-6974CE82A9A7}" type="presOf" srcId="{3035AF51-6613-4977-A546-A764FC8CBF36}" destId="{6C1B0330-50EA-4894-969F-7BABEC2CBC0B}" srcOrd="0" destOrd="0" presId="urn:microsoft.com/office/officeart/2005/8/layout/hProcess11"/>
    <dgm:cxn modelId="{8A76486D-9303-421E-9059-C6B36D6163CA}" type="presOf" srcId="{7B0F07FE-DC4C-4921-96F3-168F893E3E89}" destId="{0D7E6DFD-1887-42E8-97E7-4F661DAAB9EE}" srcOrd="0" destOrd="0" presId="urn:microsoft.com/office/officeart/2005/8/layout/hProcess11"/>
    <dgm:cxn modelId="{D60891A2-63BA-44E5-AEC2-6C3AF8A345C7}" type="presOf" srcId="{37E8066C-7826-447C-B44A-70FF7A30CA24}" destId="{8AE7DF40-785A-40B2-99EB-0393698BF4F1}" srcOrd="0" destOrd="0" presId="urn:microsoft.com/office/officeart/2005/8/layout/hProcess11"/>
    <dgm:cxn modelId="{269E99C1-7514-4D6D-9467-C5E33ED0EA7F}" srcId="{7B0F07FE-DC4C-4921-96F3-168F893E3E89}" destId="{37E8066C-7826-447C-B44A-70FF7A30CA24}" srcOrd="1" destOrd="0" parTransId="{ED023C60-5B26-4E52-AF3E-E1898C208F6F}" sibTransId="{BA0410FC-7FE6-42DC-B1B4-EFE8493FA889}"/>
    <dgm:cxn modelId="{10B262F8-FCC6-419F-AC5A-B18CE66711F1}" srcId="{7B0F07FE-DC4C-4921-96F3-168F893E3E89}" destId="{ED9470D5-238F-4975-A0EE-EA7F7840B265}" srcOrd="3" destOrd="0" parTransId="{97BE4752-F4A5-45E6-A934-A1E12D04DDAA}" sibTransId="{3780BCA0-77B7-4F59-890C-94E3C271F64D}"/>
    <dgm:cxn modelId="{0602E402-5171-44E7-8AED-C8EF220E299A}" type="presParOf" srcId="{0D7E6DFD-1887-42E8-97E7-4F661DAAB9EE}" destId="{0DE10496-F140-4312-8F7F-5170D076A379}" srcOrd="0" destOrd="0" presId="urn:microsoft.com/office/officeart/2005/8/layout/hProcess11"/>
    <dgm:cxn modelId="{5A269634-3B51-4951-B205-F5F60551C857}" type="presParOf" srcId="{0D7E6DFD-1887-42E8-97E7-4F661DAAB9EE}" destId="{B36CD17D-10E8-4443-919B-313FDA8A255D}" srcOrd="1" destOrd="0" presId="urn:microsoft.com/office/officeart/2005/8/layout/hProcess11"/>
    <dgm:cxn modelId="{60E51D43-28D9-4F0F-B05A-D1769306540F}" type="presParOf" srcId="{B36CD17D-10E8-4443-919B-313FDA8A255D}" destId="{2F99EF5C-D0B9-442A-8880-376F14393A66}" srcOrd="0" destOrd="0" presId="urn:microsoft.com/office/officeart/2005/8/layout/hProcess11"/>
    <dgm:cxn modelId="{01B56A99-BB8C-46DC-B5E9-2799590A66CF}" type="presParOf" srcId="{2F99EF5C-D0B9-442A-8880-376F14393A66}" destId="{6C1B0330-50EA-4894-969F-7BABEC2CBC0B}" srcOrd="0" destOrd="0" presId="urn:microsoft.com/office/officeart/2005/8/layout/hProcess11"/>
    <dgm:cxn modelId="{DDE7F742-99F0-4D23-9EEC-FAE33DDB533E}" type="presParOf" srcId="{2F99EF5C-D0B9-442A-8880-376F14393A66}" destId="{100EFE9C-EDB0-427F-B38F-A623DE0A1C1C}" srcOrd="1" destOrd="0" presId="urn:microsoft.com/office/officeart/2005/8/layout/hProcess11"/>
    <dgm:cxn modelId="{6C71F3A8-F47C-42C7-B99A-62322DD8E03F}" type="presParOf" srcId="{2F99EF5C-D0B9-442A-8880-376F14393A66}" destId="{B9B8EF88-5AFF-4210-AF68-DCA7AEF8117D}" srcOrd="2" destOrd="0" presId="urn:microsoft.com/office/officeart/2005/8/layout/hProcess11"/>
    <dgm:cxn modelId="{993D2958-DCC1-42DC-82CD-EBEDD2880ED1}" type="presParOf" srcId="{B36CD17D-10E8-4443-919B-313FDA8A255D}" destId="{17ECD04A-A0A8-4EF2-915B-EE751FDBCD2A}" srcOrd="1" destOrd="0" presId="urn:microsoft.com/office/officeart/2005/8/layout/hProcess11"/>
    <dgm:cxn modelId="{6486CF08-7097-431A-9525-14DEBA53C1F1}" type="presParOf" srcId="{B36CD17D-10E8-4443-919B-313FDA8A255D}" destId="{515DE2C0-1C97-45FC-82F1-8F961EF1B511}" srcOrd="2" destOrd="0" presId="urn:microsoft.com/office/officeart/2005/8/layout/hProcess11"/>
    <dgm:cxn modelId="{2439B4FF-7A4F-4D27-9BEE-F77B755C60A9}" type="presParOf" srcId="{515DE2C0-1C97-45FC-82F1-8F961EF1B511}" destId="{8AE7DF40-785A-40B2-99EB-0393698BF4F1}" srcOrd="0" destOrd="0" presId="urn:microsoft.com/office/officeart/2005/8/layout/hProcess11"/>
    <dgm:cxn modelId="{5DBA617D-DF83-481E-A49C-80367AA05697}" type="presParOf" srcId="{515DE2C0-1C97-45FC-82F1-8F961EF1B511}" destId="{3A1BC200-763C-4CBE-AB33-790F73B69082}" srcOrd="1" destOrd="0" presId="urn:microsoft.com/office/officeart/2005/8/layout/hProcess11"/>
    <dgm:cxn modelId="{94C7F253-3259-456B-9BDA-37C90FF96DDB}" type="presParOf" srcId="{515DE2C0-1C97-45FC-82F1-8F961EF1B511}" destId="{B38CF6A9-6FF7-485D-B39C-7113E587CCC6}" srcOrd="2" destOrd="0" presId="urn:microsoft.com/office/officeart/2005/8/layout/hProcess11"/>
    <dgm:cxn modelId="{8B7A571C-919D-43E6-8E69-59020FDA098C}" type="presParOf" srcId="{B36CD17D-10E8-4443-919B-313FDA8A255D}" destId="{F0F8A82D-9D8E-43B5-BF48-92AD42CCC9D2}" srcOrd="3" destOrd="0" presId="urn:microsoft.com/office/officeart/2005/8/layout/hProcess11"/>
    <dgm:cxn modelId="{D450A541-0F70-499D-BC02-8454BB2E9112}" type="presParOf" srcId="{B36CD17D-10E8-4443-919B-313FDA8A255D}" destId="{209B81D2-7803-401C-B0FE-4925E7712706}" srcOrd="4" destOrd="0" presId="urn:microsoft.com/office/officeart/2005/8/layout/hProcess11"/>
    <dgm:cxn modelId="{FA51806C-BA6E-48B1-A574-852595981ED3}" type="presParOf" srcId="{209B81D2-7803-401C-B0FE-4925E7712706}" destId="{440E73DE-87C4-4F4C-AF96-35ED45FF2022}" srcOrd="0" destOrd="0" presId="urn:microsoft.com/office/officeart/2005/8/layout/hProcess11"/>
    <dgm:cxn modelId="{C86C3C45-7D1D-42D9-A267-FBE39E63BACF}" type="presParOf" srcId="{209B81D2-7803-401C-B0FE-4925E7712706}" destId="{08400D75-8BCA-417C-8057-B723B1101B11}" srcOrd="1" destOrd="0" presId="urn:microsoft.com/office/officeart/2005/8/layout/hProcess11"/>
    <dgm:cxn modelId="{0722BE3A-1CFF-4B65-A689-5EE78EB3B319}" type="presParOf" srcId="{209B81D2-7803-401C-B0FE-4925E7712706}" destId="{D8C22456-C151-479B-9D9B-92E843D5AACF}" srcOrd="2" destOrd="0" presId="urn:microsoft.com/office/officeart/2005/8/layout/hProcess11"/>
    <dgm:cxn modelId="{99836A34-BF12-48C8-A28E-3473442833B5}" type="presParOf" srcId="{B36CD17D-10E8-4443-919B-313FDA8A255D}" destId="{33922F56-2B46-4CF6-A302-1679270103B3}" srcOrd="5" destOrd="0" presId="urn:microsoft.com/office/officeart/2005/8/layout/hProcess11"/>
    <dgm:cxn modelId="{64D72865-82AE-4339-96A7-B41EB3A64B3B}" type="presParOf" srcId="{B36CD17D-10E8-4443-919B-313FDA8A255D}" destId="{0C2C6A36-AA47-494E-8E8D-0E7E4D84A222}" srcOrd="6" destOrd="0" presId="urn:microsoft.com/office/officeart/2005/8/layout/hProcess11"/>
    <dgm:cxn modelId="{9F7A0F4A-1C4C-4019-9C89-F1D23CC614B7}" type="presParOf" srcId="{0C2C6A36-AA47-494E-8E8D-0E7E4D84A222}" destId="{63432D66-8A88-48F6-BE2D-9575DC441071}" srcOrd="0" destOrd="0" presId="urn:microsoft.com/office/officeart/2005/8/layout/hProcess11"/>
    <dgm:cxn modelId="{18A73D66-56F3-49DE-BC7C-55E623CFF7E5}" type="presParOf" srcId="{0C2C6A36-AA47-494E-8E8D-0E7E4D84A222}" destId="{00CC8606-A49B-4B51-9F2B-022EF7B039A6}" srcOrd="1" destOrd="0" presId="urn:microsoft.com/office/officeart/2005/8/layout/hProcess11"/>
    <dgm:cxn modelId="{455A519A-A004-49CA-A2B0-E35709E47314}" type="presParOf" srcId="{0C2C6A36-AA47-494E-8E8D-0E7E4D84A222}" destId="{D65F6F25-C35C-44B8-A7CF-CE052194FCCB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BCD6C6-2F51-4E40-8F90-A28BEF8C1C01}" type="doc">
      <dgm:prSet loTypeId="urn:microsoft.com/office/officeart/2005/8/layout/StepDownProcess" loCatId="process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541BAFC7-AC04-45EA-9D62-BF7099210382}">
      <dgm:prSet phldrT="[Texto]"/>
      <dgm:spPr/>
      <dgm:t>
        <a:bodyPr/>
        <a:lstStyle/>
        <a:p>
          <a:r>
            <a:rPr lang="es-ES" dirty="0"/>
            <a:t>Se determinan los grupos de interés</a:t>
          </a:r>
        </a:p>
      </dgm:t>
    </dgm:pt>
    <dgm:pt modelId="{B21E9CE6-320C-4F7A-933F-DA0F5F01D224}" type="parTrans" cxnId="{643208F5-D3EB-4810-8C57-A7E7E81F6E22}">
      <dgm:prSet/>
      <dgm:spPr/>
      <dgm:t>
        <a:bodyPr/>
        <a:lstStyle/>
        <a:p>
          <a:endParaRPr lang="es-ES"/>
        </a:p>
      </dgm:t>
    </dgm:pt>
    <dgm:pt modelId="{1BB160BC-736B-425A-B238-1BD5A42A298E}" type="sibTrans" cxnId="{643208F5-D3EB-4810-8C57-A7E7E81F6E22}">
      <dgm:prSet/>
      <dgm:spPr/>
      <dgm:t>
        <a:bodyPr/>
        <a:lstStyle/>
        <a:p>
          <a:endParaRPr lang="es-ES"/>
        </a:p>
      </dgm:t>
    </dgm:pt>
    <dgm:pt modelId="{06140B71-B476-46A1-915A-A3A68570CEEF}">
      <dgm:prSet phldrT="[Texto]" custT="1"/>
      <dgm:spPr/>
      <dgm:t>
        <a:bodyPr/>
        <a:lstStyle/>
        <a:p>
          <a:r>
            <a:rPr lang="es-ES" sz="1800" dirty="0"/>
            <a:t>Según clasificación de afectados y usuarios de informes de sostenibilidad</a:t>
          </a:r>
        </a:p>
      </dgm:t>
    </dgm:pt>
    <dgm:pt modelId="{2842F1DF-7967-493B-B444-661BB189BF02}" type="parTrans" cxnId="{4E17EE07-AFCF-496E-9EB1-36BBC8881672}">
      <dgm:prSet/>
      <dgm:spPr/>
      <dgm:t>
        <a:bodyPr/>
        <a:lstStyle/>
        <a:p>
          <a:endParaRPr lang="es-ES"/>
        </a:p>
      </dgm:t>
    </dgm:pt>
    <dgm:pt modelId="{D98137B0-9EF5-4834-AC3F-DCE0FB2247DB}" type="sibTrans" cxnId="{4E17EE07-AFCF-496E-9EB1-36BBC8881672}">
      <dgm:prSet/>
      <dgm:spPr/>
      <dgm:t>
        <a:bodyPr/>
        <a:lstStyle/>
        <a:p>
          <a:endParaRPr lang="es-ES"/>
        </a:p>
      </dgm:t>
    </dgm:pt>
    <dgm:pt modelId="{047A409C-392C-487C-A9D2-C917891E8A20}">
      <dgm:prSet phldrT="[Texto]"/>
      <dgm:spPr/>
      <dgm:t>
        <a:bodyPr/>
        <a:lstStyle/>
        <a:p>
          <a:r>
            <a:rPr lang="es-ES" dirty="0"/>
            <a:t>Se escoge cómo recabar información sobre cada uno de ellos</a:t>
          </a:r>
        </a:p>
      </dgm:t>
    </dgm:pt>
    <dgm:pt modelId="{FEFC9E8B-45C5-451F-A061-D0972B7D331A}" type="parTrans" cxnId="{89F0FC05-A796-4A86-83D2-4C6D59CBEEAC}">
      <dgm:prSet/>
      <dgm:spPr/>
      <dgm:t>
        <a:bodyPr/>
        <a:lstStyle/>
        <a:p>
          <a:endParaRPr lang="es-ES"/>
        </a:p>
      </dgm:t>
    </dgm:pt>
    <dgm:pt modelId="{662600B1-5DDE-4492-A557-E75D3887AFA6}" type="sibTrans" cxnId="{89F0FC05-A796-4A86-83D2-4C6D59CBEEAC}">
      <dgm:prSet/>
      <dgm:spPr/>
      <dgm:t>
        <a:bodyPr/>
        <a:lstStyle/>
        <a:p>
          <a:endParaRPr lang="es-ES"/>
        </a:p>
      </dgm:t>
    </dgm:pt>
    <dgm:pt modelId="{326231B7-5793-47DF-91E9-8BE4BA847658}">
      <dgm:prSet phldrT="[Texto]" custT="1"/>
      <dgm:spPr/>
      <dgm:t>
        <a:bodyPr/>
        <a:lstStyle/>
        <a:p>
          <a:r>
            <a:rPr lang="es-ES" sz="1600" dirty="0"/>
            <a:t>Se puede recurrir a encuestas, cuestionarios, entrevistas, datos estadísticos etc. Con cada grupo, un instrumento específico </a:t>
          </a:r>
        </a:p>
      </dgm:t>
    </dgm:pt>
    <dgm:pt modelId="{79D29C82-EA61-4B0D-9857-8FF538A0F4A3}" type="parTrans" cxnId="{29098FFC-AE25-4BC4-B636-2447DB6025D5}">
      <dgm:prSet/>
      <dgm:spPr/>
      <dgm:t>
        <a:bodyPr/>
        <a:lstStyle/>
        <a:p>
          <a:endParaRPr lang="es-ES"/>
        </a:p>
      </dgm:t>
    </dgm:pt>
    <dgm:pt modelId="{6DE6E75A-86D9-4CA6-B5D7-B61D9C5398C4}" type="sibTrans" cxnId="{29098FFC-AE25-4BC4-B636-2447DB6025D5}">
      <dgm:prSet/>
      <dgm:spPr/>
      <dgm:t>
        <a:bodyPr/>
        <a:lstStyle/>
        <a:p>
          <a:endParaRPr lang="es-ES"/>
        </a:p>
      </dgm:t>
    </dgm:pt>
    <dgm:pt modelId="{B7467179-1732-402B-8041-B8D8D67AF264}">
      <dgm:prSet phldrT="[Texto]"/>
      <dgm:spPr/>
      <dgm:t>
        <a:bodyPr/>
        <a:lstStyle/>
        <a:p>
          <a:r>
            <a:rPr lang="es-ES" dirty="0"/>
            <a:t>Se elabora la matriz de clasificación de los grupos de interés</a:t>
          </a:r>
        </a:p>
      </dgm:t>
    </dgm:pt>
    <dgm:pt modelId="{DC9E0808-B2D7-44AB-8CCC-52C2FA46AC98}" type="parTrans" cxnId="{8DE3C83F-85CA-487B-9806-A55B0D12EC2C}">
      <dgm:prSet/>
      <dgm:spPr/>
      <dgm:t>
        <a:bodyPr/>
        <a:lstStyle/>
        <a:p>
          <a:endParaRPr lang="es-ES"/>
        </a:p>
      </dgm:t>
    </dgm:pt>
    <dgm:pt modelId="{C036EFDA-479D-4277-AB52-054570088603}" type="sibTrans" cxnId="{8DE3C83F-85CA-487B-9806-A55B0D12EC2C}">
      <dgm:prSet/>
      <dgm:spPr/>
      <dgm:t>
        <a:bodyPr/>
        <a:lstStyle/>
        <a:p>
          <a:endParaRPr lang="es-ES"/>
        </a:p>
      </dgm:t>
    </dgm:pt>
    <dgm:pt modelId="{2AE2D803-B191-43AB-A24C-D1C07915D144}">
      <dgm:prSet phldrT="[Texto]"/>
      <dgm:spPr/>
      <dgm:t>
        <a:bodyPr/>
        <a:lstStyle/>
        <a:p>
          <a:r>
            <a:rPr lang="es-ES" dirty="0"/>
            <a:t>Es un análisis de cómo se ven afectados y cómo perciben el impacto</a:t>
          </a:r>
        </a:p>
      </dgm:t>
    </dgm:pt>
    <dgm:pt modelId="{DCA67732-481D-457D-97C2-182F8C72B566}" type="parTrans" cxnId="{E0C2614D-E6B7-4587-A400-ADA28AB5A0D5}">
      <dgm:prSet/>
      <dgm:spPr/>
      <dgm:t>
        <a:bodyPr/>
        <a:lstStyle/>
        <a:p>
          <a:endParaRPr lang="es-ES"/>
        </a:p>
      </dgm:t>
    </dgm:pt>
    <dgm:pt modelId="{73DBA2E7-31A3-4CF9-99D6-4E6C57D96D64}" type="sibTrans" cxnId="{E0C2614D-E6B7-4587-A400-ADA28AB5A0D5}">
      <dgm:prSet/>
      <dgm:spPr/>
      <dgm:t>
        <a:bodyPr/>
        <a:lstStyle/>
        <a:p>
          <a:endParaRPr lang="es-ES"/>
        </a:p>
      </dgm:t>
    </dgm:pt>
    <dgm:pt modelId="{21CC7293-0F09-4168-8282-E089B4F20805}" type="pres">
      <dgm:prSet presAssocID="{D7BCD6C6-2F51-4E40-8F90-A28BEF8C1C01}" presName="rootnode" presStyleCnt="0">
        <dgm:presLayoutVars>
          <dgm:chMax/>
          <dgm:chPref/>
          <dgm:dir/>
          <dgm:animLvl val="lvl"/>
        </dgm:presLayoutVars>
      </dgm:prSet>
      <dgm:spPr/>
    </dgm:pt>
    <dgm:pt modelId="{697FE902-38C5-4B0E-AD81-4D780E971131}" type="pres">
      <dgm:prSet presAssocID="{541BAFC7-AC04-45EA-9D62-BF7099210382}" presName="composite" presStyleCnt="0"/>
      <dgm:spPr/>
    </dgm:pt>
    <dgm:pt modelId="{0C46AC2B-7A7C-45B9-BA86-994150B7A6F9}" type="pres">
      <dgm:prSet presAssocID="{541BAFC7-AC04-45EA-9D62-BF7099210382}" presName="bentUpArrow1" presStyleLbl="alignImgPlace1" presStyleIdx="0" presStyleCnt="2"/>
      <dgm:spPr/>
    </dgm:pt>
    <dgm:pt modelId="{95F4E4CB-5FCF-4009-9C92-56BBE86A5CBA}" type="pres">
      <dgm:prSet presAssocID="{541BAFC7-AC04-45EA-9D62-BF7099210382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A77C7677-D6CA-470F-9B3C-4DFC1931F058}" type="pres">
      <dgm:prSet presAssocID="{541BAFC7-AC04-45EA-9D62-BF7099210382}" presName="ChildText" presStyleLbl="revTx" presStyleIdx="0" presStyleCnt="3" custScaleX="142094" custLinFactNeighborX="30569" custLinFactNeighborY="3587">
        <dgm:presLayoutVars>
          <dgm:chMax val="0"/>
          <dgm:chPref val="0"/>
          <dgm:bulletEnabled val="1"/>
        </dgm:presLayoutVars>
      </dgm:prSet>
      <dgm:spPr/>
    </dgm:pt>
    <dgm:pt modelId="{3D40D6C5-6732-4164-8C5A-679BBC9A4570}" type="pres">
      <dgm:prSet presAssocID="{1BB160BC-736B-425A-B238-1BD5A42A298E}" presName="sibTrans" presStyleCnt="0"/>
      <dgm:spPr/>
    </dgm:pt>
    <dgm:pt modelId="{A9D7F1C1-0DE5-4E78-BFC7-2D7B6EA747E0}" type="pres">
      <dgm:prSet presAssocID="{047A409C-392C-487C-A9D2-C917891E8A20}" presName="composite" presStyleCnt="0"/>
      <dgm:spPr/>
    </dgm:pt>
    <dgm:pt modelId="{4DE0A37B-6D90-4D63-8881-FDF484B6EAA3}" type="pres">
      <dgm:prSet presAssocID="{047A409C-392C-487C-A9D2-C917891E8A20}" presName="bentUpArrow1" presStyleLbl="alignImgPlace1" presStyleIdx="1" presStyleCnt="2"/>
      <dgm:spPr/>
    </dgm:pt>
    <dgm:pt modelId="{4520C77C-25F6-40E8-A1AC-897F113F6B4F}" type="pres">
      <dgm:prSet presAssocID="{047A409C-392C-487C-A9D2-C917891E8A20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4A4B057C-6FE8-4BCA-A10D-9744FEB159A7}" type="pres">
      <dgm:prSet presAssocID="{047A409C-392C-487C-A9D2-C917891E8A20}" presName="ChildText" presStyleLbl="revTx" presStyleIdx="1" presStyleCnt="3" custScaleX="171690" custLinFactNeighborX="33551" custLinFactNeighborY="8682">
        <dgm:presLayoutVars>
          <dgm:chMax val="0"/>
          <dgm:chPref val="0"/>
          <dgm:bulletEnabled val="1"/>
        </dgm:presLayoutVars>
      </dgm:prSet>
      <dgm:spPr/>
    </dgm:pt>
    <dgm:pt modelId="{3297A223-7F3C-409C-9435-B58DF4A038A1}" type="pres">
      <dgm:prSet presAssocID="{662600B1-5DDE-4492-A557-E75D3887AFA6}" presName="sibTrans" presStyleCnt="0"/>
      <dgm:spPr/>
    </dgm:pt>
    <dgm:pt modelId="{EF0B564D-AB5A-4615-A88C-F4C8A7D91121}" type="pres">
      <dgm:prSet presAssocID="{B7467179-1732-402B-8041-B8D8D67AF264}" presName="composite" presStyleCnt="0"/>
      <dgm:spPr/>
    </dgm:pt>
    <dgm:pt modelId="{DCA1CE09-DD47-4189-B11C-3E3575E78C9F}" type="pres">
      <dgm:prSet presAssocID="{B7467179-1732-402B-8041-B8D8D67AF264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2058A2C7-FF78-43CA-8DF1-A7E8F1C9B548}" type="pres">
      <dgm:prSet presAssocID="{B7467179-1732-402B-8041-B8D8D67AF264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D733601-D993-4067-9B6D-A45799946656}" type="presOf" srcId="{D7BCD6C6-2F51-4E40-8F90-A28BEF8C1C01}" destId="{21CC7293-0F09-4168-8282-E089B4F20805}" srcOrd="0" destOrd="0" presId="urn:microsoft.com/office/officeart/2005/8/layout/StepDownProcess"/>
    <dgm:cxn modelId="{89F0FC05-A796-4A86-83D2-4C6D59CBEEAC}" srcId="{D7BCD6C6-2F51-4E40-8F90-A28BEF8C1C01}" destId="{047A409C-392C-487C-A9D2-C917891E8A20}" srcOrd="1" destOrd="0" parTransId="{FEFC9E8B-45C5-451F-A061-D0972B7D331A}" sibTransId="{662600B1-5DDE-4492-A557-E75D3887AFA6}"/>
    <dgm:cxn modelId="{4E17EE07-AFCF-496E-9EB1-36BBC8881672}" srcId="{541BAFC7-AC04-45EA-9D62-BF7099210382}" destId="{06140B71-B476-46A1-915A-A3A68570CEEF}" srcOrd="0" destOrd="0" parTransId="{2842F1DF-7967-493B-B444-661BB189BF02}" sibTransId="{D98137B0-9EF5-4834-AC3F-DCE0FB2247DB}"/>
    <dgm:cxn modelId="{E4C5271A-7BA4-43E5-8503-C0F3CDBAB2CC}" type="presOf" srcId="{06140B71-B476-46A1-915A-A3A68570CEEF}" destId="{A77C7677-D6CA-470F-9B3C-4DFC1931F058}" srcOrd="0" destOrd="0" presId="urn:microsoft.com/office/officeart/2005/8/layout/StepDownProcess"/>
    <dgm:cxn modelId="{8DE3C83F-85CA-487B-9806-A55B0D12EC2C}" srcId="{D7BCD6C6-2F51-4E40-8F90-A28BEF8C1C01}" destId="{B7467179-1732-402B-8041-B8D8D67AF264}" srcOrd="2" destOrd="0" parTransId="{DC9E0808-B2D7-44AB-8CCC-52C2FA46AC98}" sibTransId="{C036EFDA-479D-4277-AB52-054570088603}"/>
    <dgm:cxn modelId="{E0C2614D-E6B7-4587-A400-ADA28AB5A0D5}" srcId="{B7467179-1732-402B-8041-B8D8D67AF264}" destId="{2AE2D803-B191-43AB-A24C-D1C07915D144}" srcOrd="0" destOrd="0" parTransId="{DCA67732-481D-457D-97C2-182F8C72B566}" sibTransId="{73DBA2E7-31A3-4CF9-99D6-4E6C57D96D64}"/>
    <dgm:cxn modelId="{B0AC809F-5404-4A36-87C7-C368184B65B1}" type="presOf" srcId="{B7467179-1732-402B-8041-B8D8D67AF264}" destId="{DCA1CE09-DD47-4189-B11C-3E3575E78C9F}" srcOrd="0" destOrd="0" presId="urn:microsoft.com/office/officeart/2005/8/layout/StepDownProcess"/>
    <dgm:cxn modelId="{6DE7CBCD-DDE2-4A15-9B8D-4CACF82F9F30}" type="presOf" srcId="{541BAFC7-AC04-45EA-9D62-BF7099210382}" destId="{95F4E4CB-5FCF-4009-9C92-56BBE86A5CBA}" srcOrd="0" destOrd="0" presId="urn:microsoft.com/office/officeart/2005/8/layout/StepDownProcess"/>
    <dgm:cxn modelId="{109739EA-0E64-45AF-A40E-CAF468C585A6}" type="presOf" srcId="{2AE2D803-B191-43AB-A24C-D1C07915D144}" destId="{2058A2C7-FF78-43CA-8DF1-A7E8F1C9B548}" srcOrd="0" destOrd="0" presId="urn:microsoft.com/office/officeart/2005/8/layout/StepDownProcess"/>
    <dgm:cxn modelId="{BB4B61EA-3B22-4A43-B448-3AC552A4DD70}" type="presOf" srcId="{326231B7-5793-47DF-91E9-8BE4BA847658}" destId="{4A4B057C-6FE8-4BCA-A10D-9744FEB159A7}" srcOrd="0" destOrd="0" presId="urn:microsoft.com/office/officeart/2005/8/layout/StepDownProcess"/>
    <dgm:cxn modelId="{ECDC20F4-F529-4D8D-AABC-0E17DBF3ED01}" type="presOf" srcId="{047A409C-392C-487C-A9D2-C917891E8A20}" destId="{4520C77C-25F6-40E8-A1AC-897F113F6B4F}" srcOrd="0" destOrd="0" presId="urn:microsoft.com/office/officeart/2005/8/layout/StepDownProcess"/>
    <dgm:cxn modelId="{643208F5-D3EB-4810-8C57-A7E7E81F6E22}" srcId="{D7BCD6C6-2F51-4E40-8F90-A28BEF8C1C01}" destId="{541BAFC7-AC04-45EA-9D62-BF7099210382}" srcOrd="0" destOrd="0" parTransId="{B21E9CE6-320C-4F7A-933F-DA0F5F01D224}" sibTransId="{1BB160BC-736B-425A-B238-1BD5A42A298E}"/>
    <dgm:cxn modelId="{29098FFC-AE25-4BC4-B636-2447DB6025D5}" srcId="{047A409C-392C-487C-A9D2-C917891E8A20}" destId="{326231B7-5793-47DF-91E9-8BE4BA847658}" srcOrd="0" destOrd="0" parTransId="{79D29C82-EA61-4B0D-9857-8FF538A0F4A3}" sibTransId="{6DE6E75A-86D9-4CA6-B5D7-B61D9C5398C4}"/>
    <dgm:cxn modelId="{AF1E1A29-2B38-4684-B8C0-37F7DCECCC3A}" type="presParOf" srcId="{21CC7293-0F09-4168-8282-E089B4F20805}" destId="{697FE902-38C5-4B0E-AD81-4D780E971131}" srcOrd="0" destOrd="0" presId="urn:microsoft.com/office/officeart/2005/8/layout/StepDownProcess"/>
    <dgm:cxn modelId="{8AF5F206-EC67-41B5-B6C3-975241520045}" type="presParOf" srcId="{697FE902-38C5-4B0E-AD81-4D780E971131}" destId="{0C46AC2B-7A7C-45B9-BA86-994150B7A6F9}" srcOrd="0" destOrd="0" presId="urn:microsoft.com/office/officeart/2005/8/layout/StepDownProcess"/>
    <dgm:cxn modelId="{14B36723-0235-4187-9903-6A0B07F4717C}" type="presParOf" srcId="{697FE902-38C5-4B0E-AD81-4D780E971131}" destId="{95F4E4CB-5FCF-4009-9C92-56BBE86A5CBA}" srcOrd="1" destOrd="0" presId="urn:microsoft.com/office/officeart/2005/8/layout/StepDownProcess"/>
    <dgm:cxn modelId="{1BD41175-92B6-466E-B40A-0BB69D2CC0C5}" type="presParOf" srcId="{697FE902-38C5-4B0E-AD81-4D780E971131}" destId="{A77C7677-D6CA-470F-9B3C-4DFC1931F058}" srcOrd="2" destOrd="0" presId="urn:microsoft.com/office/officeart/2005/8/layout/StepDownProcess"/>
    <dgm:cxn modelId="{A407B309-66DE-42C9-AC3E-49C35AF1DDCF}" type="presParOf" srcId="{21CC7293-0F09-4168-8282-E089B4F20805}" destId="{3D40D6C5-6732-4164-8C5A-679BBC9A4570}" srcOrd="1" destOrd="0" presId="urn:microsoft.com/office/officeart/2005/8/layout/StepDownProcess"/>
    <dgm:cxn modelId="{E8036B8B-AF72-4DC0-AA0F-CE33AF1C623B}" type="presParOf" srcId="{21CC7293-0F09-4168-8282-E089B4F20805}" destId="{A9D7F1C1-0DE5-4E78-BFC7-2D7B6EA747E0}" srcOrd="2" destOrd="0" presId="urn:microsoft.com/office/officeart/2005/8/layout/StepDownProcess"/>
    <dgm:cxn modelId="{DEACC886-9D64-487E-88F5-1DD517656911}" type="presParOf" srcId="{A9D7F1C1-0DE5-4E78-BFC7-2D7B6EA747E0}" destId="{4DE0A37B-6D90-4D63-8881-FDF484B6EAA3}" srcOrd="0" destOrd="0" presId="urn:microsoft.com/office/officeart/2005/8/layout/StepDownProcess"/>
    <dgm:cxn modelId="{86B3B850-E3B6-4DE9-ADC1-C34060808D35}" type="presParOf" srcId="{A9D7F1C1-0DE5-4E78-BFC7-2D7B6EA747E0}" destId="{4520C77C-25F6-40E8-A1AC-897F113F6B4F}" srcOrd="1" destOrd="0" presId="urn:microsoft.com/office/officeart/2005/8/layout/StepDownProcess"/>
    <dgm:cxn modelId="{A36698B2-1336-4184-9DC4-65E0803C40FC}" type="presParOf" srcId="{A9D7F1C1-0DE5-4E78-BFC7-2D7B6EA747E0}" destId="{4A4B057C-6FE8-4BCA-A10D-9744FEB159A7}" srcOrd="2" destOrd="0" presId="urn:microsoft.com/office/officeart/2005/8/layout/StepDownProcess"/>
    <dgm:cxn modelId="{A9889CAD-FBAB-41A6-A965-A137CF50591F}" type="presParOf" srcId="{21CC7293-0F09-4168-8282-E089B4F20805}" destId="{3297A223-7F3C-409C-9435-B58DF4A038A1}" srcOrd="3" destOrd="0" presId="urn:microsoft.com/office/officeart/2005/8/layout/StepDownProcess"/>
    <dgm:cxn modelId="{1F604F8C-ABFB-4D4C-875B-72D3B29A1676}" type="presParOf" srcId="{21CC7293-0F09-4168-8282-E089B4F20805}" destId="{EF0B564D-AB5A-4615-A88C-F4C8A7D91121}" srcOrd="4" destOrd="0" presId="urn:microsoft.com/office/officeart/2005/8/layout/StepDownProcess"/>
    <dgm:cxn modelId="{C9449047-8A98-406B-BDB7-C48C1F215C53}" type="presParOf" srcId="{EF0B564D-AB5A-4615-A88C-F4C8A7D91121}" destId="{DCA1CE09-DD47-4189-B11C-3E3575E78C9F}" srcOrd="0" destOrd="0" presId="urn:microsoft.com/office/officeart/2005/8/layout/StepDownProcess"/>
    <dgm:cxn modelId="{DAFEFDE1-3550-4C73-9561-A229191FF101}" type="presParOf" srcId="{EF0B564D-AB5A-4615-A88C-F4C8A7D91121}" destId="{2058A2C7-FF78-43CA-8DF1-A7E8F1C9B548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068D5-2565-4698-ABF4-E1182A592EAA}">
      <dsp:nvSpPr>
        <dsp:cNvPr id="0" name=""/>
        <dsp:cNvSpPr/>
      </dsp:nvSpPr>
      <dsp:spPr>
        <a:xfrm>
          <a:off x="509984" y="1963"/>
          <a:ext cx="1974453" cy="197445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Materialidad Financiera</a:t>
          </a:r>
        </a:p>
      </dsp:txBody>
      <dsp:txXfrm>
        <a:off x="799136" y="291115"/>
        <a:ext cx="1396149" cy="1396149"/>
      </dsp:txXfrm>
    </dsp:sp>
    <dsp:sp modelId="{18DE51B0-78E1-445B-87D5-E9BBBA0F709F}">
      <dsp:nvSpPr>
        <dsp:cNvPr id="0" name=""/>
        <dsp:cNvSpPr/>
      </dsp:nvSpPr>
      <dsp:spPr>
        <a:xfrm>
          <a:off x="924619" y="2136742"/>
          <a:ext cx="1145182" cy="1145182"/>
        </a:xfrm>
        <a:prstGeom prst="mathPlus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500" kern="1200"/>
        </a:p>
      </dsp:txBody>
      <dsp:txXfrm>
        <a:off x="1076413" y="2574660"/>
        <a:ext cx="841594" cy="269346"/>
      </dsp:txXfrm>
    </dsp:sp>
    <dsp:sp modelId="{DEE977D4-F626-472A-B65B-EAB72D8DAA38}">
      <dsp:nvSpPr>
        <dsp:cNvPr id="0" name=""/>
        <dsp:cNvSpPr/>
      </dsp:nvSpPr>
      <dsp:spPr>
        <a:xfrm>
          <a:off x="509984" y="3442250"/>
          <a:ext cx="1974453" cy="1974453"/>
        </a:xfrm>
        <a:prstGeom prst="ellips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Materialidad de Impacto</a:t>
          </a:r>
        </a:p>
      </dsp:txBody>
      <dsp:txXfrm>
        <a:off x="799136" y="3731402"/>
        <a:ext cx="1396149" cy="1396149"/>
      </dsp:txXfrm>
    </dsp:sp>
    <dsp:sp modelId="{DB168C15-217E-4813-AE39-9D5A5DB8FFC0}">
      <dsp:nvSpPr>
        <dsp:cNvPr id="0" name=""/>
        <dsp:cNvSpPr/>
      </dsp:nvSpPr>
      <dsp:spPr>
        <a:xfrm>
          <a:off x="2780605" y="2342085"/>
          <a:ext cx="627876" cy="7344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500" kern="1200"/>
        </a:p>
      </dsp:txBody>
      <dsp:txXfrm>
        <a:off x="2780605" y="2488984"/>
        <a:ext cx="439513" cy="440698"/>
      </dsp:txXfrm>
    </dsp:sp>
    <dsp:sp modelId="{E09B91F9-0263-441F-8710-2064825D5096}">
      <dsp:nvSpPr>
        <dsp:cNvPr id="0" name=""/>
        <dsp:cNvSpPr/>
      </dsp:nvSpPr>
      <dsp:spPr>
        <a:xfrm>
          <a:off x="3669109" y="734880"/>
          <a:ext cx="3948906" cy="3948906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600" b="1" kern="1200" dirty="0"/>
            <a:t>Cuestiones Materiales</a:t>
          </a:r>
        </a:p>
      </dsp:txBody>
      <dsp:txXfrm>
        <a:off x="4247413" y="1313184"/>
        <a:ext cx="2792298" cy="27922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10496-F140-4312-8F7F-5170D076A379}">
      <dsp:nvSpPr>
        <dsp:cNvPr id="0" name=""/>
        <dsp:cNvSpPr/>
      </dsp:nvSpPr>
      <dsp:spPr>
        <a:xfrm>
          <a:off x="0" y="1724551"/>
          <a:ext cx="10848883" cy="2299402"/>
        </a:xfrm>
        <a:prstGeom prst="notchedRight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6C1B0330-50EA-4894-969F-7BABEC2CBC0B}">
      <dsp:nvSpPr>
        <dsp:cNvPr id="0" name=""/>
        <dsp:cNvSpPr/>
      </dsp:nvSpPr>
      <dsp:spPr>
        <a:xfrm>
          <a:off x="4886" y="0"/>
          <a:ext cx="2350414" cy="2299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1" u="none" kern="1200" dirty="0"/>
            <a:t>Determinación de los grupos de interés</a:t>
          </a:r>
          <a:endParaRPr lang="es-ES" sz="1900" b="1" u="none" kern="1200" dirty="0"/>
        </a:p>
      </dsp:txBody>
      <dsp:txXfrm>
        <a:off x="4886" y="0"/>
        <a:ext cx="2350414" cy="2299402"/>
      </dsp:txXfrm>
    </dsp:sp>
    <dsp:sp modelId="{100EFE9C-EDB0-427F-B38F-A623DE0A1C1C}">
      <dsp:nvSpPr>
        <dsp:cNvPr id="0" name=""/>
        <dsp:cNvSpPr/>
      </dsp:nvSpPr>
      <dsp:spPr>
        <a:xfrm>
          <a:off x="892668" y="2586827"/>
          <a:ext cx="574850" cy="57485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E7DF40-785A-40B2-99EB-0393698BF4F1}">
      <dsp:nvSpPr>
        <dsp:cNvPr id="0" name=""/>
        <dsp:cNvSpPr/>
      </dsp:nvSpPr>
      <dsp:spPr>
        <a:xfrm>
          <a:off x="2472822" y="3449103"/>
          <a:ext cx="2350414" cy="2299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1" u="none" kern="1200" dirty="0"/>
            <a:t>Estudio de su capacidad de influencia e impacto y definición de la estrategia de participación de cada uno de ellos</a:t>
          </a:r>
          <a:endParaRPr lang="es-ES" sz="1900" b="1" u="none" kern="1200" dirty="0"/>
        </a:p>
      </dsp:txBody>
      <dsp:txXfrm>
        <a:off x="2472822" y="3449103"/>
        <a:ext cx="2350414" cy="2299402"/>
      </dsp:txXfrm>
    </dsp:sp>
    <dsp:sp modelId="{3A1BC200-763C-4CBE-AB33-790F73B69082}">
      <dsp:nvSpPr>
        <dsp:cNvPr id="0" name=""/>
        <dsp:cNvSpPr/>
      </dsp:nvSpPr>
      <dsp:spPr>
        <a:xfrm>
          <a:off x="3360604" y="2586827"/>
          <a:ext cx="574850" cy="574850"/>
        </a:xfrm>
        <a:prstGeom prst="ellipse">
          <a:avLst/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0E73DE-87C4-4F4C-AF96-35ED45FF2022}">
      <dsp:nvSpPr>
        <dsp:cNvPr id="0" name=""/>
        <dsp:cNvSpPr/>
      </dsp:nvSpPr>
      <dsp:spPr>
        <a:xfrm>
          <a:off x="4940757" y="0"/>
          <a:ext cx="2350414" cy="2299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1" u="none" kern="1200" dirty="0"/>
            <a:t>Identificación, numeración y clasificación de las cuestiones materiales</a:t>
          </a:r>
          <a:endParaRPr lang="es-ES" sz="1900" b="1" u="none" kern="1200" dirty="0"/>
        </a:p>
      </dsp:txBody>
      <dsp:txXfrm>
        <a:off x="4940757" y="0"/>
        <a:ext cx="2350414" cy="2299402"/>
      </dsp:txXfrm>
    </dsp:sp>
    <dsp:sp modelId="{08400D75-8BCA-417C-8057-B723B1101B11}">
      <dsp:nvSpPr>
        <dsp:cNvPr id="0" name=""/>
        <dsp:cNvSpPr/>
      </dsp:nvSpPr>
      <dsp:spPr>
        <a:xfrm>
          <a:off x="5828539" y="2586827"/>
          <a:ext cx="574850" cy="574850"/>
        </a:xfrm>
        <a:prstGeom prst="ellipse">
          <a:avLst/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432D66-8A88-48F6-BE2D-9575DC441071}">
      <dsp:nvSpPr>
        <dsp:cNvPr id="0" name=""/>
        <dsp:cNvSpPr/>
      </dsp:nvSpPr>
      <dsp:spPr>
        <a:xfrm>
          <a:off x="7408693" y="3449103"/>
          <a:ext cx="2350414" cy="2299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1" u="none" kern="1200" dirty="0"/>
            <a:t>Construcción de la matriz de doble materialidad</a:t>
          </a:r>
          <a:endParaRPr lang="es-ES" sz="1900" b="1" u="none" kern="1200" dirty="0"/>
        </a:p>
      </dsp:txBody>
      <dsp:txXfrm>
        <a:off x="7408693" y="3449103"/>
        <a:ext cx="2350414" cy="2299402"/>
      </dsp:txXfrm>
    </dsp:sp>
    <dsp:sp modelId="{00CC8606-A49B-4B51-9F2B-022EF7B039A6}">
      <dsp:nvSpPr>
        <dsp:cNvPr id="0" name=""/>
        <dsp:cNvSpPr/>
      </dsp:nvSpPr>
      <dsp:spPr>
        <a:xfrm>
          <a:off x="8296475" y="2586827"/>
          <a:ext cx="574850" cy="574850"/>
        </a:xfrm>
        <a:prstGeom prst="ellipse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46AC2B-7A7C-45B9-BA86-994150B7A6F9}">
      <dsp:nvSpPr>
        <dsp:cNvPr id="0" name=""/>
        <dsp:cNvSpPr/>
      </dsp:nvSpPr>
      <dsp:spPr>
        <a:xfrm rot="5400000">
          <a:off x="617336" y="1583167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5F4E4CB-5FCF-4009-9C92-56BBE86A5CBA}">
      <dsp:nvSpPr>
        <dsp:cNvPr id="0" name=""/>
        <dsp:cNvSpPr/>
      </dsp:nvSpPr>
      <dsp:spPr>
        <a:xfrm>
          <a:off x="246375" y="31045"/>
          <a:ext cx="2357070" cy="1649872"/>
        </a:xfrm>
        <a:prstGeom prst="roundRect">
          <a:avLst>
            <a:gd name="adj" fmla="val 166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Se determinan los grupos de interés</a:t>
          </a:r>
        </a:p>
      </dsp:txBody>
      <dsp:txXfrm>
        <a:off x="326930" y="111600"/>
        <a:ext cx="2195960" cy="1488762"/>
      </dsp:txXfrm>
    </dsp:sp>
    <dsp:sp modelId="{A77C7677-D6CA-470F-9B3C-4DFC1931F058}">
      <dsp:nvSpPr>
        <dsp:cNvPr id="0" name=""/>
        <dsp:cNvSpPr/>
      </dsp:nvSpPr>
      <dsp:spPr>
        <a:xfrm>
          <a:off x="2766682" y="236230"/>
          <a:ext cx="2435929" cy="133350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Según clasificación de afectados y usuarios de informes de sostenibilidad</a:t>
          </a:r>
        </a:p>
      </dsp:txBody>
      <dsp:txXfrm>
        <a:off x="2766682" y="236230"/>
        <a:ext cx="2435929" cy="1333500"/>
      </dsp:txXfrm>
    </dsp:sp>
    <dsp:sp modelId="{4DE0A37B-6D90-4D63-8881-FDF484B6EAA3}">
      <dsp:nvSpPr>
        <dsp:cNvPr id="0" name=""/>
        <dsp:cNvSpPr/>
      </dsp:nvSpPr>
      <dsp:spPr>
        <a:xfrm rot="5400000">
          <a:off x="2744787" y="3436519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3">
            <a:tint val="50000"/>
            <a:hueOff val="1955669"/>
            <a:satOff val="100000"/>
            <a:lumOff val="1053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520C77C-25F6-40E8-A1AC-897F113F6B4F}">
      <dsp:nvSpPr>
        <dsp:cNvPr id="0" name=""/>
        <dsp:cNvSpPr/>
      </dsp:nvSpPr>
      <dsp:spPr>
        <a:xfrm>
          <a:off x="2373826" y="1884397"/>
          <a:ext cx="2357070" cy="1649872"/>
        </a:xfrm>
        <a:prstGeom prst="roundRect">
          <a:avLst>
            <a:gd name="adj" fmla="val 1667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Se escoge cómo recabar información sobre cada uno de ellos</a:t>
          </a:r>
        </a:p>
      </dsp:txBody>
      <dsp:txXfrm>
        <a:off x="2454381" y="1964952"/>
        <a:ext cx="2195960" cy="1488762"/>
      </dsp:txXfrm>
    </dsp:sp>
    <dsp:sp modelId="{4A4B057C-6FE8-4BCA-A10D-9744FEB159A7}">
      <dsp:nvSpPr>
        <dsp:cNvPr id="0" name=""/>
        <dsp:cNvSpPr/>
      </dsp:nvSpPr>
      <dsp:spPr>
        <a:xfrm>
          <a:off x="4691570" y="2157524"/>
          <a:ext cx="2943296" cy="133350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Se puede recurrir a encuestas, cuestionarios, entrevistas, datos estadísticos etc. Con cada grupo, un instrumento específico </a:t>
          </a:r>
        </a:p>
      </dsp:txBody>
      <dsp:txXfrm>
        <a:off x="4691570" y="2157524"/>
        <a:ext cx="2943296" cy="1333500"/>
      </dsp:txXfrm>
    </dsp:sp>
    <dsp:sp modelId="{DCA1CE09-DD47-4189-B11C-3E3575E78C9F}">
      <dsp:nvSpPr>
        <dsp:cNvPr id="0" name=""/>
        <dsp:cNvSpPr/>
      </dsp:nvSpPr>
      <dsp:spPr>
        <a:xfrm>
          <a:off x="4501277" y="3737748"/>
          <a:ext cx="2357070" cy="1649872"/>
        </a:xfrm>
        <a:prstGeom prst="roundRect">
          <a:avLst>
            <a:gd name="adj" fmla="val 1667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Se elabora la matriz de clasificación de los grupos de interés</a:t>
          </a:r>
        </a:p>
      </dsp:txBody>
      <dsp:txXfrm>
        <a:off x="4581832" y="3818303"/>
        <a:ext cx="2195960" cy="1488762"/>
      </dsp:txXfrm>
    </dsp:sp>
    <dsp:sp modelId="{2058A2C7-FF78-43CA-8DF1-A7E8F1C9B548}">
      <dsp:nvSpPr>
        <dsp:cNvPr id="0" name=""/>
        <dsp:cNvSpPr/>
      </dsp:nvSpPr>
      <dsp:spPr>
        <a:xfrm>
          <a:off x="6858348" y="3895101"/>
          <a:ext cx="1714308" cy="133350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Es un análisis de cómo se ven afectados y cómo perciben el impacto</a:t>
          </a:r>
        </a:p>
      </dsp:txBody>
      <dsp:txXfrm>
        <a:off x="6858348" y="3895101"/>
        <a:ext cx="1714308" cy="1333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C2524-49A1-4D99-93A3-B4F510E55F03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398F5-E9FA-420A-B315-012EB89CBA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3173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92668-6D9E-DB59-3452-8108F602E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69818A-8943-9746-CA3C-5CD48FA30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04F8F6-7B29-6EA6-0A53-F080A199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FEB4-58C1-4DEB-8963-3A1649DDE979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27689B-B61B-D8B6-1D32-C6D369F0E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E49673-D454-7FC1-B34F-C8C34FFA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1620D-3714-4BF1-ABEA-39EEC691F8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631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02FE4-F9B1-E6C9-D749-F7818F3BB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0A7B5B-FE10-57E3-31FB-4E34C46A5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308FD2-8FF4-9E65-EC53-43F26684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FEB4-58C1-4DEB-8963-3A1649DDE979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FE258E-BCC6-745A-E7B7-9CEB17153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2AF9A8-00C7-8E33-6A6C-D44B3471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1620D-3714-4BF1-ABEA-39EEC691F8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0410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EF73E0-BE6E-0437-1033-744EAE26F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3A980D-2C84-2A74-1BC3-A9DF7ACA3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771F1F-4AE1-34A5-031A-5186CC9C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FEB4-58C1-4DEB-8963-3A1649DDE979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901522-0FBD-DF10-9C2B-BEC9EED7A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0126F2-BDF9-F470-DDD2-3D18A2DEC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1620D-3714-4BF1-ABEA-39EEC691F8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360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F4274-0291-ED1A-0D97-B025F39E6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161746-EE5C-DF14-0183-464C0AE1E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D7B791-41A8-A1A1-F23C-805F86835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19F56F-054D-16E7-8B2D-5DC080D34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FEB4-58C1-4DEB-8963-3A1649DDE979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7144C2-765F-8941-1DC0-4357E19E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0EF2F5-8453-D698-80F6-801B40BD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1620D-3714-4BF1-ABEA-39EEC691F8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846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60874-7185-3950-36AB-071F2EC0A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F321E1-0127-D3C9-33B9-9D809886C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443CFC-55AF-2555-AC51-D80F8879F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C6F2C1-350C-FE53-F08E-DC3609D2F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D83DC4D-C8FA-8BE0-236B-BC020E4C0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5B06216-3451-FCAA-BB58-B6536120E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FEB4-58C1-4DEB-8963-3A1649DDE979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737DA0C-08A5-78F6-824F-6F0A307E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00EB7C9-46F0-B82A-102E-9F151FADB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1620D-3714-4BF1-ABEA-39EEC691F8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3210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67C0B-7787-D153-FCC7-12751A1EC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685E7BD-7F3A-A450-52B6-01FAE4D35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FEB4-58C1-4DEB-8963-3A1649DDE979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A0F638A-919B-2D29-9865-4DE4E8D3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50B5A4B-2186-EA05-0091-BD0CE199B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1620D-3714-4BF1-ABEA-39EEC691F8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406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6244587-DF06-7A13-CF85-293BFA5D0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FEB4-58C1-4DEB-8963-3A1649DDE979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19BE8B-3E5E-FD03-03D5-B03A3A966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B7F174-B1F1-212C-DFAC-D7F30898F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1620D-3714-4BF1-ABEA-39EEC691F8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5163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40A32-1927-0F1A-8EFC-9CEF227AB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AAD9DC-597D-C0CD-67A9-770ED2A07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450F1D-D75A-EFF5-4BF0-664DD3A84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97CB6E-5E36-BE8A-DC9D-E1D11E0E7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FEB4-58C1-4DEB-8963-3A1649DDE979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1BF8F8-07E5-CEC5-9D87-7C23B0BB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EAE4B8-EE27-8B23-D5E0-10F02F93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1620D-3714-4BF1-ABEA-39EEC691F8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5324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80C2B-17BC-44BE-72EE-32ABECDCE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B4C8BEF-B5B8-58EF-F11A-DCC88F1CC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D6151C-2472-ED14-AD2C-B1084BFE1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06BEDA-2786-8569-C9DD-B6406DFE5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FEB4-58C1-4DEB-8963-3A1649DDE979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F16F0D-4CD7-9FA5-7945-B0C366D6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40B294-62AE-E889-AA7B-D1FA4474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1620D-3714-4BF1-ABEA-39EEC691F8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77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3459C-6D7A-0822-3BC5-A7C93E980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E8C815-15D6-93AE-8DA2-DB4353F11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05C478-C7E1-CCB0-D8B0-065A24C9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FEB4-58C1-4DEB-8963-3A1649DDE979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862560-F0DC-9C14-84A6-9C690321E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D539A9-F6EB-26F5-6134-2C2BDDCE4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1620D-3714-4BF1-ABEA-39EEC691F8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300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1B7A5E-47DD-2D4C-97C5-4CDADC93F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1AB29C-1968-56A3-8F49-4AA98FCF3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6256C1-FF31-1E16-26E3-91E7BEED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FEB4-58C1-4DEB-8963-3A1649DDE979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65AEC2-C7C8-6BE1-842B-5E0237A7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AADCB1-2BC5-D30F-236F-F5918791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1620D-3714-4BF1-ABEA-39EEC691F8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0340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BDF2B03-C1A2-92F1-9F74-018844DD3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5FB26A-6CAC-B3A5-F8A6-E9186B9F8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E6F543-0C5B-3EE6-8FD7-F6B5D1F4A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EFEB4-58C1-4DEB-8963-3A1649DDE979}" type="datetimeFigureOut">
              <a:rPr lang="es-ES" smtClean="0"/>
              <a:t>01/10/2024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BCCD4B-F8D0-63B3-E068-EFDBC4B5A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AFE1C1-9F9D-B4AD-A983-FF7BAD8600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1620D-3714-4BF1-ABEA-39EEC691F8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818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iagnosticosostenibilidad.camara.e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0348lVZmjW4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frag.org/system/files/sites/webpublishing/Meeting%20Documents/2305101014421471/04-02%20Materiality%20Assessment%20Implementation%20guidance%20SR%20TEG%20090423.pdf" TargetMode="Externa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eur-lex.europa.eu/resource.html?uri=cellar:a17f44bd-2f9c-11ee-9e98-01aa75ed71a1.0023.02/DOC_2&amp;format=PDF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frs.org/groups/international-sustainability-standards-board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eur-lex.europa.eu/legal-content/ES/TXT/?uri=CELEX%3A32022R1288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Imagen 5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07A242A6-60AE-89F6-4C75-571B64511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951" y="5398576"/>
            <a:ext cx="1536228" cy="853380"/>
          </a:xfrm>
          <a:prstGeom prst="rect">
            <a:avLst/>
          </a:prstGeom>
        </p:spPr>
      </p:pic>
      <p:sp>
        <p:nvSpPr>
          <p:cNvPr id="17" name="Título 1">
            <a:extLst>
              <a:ext uri="{FF2B5EF4-FFF2-40B4-BE49-F238E27FC236}">
                <a16:creationId xmlns:a16="http://schemas.microsoft.com/office/drawing/2014/main" id="{43AE97C8-277C-A719-BE23-BBA3D40B1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0060" y="2400250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s-ES" sz="2400" b="1" dirty="0">
                <a:solidFill>
                  <a:schemeClr val="tx2"/>
                </a:solidFill>
              </a:rPr>
              <a:t>SOSTENIBILIDAD APLICADA AL SISTEMA PRODUCTIVO</a:t>
            </a:r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12410059-5DFF-1142-DC92-E66564B95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9295" y="2861389"/>
            <a:ext cx="4706760" cy="838831"/>
          </a:xfrm>
        </p:spPr>
        <p:txBody>
          <a:bodyPr anchor="b">
            <a:normAutofit/>
          </a:bodyPr>
          <a:lstStyle/>
          <a:p>
            <a:pPr marL="0" indent="0" algn="l">
              <a:buNone/>
            </a:pPr>
            <a:r>
              <a:rPr lang="es-ES" sz="2000" b="1" kern="0" dirty="0">
                <a:solidFill>
                  <a:srgbClr val="9CB02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Asunción León Blasco</a:t>
            </a:r>
            <a:endParaRPr lang="es-ES" sz="2000" b="1" kern="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F18D2B9-98DE-3FD1-9770-ACCDEA142980}"/>
              </a:ext>
            </a:extLst>
          </p:cNvPr>
          <p:cNvCxnSpPr>
            <a:cxnSpLocks/>
          </p:cNvCxnSpPr>
          <p:nvPr/>
        </p:nvCxnSpPr>
        <p:spPr>
          <a:xfrm>
            <a:off x="6909295" y="3038378"/>
            <a:ext cx="5289753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n 20" descr="Calendario&#10;&#10;Descripción generada automáticamente">
            <a:extLst>
              <a:ext uri="{FF2B5EF4-FFF2-40B4-BE49-F238E27FC236}">
                <a16:creationId xmlns:a16="http://schemas.microsoft.com/office/drawing/2014/main" id="{824D0508-F8B2-4511-C04C-EA1EB7F92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387" y="2056087"/>
            <a:ext cx="2555955" cy="3391140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99277388-1129-13DB-2F96-F4534E3CBC0F}"/>
              </a:ext>
            </a:extLst>
          </p:cNvPr>
          <p:cNvSpPr txBox="1"/>
          <p:nvPr/>
        </p:nvSpPr>
        <p:spPr>
          <a:xfrm>
            <a:off x="6909295" y="4391203"/>
            <a:ext cx="5036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u="sng" dirty="0"/>
              <a:t>Unidad 5</a:t>
            </a:r>
            <a:r>
              <a:rPr lang="es-ES" sz="2000" b="1" dirty="0"/>
              <a:t>: El plan de sostenibilidad</a:t>
            </a:r>
          </a:p>
        </p:txBody>
      </p:sp>
    </p:spTree>
    <p:extLst>
      <p:ext uri="{BB962C8B-B14F-4D97-AF65-F5344CB8AC3E}">
        <p14:creationId xmlns:p14="http://schemas.microsoft.com/office/powerpoint/2010/main" val="4057633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21" name="Imagen 20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2228CA1A-BC4F-8C9D-1AD3-F35ED3E26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9F474EC-0257-6438-C082-1992833519BA}"/>
              </a:ext>
            </a:extLst>
          </p:cNvPr>
          <p:cNvSpPr txBox="1">
            <a:spLocks/>
          </p:cNvSpPr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58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5.1. INTRODUCCIÓN </a:t>
            </a:r>
            <a:br>
              <a:rPr lang="es-ES" b="1" kern="0" dirty="0">
                <a:solidFill>
                  <a:srgbClr val="2F5496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5AA9B4AD-B159-A05A-7923-66BA64CDA3FA}"/>
              </a:ext>
            </a:extLst>
          </p:cNvPr>
          <p:cNvSpPr txBox="1">
            <a:spLocks/>
          </p:cNvSpPr>
          <p:nvPr/>
        </p:nvSpPr>
        <p:spPr>
          <a:xfrm>
            <a:off x="7433263" y="6452911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</p:spTree>
    <p:extLst>
      <p:ext uri="{BB962C8B-B14F-4D97-AF65-F5344CB8AC3E}">
        <p14:creationId xmlns:p14="http://schemas.microsoft.com/office/powerpoint/2010/main" val="3433971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36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-8878" y="12517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FBE5064-E81A-8061-C25B-CEABAE146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710" y="1356124"/>
            <a:ext cx="7996972" cy="5555983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</p:spTree>
    <p:extLst>
      <p:ext uri="{BB962C8B-B14F-4D97-AF65-F5344CB8AC3E}">
        <p14:creationId xmlns:p14="http://schemas.microsoft.com/office/powerpoint/2010/main" val="1895338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36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PLAN DE SOSTENIBILIDAD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-8878" y="12517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9" name="Imagen 8" descr="Una caricatura de una persona&#10;&#10;Descripción generada automáticamente con confianza media">
            <a:extLst>
              <a:ext uri="{FF2B5EF4-FFF2-40B4-BE49-F238E27FC236}">
                <a16:creationId xmlns:a16="http://schemas.microsoft.com/office/drawing/2014/main" id="{43D82B1E-A569-4930-82B2-28D9BE98B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529" y="1387502"/>
            <a:ext cx="5040948" cy="510008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ADC11F5-3E24-D7B6-024C-9D273E0490A0}"/>
              </a:ext>
            </a:extLst>
          </p:cNvPr>
          <p:cNvSpPr txBox="1"/>
          <p:nvPr/>
        </p:nvSpPr>
        <p:spPr>
          <a:xfrm>
            <a:off x="555523" y="2383270"/>
            <a:ext cx="575187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es-ES_tradnl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 de Sostenibilidad</a:t>
            </a:r>
            <a:r>
              <a:rPr lang="es-ES_tradnl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s-ES_tradnl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 Estratégico de Sostenibilidad</a:t>
            </a:r>
            <a:r>
              <a:rPr lang="es-ES_tradnl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 un documento que sirve como guía para la compañía, cuyo propósito principal es integrar la sostenibilidad en su estrategia de negocio teniendo presente la Agenda 2030.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872675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36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PLAN DE SOSTENIBILIDAD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-8878" y="12517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D3E232C-6504-CD25-E92E-EBA1A1CAC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556" y="2220404"/>
            <a:ext cx="2439167" cy="132556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7243AD1-2981-F640-8C35-63C2B79ACC91}"/>
              </a:ext>
            </a:extLst>
          </p:cNvPr>
          <p:cNvSpPr txBox="1"/>
          <p:nvPr/>
        </p:nvSpPr>
        <p:spPr>
          <a:xfrm>
            <a:off x="4755556" y="1553790"/>
            <a:ext cx="24014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PLAN DE SOSTENIBILIDAD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5E2F181-252E-FFE5-8ACC-7EDB9D8B077D}"/>
              </a:ext>
            </a:extLst>
          </p:cNvPr>
          <p:cNvSpPr/>
          <p:nvPr/>
        </p:nvSpPr>
        <p:spPr>
          <a:xfrm>
            <a:off x="4755556" y="1553790"/>
            <a:ext cx="2439167" cy="1992173"/>
          </a:xfrm>
          <a:prstGeom prst="rect">
            <a:avLst/>
          </a:prstGeom>
          <a:noFill/>
          <a:ln w="508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852D998-0F04-4EAC-CEEE-03015A4F6B72}"/>
              </a:ext>
            </a:extLst>
          </p:cNvPr>
          <p:cNvSpPr txBox="1"/>
          <p:nvPr/>
        </p:nvSpPr>
        <p:spPr>
          <a:xfrm>
            <a:off x="4559294" y="4324092"/>
            <a:ext cx="2831689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Documento fundamental en la administración de empresas sostenibles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9D97197-CD49-49BE-5A46-5CC8A9ACB816}"/>
              </a:ext>
            </a:extLst>
          </p:cNvPr>
          <p:cNvSpPr/>
          <p:nvPr/>
        </p:nvSpPr>
        <p:spPr>
          <a:xfrm>
            <a:off x="3967305" y="5996401"/>
            <a:ext cx="1563329" cy="60450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Activos Tangibles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F48FBAF-3546-F5B9-AC8A-7972F0445681}"/>
              </a:ext>
            </a:extLst>
          </p:cNvPr>
          <p:cNvSpPr/>
          <p:nvPr/>
        </p:nvSpPr>
        <p:spPr>
          <a:xfrm>
            <a:off x="6375300" y="5996401"/>
            <a:ext cx="1563329" cy="60450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Activos Intangibles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63BA1C8-B0FB-B488-DF14-72A9BAF6F70F}"/>
              </a:ext>
            </a:extLst>
          </p:cNvPr>
          <p:cNvSpPr txBox="1"/>
          <p:nvPr/>
        </p:nvSpPr>
        <p:spPr>
          <a:xfrm>
            <a:off x="1265892" y="2110088"/>
            <a:ext cx="2701413" cy="22467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Contine los objetivos a corto, medio y largo plazo, las acciones a realizar, sus responsables y su planificación según criterios ASG o ESG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47A5F1B-8081-5B0B-B8CE-67E5ADC8E0FD}"/>
              </a:ext>
            </a:extLst>
          </p:cNvPr>
          <p:cNvSpPr txBox="1"/>
          <p:nvPr/>
        </p:nvSpPr>
        <p:spPr>
          <a:xfrm>
            <a:off x="7938629" y="2371985"/>
            <a:ext cx="2701413" cy="16312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En él se establece la correlación entre las acciones de la empresa en materia de sostenibilidad y los ODS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0433FAC-BCCB-EC7E-72AA-2C09CFF06C2B}"/>
              </a:ext>
            </a:extLst>
          </p:cNvPr>
          <p:cNvCxnSpPr>
            <a:stCxn id="10" idx="1"/>
            <a:endCxn id="15" idx="3"/>
          </p:cNvCxnSpPr>
          <p:nvPr/>
        </p:nvCxnSpPr>
        <p:spPr>
          <a:xfrm flipH="1">
            <a:off x="3967305" y="2549877"/>
            <a:ext cx="788251" cy="683596"/>
          </a:xfrm>
          <a:prstGeom prst="straightConnector1">
            <a:avLst/>
          </a:prstGeom>
          <a:ln w="5080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9F6EE0B5-CB1C-9895-1174-0E72938984E4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5975139" y="3545963"/>
            <a:ext cx="1" cy="778129"/>
          </a:xfrm>
          <a:prstGeom prst="straightConnector1">
            <a:avLst/>
          </a:prstGeom>
          <a:ln w="5080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C8188AE1-DA77-D570-8AED-8734F93C67E8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7194723" y="2549877"/>
            <a:ext cx="743906" cy="637716"/>
          </a:xfrm>
          <a:prstGeom prst="straightConnector1">
            <a:avLst/>
          </a:prstGeom>
          <a:ln w="5080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1B27E325-B3D0-ED7F-FCBE-75B87006CFCC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4748970" y="5339755"/>
            <a:ext cx="1226169" cy="656646"/>
          </a:xfrm>
          <a:prstGeom prst="straightConnector1">
            <a:avLst/>
          </a:prstGeom>
          <a:ln w="5080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703C234-F5B3-C4C2-1853-8A29C0134A48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5975139" y="5339755"/>
            <a:ext cx="1181826" cy="656646"/>
          </a:xfrm>
          <a:prstGeom prst="straightConnector1">
            <a:avLst/>
          </a:prstGeom>
          <a:ln w="5080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696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36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ASPECTOS DEL PLAN DE SOSTENIBILIDAD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-8878" y="12517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D3E232C-6504-CD25-E92E-EBA1A1CAC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302" y="3818205"/>
            <a:ext cx="2439167" cy="132556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7243AD1-2981-F640-8C35-63C2B79ACC91}"/>
              </a:ext>
            </a:extLst>
          </p:cNvPr>
          <p:cNvSpPr txBox="1"/>
          <p:nvPr/>
        </p:nvSpPr>
        <p:spPr>
          <a:xfrm>
            <a:off x="4770302" y="3151591"/>
            <a:ext cx="24014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PLAN DE SOSTENIBILIDAD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5E2F181-252E-FFE5-8ACC-7EDB9D8B077D}"/>
              </a:ext>
            </a:extLst>
          </p:cNvPr>
          <p:cNvSpPr/>
          <p:nvPr/>
        </p:nvSpPr>
        <p:spPr>
          <a:xfrm>
            <a:off x="4770302" y="3151591"/>
            <a:ext cx="2439167" cy="1992173"/>
          </a:xfrm>
          <a:prstGeom prst="rect">
            <a:avLst/>
          </a:prstGeom>
          <a:noFill/>
          <a:ln w="508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0433FAC-BCCB-EC7E-72AA-2C09CFF06C2B}"/>
              </a:ext>
            </a:extLst>
          </p:cNvPr>
          <p:cNvCxnSpPr>
            <a:cxnSpLocks/>
            <a:stCxn id="10" idx="1"/>
            <a:endCxn id="17" idx="6"/>
          </p:cNvCxnSpPr>
          <p:nvPr/>
        </p:nvCxnSpPr>
        <p:spPr>
          <a:xfrm flipH="1" flipV="1">
            <a:off x="3838656" y="4147677"/>
            <a:ext cx="931646" cy="1"/>
          </a:xfrm>
          <a:prstGeom prst="straightConnector1">
            <a:avLst/>
          </a:prstGeom>
          <a:ln w="5080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9F6EE0B5-CB1C-9895-1174-0E72938984E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5985753" y="5143764"/>
            <a:ext cx="4133" cy="645309"/>
          </a:xfrm>
          <a:prstGeom prst="straightConnector1">
            <a:avLst/>
          </a:prstGeom>
          <a:ln w="5080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C8188AE1-DA77-D570-8AED-8734F93C67E8}"/>
              </a:ext>
            </a:extLst>
          </p:cNvPr>
          <p:cNvCxnSpPr>
            <a:cxnSpLocks/>
            <a:stCxn id="10" idx="3"/>
            <a:endCxn id="9" idx="2"/>
          </p:cNvCxnSpPr>
          <p:nvPr/>
        </p:nvCxnSpPr>
        <p:spPr>
          <a:xfrm>
            <a:off x="7209469" y="4147678"/>
            <a:ext cx="1030696" cy="14747"/>
          </a:xfrm>
          <a:prstGeom prst="straightConnector1">
            <a:avLst/>
          </a:prstGeom>
          <a:ln w="5080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lipse 2">
            <a:extLst>
              <a:ext uri="{FF2B5EF4-FFF2-40B4-BE49-F238E27FC236}">
                <a16:creationId xmlns:a16="http://schemas.microsoft.com/office/drawing/2014/main" id="{1C778B32-B840-8E8B-A9DB-D37D396CED96}"/>
              </a:ext>
            </a:extLst>
          </p:cNvPr>
          <p:cNvSpPr/>
          <p:nvPr/>
        </p:nvSpPr>
        <p:spPr>
          <a:xfrm>
            <a:off x="4577283" y="1856787"/>
            <a:ext cx="2816941" cy="683596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ECONÓMICA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C73681E-2851-50E6-EC00-7389A186B193}"/>
              </a:ext>
            </a:extLst>
          </p:cNvPr>
          <p:cNvSpPr/>
          <p:nvPr/>
        </p:nvSpPr>
        <p:spPr>
          <a:xfrm>
            <a:off x="8240165" y="3820627"/>
            <a:ext cx="2816941" cy="683596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SOCIAL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C97096C-F2F9-3507-EF95-7C3F22D9D592}"/>
              </a:ext>
            </a:extLst>
          </p:cNvPr>
          <p:cNvSpPr/>
          <p:nvPr/>
        </p:nvSpPr>
        <p:spPr>
          <a:xfrm>
            <a:off x="4577282" y="5789073"/>
            <a:ext cx="2816941" cy="683596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GOBERNANZA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411A3B28-73ED-C5D7-3593-B6F5F34844F0}"/>
              </a:ext>
            </a:extLst>
          </p:cNvPr>
          <p:cNvSpPr/>
          <p:nvPr/>
        </p:nvSpPr>
        <p:spPr>
          <a:xfrm>
            <a:off x="1021715" y="3805879"/>
            <a:ext cx="2816941" cy="683596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AMBIENTAL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4038A45-BD92-ED7C-0387-A766788C5575}"/>
              </a:ext>
            </a:extLst>
          </p:cNvPr>
          <p:cNvCxnSpPr>
            <a:cxnSpLocks/>
            <a:stCxn id="10" idx="0"/>
            <a:endCxn id="3" idx="4"/>
          </p:cNvCxnSpPr>
          <p:nvPr/>
        </p:nvCxnSpPr>
        <p:spPr>
          <a:xfrm flipH="1" flipV="1">
            <a:off x="5985754" y="2540383"/>
            <a:ext cx="4132" cy="611208"/>
          </a:xfrm>
          <a:prstGeom prst="straightConnector1">
            <a:avLst/>
          </a:prstGeom>
          <a:ln w="5080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761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21" name="Imagen 20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2228CA1A-BC4F-8C9D-1AD3-F35ED3E26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9F474EC-0257-6438-C082-1992833519BA}"/>
              </a:ext>
            </a:extLst>
          </p:cNvPr>
          <p:cNvSpPr txBox="1">
            <a:spLocks/>
          </p:cNvSpPr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58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5.2. FASES PARA LA DEFINICIÓN DE UN PLAN DE SOSTENIBILIDAD</a:t>
            </a:r>
            <a:br>
              <a:rPr lang="es-ES" b="1" kern="0" dirty="0">
                <a:solidFill>
                  <a:srgbClr val="2F5496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5AA9B4AD-B159-A05A-7923-66BA64CDA3FA}"/>
              </a:ext>
            </a:extLst>
          </p:cNvPr>
          <p:cNvSpPr txBox="1">
            <a:spLocks/>
          </p:cNvSpPr>
          <p:nvPr/>
        </p:nvSpPr>
        <p:spPr>
          <a:xfrm>
            <a:off x="7433263" y="6452911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</p:spTree>
    <p:extLst>
      <p:ext uri="{BB962C8B-B14F-4D97-AF65-F5344CB8AC3E}">
        <p14:creationId xmlns:p14="http://schemas.microsoft.com/office/powerpoint/2010/main" val="1570945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 fontScale="90000"/>
          </a:bodyPr>
          <a:lstStyle/>
          <a:p>
            <a:r>
              <a:rPr lang="es-ES" sz="36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FASES PARA DEFINIR EL PLAN DE SOSTENIBILIDAD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-8878" y="12517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pic>
        <p:nvPicPr>
          <p:cNvPr id="6" name="Imagen 5" descr="Diagrama&#10;&#10;Descripción generada automáticamente">
            <a:extLst>
              <a:ext uri="{FF2B5EF4-FFF2-40B4-BE49-F238E27FC236}">
                <a16:creationId xmlns:a16="http://schemas.microsoft.com/office/drawing/2014/main" id="{82E1D287-0EC1-E4DC-6A83-D83ABF4CF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4" y="1357024"/>
            <a:ext cx="10353364" cy="54590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</p:spTree>
    <p:extLst>
      <p:ext uri="{BB962C8B-B14F-4D97-AF65-F5344CB8AC3E}">
        <p14:creationId xmlns:p14="http://schemas.microsoft.com/office/powerpoint/2010/main" val="100326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DEFINICIÓN DE COMPROMISOS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-8878" y="12517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2ACD827-9419-8356-529D-869593376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033" y="1400223"/>
            <a:ext cx="5363934" cy="488437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DB4FC02-E63F-056E-348A-D9717C1ED10A}"/>
              </a:ext>
            </a:extLst>
          </p:cNvPr>
          <p:cNvSpPr txBox="1"/>
          <p:nvPr/>
        </p:nvSpPr>
        <p:spPr>
          <a:xfrm>
            <a:off x="4720319" y="6145007"/>
            <a:ext cx="275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FASE 1</a:t>
            </a:r>
          </a:p>
        </p:txBody>
      </p:sp>
    </p:spTree>
    <p:extLst>
      <p:ext uri="{BB962C8B-B14F-4D97-AF65-F5344CB8AC3E}">
        <p14:creationId xmlns:p14="http://schemas.microsoft.com/office/powerpoint/2010/main" val="4045620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COMPROMISO CORPORATIVO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-8878" y="12517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22348DB-7E74-6B1D-C163-7C3BBDE89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134" y="1969688"/>
            <a:ext cx="2168859" cy="1907100"/>
          </a:xfrm>
          <a:prstGeom prst="rect">
            <a:avLst/>
          </a:prstGeom>
        </p:spPr>
      </p:pic>
      <p:sp>
        <p:nvSpPr>
          <p:cNvPr id="10" name="Rectángulo: esquinas diagonales redondeadas 9">
            <a:extLst>
              <a:ext uri="{FF2B5EF4-FFF2-40B4-BE49-F238E27FC236}">
                <a16:creationId xmlns:a16="http://schemas.microsoft.com/office/drawing/2014/main" id="{C482FA61-4719-507A-D07A-549B95F20712}"/>
              </a:ext>
            </a:extLst>
          </p:cNvPr>
          <p:cNvSpPr/>
          <p:nvPr/>
        </p:nvSpPr>
        <p:spPr>
          <a:xfrm>
            <a:off x="1135626" y="2819609"/>
            <a:ext cx="2374490" cy="851690"/>
          </a:xfrm>
          <a:prstGeom prst="round2DiagRect">
            <a:avLst>
              <a:gd name="adj1" fmla="val 30520"/>
              <a:gd name="adj2" fmla="val 0"/>
            </a:avLst>
          </a:prstGeom>
          <a:solidFill>
            <a:srgbClr val="C00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EMPRESA TRADICIONAL</a:t>
            </a:r>
          </a:p>
        </p:txBody>
      </p:sp>
      <p:sp>
        <p:nvSpPr>
          <p:cNvPr id="11" name="Rectángulo: esquinas diagonales redondeadas 10">
            <a:extLst>
              <a:ext uri="{FF2B5EF4-FFF2-40B4-BE49-F238E27FC236}">
                <a16:creationId xmlns:a16="http://schemas.microsoft.com/office/drawing/2014/main" id="{F242017F-81DD-047F-ED60-AC4BF3BEF0C5}"/>
              </a:ext>
            </a:extLst>
          </p:cNvPr>
          <p:cNvSpPr/>
          <p:nvPr/>
        </p:nvSpPr>
        <p:spPr>
          <a:xfrm>
            <a:off x="8155011" y="2819609"/>
            <a:ext cx="2374490" cy="851690"/>
          </a:xfrm>
          <a:prstGeom prst="round2DiagRect">
            <a:avLst>
              <a:gd name="adj1" fmla="val 3052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EMPRESA SOSTENIBLE</a:t>
            </a:r>
          </a:p>
        </p:txBody>
      </p:sp>
      <p:sp>
        <p:nvSpPr>
          <p:cNvPr id="12" name="Flecha: curvada hacia arriba 11">
            <a:extLst>
              <a:ext uri="{FF2B5EF4-FFF2-40B4-BE49-F238E27FC236}">
                <a16:creationId xmlns:a16="http://schemas.microsoft.com/office/drawing/2014/main" id="{45FE4182-6414-3044-7911-60E951BF6E9E}"/>
              </a:ext>
            </a:extLst>
          </p:cNvPr>
          <p:cNvSpPr/>
          <p:nvPr/>
        </p:nvSpPr>
        <p:spPr>
          <a:xfrm flipV="1">
            <a:off x="2151355" y="1576202"/>
            <a:ext cx="7538335" cy="1146540"/>
          </a:xfrm>
          <a:prstGeom prst="curvedUp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1AB63F2-1891-F5E0-892A-57B150AF7CF2}"/>
              </a:ext>
            </a:extLst>
          </p:cNvPr>
          <p:cNvSpPr txBox="1"/>
          <p:nvPr/>
        </p:nvSpPr>
        <p:spPr>
          <a:xfrm>
            <a:off x="4327864" y="3844560"/>
            <a:ext cx="31119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Compromiso del </a:t>
            </a:r>
          </a:p>
          <a:p>
            <a:pPr algn="ctr"/>
            <a:r>
              <a:rPr lang="es-ES" sz="2000" b="1" dirty="0"/>
              <a:t>Consejo de Administración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CC09C25-F7C9-DAA6-6D7A-F344075AA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336" y="5471255"/>
            <a:ext cx="1095528" cy="69065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D0BD6B9-C0A5-94B9-9BF2-C2B8DA01A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4799" y="5889364"/>
            <a:ext cx="1095528" cy="69065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60B0815-7435-5881-78B7-EB0CA2AE2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262" y="5488053"/>
            <a:ext cx="1095528" cy="690659"/>
          </a:xfrm>
          <a:prstGeom prst="rect">
            <a:avLst/>
          </a:prstGeom>
        </p:spPr>
      </p:pic>
      <p:sp>
        <p:nvSpPr>
          <p:cNvPr id="21" name="Flecha: hacia abajo 20">
            <a:extLst>
              <a:ext uri="{FF2B5EF4-FFF2-40B4-BE49-F238E27FC236}">
                <a16:creationId xmlns:a16="http://schemas.microsoft.com/office/drawing/2014/main" id="{C556691E-C91A-8AEC-E1A3-739A5F76789B}"/>
              </a:ext>
            </a:extLst>
          </p:cNvPr>
          <p:cNvSpPr/>
          <p:nvPr/>
        </p:nvSpPr>
        <p:spPr>
          <a:xfrm>
            <a:off x="5678129" y="4552446"/>
            <a:ext cx="265471" cy="446160"/>
          </a:xfrm>
          <a:prstGeom prst="down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Cerrar llave 21">
            <a:extLst>
              <a:ext uri="{FF2B5EF4-FFF2-40B4-BE49-F238E27FC236}">
                <a16:creationId xmlns:a16="http://schemas.microsoft.com/office/drawing/2014/main" id="{39E42D93-1858-6E85-FF32-665201171A46}"/>
              </a:ext>
            </a:extLst>
          </p:cNvPr>
          <p:cNvSpPr/>
          <p:nvPr/>
        </p:nvSpPr>
        <p:spPr>
          <a:xfrm rot="16200000">
            <a:off x="5440876" y="2670710"/>
            <a:ext cx="736692" cy="5306129"/>
          </a:xfrm>
          <a:prstGeom prst="rightBrace">
            <a:avLst>
              <a:gd name="adj1" fmla="val 24349"/>
              <a:gd name="adj2" fmla="val 50000"/>
            </a:avLst>
          </a:prstGeom>
          <a:ln w="444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4509521-EB50-077E-6AA5-EE28F93FB854}"/>
              </a:ext>
            </a:extLst>
          </p:cNvPr>
          <p:cNvSpPr txBox="1"/>
          <p:nvPr/>
        </p:nvSpPr>
        <p:spPr>
          <a:xfrm>
            <a:off x="8981768" y="5488053"/>
            <a:ext cx="2374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ORGANIZACIÓN</a:t>
            </a:r>
          </a:p>
        </p:txBody>
      </p:sp>
    </p:spTree>
    <p:extLst>
      <p:ext uri="{BB962C8B-B14F-4D97-AF65-F5344CB8AC3E}">
        <p14:creationId xmlns:p14="http://schemas.microsoft.com/office/powerpoint/2010/main" val="2960569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COMPROMISO CORPORATIVO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-8878" y="12517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69DCC0-9254-4A38-A874-69E60FFE3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622" y="3429000"/>
            <a:ext cx="1977309" cy="282142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881F78A-2D75-0C67-D10F-9A32C6D815FD}"/>
              </a:ext>
            </a:extLst>
          </p:cNvPr>
          <p:cNvSpPr txBox="1"/>
          <p:nvPr/>
        </p:nvSpPr>
        <p:spPr>
          <a:xfrm>
            <a:off x="412955" y="2300748"/>
            <a:ext cx="429178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Misión</a:t>
            </a:r>
            <a:r>
              <a:rPr lang="es-ES_tradnl" sz="20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 o esencia de la compañía.</a:t>
            </a:r>
            <a:endParaRPr lang="es-ES" sz="20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Visión</a:t>
            </a:r>
            <a:r>
              <a:rPr lang="es-ES_tradnl" sz="20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 objetivos a medio y largo plazo. Debe apoyarse en los resultados del diagnóstico de la situación actual.</a:t>
            </a:r>
            <a:endParaRPr lang="es-ES" sz="20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Valores</a:t>
            </a:r>
            <a:r>
              <a:rPr lang="es-ES_tradnl" sz="20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 principios que dirigen su actuación.</a:t>
            </a:r>
            <a:endParaRPr lang="es-ES" sz="20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Propósito</a:t>
            </a:r>
            <a:r>
              <a:rPr lang="es-ES_tradnl" sz="20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 integra los tres puntos anteriores y le proporciona su identidad particular. Comprende las tres dimensiones de la sostenibilidad: ambiental, social y gobernanza.</a:t>
            </a:r>
            <a:endParaRPr lang="es-ES" dirty="0"/>
          </a:p>
        </p:txBody>
      </p:sp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81B86970-B5FE-0BF6-06FC-6B1373FCB1AD}"/>
              </a:ext>
            </a:extLst>
          </p:cNvPr>
          <p:cNvSpPr/>
          <p:nvPr/>
        </p:nvSpPr>
        <p:spPr>
          <a:xfrm>
            <a:off x="4984949" y="1592826"/>
            <a:ext cx="2512654" cy="589928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/>
              <a:t>DEFINIR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F64991E-F4BB-B55E-B111-A9EBB8CC70BC}"/>
              </a:ext>
            </a:extLst>
          </p:cNvPr>
          <p:cNvSpPr txBox="1"/>
          <p:nvPr/>
        </p:nvSpPr>
        <p:spPr>
          <a:xfrm>
            <a:off x="7811728" y="2750239"/>
            <a:ext cx="31709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_tradnl" sz="2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s-ES_tradnl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olíticas </a:t>
            </a:r>
            <a:r>
              <a:rPr lang="es-ES_tradnl" sz="2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ES_tradnl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orporativas</a:t>
            </a:r>
            <a:r>
              <a:rPr lang="es-ES_tradnl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 criterios, principios y objetivos que explican los compromisos de organización en materia de sostenibilidad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360388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COMPROMISO CORPORATIVO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-8878" y="12517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10" name="Imagen 9" descr="Dibujo con letras&#10;&#10;Descripción generada automáticamente con confianza baja">
            <a:extLst>
              <a:ext uri="{FF2B5EF4-FFF2-40B4-BE49-F238E27FC236}">
                <a16:creationId xmlns:a16="http://schemas.microsoft.com/office/drawing/2014/main" id="{7722FF49-2846-AD3F-905A-83EACAC3F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948" y="1372298"/>
            <a:ext cx="5962650" cy="5095875"/>
          </a:xfrm>
          <a:prstGeom prst="rect">
            <a:avLst/>
          </a:prstGeom>
        </p:spPr>
      </p:pic>
      <p:sp>
        <p:nvSpPr>
          <p:cNvPr id="11" name="Rectángulo: esquinas superiores redondeadas 10">
            <a:extLst>
              <a:ext uri="{FF2B5EF4-FFF2-40B4-BE49-F238E27FC236}">
                <a16:creationId xmlns:a16="http://schemas.microsoft.com/office/drawing/2014/main" id="{A06BDAB2-E5FB-31C1-674C-A2EFB6E22A23}"/>
              </a:ext>
            </a:extLst>
          </p:cNvPr>
          <p:cNvSpPr/>
          <p:nvPr/>
        </p:nvSpPr>
        <p:spPr>
          <a:xfrm>
            <a:off x="7693014" y="1491409"/>
            <a:ext cx="3660785" cy="589928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/>
              <a:t>NIVEL DE AMBICIÓN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1F7471E-AAB2-C378-529F-513226D7980E}"/>
              </a:ext>
            </a:extLst>
          </p:cNvPr>
          <p:cNvSpPr txBox="1"/>
          <p:nvPr/>
        </p:nvSpPr>
        <p:spPr>
          <a:xfrm>
            <a:off x="305444" y="2582546"/>
            <a:ext cx="27032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Cambios importantes en la empresa y en la cadena de suministro</a:t>
            </a: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AD9C5211-CA00-97AA-13B2-3C67BC7B9031}"/>
              </a:ext>
            </a:extLst>
          </p:cNvPr>
          <p:cNvSpPr/>
          <p:nvPr/>
        </p:nvSpPr>
        <p:spPr>
          <a:xfrm>
            <a:off x="3034440" y="2816942"/>
            <a:ext cx="1710813" cy="36871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3741BA0-0937-7D0F-C160-C834ED01A865}"/>
              </a:ext>
            </a:extLst>
          </p:cNvPr>
          <p:cNvSpPr txBox="1"/>
          <p:nvPr/>
        </p:nvSpPr>
        <p:spPr>
          <a:xfrm>
            <a:off x="305444" y="3767387"/>
            <a:ext cx="27032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Los objetivos de la empresa se alinean con los criterios ASG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541AC8A-14C1-E921-4595-3B518F9523C8}"/>
              </a:ext>
            </a:extLst>
          </p:cNvPr>
          <p:cNvSpPr/>
          <p:nvPr/>
        </p:nvSpPr>
        <p:spPr>
          <a:xfrm>
            <a:off x="3034440" y="4044697"/>
            <a:ext cx="1226568" cy="36871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7C18655-699C-9792-F8D0-5FC916F5E9C1}"/>
              </a:ext>
            </a:extLst>
          </p:cNvPr>
          <p:cNvSpPr txBox="1"/>
          <p:nvPr/>
        </p:nvSpPr>
        <p:spPr>
          <a:xfrm>
            <a:off x="305444" y="5002119"/>
            <a:ext cx="27032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Se cumplen los mínimos reglamentarios en materia social y ambiental</a:t>
            </a: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746B234A-AF87-48FA-0953-8BF2B7D80A09}"/>
              </a:ext>
            </a:extLst>
          </p:cNvPr>
          <p:cNvSpPr/>
          <p:nvPr/>
        </p:nvSpPr>
        <p:spPr>
          <a:xfrm>
            <a:off x="3034440" y="5272452"/>
            <a:ext cx="816744" cy="36871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7453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IAGNÓSTICO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-8878" y="12517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DE6F7E9-87C4-0D7B-B184-FEDAD5F8E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126" y="1399305"/>
            <a:ext cx="5878592" cy="506886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DB4FC02-E63F-056E-348A-D9717C1ED10A}"/>
              </a:ext>
            </a:extLst>
          </p:cNvPr>
          <p:cNvSpPr txBox="1"/>
          <p:nvPr/>
        </p:nvSpPr>
        <p:spPr>
          <a:xfrm>
            <a:off x="4720319" y="6145007"/>
            <a:ext cx="275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FASE 2</a:t>
            </a:r>
          </a:p>
        </p:txBody>
      </p:sp>
    </p:spTree>
    <p:extLst>
      <p:ext uri="{BB962C8B-B14F-4D97-AF65-F5344CB8AC3E}">
        <p14:creationId xmlns:p14="http://schemas.microsoft.com/office/powerpoint/2010/main" val="1749559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IAGNÓSTICO INTERNO Y EXTERNO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3128C7F1-85B5-33FC-5077-CE95F6E8E1D6}"/>
              </a:ext>
            </a:extLst>
          </p:cNvPr>
          <p:cNvGrpSpPr/>
          <p:nvPr/>
        </p:nvGrpSpPr>
        <p:grpSpPr>
          <a:xfrm>
            <a:off x="1107984" y="1464160"/>
            <a:ext cx="3516629" cy="1152686"/>
            <a:chOff x="1107984" y="1464160"/>
            <a:chExt cx="3516629" cy="1152686"/>
          </a:xfrm>
        </p:grpSpPr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2090915C-67D5-2E87-ECC5-43AE44563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7984" y="1464160"/>
              <a:ext cx="1295581" cy="1152686"/>
            </a:xfrm>
            <a:prstGeom prst="rect">
              <a:avLst/>
            </a:prstGeom>
          </p:spPr>
        </p:pic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B05A525-2025-4DED-F796-2232C5C12D1E}"/>
                </a:ext>
              </a:extLst>
            </p:cNvPr>
            <p:cNvSpPr/>
            <p:nvPr/>
          </p:nvSpPr>
          <p:spPr>
            <a:xfrm>
              <a:off x="2403564" y="1642278"/>
              <a:ext cx="2221049" cy="879138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200" b="1" dirty="0"/>
                <a:t>DIAGNÓSTICO INTERNO</a:t>
              </a: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DBAAB617-90EF-E35F-7BEB-1EA60A9773AC}"/>
              </a:ext>
            </a:extLst>
          </p:cNvPr>
          <p:cNvGrpSpPr/>
          <p:nvPr/>
        </p:nvGrpSpPr>
        <p:grpSpPr>
          <a:xfrm>
            <a:off x="6816270" y="1397027"/>
            <a:ext cx="3639014" cy="1190791"/>
            <a:chOff x="6816270" y="1397027"/>
            <a:chExt cx="3639014" cy="1190791"/>
          </a:xfrm>
        </p:grpSpPr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371A27A3-1328-65DA-DE69-75304C7BE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16270" y="1397027"/>
              <a:ext cx="1257475" cy="1190791"/>
            </a:xfrm>
            <a:prstGeom prst="rect">
              <a:avLst/>
            </a:prstGeom>
          </p:spPr>
        </p:pic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8D36CAF8-050C-AC59-262B-C94FC51C6DEE}"/>
                </a:ext>
              </a:extLst>
            </p:cNvPr>
            <p:cNvSpPr/>
            <p:nvPr/>
          </p:nvSpPr>
          <p:spPr>
            <a:xfrm>
              <a:off x="8234235" y="1642278"/>
              <a:ext cx="2221049" cy="879138"/>
            </a:xfrm>
            <a:prstGeom prst="rect">
              <a:avLst/>
            </a:prstGeom>
            <a:solidFill>
              <a:srgbClr val="FC562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200" b="1" dirty="0"/>
                <a:t>DIAGNÓSTICO EXTERNO</a:t>
              </a:r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71B4A86-D3E5-2D56-8455-393D8D94777B}"/>
              </a:ext>
            </a:extLst>
          </p:cNvPr>
          <p:cNvSpPr txBox="1"/>
          <p:nvPr/>
        </p:nvSpPr>
        <p:spPr>
          <a:xfrm>
            <a:off x="1264737" y="2891976"/>
            <a:ext cx="3348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¿CÓMO SE ESTÁN HACIENDO LAS COSAS?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9769FB3-A73B-A615-983D-FA00C5444E38}"/>
              </a:ext>
            </a:extLst>
          </p:cNvPr>
          <p:cNvSpPr txBox="1"/>
          <p:nvPr/>
        </p:nvSpPr>
        <p:spPr>
          <a:xfrm>
            <a:off x="7034216" y="2891976"/>
            <a:ext cx="3348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¿CÓMO LO HACEN LOS DEMÁS?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B7A121E9-D882-C262-3B02-81518338D649}"/>
              </a:ext>
            </a:extLst>
          </p:cNvPr>
          <p:cNvSpPr/>
          <p:nvPr/>
        </p:nvSpPr>
        <p:spPr>
          <a:xfrm>
            <a:off x="1621899" y="5906690"/>
            <a:ext cx="1807685" cy="443933"/>
          </a:xfrm>
          <a:prstGeom prst="roundRect">
            <a:avLst/>
          </a:prstGeom>
          <a:solidFill>
            <a:srgbClr val="00A84C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AMBIENTAL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B969FC8B-0E2B-6841-356E-9F8D412CED07}"/>
              </a:ext>
            </a:extLst>
          </p:cNvPr>
          <p:cNvSpPr/>
          <p:nvPr/>
        </p:nvSpPr>
        <p:spPr>
          <a:xfrm>
            <a:off x="4921588" y="5906690"/>
            <a:ext cx="1807685" cy="443933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SOCIAL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DA27B0B0-66FA-ACC6-6A6E-BC46889830C3}"/>
              </a:ext>
            </a:extLst>
          </p:cNvPr>
          <p:cNvSpPr/>
          <p:nvPr/>
        </p:nvSpPr>
        <p:spPr>
          <a:xfrm>
            <a:off x="8221277" y="5906690"/>
            <a:ext cx="1819368" cy="44393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GOBERNANZA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1C0D43F-D741-B79C-C515-85B44576D272}"/>
              </a:ext>
            </a:extLst>
          </p:cNvPr>
          <p:cNvSpPr txBox="1"/>
          <p:nvPr/>
        </p:nvSpPr>
        <p:spPr>
          <a:xfrm>
            <a:off x="1107985" y="3904343"/>
            <a:ext cx="3516628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Dentro de la empresa y en toda la cadena de valor, incluidos proveedores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1B80439-BECF-25FB-5556-34F18DA0EF16}"/>
              </a:ext>
            </a:extLst>
          </p:cNvPr>
          <p:cNvSpPr txBox="1"/>
          <p:nvPr/>
        </p:nvSpPr>
        <p:spPr>
          <a:xfrm>
            <a:off x="7034216" y="3852553"/>
            <a:ext cx="3516628" cy="1015663"/>
          </a:xfrm>
          <a:prstGeom prst="rect">
            <a:avLst/>
          </a:prstGeom>
          <a:solidFill>
            <a:srgbClr val="FED7B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Recopilar normativa y buscar empresas que destaquen por su buen hacer</a:t>
            </a:r>
          </a:p>
        </p:txBody>
      </p:sp>
      <p:pic>
        <p:nvPicPr>
          <p:cNvPr id="36" name="Gráfico 35" descr="Lupa con relleno sólido">
            <a:extLst>
              <a:ext uri="{FF2B5EF4-FFF2-40B4-BE49-F238E27FC236}">
                <a16:creationId xmlns:a16="http://schemas.microsoft.com/office/drawing/2014/main" id="{C46B231C-8BD5-3A7D-EFEF-AF9240AC1C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66407" y="3952719"/>
            <a:ext cx="914400" cy="914400"/>
          </a:xfrm>
          <a:prstGeom prst="rect">
            <a:avLst/>
          </a:prstGeom>
        </p:spPr>
      </p:pic>
      <p:sp>
        <p:nvSpPr>
          <p:cNvPr id="37" name="Cerrar llave 36">
            <a:extLst>
              <a:ext uri="{FF2B5EF4-FFF2-40B4-BE49-F238E27FC236}">
                <a16:creationId xmlns:a16="http://schemas.microsoft.com/office/drawing/2014/main" id="{64C8E3C2-E571-07D4-60C3-BEA3EEE785E2}"/>
              </a:ext>
            </a:extLst>
          </p:cNvPr>
          <p:cNvSpPr/>
          <p:nvPr/>
        </p:nvSpPr>
        <p:spPr>
          <a:xfrm rot="16200000">
            <a:off x="5463473" y="1134354"/>
            <a:ext cx="720270" cy="9117742"/>
          </a:xfrm>
          <a:prstGeom prst="rightBrace">
            <a:avLst>
              <a:gd name="adj1" fmla="val 54681"/>
              <a:gd name="adj2" fmla="val 50000"/>
            </a:avLst>
          </a:prstGeom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9F36F9A-8D5D-3E69-3D69-3F4FED3EA123}"/>
              </a:ext>
            </a:extLst>
          </p:cNvPr>
          <p:cNvSpPr txBox="1"/>
          <p:nvPr/>
        </p:nvSpPr>
        <p:spPr>
          <a:xfrm>
            <a:off x="4554945" y="4920006"/>
            <a:ext cx="2586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Análisis diferenciado</a:t>
            </a:r>
          </a:p>
        </p:txBody>
      </p:sp>
    </p:spTree>
    <p:extLst>
      <p:ext uri="{BB962C8B-B14F-4D97-AF65-F5344CB8AC3E}">
        <p14:creationId xmlns:p14="http://schemas.microsoft.com/office/powerpoint/2010/main" val="908433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IAGNÓSTICO INTERNO Y EXTERNO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6" name="Rectángulo: esquinas diagonales redondeadas 5">
            <a:extLst>
              <a:ext uri="{FF2B5EF4-FFF2-40B4-BE49-F238E27FC236}">
                <a16:creationId xmlns:a16="http://schemas.microsoft.com/office/drawing/2014/main" id="{12A56BD5-4D13-435D-FFA6-62E9061E7D50}"/>
              </a:ext>
            </a:extLst>
          </p:cNvPr>
          <p:cNvSpPr/>
          <p:nvPr/>
        </p:nvSpPr>
        <p:spPr>
          <a:xfrm>
            <a:off x="734682" y="3512950"/>
            <a:ext cx="2524432" cy="735300"/>
          </a:xfrm>
          <a:prstGeom prst="round2Diag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RECOPILAR DATOS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CFCC31E-022A-BF16-47A2-C274B4586C39}"/>
              </a:ext>
            </a:extLst>
          </p:cNvPr>
          <p:cNvSpPr txBox="1"/>
          <p:nvPr/>
        </p:nvSpPr>
        <p:spPr>
          <a:xfrm>
            <a:off x="535304" y="4884223"/>
            <a:ext cx="2922639" cy="1200329"/>
          </a:xfrm>
          <a:prstGeom prst="rect">
            <a:avLst/>
          </a:prstGeom>
          <a:noFill/>
          <a:ln w="508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En el proceso de diagnóstico, la obtención de datos, su clasificación e interpretación es fundamental</a:t>
            </a:r>
          </a:p>
        </p:txBody>
      </p:sp>
      <p:sp>
        <p:nvSpPr>
          <p:cNvPr id="9" name="Flecha: a la derecha con muesca 8">
            <a:extLst>
              <a:ext uri="{FF2B5EF4-FFF2-40B4-BE49-F238E27FC236}">
                <a16:creationId xmlns:a16="http://schemas.microsoft.com/office/drawing/2014/main" id="{347397ED-B39C-EC6C-A9FB-006A81828878}"/>
              </a:ext>
            </a:extLst>
          </p:cNvPr>
          <p:cNvSpPr/>
          <p:nvPr/>
        </p:nvSpPr>
        <p:spPr>
          <a:xfrm rot="5400000">
            <a:off x="1774656" y="4404112"/>
            <a:ext cx="443933" cy="324249"/>
          </a:xfrm>
          <a:prstGeom prst="notchedRight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diagonales redondeadas 9">
            <a:extLst>
              <a:ext uri="{FF2B5EF4-FFF2-40B4-BE49-F238E27FC236}">
                <a16:creationId xmlns:a16="http://schemas.microsoft.com/office/drawing/2014/main" id="{81C4448C-A925-2AF8-4F43-BDB329E048CE}"/>
              </a:ext>
            </a:extLst>
          </p:cNvPr>
          <p:cNvSpPr/>
          <p:nvPr/>
        </p:nvSpPr>
        <p:spPr>
          <a:xfrm>
            <a:off x="3820064" y="2239423"/>
            <a:ext cx="2524432" cy="607295"/>
          </a:xfrm>
          <a:prstGeom prst="round2Diag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Diagnóstico Interno</a:t>
            </a:r>
          </a:p>
        </p:txBody>
      </p:sp>
      <p:sp>
        <p:nvSpPr>
          <p:cNvPr id="11" name="Rectángulo: esquinas diagonales redondeadas 10">
            <a:extLst>
              <a:ext uri="{FF2B5EF4-FFF2-40B4-BE49-F238E27FC236}">
                <a16:creationId xmlns:a16="http://schemas.microsoft.com/office/drawing/2014/main" id="{B0E9D469-07F5-ACE0-95E4-0EF54A0EF1B1}"/>
              </a:ext>
            </a:extLst>
          </p:cNvPr>
          <p:cNvSpPr/>
          <p:nvPr/>
        </p:nvSpPr>
        <p:spPr>
          <a:xfrm>
            <a:off x="3820064" y="4829613"/>
            <a:ext cx="2524432" cy="607295"/>
          </a:xfrm>
          <a:prstGeom prst="round2Diag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Diagnóstico Externo</a:t>
            </a:r>
          </a:p>
        </p:txBody>
      </p:sp>
      <p:sp>
        <p:nvSpPr>
          <p:cNvPr id="12" name="Rectángulo: esquinas diagonales redondeadas 11">
            <a:extLst>
              <a:ext uri="{FF2B5EF4-FFF2-40B4-BE49-F238E27FC236}">
                <a16:creationId xmlns:a16="http://schemas.microsoft.com/office/drawing/2014/main" id="{9D29C4B5-33CE-7F10-2179-6799E7FAB9A2}"/>
              </a:ext>
            </a:extLst>
          </p:cNvPr>
          <p:cNvSpPr/>
          <p:nvPr/>
        </p:nvSpPr>
        <p:spPr>
          <a:xfrm>
            <a:off x="6684356" y="1523705"/>
            <a:ext cx="2524432" cy="607295"/>
          </a:xfrm>
          <a:prstGeom prst="round2Diag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Actividades de la compañía</a:t>
            </a:r>
          </a:p>
        </p:txBody>
      </p:sp>
      <p:sp>
        <p:nvSpPr>
          <p:cNvPr id="13" name="Rectángulo: esquinas diagonales redondeadas 12">
            <a:extLst>
              <a:ext uri="{FF2B5EF4-FFF2-40B4-BE49-F238E27FC236}">
                <a16:creationId xmlns:a16="http://schemas.microsoft.com/office/drawing/2014/main" id="{88321743-B25E-B3BD-45B7-9EE87A891971}"/>
              </a:ext>
            </a:extLst>
          </p:cNvPr>
          <p:cNvSpPr/>
          <p:nvPr/>
        </p:nvSpPr>
        <p:spPr>
          <a:xfrm>
            <a:off x="6684356" y="2945952"/>
            <a:ext cx="2524432" cy="607295"/>
          </a:xfrm>
          <a:prstGeom prst="round2Diag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Actividades de la cadena de suministro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1EA8065-A1D1-1550-7645-93023DEA958C}"/>
              </a:ext>
            </a:extLst>
          </p:cNvPr>
          <p:cNvCxnSpPr>
            <a:stCxn id="6" idx="0"/>
            <a:endCxn id="10" idx="2"/>
          </p:cNvCxnSpPr>
          <p:nvPr/>
        </p:nvCxnSpPr>
        <p:spPr>
          <a:xfrm flipV="1">
            <a:off x="3259114" y="2543071"/>
            <a:ext cx="560950" cy="1337529"/>
          </a:xfrm>
          <a:prstGeom prst="line">
            <a:avLst/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DDB5884-6A3C-1332-3AA6-DFCEA34F94CE}"/>
              </a:ext>
            </a:extLst>
          </p:cNvPr>
          <p:cNvCxnSpPr>
            <a:cxnSpLocks/>
            <a:stCxn id="6" idx="0"/>
            <a:endCxn id="11" idx="2"/>
          </p:cNvCxnSpPr>
          <p:nvPr/>
        </p:nvCxnSpPr>
        <p:spPr>
          <a:xfrm>
            <a:off x="3259114" y="3880600"/>
            <a:ext cx="560950" cy="1252661"/>
          </a:xfrm>
          <a:prstGeom prst="line">
            <a:avLst/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E9A06572-C73D-8A8E-26ED-3E202928EFEC}"/>
              </a:ext>
            </a:extLst>
          </p:cNvPr>
          <p:cNvCxnSpPr>
            <a:cxnSpLocks/>
            <a:stCxn id="10" idx="0"/>
            <a:endCxn id="12" idx="2"/>
          </p:cNvCxnSpPr>
          <p:nvPr/>
        </p:nvCxnSpPr>
        <p:spPr>
          <a:xfrm flipV="1">
            <a:off x="6344496" y="1827353"/>
            <a:ext cx="339860" cy="715718"/>
          </a:xfrm>
          <a:prstGeom prst="line">
            <a:avLst/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815917AE-EF38-0F8C-3785-65F0E5EEB97C}"/>
              </a:ext>
            </a:extLst>
          </p:cNvPr>
          <p:cNvCxnSpPr>
            <a:cxnSpLocks/>
            <a:stCxn id="13" idx="2"/>
            <a:endCxn id="10" idx="0"/>
          </p:cNvCxnSpPr>
          <p:nvPr/>
        </p:nvCxnSpPr>
        <p:spPr>
          <a:xfrm flipH="1" flipV="1">
            <a:off x="6344496" y="2543071"/>
            <a:ext cx="339860" cy="706529"/>
          </a:xfrm>
          <a:prstGeom prst="line">
            <a:avLst/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84B757B-EC32-53E0-3592-137DDDBC174E}"/>
              </a:ext>
            </a:extLst>
          </p:cNvPr>
          <p:cNvSpPr txBox="1"/>
          <p:nvPr/>
        </p:nvSpPr>
        <p:spPr>
          <a:xfrm>
            <a:off x="9371531" y="1523705"/>
            <a:ext cx="2256875" cy="2031325"/>
          </a:xfrm>
          <a:prstGeom prst="rect">
            <a:avLst/>
          </a:prstGeom>
          <a:noFill/>
          <a:ln w="508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La elaboración del Plan de Sostenibilidad obliga a implementar un sistema de registro de datos, que tiene efectos beneficiosos a medio plazo</a:t>
            </a:r>
          </a:p>
        </p:txBody>
      </p:sp>
      <p:sp>
        <p:nvSpPr>
          <p:cNvPr id="26" name="Rectángulo: esquinas diagonales redondeadas 25">
            <a:extLst>
              <a:ext uri="{FF2B5EF4-FFF2-40B4-BE49-F238E27FC236}">
                <a16:creationId xmlns:a16="http://schemas.microsoft.com/office/drawing/2014/main" id="{DAF2FD51-CB86-C144-B0D5-BEC37089DA9B}"/>
              </a:ext>
            </a:extLst>
          </p:cNvPr>
          <p:cNvSpPr/>
          <p:nvPr/>
        </p:nvSpPr>
        <p:spPr>
          <a:xfrm>
            <a:off x="6684356" y="4099879"/>
            <a:ext cx="2524432" cy="607295"/>
          </a:xfrm>
          <a:prstGeom prst="round2Diag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Marco regulatorio</a:t>
            </a:r>
          </a:p>
        </p:txBody>
      </p:sp>
      <p:sp>
        <p:nvSpPr>
          <p:cNvPr id="27" name="Rectángulo: esquinas diagonales redondeadas 26">
            <a:extLst>
              <a:ext uri="{FF2B5EF4-FFF2-40B4-BE49-F238E27FC236}">
                <a16:creationId xmlns:a16="http://schemas.microsoft.com/office/drawing/2014/main" id="{90F3EA3A-EA55-9527-67D7-EA2A8BF3C8CA}"/>
              </a:ext>
            </a:extLst>
          </p:cNvPr>
          <p:cNvSpPr/>
          <p:nvPr/>
        </p:nvSpPr>
        <p:spPr>
          <a:xfrm>
            <a:off x="6684356" y="5597200"/>
            <a:ext cx="2524432" cy="607295"/>
          </a:xfrm>
          <a:prstGeom prst="round2Diag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Fuentes de información externas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64968EC-0DEA-BC4F-BBAE-4BD57D4AFDB5}"/>
              </a:ext>
            </a:extLst>
          </p:cNvPr>
          <p:cNvCxnSpPr>
            <a:cxnSpLocks/>
            <a:stCxn id="11" idx="0"/>
            <a:endCxn id="26" idx="2"/>
          </p:cNvCxnSpPr>
          <p:nvPr/>
        </p:nvCxnSpPr>
        <p:spPr>
          <a:xfrm flipV="1">
            <a:off x="6344496" y="4403527"/>
            <a:ext cx="339860" cy="729734"/>
          </a:xfrm>
          <a:prstGeom prst="line">
            <a:avLst/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5FF6D0B-B772-7A2D-EBCC-E12D1D29EA82}"/>
              </a:ext>
            </a:extLst>
          </p:cNvPr>
          <p:cNvCxnSpPr>
            <a:cxnSpLocks/>
            <a:stCxn id="11" idx="0"/>
            <a:endCxn id="27" idx="2"/>
          </p:cNvCxnSpPr>
          <p:nvPr/>
        </p:nvCxnSpPr>
        <p:spPr>
          <a:xfrm>
            <a:off x="6344496" y="5133261"/>
            <a:ext cx="339860" cy="767587"/>
          </a:xfrm>
          <a:prstGeom prst="line">
            <a:avLst/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95F5B56-02E6-520A-F580-A003131DF8E7}"/>
              </a:ext>
            </a:extLst>
          </p:cNvPr>
          <p:cNvSpPr txBox="1"/>
          <p:nvPr/>
        </p:nvSpPr>
        <p:spPr>
          <a:xfrm>
            <a:off x="9388783" y="4072686"/>
            <a:ext cx="2256875" cy="2031325"/>
          </a:xfrm>
          <a:prstGeom prst="rect">
            <a:avLst/>
          </a:prstGeom>
          <a:noFill/>
          <a:ln w="508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Las fuentes de información externa deben ser fiables, por ejemplo, los índices bursátiles </a:t>
            </a:r>
            <a:r>
              <a:rPr lang="es-ES" i="1" dirty="0"/>
              <a:t>Dow Jones </a:t>
            </a:r>
            <a:r>
              <a:rPr lang="es-ES" i="1" dirty="0" err="1"/>
              <a:t>Soustainability</a:t>
            </a:r>
            <a:r>
              <a:rPr lang="es-ES" i="1" dirty="0"/>
              <a:t>, FTS4 Good o MSCI ESG.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8816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IAGNÓSTICO INTERNO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pic>
        <p:nvPicPr>
          <p:cNvPr id="8" name="Imagen 7">
            <a:hlinkClick r:id="rId3"/>
            <a:extLst>
              <a:ext uri="{FF2B5EF4-FFF2-40B4-BE49-F238E27FC236}">
                <a16:creationId xmlns:a16="http://schemas.microsoft.com/office/drawing/2014/main" id="{32D9E5A3-56AE-12E7-C0E7-018C671F1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71" y="1279184"/>
            <a:ext cx="11345858" cy="5410955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</p:spTree>
    <p:extLst>
      <p:ext uri="{BB962C8B-B14F-4D97-AF65-F5344CB8AC3E}">
        <p14:creationId xmlns:p14="http://schemas.microsoft.com/office/powerpoint/2010/main" val="3701130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ANÁLISIS DE DOBLE MATERIALIDAD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1A7A2A-0A94-E707-8D30-628E22C9D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205" y="1276601"/>
            <a:ext cx="5662881" cy="511589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2AD44D3-F550-C8E1-5E69-2DD10E3AE662}"/>
              </a:ext>
            </a:extLst>
          </p:cNvPr>
          <p:cNvSpPr txBox="1"/>
          <p:nvPr/>
        </p:nvSpPr>
        <p:spPr>
          <a:xfrm>
            <a:off x="4720319" y="6145007"/>
            <a:ext cx="275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FASE 3</a:t>
            </a:r>
          </a:p>
        </p:txBody>
      </p:sp>
    </p:spTree>
    <p:extLst>
      <p:ext uri="{BB962C8B-B14F-4D97-AF65-F5344CB8AC3E}">
        <p14:creationId xmlns:p14="http://schemas.microsoft.com/office/powerpoint/2010/main" val="399520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CUESTIONES MATERIALES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13" name="Rectángulo: esquinas diagonales redondeadas 12">
            <a:extLst>
              <a:ext uri="{FF2B5EF4-FFF2-40B4-BE49-F238E27FC236}">
                <a16:creationId xmlns:a16="http://schemas.microsoft.com/office/drawing/2014/main" id="{45A2787B-6133-938B-BE2B-B894693821B2}"/>
              </a:ext>
            </a:extLst>
          </p:cNvPr>
          <p:cNvSpPr/>
          <p:nvPr/>
        </p:nvSpPr>
        <p:spPr>
          <a:xfrm>
            <a:off x="454752" y="4599875"/>
            <a:ext cx="2688215" cy="957571"/>
          </a:xfrm>
          <a:prstGeom prst="round2DiagRect">
            <a:avLst/>
          </a:prstGeom>
          <a:solidFill>
            <a:srgbClr val="A80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CUESTIONES MATERIALES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62E01DF-19B6-CA3E-D743-E79B54865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813" y="3846358"/>
            <a:ext cx="807698" cy="524242"/>
          </a:xfrm>
          <a:prstGeom prst="rect">
            <a:avLst/>
          </a:prstGeom>
        </p:spPr>
      </p:pic>
      <p:sp>
        <p:nvSpPr>
          <p:cNvPr id="16" name="Flecha: a la derecha con muesca 15">
            <a:extLst>
              <a:ext uri="{FF2B5EF4-FFF2-40B4-BE49-F238E27FC236}">
                <a16:creationId xmlns:a16="http://schemas.microsoft.com/office/drawing/2014/main" id="{AB268795-D706-7B5F-B78C-0FB97CA55640}"/>
              </a:ext>
            </a:extLst>
          </p:cNvPr>
          <p:cNvSpPr/>
          <p:nvPr/>
        </p:nvSpPr>
        <p:spPr>
          <a:xfrm>
            <a:off x="3303649" y="4762444"/>
            <a:ext cx="2050026" cy="632432"/>
          </a:xfrm>
          <a:prstGeom prst="notchedRight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BD42E58-41C8-7F69-C8E3-308C4B1E890E}"/>
              </a:ext>
            </a:extLst>
          </p:cNvPr>
          <p:cNvSpPr txBox="1"/>
          <p:nvPr/>
        </p:nvSpPr>
        <p:spPr>
          <a:xfrm>
            <a:off x="3421637" y="4438922"/>
            <a:ext cx="1814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Sostenibilidad</a:t>
            </a:r>
          </a:p>
        </p:txBody>
      </p:sp>
      <p:sp>
        <p:nvSpPr>
          <p:cNvPr id="18" name="Rectángulo: esquinas diagonales redondeadas 17">
            <a:extLst>
              <a:ext uri="{FF2B5EF4-FFF2-40B4-BE49-F238E27FC236}">
                <a16:creationId xmlns:a16="http://schemas.microsoft.com/office/drawing/2014/main" id="{9BCBAFE6-AEB1-FA91-C307-D5ABD0155C4C}"/>
              </a:ext>
            </a:extLst>
          </p:cNvPr>
          <p:cNvSpPr/>
          <p:nvPr/>
        </p:nvSpPr>
        <p:spPr>
          <a:xfrm>
            <a:off x="6039745" y="2551498"/>
            <a:ext cx="2310771" cy="659960"/>
          </a:xfrm>
          <a:prstGeom prst="round2Diag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Incidencia</a:t>
            </a:r>
          </a:p>
        </p:txBody>
      </p:sp>
      <p:sp>
        <p:nvSpPr>
          <p:cNvPr id="19" name="Rectángulo: esquinas diagonales redondeadas 18">
            <a:extLst>
              <a:ext uri="{FF2B5EF4-FFF2-40B4-BE49-F238E27FC236}">
                <a16:creationId xmlns:a16="http://schemas.microsoft.com/office/drawing/2014/main" id="{07D953BC-5D9D-502F-8D6F-62627BBD42F1}"/>
              </a:ext>
            </a:extLst>
          </p:cNvPr>
          <p:cNvSpPr/>
          <p:nvPr/>
        </p:nvSpPr>
        <p:spPr>
          <a:xfrm>
            <a:off x="5034857" y="1546459"/>
            <a:ext cx="1557682" cy="531387"/>
          </a:xfrm>
          <a:prstGeom prst="round2DiagRect">
            <a:avLst/>
          </a:prstGeom>
          <a:solidFill>
            <a:srgbClr val="00924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Positiva</a:t>
            </a:r>
          </a:p>
        </p:txBody>
      </p:sp>
      <p:sp>
        <p:nvSpPr>
          <p:cNvPr id="20" name="Rectángulo: esquinas diagonales redondeadas 19">
            <a:extLst>
              <a:ext uri="{FF2B5EF4-FFF2-40B4-BE49-F238E27FC236}">
                <a16:creationId xmlns:a16="http://schemas.microsoft.com/office/drawing/2014/main" id="{5C24D938-ACF3-41B2-162F-1997B4F5D17C}"/>
              </a:ext>
            </a:extLst>
          </p:cNvPr>
          <p:cNvSpPr/>
          <p:nvPr/>
        </p:nvSpPr>
        <p:spPr>
          <a:xfrm>
            <a:off x="7797722" y="1546459"/>
            <a:ext cx="1557682" cy="531387"/>
          </a:xfrm>
          <a:prstGeom prst="round2DiagRect">
            <a:avLst/>
          </a:prstGeom>
          <a:solidFill>
            <a:srgbClr val="E3070C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Negativa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C68F48D-E6C1-BC2C-A28A-3462F02102AB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 flipH="1" flipV="1">
            <a:off x="5813698" y="2077846"/>
            <a:ext cx="1381433" cy="473652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7BA332B4-6EB3-C0E5-FF3F-2876C3CA7918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7195131" y="2077846"/>
            <a:ext cx="1381432" cy="473652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brir llave 26">
            <a:extLst>
              <a:ext uri="{FF2B5EF4-FFF2-40B4-BE49-F238E27FC236}">
                <a16:creationId xmlns:a16="http://schemas.microsoft.com/office/drawing/2014/main" id="{B79AEA0D-A2DF-A409-7BB3-B7DB66A7DC2E}"/>
              </a:ext>
            </a:extLst>
          </p:cNvPr>
          <p:cNvSpPr/>
          <p:nvPr/>
        </p:nvSpPr>
        <p:spPr>
          <a:xfrm>
            <a:off x="5432335" y="4040392"/>
            <a:ext cx="633273" cy="2076537"/>
          </a:xfrm>
          <a:prstGeom prst="leftBrace">
            <a:avLst>
              <a:gd name="adj1" fmla="val 43267"/>
              <a:gd name="adj2" fmla="val 50000"/>
            </a:avLst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C87E040B-E42F-94F5-B1EE-E322CDCFD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202" y="4291314"/>
            <a:ext cx="633273" cy="536285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8CDBB50D-1AD9-BD51-83C7-91FC3B502949}"/>
              </a:ext>
            </a:extLst>
          </p:cNvPr>
          <p:cNvSpPr txBox="1"/>
          <p:nvPr/>
        </p:nvSpPr>
        <p:spPr>
          <a:xfrm>
            <a:off x="6369670" y="4312307"/>
            <a:ext cx="2310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FUNCIONAMIENTO INTERNO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95E4B25A-4263-9413-C542-72629B714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6002" y="5358374"/>
            <a:ext cx="579420" cy="392718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41AE7553-5028-F513-F541-762495E97C00}"/>
              </a:ext>
            </a:extLst>
          </p:cNvPr>
          <p:cNvSpPr txBox="1"/>
          <p:nvPr/>
        </p:nvSpPr>
        <p:spPr>
          <a:xfrm>
            <a:off x="6417475" y="5200790"/>
            <a:ext cx="2310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GRUPOS DE INTERÉS</a:t>
            </a:r>
          </a:p>
        </p:txBody>
      </p:sp>
      <p:sp>
        <p:nvSpPr>
          <p:cNvPr id="34" name="Abrir llave 33">
            <a:extLst>
              <a:ext uri="{FF2B5EF4-FFF2-40B4-BE49-F238E27FC236}">
                <a16:creationId xmlns:a16="http://schemas.microsoft.com/office/drawing/2014/main" id="{31AD3FED-3DDB-6111-CB9D-CD7A059F69C7}"/>
              </a:ext>
            </a:extLst>
          </p:cNvPr>
          <p:cNvSpPr/>
          <p:nvPr/>
        </p:nvSpPr>
        <p:spPr>
          <a:xfrm flipH="1">
            <a:off x="8376199" y="4040392"/>
            <a:ext cx="633273" cy="2076537"/>
          </a:xfrm>
          <a:prstGeom prst="leftBrace">
            <a:avLst>
              <a:gd name="adj1" fmla="val 43267"/>
              <a:gd name="adj2" fmla="val 50000"/>
            </a:avLst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Flecha: a la derecha con muesca 34">
            <a:extLst>
              <a:ext uri="{FF2B5EF4-FFF2-40B4-BE49-F238E27FC236}">
                <a16:creationId xmlns:a16="http://schemas.microsoft.com/office/drawing/2014/main" id="{6AA0E915-10BA-E38A-064F-B231341C6C94}"/>
              </a:ext>
            </a:extLst>
          </p:cNvPr>
          <p:cNvSpPr/>
          <p:nvPr/>
        </p:nvSpPr>
        <p:spPr>
          <a:xfrm>
            <a:off x="8918170" y="4762444"/>
            <a:ext cx="791126" cy="632432"/>
          </a:xfrm>
          <a:prstGeom prst="notchedRight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58CFB302-0E0B-9FF0-9698-775620245334}"/>
              </a:ext>
            </a:extLst>
          </p:cNvPr>
          <p:cNvSpPr/>
          <p:nvPr/>
        </p:nvSpPr>
        <p:spPr>
          <a:xfrm>
            <a:off x="9870315" y="4245531"/>
            <a:ext cx="1987388" cy="166625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OBJETIVOS ASG o ESG</a:t>
            </a: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69D00FA6-39BD-CA60-2800-C43AF278D4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657" y="2400379"/>
            <a:ext cx="1339917" cy="1911928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A4D2AD73-086D-C7C4-347A-9B06F3AFCC45}"/>
              </a:ext>
            </a:extLst>
          </p:cNvPr>
          <p:cNvSpPr txBox="1"/>
          <p:nvPr/>
        </p:nvSpPr>
        <p:spPr>
          <a:xfrm>
            <a:off x="699972" y="2003876"/>
            <a:ext cx="2197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EMPRESA</a:t>
            </a:r>
          </a:p>
        </p:txBody>
      </p:sp>
      <p:sp>
        <p:nvSpPr>
          <p:cNvPr id="39" name="Flecha: a la derecha con muesca 38">
            <a:extLst>
              <a:ext uri="{FF2B5EF4-FFF2-40B4-BE49-F238E27FC236}">
                <a16:creationId xmlns:a16="http://schemas.microsoft.com/office/drawing/2014/main" id="{CD37A244-C6EF-452B-6B1E-0C3CB0E4B6A3}"/>
              </a:ext>
            </a:extLst>
          </p:cNvPr>
          <p:cNvSpPr/>
          <p:nvPr/>
        </p:nvSpPr>
        <p:spPr>
          <a:xfrm rot="5400000">
            <a:off x="6813276" y="3508347"/>
            <a:ext cx="791126" cy="632432"/>
          </a:xfrm>
          <a:prstGeom prst="notchedRight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2066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ANÁLISIS IRO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6" name="Rectángulo: esquinas superiores cortadas 5">
            <a:extLst>
              <a:ext uri="{FF2B5EF4-FFF2-40B4-BE49-F238E27FC236}">
                <a16:creationId xmlns:a16="http://schemas.microsoft.com/office/drawing/2014/main" id="{6611C597-718A-4B25-826C-2206B7522C07}"/>
              </a:ext>
            </a:extLst>
          </p:cNvPr>
          <p:cNvSpPr/>
          <p:nvPr/>
        </p:nvSpPr>
        <p:spPr>
          <a:xfrm>
            <a:off x="2835450" y="1430602"/>
            <a:ext cx="6432612" cy="443934"/>
          </a:xfrm>
          <a:prstGeom prst="snip2Same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¿QUÉ CUESTIONES SON MATERIALES?</a:t>
            </a:r>
          </a:p>
        </p:txBody>
      </p:sp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33BF7565-0677-2F9A-8539-83F80811DEE1}"/>
              </a:ext>
            </a:extLst>
          </p:cNvPr>
          <p:cNvSpPr/>
          <p:nvPr/>
        </p:nvSpPr>
        <p:spPr>
          <a:xfrm>
            <a:off x="838200" y="3712694"/>
            <a:ext cx="2310771" cy="1325563"/>
          </a:xfrm>
          <a:prstGeom prst="round2Diag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Análisis de Impactos, Riesgos y Oportunidades</a:t>
            </a:r>
          </a:p>
        </p:txBody>
      </p:sp>
      <p:sp>
        <p:nvSpPr>
          <p:cNvPr id="13" name="Rectángulo: esquinas diagonales redondeadas 12">
            <a:extLst>
              <a:ext uri="{FF2B5EF4-FFF2-40B4-BE49-F238E27FC236}">
                <a16:creationId xmlns:a16="http://schemas.microsoft.com/office/drawing/2014/main" id="{3E3EA041-198A-962A-98D2-B4FA304A6BF7}"/>
              </a:ext>
            </a:extLst>
          </p:cNvPr>
          <p:cNvSpPr/>
          <p:nvPr/>
        </p:nvSpPr>
        <p:spPr>
          <a:xfrm>
            <a:off x="3802703" y="2631379"/>
            <a:ext cx="2084629" cy="554273"/>
          </a:xfrm>
          <a:prstGeom prst="round2Diag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Impactos</a:t>
            </a:r>
          </a:p>
        </p:txBody>
      </p:sp>
      <p:sp>
        <p:nvSpPr>
          <p:cNvPr id="14" name="Rectángulo: esquinas diagonales redondeadas 13">
            <a:extLst>
              <a:ext uri="{FF2B5EF4-FFF2-40B4-BE49-F238E27FC236}">
                <a16:creationId xmlns:a16="http://schemas.microsoft.com/office/drawing/2014/main" id="{6C81EA99-F687-5A79-DC3D-D61B7165D9EA}"/>
              </a:ext>
            </a:extLst>
          </p:cNvPr>
          <p:cNvSpPr/>
          <p:nvPr/>
        </p:nvSpPr>
        <p:spPr>
          <a:xfrm>
            <a:off x="3802703" y="4098340"/>
            <a:ext cx="2084629" cy="554273"/>
          </a:xfrm>
          <a:prstGeom prst="round2DiagRect">
            <a:avLst/>
          </a:prstGeom>
          <a:solidFill>
            <a:srgbClr val="E3070C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Riesgos</a:t>
            </a:r>
          </a:p>
        </p:txBody>
      </p:sp>
      <p:sp>
        <p:nvSpPr>
          <p:cNvPr id="15" name="Rectángulo: esquinas diagonales redondeadas 14">
            <a:extLst>
              <a:ext uri="{FF2B5EF4-FFF2-40B4-BE49-F238E27FC236}">
                <a16:creationId xmlns:a16="http://schemas.microsoft.com/office/drawing/2014/main" id="{F579501B-6E83-3575-4975-690E12AF28BB}"/>
              </a:ext>
            </a:extLst>
          </p:cNvPr>
          <p:cNvSpPr/>
          <p:nvPr/>
        </p:nvSpPr>
        <p:spPr>
          <a:xfrm>
            <a:off x="3802703" y="5565300"/>
            <a:ext cx="2084629" cy="554273"/>
          </a:xfrm>
          <a:prstGeom prst="round2DiagRect">
            <a:avLst/>
          </a:prstGeom>
          <a:solidFill>
            <a:srgbClr val="00924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Oportunidades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CBDEEDB-540D-C9D9-42A1-F89F2E0B289A}"/>
              </a:ext>
            </a:extLst>
          </p:cNvPr>
          <p:cNvSpPr txBox="1"/>
          <p:nvPr/>
        </p:nvSpPr>
        <p:spPr>
          <a:xfrm>
            <a:off x="6304670" y="2353881"/>
            <a:ext cx="4166685" cy="923330"/>
          </a:xfrm>
          <a:prstGeom prst="rect">
            <a:avLst/>
          </a:prstGeom>
          <a:noFill/>
          <a:ln w="101600" cmpd="tri"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_tradnl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ES_tradnl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apacidad de una cuestión material de afectar a la empresa, a su cadena de valor, a sus grupos de interés o a su entorno</a:t>
            </a:r>
            <a:endParaRPr lang="es-ES" sz="2000" dirty="0"/>
          </a:p>
        </p:txBody>
      </p:sp>
      <p:sp>
        <p:nvSpPr>
          <p:cNvPr id="17" name="Cruz 16">
            <a:extLst>
              <a:ext uri="{FF2B5EF4-FFF2-40B4-BE49-F238E27FC236}">
                <a16:creationId xmlns:a16="http://schemas.microsoft.com/office/drawing/2014/main" id="{2F470A6D-B4AD-A928-A556-E3B4E438D7BA}"/>
              </a:ext>
            </a:extLst>
          </p:cNvPr>
          <p:cNvSpPr/>
          <p:nvPr/>
        </p:nvSpPr>
        <p:spPr>
          <a:xfrm>
            <a:off x="11120284" y="2021598"/>
            <a:ext cx="589935" cy="618359"/>
          </a:xfrm>
          <a:prstGeom prst="plus">
            <a:avLst>
              <a:gd name="adj" fmla="val 39634"/>
            </a:avLst>
          </a:prstGeom>
          <a:solidFill>
            <a:srgbClr val="00924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CDBFC0C-BB31-5117-1E7A-4C6259AF331B}"/>
              </a:ext>
            </a:extLst>
          </p:cNvPr>
          <p:cNvSpPr/>
          <p:nvPr/>
        </p:nvSpPr>
        <p:spPr>
          <a:xfrm>
            <a:off x="11120284" y="3274136"/>
            <a:ext cx="589935" cy="147484"/>
          </a:xfrm>
          <a:prstGeom prst="rect">
            <a:avLst/>
          </a:prstGeom>
          <a:solidFill>
            <a:srgbClr val="E3070C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Abrir llave 18">
            <a:extLst>
              <a:ext uri="{FF2B5EF4-FFF2-40B4-BE49-F238E27FC236}">
                <a16:creationId xmlns:a16="http://schemas.microsoft.com/office/drawing/2014/main" id="{50CA14B6-89E5-5C9A-0525-35CF35B95C81}"/>
              </a:ext>
            </a:extLst>
          </p:cNvPr>
          <p:cNvSpPr/>
          <p:nvPr/>
        </p:nvSpPr>
        <p:spPr>
          <a:xfrm>
            <a:off x="10568321" y="2022021"/>
            <a:ext cx="454997" cy="1690673"/>
          </a:xfrm>
          <a:prstGeom prst="leftBrace">
            <a:avLst>
              <a:gd name="adj1" fmla="val 29293"/>
              <a:gd name="adj2" fmla="val 50000"/>
            </a:avLst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91B29BD-6EB4-2BEB-47C3-E8FA975D2B43}"/>
              </a:ext>
            </a:extLst>
          </p:cNvPr>
          <p:cNvSpPr txBox="1"/>
          <p:nvPr/>
        </p:nvSpPr>
        <p:spPr>
          <a:xfrm>
            <a:off x="6304669" y="4036604"/>
            <a:ext cx="4166685" cy="646331"/>
          </a:xfrm>
          <a:prstGeom prst="rect">
            <a:avLst/>
          </a:prstGeom>
          <a:noFill/>
          <a:ln w="101600" cmpd="tri">
            <a:solidFill>
              <a:srgbClr val="E3070C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_tradnl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 las situaciones que pueden impedir a la empresa lograr sus objetivos</a:t>
            </a:r>
            <a:endParaRPr lang="es-ES" sz="20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FA13C57-53CB-27E4-2905-D9C70FB888F7}"/>
              </a:ext>
            </a:extLst>
          </p:cNvPr>
          <p:cNvSpPr txBox="1"/>
          <p:nvPr/>
        </p:nvSpPr>
        <p:spPr>
          <a:xfrm>
            <a:off x="6304668" y="5502750"/>
            <a:ext cx="4166685" cy="646331"/>
          </a:xfrm>
          <a:prstGeom prst="rect">
            <a:avLst/>
          </a:prstGeom>
          <a:noFill/>
          <a:ln w="101600" cmpd="tri">
            <a:solidFill>
              <a:srgbClr val="009242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_tradnl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 todas las repercusiones beneficiosas asociadas a una cierta cuestión material</a:t>
            </a:r>
            <a:endParaRPr lang="es-ES" sz="2000" dirty="0"/>
          </a:p>
        </p:txBody>
      </p:sp>
      <p:sp>
        <p:nvSpPr>
          <p:cNvPr id="22" name="Abrir llave 21">
            <a:extLst>
              <a:ext uri="{FF2B5EF4-FFF2-40B4-BE49-F238E27FC236}">
                <a16:creationId xmlns:a16="http://schemas.microsoft.com/office/drawing/2014/main" id="{BF825BC2-F51A-F3FD-13DA-17B22E0E50E2}"/>
              </a:ext>
            </a:extLst>
          </p:cNvPr>
          <p:cNvSpPr/>
          <p:nvPr/>
        </p:nvSpPr>
        <p:spPr>
          <a:xfrm>
            <a:off x="3245937" y="2463010"/>
            <a:ext cx="454997" cy="3861183"/>
          </a:xfrm>
          <a:prstGeom prst="leftBrace">
            <a:avLst>
              <a:gd name="adj1" fmla="val 29293"/>
              <a:gd name="adj2" fmla="val 50000"/>
            </a:avLst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3704C66-E283-6B29-C973-1C97C8AA9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199" y="5242928"/>
            <a:ext cx="806771" cy="90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319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TIPOS DE CUESTIONES MATERIALES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34293740-9424-A289-FCFB-ADD1AB5FEF5E}"/>
              </a:ext>
            </a:extLst>
          </p:cNvPr>
          <p:cNvGraphicFramePr/>
          <p:nvPr/>
        </p:nvGraphicFramePr>
        <p:xfrm>
          <a:off x="5439422" y="127147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D2751D25-3F79-3839-475C-C9D201CD7990}"/>
              </a:ext>
            </a:extLst>
          </p:cNvPr>
          <p:cNvSpPr txBox="1"/>
          <p:nvPr/>
        </p:nvSpPr>
        <p:spPr>
          <a:xfrm>
            <a:off x="711335" y="1820376"/>
            <a:ext cx="4616245" cy="1015663"/>
          </a:xfrm>
          <a:prstGeom prst="rect">
            <a:avLst/>
          </a:prstGeom>
          <a:noFill/>
          <a:ln w="101600" cmpd="tri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Son los </a:t>
            </a:r>
            <a:r>
              <a:rPr lang="es-ES_tradnl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riesgos y oportunidades, tanto internos como externos, que pueden tener efectos financieros sobre la empresa</a:t>
            </a:r>
            <a:endParaRPr lang="es-ES" sz="2000" dirty="0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714E2CD3-C419-7954-E8CE-9D0D5A2AD50D}"/>
              </a:ext>
            </a:extLst>
          </p:cNvPr>
          <p:cNvSpPr/>
          <p:nvPr/>
        </p:nvSpPr>
        <p:spPr>
          <a:xfrm>
            <a:off x="5439422" y="2187741"/>
            <a:ext cx="656578" cy="268828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1D4F859-5C4E-27DD-1149-951672381551}"/>
              </a:ext>
            </a:extLst>
          </p:cNvPr>
          <p:cNvSpPr txBox="1"/>
          <p:nvPr/>
        </p:nvSpPr>
        <p:spPr>
          <a:xfrm>
            <a:off x="711335" y="5156130"/>
            <a:ext cx="4616245" cy="1323439"/>
          </a:xfrm>
          <a:prstGeom prst="rect">
            <a:avLst/>
          </a:prstGeom>
          <a:noFill/>
          <a:ln w="101600" cmpd="tri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_trad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 las cuestiones susceptibles de causar un impacto real o potencial, positivo o negativo, sobre las personas y/o el medio ambiente, a corto, medio o largo plazo</a:t>
            </a:r>
            <a:endParaRPr lang="es-ES" sz="2000" dirty="0"/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3B0C093C-D37D-049B-CAFD-B98C01F998C7}"/>
              </a:ext>
            </a:extLst>
          </p:cNvPr>
          <p:cNvSpPr/>
          <p:nvPr/>
        </p:nvSpPr>
        <p:spPr>
          <a:xfrm>
            <a:off x="5439422" y="5675895"/>
            <a:ext cx="656578" cy="268828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61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EVALUACIÓN DE LA MATERIALIDAD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C4B3F87-BDDE-A380-519B-25CF7CE692A8}"/>
              </a:ext>
            </a:extLst>
          </p:cNvPr>
          <p:cNvSpPr/>
          <p:nvPr/>
        </p:nvSpPr>
        <p:spPr>
          <a:xfrm>
            <a:off x="4613460" y="1767529"/>
            <a:ext cx="3064047" cy="1052196"/>
          </a:xfrm>
          <a:prstGeom prst="roundRect">
            <a:avLst/>
          </a:prstGeom>
          <a:solidFill>
            <a:srgbClr val="A8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EVALUACIÓN DE LA MATERIALIDAD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5427C6D-1318-71BC-A441-723DCB78E580}"/>
              </a:ext>
            </a:extLst>
          </p:cNvPr>
          <p:cNvSpPr/>
          <p:nvPr/>
        </p:nvSpPr>
        <p:spPr>
          <a:xfrm>
            <a:off x="6078747" y="2863967"/>
            <a:ext cx="127819" cy="36252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090FA4D-7132-45DF-E2D1-9236D3144226}"/>
              </a:ext>
            </a:extLst>
          </p:cNvPr>
          <p:cNvSpPr/>
          <p:nvPr/>
        </p:nvSpPr>
        <p:spPr>
          <a:xfrm rot="5400000">
            <a:off x="5024233" y="2944023"/>
            <a:ext cx="178419" cy="193060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5F56CB6-96EA-9C63-29BA-265A2A9FB69A}"/>
              </a:ext>
            </a:extLst>
          </p:cNvPr>
          <p:cNvSpPr/>
          <p:nvPr/>
        </p:nvSpPr>
        <p:spPr>
          <a:xfrm>
            <a:off x="6032043" y="3775866"/>
            <a:ext cx="221226" cy="221226"/>
          </a:xfrm>
          <a:prstGeom prst="ellipse">
            <a:avLst/>
          </a:prstGeom>
          <a:solidFill>
            <a:srgbClr val="A80000"/>
          </a:solidFill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8371BB51-CED3-FFE7-FA24-005CE4702213}"/>
              </a:ext>
            </a:extLst>
          </p:cNvPr>
          <p:cNvSpPr/>
          <p:nvPr/>
        </p:nvSpPr>
        <p:spPr>
          <a:xfrm>
            <a:off x="790560" y="3232681"/>
            <a:ext cx="3327191" cy="132556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Determinar que cuestiones materiales son más relevantes para la empresa y sus grupos de interés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4CC38AE-21F3-CC48-75FD-1E2FD2ACFB5A}"/>
              </a:ext>
            </a:extLst>
          </p:cNvPr>
          <p:cNvSpPr/>
          <p:nvPr/>
        </p:nvSpPr>
        <p:spPr>
          <a:xfrm rot="5400000">
            <a:off x="7082661" y="3871152"/>
            <a:ext cx="178419" cy="193060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1CE70E02-F305-4B1A-2B42-329ED7134996}"/>
              </a:ext>
            </a:extLst>
          </p:cNvPr>
          <p:cNvSpPr/>
          <p:nvPr/>
        </p:nvSpPr>
        <p:spPr>
          <a:xfrm>
            <a:off x="6032043" y="4727278"/>
            <a:ext cx="221226" cy="221226"/>
          </a:xfrm>
          <a:prstGeom prst="ellipse">
            <a:avLst/>
          </a:prstGeom>
          <a:solidFill>
            <a:srgbClr val="A80000"/>
          </a:solidFill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E37E7304-43A3-72D5-94F7-5FE69056421B}"/>
              </a:ext>
            </a:extLst>
          </p:cNvPr>
          <p:cNvSpPr/>
          <p:nvPr/>
        </p:nvSpPr>
        <p:spPr>
          <a:xfrm>
            <a:off x="8143261" y="4173674"/>
            <a:ext cx="3327191" cy="132556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Sirve para definir estrategias y enfocar los esfuerzos de forma adecuada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A4A12111-BCE8-BDB1-F40C-10BF4F5EAC0D}"/>
              </a:ext>
            </a:extLst>
          </p:cNvPr>
          <p:cNvSpPr/>
          <p:nvPr/>
        </p:nvSpPr>
        <p:spPr>
          <a:xfrm>
            <a:off x="790560" y="5188683"/>
            <a:ext cx="3327191" cy="132556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Es un análisis de doble materialidad: tiene en cuenta la materialidad financiera y la de impacto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618B408-5083-2C90-5321-DF8EECB196A0}"/>
              </a:ext>
            </a:extLst>
          </p:cNvPr>
          <p:cNvSpPr/>
          <p:nvPr/>
        </p:nvSpPr>
        <p:spPr>
          <a:xfrm rot="5400000">
            <a:off x="4977529" y="4883124"/>
            <a:ext cx="178419" cy="193060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D9D351F1-34E6-B9AD-0253-4654B3EECE61}"/>
              </a:ext>
            </a:extLst>
          </p:cNvPr>
          <p:cNvSpPr/>
          <p:nvPr/>
        </p:nvSpPr>
        <p:spPr>
          <a:xfrm>
            <a:off x="5985339" y="5714967"/>
            <a:ext cx="221226" cy="221226"/>
          </a:xfrm>
          <a:prstGeom prst="ellipse">
            <a:avLst/>
          </a:prstGeom>
          <a:solidFill>
            <a:srgbClr val="A80000"/>
          </a:solidFill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6142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ANÁLISIS DOBLE MATERIALIDAD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pic>
        <p:nvPicPr>
          <p:cNvPr id="9" name="Imagen 8" descr="Imagen que contiene cd&#10;&#10;Descripción generada automáticamente">
            <a:extLst>
              <a:ext uri="{FF2B5EF4-FFF2-40B4-BE49-F238E27FC236}">
                <a16:creationId xmlns:a16="http://schemas.microsoft.com/office/drawing/2014/main" id="{8B696D93-325C-82D4-2E25-93C649710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4"/>
          <a:stretch/>
        </p:blipFill>
        <p:spPr>
          <a:xfrm>
            <a:off x="704295" y="2630157"/>
            <a:ext cx="11019752" cy="4200921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4A3FD8-2247-7E2E-EDCC-D886D3935D58}"/>
              </a:ext>
            </a:extLst>
          </p:cNvPr>
          <p:cNvSpPr txBox="1"/>
          <p:nvPr/>
        </p:nvSpPr>
        <p:spPr>
          <a:xfrm>
            <a:off x="280219" y="1674674"/>
            <a:ext cx="29791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La materialidad financiera fundamentalmente se ve influenciada por el entorno: mercado, competencia, etc. y afecta a la empresa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65AE720-2E23-1180-1E18-FEDE9DA8F769}"/>
              </a:ext>
            </a:extLst>
          </p:cNvPr>
          <p:cNvSpPr txBox="1"/>
          <p:nvPr/>
        </p:nvSpPr>
        <p:spPr>
          <a:xfrm>
            <a:off x="8944250" y="1674674"/>
            <a:ext cx="2979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La materialidad de impacto tiene más que ver con cómo la empresa afecta a su entorno y grupos de interés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29120230-057C-F706-8972-3DD7B6DBF9D5}"/>
              </a:ext>
            </a:extLst>
          </p:cNvPr>
          <p:cNvSpPr/>
          <p:nvPr/>
        </p:nvSpPr>
        <p:spPr>
          <a:xfrm>
            <a:off x="4563976" y="1410814"/>
            <a:ext cx="3064047" cy="1052196"/>
          </a:xfrm>
          <a:prstGeom prst="roundRect">
            <a:avLst/>
          </a:prstGeom>
          <a:solidFill>
            <a:srgbClr val="4C216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ANÁLISIS DE DOBLE MATERIALIDAD = IRO</a:t>
            </a:r>
          </a:p>
        </p:txBody>
      </p:sp>
    </p:spTree>
    <p:extLst>
      <p:ext uri="{BB962C8B-B14F-4D97-AF65-F5344CB8AC3E}">
        <p14:creationId xmlns:p14="http://schemas.microsoft.com/office/powerpoint/2010/main" val="1833835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ANÁLISIS DOBLE MATERIALIDAD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6" name="Rectángulo: esquinas superiores cortadas 5">
            <a:extLst>
              <a:ext uri="{FF2B5EF4-FFF2-40B4-BE49-F238E27FC236}">
                <a16:creationId xmlns:a16="http://schemas.microsoft.com/office/drawing/2014/main" id="{E9B51E23-CAC6-F40D-D54A-756B3B7E1D3A}"/>
              </a:ext>
            </a:extLst>
          </p:cNvPr>
          <p:cNvSpPr/>
          <p:nvPr/>
        </p:nvSpPr>
        <p:spPr>
          <a:xfrm>
            <a:off x="770290" y="1859370"/>
            <a:ext cx="6432612" cy="443934"/>
          </a:xfrm>
          <a:prstGeom prst="snip2Same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PUNTO DE PARTIDA IMPRESCINDIBLE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63B0C57-309F-84E3-E551-DB3A1B7BBDBF}"/>
              </a:ext>
            </a:extLst>
          </p:cNvPr>
          <p:cNvSpPr txBox="1"/>
          <p:nvPr/>
        </p:nvSpPr>
        <p:spPr>
          <a:xfrm>
            <a:off x="905619" y="3042897"/>
            <a:ext cx="62972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Conocer las obligaciones y requisitos desprendidos de las políticas públicas nacionales, europeas e internacionales en este campo. Por tanto, es imprescindible investigar todo el contexto regulatorio relativo a la sostenibilidad que afecta a la empresa y tenerlo presente en la planificación</a:t>
            </a:r>
            <a:endParaRPr lang="es-ES" sz="24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56EE861-1F27-E199-6037-A6AD87A9FC9F}"/>
              </a:ext>
            </a:extLst>
          </p:cNvPr>
          <p:cNvSpPr txBox="1"/>
          <p:nvPr/>
        </p:nvSpPr>
        <p:spPr>
          <a:xfrm>
            <a:off x="9178506" y="1859370"/>
            <a:ext cx="2674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3"/>
              </a:rPr>
              <a:t>Vídeo Explicativo</a:t>
            </a:r>
            <a:endParaRPr lang="es-ES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CDAB4A0-1C2A-CD6B-5F65-FD46880FF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1808" y="2804529"/>
            <a:ext cx="2245897" cy="277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376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 fontScale="90000"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SECUENCIA ANÁLISIS DOBLE MATERIALIDAD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F68B9AF3-9F4F-A4D4-E657-876F8B7508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7321237"/>
              </p:ext>
            </p:extLst>
          </p:nvPr>
        </p:nvGraphicFramePr>
        <p:xfrm>
          <a:off x="704295" y="1030218"/>
          <a:ext cx="10848883" cy="5748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ECE8F0F5-D42C-6408-0F7F-46FC9F19147A}"/>
              </a:ext>
            </a:extLst>
          </p:cNvPr>
          <p:cNvSpPr txBox="1"/>
          <p:nvPr/>
        </p:nvSpPr>
        <p:spPr>
          <a:xfrm>
            <a:off x="9108489" y="1217421"/>
            <a:ext cx="2802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8"/>
              </a:rPr>
              <a:t>Borrador de la guía de la EFRAG para la realización del análisis de doble materialidad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6482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 fontScale="90000"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DETERMINACIÓN DE LOS GRUPOS DE INTERÉS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08864FAA-E87D-AF68-A221-E9C7CCC3D30E}"/>
              </a:ext>
            </a:extLst>
          </p:cNvPr>
          <p:cNvSpPr/>
          <p:nvPr/>
        </p:nvSpPr>
        <p:spPr>
          <a:xfrm>
            <a:off x="4777597" y="3209026"/>
            <a:ext cx="2553419" cy="1932317"/>
          </a:xfrm>
          <a:prstGeom prst="ellipse">
            <a:avLst/>
          </a:prstGeom>
          <a:solidFill>
            <a:srgbClr val="4F227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TIPOS DE GRUPOS DE INTERÉS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3E73C33-64E6-FEAF-E01C-5A1A1ACDBB67}"/>
              </a:ext>
            </a:extLst>
          </p:cNvPr>
          <p:cNvSpPr/>
          <p:nvPr/>
        </p:nvSpPr>
        <p:spPr>
          <a:xfrm>
            <a:off x="872706" y="1783170"/>
            <a:ext cx="2784894" cy="1174251"/>
          </a:xfrm>
          <a:prstGeom prst="rect">
            <a:avLst/>
          </a:prstGeom>
          <a:solidFill>
            <a:srgbClr val="AFAC2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GRUPOS AFECTADOS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F50F10E-E725-5AAF-1AD3-F63FD40B0F00}"/>
              </a:ext>
            </a:extLst>
          </p:cNvPr>
          <p:cNvSpPr/>
          <p:nvPr/>
        </p:nvSpPr>
        <p:spPr>
          <a:xfrm>
            <a:off x="8451012" y="1783170"/>
            <a:ext cx="2784894" cy="1174251"/>
          </a:xfrm>
          <a:prstGeom prst="rect">
            <a:avLst/>
          </a:prstGeom>
          <a:solidFill>
            <a:srgbClr val="AFAC2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USUARIOS DE INFORMES DE SOSTENIBILIDAD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86994A1-6111-5C7C-805C-122BF57B7DE8}"/>
              </a:ext>
            </a:extLst>
          </p:cNvPr>
          <p:cNvCxnSpPr>
            <a:cxnSpLocks/>
            <a:stCxn id="3" idx="7"/>
            <a:endCxn id="8" idx="1"/>
          </p:cNvCxnSpPr>
          <p:nvPr/>
        </p:nvCxnSpPr>
        <p:spPr>
          <a:xfrm flipV="1">
            <a:off x="6957076" y="2370296"/>
            <a:ext cx="1493936" cy="1121711"/>
          </a:xfrm>
          <a:prstGeom prst="line">
            <a:avLst/>
          </a:prstGeom>
          <a:ln w="635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287DB878-057B-AF81-9A77-21B54751C05D}"/>
              </a:ext>
            </a:extLst>
          </p:cNvPr>
          <p:cNvCxnSpPr>
            <a:cxnSpLocks/>
            <a:stCxn id="3" idx="1"/>
            <a:endCxn id="6" idx="3"/>
          </p:cNvCxnSpPr>
          <p:nvPr/>
        </p:nvCxnSpPr>
        <p:spPr>
          <a:xfrm flipH="1" flipV="1">
            <a:off x="3657600" y="2370296"/>
            <a:ext cx="1493937" cy="1121711"/>
          </a:xfrm>
          <a:prstGeom prst="line">
            <a:avLst/>
          </a:prstGeom>
          <a:ln w="635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echa: a la derecha con muesca 15">
            <a:extLst>
              <a:ext uri="{FF2B5EF4-FFF2-40B4-BE49-F238E27FC236}">
                <a16:creationId xmlns:a16="http://schemas.microsoft.com/office/drawing/2014/main" id="{4C3BACBB-BE1F-6C31-2BBE-24FF20B41DA7}"/>
              </a:ext>
            </a:extLst>
          </p:cNvPr>
          <p:cNvSpPr/>
          <p:nvPr/>
        </p:nvSpPr>
        <p:spPr>
          <a:xfrm rot="5400000">
            <a:off x="1869590" y="3199365"/>
            <a:ext cx="791126" cy="459271"/>
          </a:xfrm>
          <a:prstGeom prst="notchedRight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02E0E10-3203-6A04-A75E-5772C1C3802F}"/>
              </a:ext>
            </a:extLst>
          </p:cNvPr>
          <p:cNvSpPr txBox="1"/>
          <p:nvPr/>
        </p:nvSpPr>
        <p:spPr>
          <a:xfrm>
            <a:off x="638821" y="3914467"/>
            <a:ext cx="3243065" cy="1938992"/>
          </a:xfrm>
          <a:prstGeom prst="rect">
            <a:avLst/>
          </a:prstGeom>
          <a:noFill/>
          <a:ln w="69850">
            <a:solidFill>
              <a:srgbClr val="AFAC24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_trad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 aquellos cuyos intereses se ven influidos por las actividades de las empresas en toda su cadena de valor, ya sea de forma directa o indirecta</a:t>
            </a:r>
            <a:endParaRPr lang="es-ES" sz="2000" dirty="0"/>
          </a:p>
        </p:txBody>
      </p:sp>
      <p:sp>
        <p:nvSpPr>
          <p:cNvPr id="18" name="Cruz 17">
            <a:extLst>
              <a:ext uri="{FF2B5EF4-FFF2-40B4-BE49-F238E27FC236}">
                <a16:creationId xmlns:a16="http://schemas.microsoft.com/office/drawing/2014/main" id="{AE8A068F-679E-5802-8414-C2823FEB15B5}"/>
              </a:ext>
            </a:extLst>
          </p:cNvPr>
          <p:cNvSpPr/>
          <p:nvPr/>
        </p:nvSpPr>
        <p:spPr>
          <a:xfrm>
            <a:off x="870026" y="6071780"/>
            <a:ext cx="589935" cy="618359"/>
          </a:xfrm>
          <a:prstGeom prst="plus">
            <a:avLst>
              <a:gd name="adj" fmla="val 39634"/>
            </a:avLst>
          </a:prstGeom>
          <a:solidFill>
            <a:srgbClr val="00924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78D3CC3-240D-8166-5C52-B7F900F6E326}"/>
              </a:ext>
            </a:extLst>
          </p:cNvPr>
          <p:cNvSpPr/>
          <p:nvPr/>
        </p:nvSpPr>
        <p:spPr>
          <a:xfrm>
            <a:off x="3067665" y="6324193"/>
            <a:ext cx="589935" cy="147484"/>
          </a:xfrm>
          <a:prstGeom prst="rect">
            <a:avLst/>
          </a:prstGeom>
          <a:solidFill>
            <a:srgbClr val="E3070C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lecha: a la derecha con muesca 21">
            <a:extLst>
              <a:ext uri="{FF2B5EF4-FFF2-40B4-BE49-F238E27FC236}">
                <a16:creationId xmlns:a16="http://schemas.microsoft.com/office/drawing/2014/main" id="{09C4C718-31FC-6FF1-EF5E-86CE9F669A89}"/>
              </a:ext>
            </a:extLst>
          </p:cNvPr>
          <p:cNvSpPr/>
          <p:nvPr/>
        </p:nvSpPr>
        <p:spPr>
          <a:xfrm rot="5400000">
            <a:off x="9489126" y="3199365"/>
            <a:ext cx="791126" cy="459271"/>
          </a:xfrm>
          <a:prstGeom prst="notchedRight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768D00A-0D9E-5C40-E7EC-B14F4FB589D8}"/>
              </a:ext>
            </a:extLst>
          </p:cNvPr>
          <p:cNvSpPr txBox="1"/>
          <p:nvPr/>
        </p:nvSpPr>
        <p:spPr>
          <a:xfrm>
            <a:off x="8258357" y="3914467"/>
            <a:ext cx="3243065" cy="1938992"/>
          </a:xfrm>
          <a:prstGeom prst="rect">
            <a:avLst/>
          </a:prstGeom>
          <a:noFill/>
          <a:ln w="69850">
            <a:solidFill>
              <a:srgbClr val="AFAC24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Recurren a la información de estos informes para tomar decisiones. Son ejemplo las entidades financieras, los inversionistas, los acreedores, etc.</a:t>
            </a:r>
          </a:p>
        </p:txBody>
      </p:sp>
    </p:spTree>
    <p:extLst>
      <p:ext uri="{BB962C8B-B14F-4D97-AF65-F5344CB8AC3E}">
        <p14:creationId xmlns:p14="http://schemas.microsoft.com/office/powerpoint/2010/main" val="625835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CAPADIDAD DE INFLUENCIA E IMPACTO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0051ECB2-D3CE-67BA-2E8E-6B9E028421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2429338"/>
              </p:ext>
            </p:extLst>
          </p:nvPr>
        </p:nvGraphicFramePr>
        <p:xfrm>
          <a:off x="911564" y="1271472"/>
          <a:ext cx="881903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83420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CAPADIDAD DE INFLUENCIA E IMPACTO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EB8FC2B-170D-F4FB-36DA-AA98EB5A56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8"/>
          <a:stretch/>
        </p:blipFill>
        <p:spPr>
          <a:xfrm>
            <a:off x="886314" y="1224949"/>
            <a:ext cx="5842959" cy="522894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0A1F9D4-0C35-20A1-0A8C-3EB4BF37EEB9}"/>
              </a:ext>
            </a:extLst>
          </p:cNvPr>
          <p:cNvSpPr txBox="1"/>
          <p:nvPr/>
        </p:nvSpPr>
        <p:spPr>
          <a:xfrm>
            <a:off x="2277370" y="6448597"/>
            <a:ext cx="289205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Los que afectan a la empresa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815EF02-ACC1-BA14-15C8-6238802625E3}"/>
              </a:ext>
            </a:extLst>
          </p:cNvPr>
          <p:cNvSpPr txBox="1"/>
          <p:nvPr/>
        </p:nvSpPr>
        <p:spPr>
          <a:xfrm rot="16200000">
            <a:off x="-782897" y="3579857"/>
            <a:ext cx="258303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Los que se ven afectados por la empresa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B2FDAF9-F2F7-8466-CE90-D634A67545E8}"/>
              </a:ext>
            </a:extLst>
          </p:cNvPr>
          <p:cNvSpPr txBox="1"/>
          <p:nvPr/>
        </p:nvSpPr>
        <p:spPr>
          <a:xfrm>
            <a:off x="6901803" y="1345719"/>
            <a:ext cx="498205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Vulnerable</a:t>
            </a:r>
            <a:r>
              <a:rPr lang="es-ES_tradnl" sz="20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 Su efecto sobre la empresa es reducido, pero se ven muy afectados por las actividades de la empresa. Sus necesidades deben contemplarse en el plan de sostenibilidad y es una prioridad satisfacerlas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Poderoso.</a:t>
            </a:r>
            <a:r>
              <a:rPr lang="es-ES_tradnl" sz="20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La relación con la organización es de gran peso por ambas partes. Influye y es influenciado considerablemente</a:t>
            </a:r>
            <a:endParaRPr lang="es-ES" sz="20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Pasivo. </a:t>
            </a:r>
            <a:r>
              <a:rPr lang="es-ES_tradnl" sz="20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Sus acciones tienen poca repercusión sobre la empresa y viceversa. Es un grupo a tener en cuenta, pero no es prioritario. </a:t>
            </a:r>
            <a:endParaRPr lang="es-ES" sz="20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Mediador.</a:t>
            </a:r>
            <a:r>
              <a:rPr lang="es-ES_tradnl" sz="20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Tienen gran influencia sobre la organización, pero no se ve afectado por ella en gran medida. 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11113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48" y="533807"/>
            <a:ext cx="9732498" cy="1325563"/>
          </a:xfrm>
        </p:spPr>
        <p:txBody>
          <a:bodyPr>
            <a:normAutofit fontScale="90000"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IDENTIFICACIÓN DE LAS CUESTIONES MATERIALES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EA4324-3F1F-38BF-C27D-F973E94DE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33" y="3461378"/>
            <a:ext cx="1339917" cy="191192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F51BB37-2DD5-4B44-7DAA-A130BCFC41FD}"/>
              </a:ext>
            </a:extLst>
          </p:cNvPr>
          <p:cNvSpPr txBox="1"/>
          <p:nvPr/>
        </p:nvSpPr>
        <p:spPr>
          <a:xfrm>
            <a:off x="308148" y="2926851"/>
            <a:ext cx="2197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EMPRESA</a:t>
            </a:r>
          </a:p>
        </p:txBody>
      </p:sp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9B09F800-7F90-EE8E-45D7-B3A6A160A4CB}"/>
              </a:ext>
            </a:extLst>
          </p:cNvPr>
          <p:cNvSpPr/>
          <p:nvPr/>
        </p:nvSpPr>
        <p:spPr>
          <a:xfrm>
            <a:off x="3300893" y="1778725"/>
            <a:ext cx="2415541" cy="443930"/>
          </a:xfrm>
          <a:prstGeom prst="round2SameRect">
            <a:avLst>
              <a:gd name="adj1" fmla="val 36600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/>
              <a:t>Datos de Partida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E0A10A2-CB67-B561-1B6B-099501898D5A}"/>
              </a:ext>
            </a:extLst>
          </p:cNvPr>
          <p:cNvSpPr txBox="1"/>
          <p:nvPr/>
        </p:nvSpPr>
        <p:spPr>
          <a:xfrm>
            <a:off x="2378382" y="2923244"/>
            <a:ext cx="4291781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000" dirty="0"/>
              <a:t>Resultados consultas grupos de interés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E056643-37D1-F7CA-8599-1E9AC26D640F}"/>
              </a:ext>
            </a:extLst>
          </p:cNvPr>
          <p:cNvSpPr txBox="1"/>
          <p:nvPr/>
        </p:nvSpPr>
        <p:spPr>
          <a:xfrm>
            <a:off x="2378382" y="3973055"/>
            <a:ext cx="4291781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000" dirty="0"/>
              <a:t>Recopilación de normativa vigente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681CC02-2A1A-715D-22C7-1EFC9D464C44}"/>
              </a:ext>
            </a:extLst>
          </p:cNvPr>
          <p:cNvSpPr txBox="1"/>
          <p:nvPr/>
        </p:nvSpPr>
        <p:spPr>
          <a:xfrm>
            <a:off x="2378382" y="5022865"/>
            <a:ext cx="4291781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000" dirty="0"/>
              <a:t>Información del diagnóstico  </a:t>
            </a:r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A8453C1A-03CF-0795-9B84-65192046A035}"/>
              </a:ext>
            </a:extLst>
          </p:cNvPr>
          <p:cNvSpPr/>
          <p:nvPr/>
        </p:nvSpPr>
        <p:spPr>
          <a:xfrm>
            <a:off x="6670163" y="2554534"/>
            <a:ext cx="545690" cy="3097161"/>
          </a:xfrm>
          <a:prstGeom prst="rightBrace">
            <a:avLst>
              <a:gd name="adj1" fmla="val 51576"/>
              <a:gd name="adj2" fmla="val 50000"/>
            </a:avLst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4237C78-898C-19F6-F72A-9DAF32135CD1}"/>
              </a:ext>
            </a:extLst>
          </p:cNvPr>
          <p:cNvSpPr/>
          <p:nvPr/>
        </p:nvSpPr>
        <p:spPr>
          <a:xfrm>
            <a:off x="7349702" y="3357860"/>
            <a:ext cx="1583038" cy="150744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Identifica sus Cuestiones Materiales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DC5F40E-CDDA-54AA-8614-1C1AA7669C38}"/>
              </a:ext>
            </a:extLst>
          </p:cNvPr>
          <p:cNvSpPr txBox="1"/>
          <p:nvPr/>
        </p:nvSpPr>
        <p:spPr>
          <a:xfrm>
            <a:off x="9640681" y="2635215"/>
            <a:ext cx="1768757" cy="7226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Metodología propia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3B62733-DC5C-B145-7641-46708007F89A}"/>
              </a:ext>
            </a:extLst>
          </p:cNvPr>
          <p:cNvSpPr txBox="1"/>
          <p:nvPr/>
        </p:nvSpPr>
        <p:spPr>
          <a:xfrm>
            <a:off x="9640681" y="3740716"/>
            <a:ext cx="1768757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Normas NEIS o ESRS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14F0F5A5-D662-00EA-98E5-CF57B78A35E1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8932740" y="2996538"/>
            <a:ext cx="707941" cy="1115043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68192CC9-A521-1A6A-9DC6-E696AD7707D9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8932740" y="4094659"/>
            <a:ext cx="707941" cy="16922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CE7A5615-44F7-D087-B805-676F6532E476}"/>
              </a:ext>
            </a:extLst>
          </p:cNvPr>
          <p:cNvSpPr txBox="1"/>
          <p:nvPr/>
        </p:nvSpPr>
        <p:spPr>
          <a:xfrm>
            <a:off x="9640681" y="4802545"/>
            <a:ext cx="1768757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Otros estándares (ISSB,GRI, etc.)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176C118-0C18-5BD6-04BB-DF15CB28563C}"/>
              </a:ext>
            </a:extLst>
          </p:cNvPr>
          <p:cNvCxnSpPr>
            <a:cxnSpLocks/>
            <a:stCxn id="14" idx="3"/>
            <a:endCxn id="6" idx="1"/>
          </p:cNvCxnSpPr>
          <p:nvPr/>
        </p:nvCxnSpPr>
        <p:spPr>
          <a:xfrm>
            <a:off x="8932740" y="4111581"/>
            <a:ext cx="707941" cy="1198796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4755A75-5267-358E-1B1A-22A5509FD248}"/>
              </a:ext>
            </a:extLst>
          </p:cNvPr>
          <p:cNvSpPr txBox="1"/>
          <p:nvPr/>
        </p:nvSpPr>
        <p:spPr>
          <a:xfrm>
            <a:off x="412955" y="5884608"/>
            <a:ext cx="6802898" cy="92333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s-ES" u="sng" dirty="0"/>
              <a:t>Nota</a:t>
            </a:r>
            <a:r>
              <a:rPr lang="es-ES" dirty="0"/>
              <a:t>: Los estándares son para realizar informes de sostenibilidad y no para el plan de sostenibilidad. Pero son útiles en la confección del plan y facilita la realización del informe posterior pues ya se tiene el patrón.</a:t>
            </a:r>
          </a:p>
        </p:txBody>
      </p:sp>
    </p:spTree>
    <p:extLst>
      <p:ext uri="{BB962C8B-B14F-4D97-AF65-F5344CB8AC3E}">
        <p14:creationId xmlns:p14="http://schemas.microsoft.com/office/powerpoint/2010/main" val="1017359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48" y="533807"/>
            <a:ext cx="9732498" cy="1325563"/>
          </a:xfrm>
        </p:spPr>
        <p:txBody>
          <a:bodyPr>
            <a:normAutofit fontScale="90000"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IDENTIFICACIÓN DE LAS CUESTIONES MATERIALES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C0B16F4-F321-5903-007C-468C4782EB82}"/>
              </a:ext>
            </a:extLst>
          </p:cNvPr>
          <p:cNvSpPr/>
          <p:nvPr/>
        </p:nvSpPr>
        <p:spPr>
          <a:xfrm>
            <a:off x="1542929" y="1420498"/>
            <a:ext cx="1604514" cy="1325563"/>
          </a:xfrm>
          <a:prstGeom prst="ellipse">
            <a:avLst/>
          </a:prstGeom>
          <a:solidFill>
            <a:srgbClr val="A80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Normas NEIS o ESRS</a:t>
            </a:r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F32EDE52-9B56-FBA9-3424-BA05755BBAEA}"/>
              </a:ext>
            </a:extLst>
          </p:cNvPr>
          <p:cNvSpPr/>
          <p:nvPr/>
        </p:nvSpPr>
        <p:spPr>
          <a:xfrm>
            <a:off x="2138152" y="2938733"/>
            <a:ext cx="414068" cy="828135"/>
          </a:xfrm>
          <a:prstGeom prst="down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B443AD6-10AC-DB52-98B5-98BA758B7574}"/>
              </a:ext>
            </a:extLst>
          </p:cNvPr>
          <p:cNvSpPr/>
          <p:nvPr/>
        </p:nvSpPr>
        <p:spPr>
          <a:xfrm>
            <a:off x="1780156" y="3959541"/>
            <a:ext cx="1130061" cy="828136"/>
          </a:xfrm>
          <a:prstGeom prst="ellipse">
            <a:avLst/>
          </a:prstGeom>
          <a:solidFill>
            <a:srgbClr val="A80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AR 16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2FCA9F1-5843-5C0E-C521-1209A6DE3DCF}"/>
              </a:ext>
            </a:extLst>
          </p:cNvPr>
          <p:cNvSpPr txBox="1"/>
          <p:nvPr/>
        </p:nvSpPr>
        <p:spPr>
          <a:xfrm>
            <a:off x="722218" y="5050390"/>
            <a:ext cx="3245936" cy="1477328"/>
          </a:xfrm>
          <a:prstGeom prst="rect">
            <a:avLst/>
          </a:prstGeom>
          <a:noFill/>
          <a:ln w="101600" cmpd="dbl">
            <a:solidFill>
              <a:srgbClr val="A80000"/>
            </a:solidFill>
            <a:bevel/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Proporciona una lista clasificada de cuestiones de sostenibilidad que puede servir para identificar las cuestiones materiales para el Plan de Sostenibilidad</a:t>
            </a:r>
          </a:p>
        </p:txBody>
      </p:sp>
      <p:pic>
        <p:nvPicPr>
          <p:cNvPr id="14" name="Imagen 13">
            <a:hlinkClick r:id="rId3"/>
            <a:extLst>
              <a:ext uri="{FF2B5EF4-FFF2-40B4-BE49-F238E27FC236}">
                <a16:creationId xmlns:a16="http://schemas.microsoft.com/office/drawing/2014/main" id="{D9947B5F-2A4F-E283-F3F2-A4C01B7DC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19" y="1347858"/>
            <a:ext cx="5102236" cy="3999953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637FB7E1-103B-89A6-EC6D-B48980C3CC81}"/>
              </a:ext>
            </a:extLst>
          </p:cNvPr>
          <p:cNvSpPr txBox="1"/>
          <p:nvPr/>
        </p:nvSpPr>
        <p:spPr>
          <a:xfrm>
            <a:off x="4905807" y="5622943"/>
            <a:ext cx="5885792" cy="707886"/>
          </a:xfrm>
          <a:prstGeom prst="rect">
            <a:avLst/>
          </a:prstGeom>
          <a:solidFill>
            <a:srgbClr val="FCEEEE"/>
          </a:solidFill>
        </p:spPr>
        <p:txBody>
          <a:bodyPr wrap="square" rtlCol="0">
            <a:spAutoFit/>
          </a:bodyPr>
          <a:lstStyle/>
          <a:p>
            <a:r>
              <a:rPr lang="es-ES" sz="2000" dirty="0"/>
              <a:t>Extracto de la AR 16, donde para cada NEIS temática se hace una clasificación en Tema/Subtema/</a:t>
            </a:r>
            <a:r>
              <a:rPr lang="es-ES" sz="2000" dirty="0" err="1"/>
              <a:t>Subsubtema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122293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48" y="533807"/>
            <a:ext cx="9732498" cy="1325563"/>
          </a:xfrm>
        </p:spPr>
        <p:txBody>
          <a:bodyPr>
            <a:normAutofit fontScale="90000"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IDENTIFICACIÓN DE LAS CUESTIONES MATERIALES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4D14A99-894A-4D2B-4E58-D53FD722E940}"/>
              </a:ext>
            </a:extLst>
          </p:cNvPr>
          <p:cNvSpPr txBox="1"/>
          <p:nvPr/>
        </p:nvSpPr>
        <p:spPr>
          <a:xfrm>
            <a:off x="2378015" y="1741088"/>
            <a:ext cx="7435970" cy="707886"/>
          </a:xfrm>
          <a:prstGeom prst="rect">
            <a:avLst/>
          </a:prstGeom>
          <a:solidFill>
            <a:srgbClr val="FCEEE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Para cada tema/subtema/</a:t>
            </a:r>
            <a:r>
              <a:rPr lang="es-ES" sz="2000" dirty="0" err="1"/>
              <a:t>subsubtema</a:t>
            </a:r>
            <a:r>
              <a:rPr lang="es-ES" sz="2000" dirty="0"/>
              <a:t> de la AR 16 la empresa realiza un análisis IRO para determinar si es cuestión material para ella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BDFD31-63A7-2DD3-64DE-313CC5EF7253}"/>
              </a:ext>
            </a:extLst>
          </p:cNvPr>
          <p:cNvSpPr txBox="1"/>
          <p:nvPr/>
        </p:nvSpPr>
        <p:spPr>
          <a:xfrm>
            <a:off x="2378015" y="2944952"/>
            <a:ext cx="7435970" cy="707886"/>
          </a:xfrm>
          <a:prstGeom prst="rect">
            <a:avLst/>
          </a:prstGeom>
          <a:solidFill>
            <a:srgbClr val="FCEEE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Puede añadir a la lista de ítems analizados otros que figuren en las normas sectoriales y que no lo estén en la AR 16</a:t>
            </a:r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36A12588-2F24-BFD8-86D0-06222C26D352}"/>
              </a:ext>
            </a:extLst>
          </p:cNvPr>
          <p:cNvSpPr/>
          <p:nvPr/>
        </p:nvSpPr>
        <p:spPr>
          <a:xfrm>
            <a:off x="5888966" y="2454685"/>
            <a:ext cx="414068" cy="490267"/>
          </a:xfrm>
          <a:prstGeom prst="down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86DAB57B-C277-81FD-3164-54A1FC379B07}"/>
              </a:ext>
            </a:extLst>
          </p:cNvPr>
          <p:cNvSpPr/>
          <p:nvPr/>
        </p:nvSpPr>
        <p:spPr>
          <a:xfrm>
            <a:off x="5888966" y="3667915"/>
            <a:ext cx="414068" cy="490267"/>
          </a:xfrm>
          <a:prstGeom prst="down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166B5BC-D65F-5944-930A-8BE844ED2EA5}"/>
              </a:ext>
            </a:extLst>
          </p:cNvPr>
          <p:cNvSpPr/>
          <p:nvPr/>
        </p:nvSpPr>
        <p:spPr>
          <a:xfrm>
            <a:off x="2378015" y="4347713"/>
            <a:ext cx="7435970" cy="1976480"/>
          </a:xfrm>
          <a:prstGeom prst="roundRect">
            <a:avLst/>
          </a:prstGeom>
          <a:solidFill>
            <a:srgbClr val="A8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Para determinar si una cuestión es material o no, puede utilizar un sistema de cuantificación, tanto desde el punto de vista de la </a:t>
            </a:r>
            <a:r>
              <a:rPr lang="es-ES" sz="2000" b="1" dirty="0"/>
              <a:t>Materialidad Financiera </a:t>
            </a:r>
            <a:r>
              <a:rPr lang="es-ES" sz="2000" dirty="0"/>
              <a:t>como de la </a:t>
            </a:r>
            <a:r>
              <a:rPr lang="es-ES" sz="2000" b="1" dirty="0"/>
              <a:t>Materialidad de Impacto </a:t>
            </a:r>
            <a:r>
              <a:rPr lang="es-ES" sz="2000" dirty="0"/>
              <a:t>y marcar un valor umbral de manera que aquellas cuestiones de la lista que superen un determinado valor numérico (umbral), se consideran materiales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AEA3CAF-D0CF-70BA-D4E3-64543E610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39" y="1688532"/>
            <a:ext cx="1888111" cy="206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67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48" y="533807"/>
            <a:ext cx="9732498" cy="1325563"/>
          </a:xfrm>
        </p:spPr>
        <p:txBody>
          <a:bodyPr>
            <a:normAutofit fontScale="90000"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IDENTIFICACIÓN DE LAS CUESTIONES MATERIALES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6" name="Imagen 5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E893F313-02EA-C119-CC61-06EB7B553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589" y="1164116"/>
            <a:ext cx="6527949" cy="569388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D875A56-8E8F-619D-7B58-A41F7F76EAD3}"/>
              </a:ext>
            </a:extLst>
          </p:cNvPr>
          <p:cNvSpPr txBox="1"/>
          <p:nvPr/>
        </p:nvSpPr>
        <p:spPr>
          <a:xfrm>
            <a:off x="7729268" y="2191109"/>
            <a:ext cx="368017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Ejemplo de cómo se determina si un tema es material o no. Se parte de la estructura de la ESRS o NEIS E3 de agua y recursos marinos. Se elige un </a:t>
            </a:r>
            <a:r>
              <a:rPr lang="es-ES_tradnl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subsubtema</a:t>
            </a:r>
            <a:r>
              <a:rPr lang="es-ES_trad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 se estudia si causa impacto y/o supone riesgos y/o oportunidades, se cuantifican esos IRO y si superan un umbral se consideran materiales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992181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48" y="533807"/>
            <a:ext cx="9732498" cy="1325563"/>
          </a:xfrm>
        </p:spPr>
        <p:txBody>
          <a:bodyPr>
            <a:normAutofit fontScale="90000"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IDENTIFICACIÓN DE LAS CUESTIONES MATERIALES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3" name="Rectángulo: esquinas superiores redondeadas 2">
            <a:extLst>
              <a:ext uri="{FF2B5EF4-FFF2-40B4-BE49-F238E27FC236}">
                <a16:creationId xmlns:a16="http://schemas.microsoft.com/office/drawing/2014/main" id="{01A9BE84-9A94-8A56-04C1-B6DA46A4DB0A}"/>
              </a:ext>
            </a:extLst>
          </p:cNvPr>
          <p:cNvSpPr/>
          <p:nvPr/>
        </p:nvSpPr>
        <p:spPr>
          <a:xfrm>
            <a:off x="308148" y="1446986"/>
            <a:ext cx="4758432" cy="443930"/>
          </a:xfrm>
          <a:prstGeom prst="round2SameRect">
            <a:avLst>
              <a:gd name="adj1" fmla="val 36600"/>
              <a:gd name="adj2" fmla="val 0"/>
            </a:avLst>
          </a:prstGeom>
          <a:solidFill>
            <a:srgbClr val="F2B8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/>
              <a:t>Análisis de Materialidad de Impacto</a:t>
            </a:r>
          </a:p>
        </p:txBody>
      </p:sp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52C8B504-176E-8BDE-FDD7-E59B3F22C9B1}"/>
              </a:ext>
            </a:extLst>
          </p:cNvPr>
          <p:cNvSpPr/>
          <p:nvPr/>
        </p:nvSpPr>
        <p:spPr>
          <a:xfrm>
            <a:off x="940676" y="3358805"/>
            <a:ext cx="1848457" cy="877108"/>
          </a:xfrm>
          <a:prstGeom prst="round2DiagRect">
            <a:avLst/>
          </a:prstGeom>
          <a:solidFill>
            <a:srgbClr val="0070C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Tipos de Impactos</a:t>
            </a:r>
          </a:p>
        </p:txBody>
      </p:sp>
      <p:sp>
        <p:nvSpPr>
          <p:cNvPr id="10" name="Rectángulo: esquinas diagonales redondeadas 9">
            <a:extLst>
              <a:ext uri="{FF2B5EF4-FFF2-40B4-BE49-F238E27FC236}">
                <a16:creationId xmlns:a16="http://schemas.microsoft.com/office/drawing/2014/main" id="{21E60B5B-27D2-D10B-14A0-245B669F3585}"/>
              </a:ext>
            </a:extLst>
          </p:cNvPr>
          <p:cNvSpPr/>
          <p:nvPr/>
        </p:nvSpPr>
        <p:spPr>
          <a:xfrm>
            <a:off x="210233" y="5720553"/>
            <a:ext cx="1357362" cy="531387"/>
          </a:xfrm>
          <a:prstGeom prst="round2DiagRect">
            <a:avLst/>
          </a:prstGeom>
          <a:solidFill>
            <a:srgbClr val="00924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Positivos</a:t>
            </a:r>
          </a:p>
        </p:txBody>
      </p:sp>
      <p:sp>
        <p:nvSpPr>
          <p:cNvPr id="11" name="Rectángulo: esquinas diagonales redondeadas 10">
            <a:extLst>
              <a:ext uri="{FF2B5EF4-FFF2-40B4-BE49-F238E27FC236}">
                <a16:creationId xmlns:a16="http://schemas.microsoft.com/office/drawing/2014/main" id="{E0E78F6B-B076-C82D-C46D-288D713E9E44}"/>
              </a:ext>
            </a:extLst>
          </p:cNvPr>
          <p:cNvSpPr/>
          <p:nvPr/>
        </p:nvSpPr>
        <p:spPr>
          <a:xfrm>
            <a:off x="2162215" y="5720552"/>
            <a:ext cx="1357362" cy="531387"/>
          </a:xfrm>
          <a:prstGeom prst="round2DiagRect">
            <a:avLst/>
          </a:prstGeom>
          <a:solidFill>
            <a:srgbClr val="E3070C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Negativos</a:t>
            </a:r>
          </a:p>
        </p:txBody>
      </p:sp>
      <p:sp>
        <p:nvSpPr>
          <p:cNvPr id="12" name="Rectángulo: esquinas diagonales redondeadas 11">
            <a:extLst>
              <a:ext uri="{FF2B5EF4-FFF2-40B4-BE49-F238E27FC236}">
                <a16:creationId xmlns:a16="http://schemas.microsoft.com/office/drawing/2014/main" id="{974C0ECD-9785-8250-C87F-55044A951D1B}"/>
              </a:ext>
            </a:extLst>
          </p:cNvPr>
          <p:cNvSpPr/>
          <p:nvPr/>
        </p:nvSpPr>
        <p:spPr>
          <a:xfrm>
            <a:off x="4928556" y="2473608"/>
            <a:ext cx="1557682" cy="531387"/>
          </a:xfrm>
          <a:prstGeom prst="round2Diag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Reales</a:t>
            </a:r>
          </a:p>
        </p:txBody>
      </p:sp>
      <p:sp>
        <p:nvSpPr>
          <p:cNvPr id="13" name="Rectángulo: esquinas diagonales redondeadas 12">
            <a:extLst>
              <a:ext uri="{FF2B5EF4-FFF2-40B4-BE49-F238E27FC236}">
                <a16:creationId xmlns:a16="http://schemas.microsoft.com/office/drawing/2014/main" id="{05F4791A-09BD-61CD-9876-9D054CA3A116}"/>
              </a:ext>
            </a:extLst>
          </p:cNvPr>
          <p:cNvSpPr/>
          <p:nvPr/>
        </p:nvSpPr>
        <p:spPr>
          <a:xfrm>
            <a:off x="4928556" y="5116392"/>
            <a:ext cx="1557682" cy="531387"/>
          </a:xfrm>
          <a:prstGeom prst="round2Diag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Potenciales</a:t>
            </a:r>
          </a:p>
        </p:txBody>
      </p:sp>
      <p:sp>
        <p:nvSpPr>
          <p:cNvPr id="14" name="Rectángulo: esquinas diagonales redondeadas 13">
            <a:extLst>
              <a:ext uri="{FF2B5EF4-FFF2-40B4-BE49-F238E27FC236}">
                <a16:creationId xmlns:a16="http://schemas.microsoft.com/office/drawing/2014/main" id="{66E270C4-6DED-E2BF-824A-E44B3C5E8256}"/>
              </a:ext>
            </a:extLst>
          </p:cNvPr>
          <p:cNvSpPr/>
          <p:nvPr/>
        </p:nvSpPr>
        <p:spPr>
          <a:xfrm>
            <a:off x="8364686" y="3531666"/>
            <a:ext cx="2260165" cy="531387"/>
          </a:xfrm>
          <a:prstGeom prst="round2DiagRect">
            <a:avLst/>
          </a:prstGeom>
          <a:solidFill>
            <a:srgbClr val="0070C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Irremediabilidad</a:t>
            </a:r>
            <a:endParaRPr lang="es-ES" sz="2000" b="1" dirty="0"/>
          </a:p>
        </p:txBody>
      </p:sp>
      <p:sp>
        <p:nvSpPr>
          <p:cNvPr id="15" name="Rectángulo: esquinas diagonales redondeadas 14">
            <a:extLst>
              <a:ext uri="{FF2B5EF4-FFF2-40B4-BE49-F238E27FC236}">
                <a16:creationId xmlns:a16="http://schemas.microsoft.com/office/drawing/2014/main" id="{1A612453-BF72-353E-4ACE-A9E1AD6EF97A}"/>
              </a:ext>
            </a:extLst>
          </p:cNvPr>
          <p:cNvSpPr/>
          <p:nvPr/>
        </p:nvSpPr>
        <p:spPr>
          <a:xfrm>
            <a:off x="8364686" y="2473609"/>
            <a:ext cx="2260165" cy="531387"/>
          </a:xfrm>
          <a:prstGeom prst="round2DiagRect">
            <a:avLst/>
          </a:prstGeom>
          <a:solidFill>
            <a:srgbClr val="0070C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Alcance</a:t>
            </a:r>
          </a:p>
        </p:txBody>
      </p:sp>
      <p:sp>
        <p:nvSpPr>
          <p:cNvPr id="16" name="Rectángulo: esquinas diagonales redondeadas 15">
            <a:extLst>
              <a:ext uri="{FF2B5EF4-FFF2-40B4-BE49-F238E27FC236}">
                <a16:creationId xmlns:a16="http://schemas.microsoft.com/office/drawing/2014/main" id="{5BED99CE-2CE3-7E22-51CE-1A7B38A43652}"/>
              </a:ext>
            </a:extLst>
          </p:cNvPr>
          <p:cNvSpPr/>
          <p:nvPr/>
        </p:nvSpPr>
        <p:spPr>
          <a:xfrm>
            <a:off x="8364686" y="1415552"/>
            <a:ext cx="2260165" cy="531387"/>
          </a:xfrm>
          <a:prstGeom prst="round2DiagRect">
            <a:avLst/>
          </a:prstGeom>
          <a:solidFill>
            <a:srgbClr val="0070C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Escala</a:t>
            </a:r>
          </a:p>
        </p:txBody>
      </p:sp>
      <p:sp>
        <p:nvSpPr>
          <p:cNvPr id="17" name="Rectángulo: esquinas diagonales redondeadas 16">
            <a:extLst>
              <a:ext uri="{FF2B5EF4-FFF2-40B4-BE49-F238E27FC236}">
                <a16:creationId xmlns:a16="http://schemas.microsoft.com/office/drawing/2014/main" id="{2721A7C6-4E1C-DFE4-D58A-B5A4D059A981}"/>
              </a:ext>
            </a:extLst>
          </p:cNvPr>
          <p:cNvSpPr/>
          <p:nvPr/>
        </p:nvSpPr>
        <p:spPr>
          <a:xfrm>
            <a:off x="8364686" y="4589723"/>
            <a:ext cx="2260165" cy="531387"/>
          </a:xfrm>
          <a:prstGeom prst="round2DiagRect">
            <a:avLst/>
          </a:prstGeom>
          <a:solidFill>
            <a:srgbClr val="0070C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Probabilidad</a:t>
            </a:r>
          </a:p>
        </p:txBody>
      </p:sp>
      <p:sp>
        <p:nvSpPr>
          <p:cNvPr id="18" name="Rectángulo: esquinas diagonales redondeadas 17">
            <a:extLst>
              <a:ext uri="{FF2B5EF4-FFF2-40B4-BE49-F238E27FC236}">
                <a16:creationId xmlns:a16="http://schemas.microsoft.com/office/drawing/2014/main" id="{13FD673D-AE87-CC8D-D3D4-2D7E03039D7A}"/>
              </a:ext>
            </a:extLst>
          </p:cNvPr>
          <p:cNvSpPr/>
          <p:nvPr/>
        </p:nvSpPr>
        <p:spPr>
          <a:xfrm>
            <a:off x="8364686" y="5647779"/>
            <a:ext cx="2260165" cy="531387"/>
          </a:xfrm>
          <a:prstGeom prst="round2DiagRect">
            <a:avLst/>
          </a:prstGeom>
          <a:solidFill>
            <a:srgbClr val="0070C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Severidad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4669E8B-582B-E7CF-1450-235EA68DCD52}"/>
              </a:ext>
            </a:extLst>
          </p:cNvPr>
          <p:cNvCxnSpPr>
            <a:stCxn id="9" idx="0"/>
            <a:endCxn id="12" idx="2"/>
          </p:cNvCxnSpPr>
          <p:nvPr/>
        </p:nvCxnSpPr>
        <p:spPr>
          <a:xfrm flipV="1">
            <a:off x="2789133" y="2739302"/>
            <a:ext cx="2139423" cy="1058057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6D08199-94D3-4E68-582F-D27D612F6008}"/>
              </a:ext>
            </a:extLst>
          </p:cNvPr>
          <p:cNvCxnSpPr>
            <a:cxnSpLocks/>
            <a:stCxn id="9" idx="0"/>
            <a:endCxn id="13" idx="2"/>
          </p:cNvCxnSpPr>
          <p:nvPr/>
        </p:nvCxnSpPr>
        <p:spPr>
          <a:xfrm>
            <a:off x="2789133" y="3797359"/>
            <a:ext cx="2139423" cy="1584727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555A787-481C-85E0-315F-EB405215C4B8}"/>
              </a:ext>
            </a:extLst>
          </p:cNvPr>
          <p:cNvCxnSpPr>
            <a:cxnSpLocks/>
            <a:stCxn id="12" idx="0"/>
            <a:endCxn id="16" idx="2"/>
          </p:cNvCxnSpPr>
          <p:nvPr/>
        </p:nvCxnSpPr>
        <p:spPr>
          <a:xfrm flipV="1">
            <a:off x="6486238" y="1681246"/>
            <a:ext cx="1878448" cy="1058056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7CAA4D1C-8F33-9233-7E0F-032EC69CC76C}"/>
              </a:ext>
            </a:extLst>
          </p:cNvPr>
          <p:cNvCxnSpPr>
            <a:cxnSpLocks/>
            <a:stCxn id="12" idx="0"/>
            <a:endCxn id="15" idx="2"/>
          </p:cNvCxnSpPr>
          <p:nvPr/>
        </p:nvCxnSpPr>
        <p:spPr>
          <a:xfrm>
            <a:off x="6486238" y="2739302"/>
            <a:ext cx="1878448" cy="1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B9DB4CA4-DDD2-E25A-7D8F-BE2486D51DF4}"/>
              </a:ext>
            </a:extLst>
          </p:cNvPr>
          <p:cNvCxnSpPr>
            <a:cxnSpLocks/>
            <a:stCxn id="12" idx="0"/>
            <a:endCxn id="14" idx="2"/>
          </p:cNvCxnSpPr>
          <p:nvPr/>
        </p:nvCxnSpPr>
        <p:spPr>
          <a:xfrm>
            <a:off x="6486238" y="2739302"/>
            <a:ext cx="1878448" cy="1058058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BEAE2931-2A98-0D10-FDA0-759EBCBEC6C8}"/>
              </a:ext>
            </a:extLst>
          </p:cNvPr>
          <p:cNvCxnSpPr>
            <a:cxnSpLocks/>
            <a:stCxn id="13" idx="0"/>
            <a:endCxn id="17" idx="2"/>
          </p:cNvCxnSpPr>
          <p:nvPr/>
        </p:nvCxnSpPr>
        <p:spPr>
          <a:xfrm flipV="1">
            <a:off x="6486238" y="4855417"/>
            <a:ext cx="1878448" cy="526669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B8FEB1B1-2183-7310-807B-100F31BCD1DE}"/>
              </a:ext>
            </a:extLst>
          </p:cNvPr>
          <p:cNvCxnSpPr>
            <a:cxnSpLocks/>
            <a:stCxn id="13" idx="0"/>
            <a:endCxn id="18" idx="2"/>
          </p:cNvCxnSpPr>
          <p:nvPr/>
        </p:nvCxnSpPr>
        <p:spPr>
          <a:xfrm>
            <a:off x="6486238" y="5382086"/>
            <a:ext cx="1878448" cy="531387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AA23C6CC-2618-DACF-B211-B6778536F8F7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flipH="1">
            <a:off x="888914" y="4235913"/>
            <a:ext cx="975991" cy="1484640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B9564B48-98AC-6A0A-09A9-1AFD0F71AE87}"/>
              </a:ext>
            </a:extLst>
          </p:cNvPr>
          <p:cNvCxnSpPr>
            <a:cxnSpLocks/>
            <a:stCxn id="9" idx="1"/>
            <a:endCxn id="11" idx="3"/>
          </p:cNvCxnSpPr>
          <p:nvPr/>
        </p:nvCxnSpPr>
        <p:spPr>
          <a:xfrm>
            <a:off x="1864905" y="4235913"/>
            <a:ext cx="975991" cy="1484639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566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48" y="533807"/>
            <a:ext cx="9732498" cy="1325563"/>
          </a:xfrm>
        </p:spPr>
        <p:txBody>
          <a:bodyPr>
            <a:normAutofit fontScale="90000"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IDENTIFICACIÓN DE LAS CUESTIONES MATERIALES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11" name="Imagen 10" descr="Interfaz de usuario gráfica, Tabla&#10;&#10;Descripción generada automáticamente">
            <a:extLst>
              <a:ext uri="{FF2B5EF4-FFF2-40B4-BE49-F238E27FC236}">
                <a16:creationId xmlns:a16="http://schemas.microsoft.com/office/drawing/2014/main" id="{634C2686-734F-3FFF-22FA-D00AFB14E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61" y="1859370"/>
            <a:ext cx="4676775" cy="4610100"/>
          </a:xfrm>
          <a:prstGeom prst="rect">
            <a:avLst/>
          </a:prstGeom>
        </p:spPr>
      </p:pic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9ECE49F6-4F55-66FC-EF9C-EFB822AEDA69}"/>
              </a:ext>
            </a:extLst>
          </p:cNvPr>
          <p:cNvSpPr/>
          <p:nvPr/>
        </p:nvSpPr>
        <p:spPr>
          <a:xfrm>
            <a:off x="3970637" y="1276444"/>
            <a:ext cx="4758432" cy="443930"/>
          </a:xfrm>
          <a:prstGeom prst="round2SameRect">
            <a:avLst>
              <a:gd name="adj1" fmla="val 36600"/>
              <a:gd name="adj2" fmla="val 0"/>
            </a:avLst>
          </a:prstGeom>
          <a:solidFill>
            <a:srgbClr val="F2B8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/>
              <a:t>Análisis de Materialidad de Impacto</a:t>
            </a:r>
          </a:p>
        </p:txBody>
      </p:sp>
      <p:pic>
        <p:nvPicPr>
          <p:cNvPr id="13" name="Imagen 12" descr="Tabla&#10;&#10;Descripción generada automáticamente">
            <a:extLst>
              <a:ext uri="{FF2B5EF4-FFF2-40B4-BE49-F238E27FC236}">
                <a16:creationId xmlns:a16="http://schemas.microsoft.com/office/drawing/2014/main" id="{DB939453-068E-A2AE-115C-E7A8E0862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804" y="2463010"/>
            <a:ext cx="5924905" cy="2910905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80A2EA57-596D-ABCF-98E2-D1D44EE59E31}"/>
              </a:ext>
            </a:extLst>
          </p:cNvPr>
          <p:cNvSpPr txBox="1"/>
          <p:nvPr/>
        </p:nvSpPr>
        <p:spPr>
          <a:xfrm>
            <a:off x="50500" y="6433667"/>
            <a:ext cx="61260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Posible cuantificación para </a:t>
            </a:r>
            <a:r>
              <a:rPr lang="es-ES" sz="2000" b="1" dirty="0"/>
              <a:t>Impactos Reales Negativos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5F78F9F-AFD8-6803-4D9C-96EFDD2C772B}"/>
              </a:ext>
            </a:extLst>
          </p:cNvPr>
          <p:cNvSpPr txBox="1"/>
          <p:nvPr/>
        </p:nvSpPr>
        <p:spPr>
          <a:xfrm>
            <a:off x="5794349" y="5567101"/>
            <a:ext cx="54744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Posible cuantificación para </a:t>
            </a:r>
            <a:r>
              <a:rPr lang="es-ES" sz="2000" b="1" dirty="0"/>
              <a:t>Impactos Potenciales Negativos</a:t>
            </a:r>
          </a:p>
        </p:txBody>
      </p:sp>
    </p:spTree>
    <p:extLst>
      <p:ext uri="{BB962C8B-B14F-4D97-AF65-F5344CB8AC3E}">
        <p14:creationId xmlns:p14="http://schemas.microsoft.com/office/powerpoint/2010/main" val="1951155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48" y="533807"/>
            <a:ext cx="9732498" cy="1325563"/>
          </a:xfrm>
        </p:spPr>
        <p:txBody>
          <a:bodyPr>
            <a:normAutofit fontScale="90000"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IDENTIFICACIÓN DE LAS CUESTIONES MATERIALES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9ECE49F6-4F55-66FC-EF9C-EFB822AEDA69}"/>
              </a:ext>
            </a:extLst>
          </p:cNvPr>
          <p:cNvSpPr/>
          <p:nvPr/>
        </p:nvSpPr>
        <p:spPr>
          <a:xfrm>
            <a:off x="3970637" y="1276444"/>
            <a:ext cx="4758432" cy="443930"/>
          </a:xfrm>
          <a:prstGeom prst="round2SameRect">
            <a:avLst>
              <a:gd name="adj1" fmla="val 36600"/>
              <a:gd name="adj2" fmla="val 0"/>
            </a:avLst>
          </a:prstGeom>
          <a:solidFill>
            <a:srgbClr val="F2B8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/>
              <a:t>Análisis de Materialidad de Impacto</a:t>
            </a:r>
          </a:p>
        </p:txBody>
      </p:sp>
      <p:pic>
        <p:nvPicPr>
          <p:cNvPr id="6" name="Imagen 5" descr="Tabla&#10;&#10;Descripción generada automáticamente">
            <a:extLst>
              <a:ext uri="{FF2B5EF4-FFF2-40B4-BE49-F238E27FC236}">
                <a16:creationId xmlns:a16="http://schemas.microsoft.com/office/drawing/2014/main" id="{30572A90-977E-D6DA-19B0-DAD179057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48" y="2622430"/>
            <a:ext cx="8229600" cy="259914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6C96E13-744E-BA04-1337-84333B3BBB74}"/>
              </a:ext>
            </a:extLst>
          </p:cNvPr>
          <p:cNvSpPr txBox="1"/>
          <p:nvPr/>
        </p:nvSpPr>
        <p:spPr>
          <a:xfrm>
            <a:off x="748095" y="5484752"/>
            <a:ext cx="7349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u="sng" dirty="0"/>
              <a:t>Ejemplo</a:t>
            </a:r>
            <a:r>
              <a:rPr lang="es-ES" sz="2000" dirty="0"/>
              <a:t> de cómo se determinan, entre 4 impactos (en este caso negativos) reales, cuál de ellos son </a:t>
            </a:r>
            <a:r>
              <a:rPr lang="es-ES" sz="2000" b="1" dirty="0"/>
              <a:t>cuestiones materiales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081D06D-62A4-BEF0-CC69-9D559EA2D50E}"/>
              </a:ext>
            </a:extLst>
          </p:cNvPr>
          <p:cNvSpPr txBox="1"/>
          <p:nvPr/>
        </p:nvSpPr>
        <p:spPr>
          <a:xfrm>
            <a:off x="8729069" y="2490842"/>
            <a:ext cx="3054614" cy="2862322"/>
          </a:xfrm>
          <a:prstGeom prst="rect">
            <a:avLst/>
          </a:prstGeom>
          <a:noFill/>
          <a:ln w="50800">
            <a:solidFill>
              <a:srgbClr val="F2B8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El total se calcula como la suma de la escala, el alcance y la </a:t>
            </a:r>
            <a:r>
              <a:rPr lang="es-ES" sz="2000" dirty="0" err="1"/>
              <a:t>irremediabilidad</a:t>
            </a:r>
            <a:r>
              <a:rPr lang="es-ES" sz="2000" dirty="0"/>
              <a:t>. Se fija como </a:t>
            </a:r>
            <a:r>
              <a:rPr lang="es-ES" sz="2000" b="1" dirty="0"/>
              <a:t>valor umbral</a:t>
            </a:r>
            <a:r>
              <a:rPr lang="es-ES" sz="2000" dirty="0"/>
              <a:t> 8, de manera que aquellos impactos cuyo valor total sea igual o superior a 8, se consideran </a:t>
            </a:r>
            <a:r>
              <a:rPr lang="es-ES" sz="2000" b="1" dirty="0"/>
              <a:t>materiales</a:t>
            </a:r>
            <a:r>
              <a:rPr lang="es-E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87013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48" y="533807"/>
            <a:ext cx="9732498" cy="1325563"/>
          </a:xfrm>
        </p:spPr>
        <p:txBody>
          <a:bodyPr>
            <a:normAutofit fontScale="90000"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IDENTIFICACIÓN DE LAS CUESTIONES MATERIALES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9ECE49F6-4F55-66FC-EF9C-EFB822AEDA69}"/>
              </a:ext>
            </a:extLst>
          </p:cNvPr>
          <p:cNvSpPr/>
          <p:nvPr/>
        </p:nvSpPr>
        <p:spPr>
          <a:xfrm>
            <a:off x="3970637" y="1276444"/>
            <a:ext cx="4758432" cy="443930"/>
          </a:xfrm>
          <a:prstGeom prst="round2SameRect">
            <a:avLst>
              <a:gd name="adj1" fmla="val 366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/>
              <a:t>Análisis de Materialidad Financiera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3461B8B-5D12-4B36-AC43-669153420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79" y="3409746"/>
            <a:ext cx="1074780" cy="1325563"/>
          </a:xfrm>
          <a:prstGeom prst="rect">
            <a:avLst/>
          </a:prstGeom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51462C8-6D43-8B78-B94D-4F1BBAD87C2F}"/>
              </a:ext>
            </a:extLst>
          </p:cNvPr>
          <p:cNvSpPr/>
          <p:nvPr/>
        </p:nvSpPr>
        <p:spPr>
          <a:xfrm>
            <a:off x="2346389" y="3678572"/>
            <a:ext cx="2021067" cy="1056737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/>
              <a:t>Indicadores de actividad económica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A7F629A-1096-B426-ED4D-12C4195C62BC}"/>
              </a:ext>
            </a:extLst>
          </p:cNvPr>
          <p:cNvSpPr txBox="1"/>
          <p:nvPr/>
        </p:nvSpPr>
        <p:spPr>
          <a:xfrm>
            <a:off x="4986072" y="2794957"/>
            <a:ext cx="1811547" cy="400110"/>
          </a:xfrm>
          <a:prstGeom prst="rect">
            <a:avLst/>
          </a:prstGeom>
          <a:solidFill>
            <a:srgbClr val="CDEDC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Cualitativos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D4BCCF4-2379-2192-BDAA-40569532642D}"/>
              </a:ext>
            </a:extLst>
          </p:cNvPr>
          <p:cNvSpPr txBox="1"/>
          <p:nvPr/>
        </p:nvSpPr>
        <p:spPr>
          <a:xfrm>
            <a:off x="4935125" y="5218814"/>
            <a:ext cx="1811547" cy="400110"/>
          </a:xfrm>
          <a:prstGeom prst="rect">
            <a:avLst/>
          </a:prstGeom>
          <a:solidFill>
            <a:srgbClr val="CDEDC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Cuantitativos</a:t>
            </a:r>
          </a:p>
        </p:txBody>
      </p:sp>
      <p:sp>
        <p:nvSpPr>
          <p:cNvPr id="15" name="Abrir llave 14">
            <a:extLst>
              <a:ext uri="{FF2B5EF4-FFF2-40B4-BE49-F238E27FC236}">
                <a16:creationId xmlns:a16="http://schemas.microsoft.com/office/drawing/2014/main" id="{0FF1F23F-5D4C-E957-7CE6-650DCE8B30ED}"/>
              </a:ext>
            </a:extLst>
          </p:cNvPr>
          <p:cNvSpPr/>
          <p:nvPr/>
        </p:nvSpPr>
        <p:spPr>
          <a:xfrm>
            <a:off x="6797619" y="2171155"/>
            <a:ext cx="500332" cy="1641719"/>
          </a:xfrm>
          <a:prstGeom prst="leftBrace">
            <a:avLst>
              <a:gd name="adj1" fmla="val 42816"/>
              <a:gd name="adj2" fmla="val 50000"/>
            </a:avLst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236AC43-BBD1-16A3-7B31-3E4A284942A2}"/>
              </a:ext>
            </a:extLst>
          </p:cNvPr>
          <p:cNvSpPr txBox="1"/>
          <p:nvPr/>
        </p:nvSpPr>
        <p:spPr>
          <a:xfrm>
            <a:off x="7325688" y="2333292"/>
            <a:ext cx="38301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Reputación de la empresa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Fidelidad a la marca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Percepción para los inversores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Etc.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D4BEEF2-B73A-5744-6F2E-36B2185AC2C3}"/>
              </a:ext>
            </a:extLst>
          </p:cNvPr>
          <p:cNvSpPr txBox="1"/>
          <p:nvPr/>
        </p:nvSpPr>
        <p:spPr>
          <a:xfrm>
            <a:off x="7325688" y="4715234"/>
            <a:ext cx="38301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Impacto en los costes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En los ingresos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En el acceso al capital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Etc.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FB4E44F6-C0F6-8A9C-88C0-E682B4D7A70D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4367456" y="2995012"/>
            <a:ext cx="618616" cy="1211929"/>
          </a:xfrm>
          <a:prstGeom prst="line">
            <a:avLst/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48860D16-8EF0-F36A-45B3-1B190CC58EBD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4367456" y="4206941"/>
            <a:ext cx="567669" cy="1211928"/>
          </a:xfrm>
          <a:prstGeom prst="line">
            <a:avLst/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brir llave 2">
            <a:extLst>
              <a:ext uri="{FF2B5EF4-FFF2-40B4-BE49-F238E27FC236}">
                <a16:creationId xmlns:a16="http://schemas.microsoft.com/office/drawing/2014/main" id="{30BB6DA4-EBFD-D2F2-E1D6-B43CA14C17B2}"/>
              </a:ext>
            </a:extLst>
          </p:cNvPr>
          <p:cNvSpPr/>
          <p:nvPr/>
        </p:nvSpPr>
        <p:spPr>
          <a:xfrm>
            <a:off x="6797619" y="4572643"/>
            <a:ext cx="500332" cy="1641719"/>
          </a:xfrm>
          <a:prstGeom prst="leftBrace">
            <a:avLst>
              <a:gd name="adj1" fmla="val 42816"/>
              <a:gd name="adj2" fmla="val 50000"/>
            </a:avLst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12E680-154B-923B-D1AF-56F0619DC387}"/>
              </a:ext>
            </a:extLst>
          </p:cNvPr>
          <p:cNvSpPr txBox="1"/>
          <p:nvPr/>
        </p:nvSpPr>
        <p:spPr>
          <a:xfrm>
            <a:off x="256389" y="5774201"/>
            <a:ext cx="4263852" cy="92333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u="sng" dirty="0"/>
              <a:t>Nota</a:t>
            </a:r>
            <a:r>
              <a:rPr lang="es-ES" dirty="0"/>
              <a:t>: Hay que tener presente todo el marco regulatorio presente y en desarrollo que pueda tener un impacto financiero.</a:t>
            </a:r>
          </a:p>
        </p:txBody>
      </p:sp>
    </p:spTree>
    <p:extLst>
      <p:ext uri="{BB962C8B-B14F-4D97-AF65-F5344CB8AC3E}">
        <p14:creationId xmlns:p14="http://schemas.microsoft.com/office/powerpoint/2010/main" val="29020348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48" y="533807"/>
            <a:ext cx="9732498" cy="1325563"/>
          </a:xfrm>
        </p:spPr>
        <p:txBody>
          <a:bodyPr>
            <a:normAutofit fontScale="90000"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IDENTIFICACIÓN DE LAS CUESTIONES MATERIALES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813381" y="6463617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9ECE49F6-4F55-66FC-EF9C-EFB822AEDA69}"/>
              </a:ext>
            </a:extLst>
          </p:cNvPr>
          <p:cNvSpPr/>
          <p:nvPr/>
        </p:nvSpPr>
        <p:spPr>
          <a:xfrm>
            <a:off x="217132" y="1326322"/>
            <a:ext cx="4758432" cy="443930"/>
          </a:xfrm>
          <a:prstGeom prst="round2SameRect">
            <a:avLst>
              <a:gd name="adj1" fmla="val 366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/>
              <a:t>Análisis de Materialidad Financiera</a:t>
            </a:r>
          </a:p>
        </p:txBody>
      </p:sp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2EF036B4-87EE-414B-91DC-579136A2CB5F}"/>
              </a:ext>
            </a:extLst>
          </p:cNvPr>
          <p:cNvSpPr/>
          <p:nvPr/>
        </p:nvSpPr>
        <p:spPr>
          <a:xfrm>
            <a:off x="1354748" y="3669359"/>
            <a:ext cx="1848457" cy="877108"/>
          </a:xfrm>
          <a:prstGeom prst="round2DiagRect">
            <a:avLst/>
          </a:prstGeom>
          <a:solidFill>
            <a:srgbClr val="0070C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Tipos de Impactos</a:t>
            </a:r>
          </a:p>
        </p:txBody>
      </p:sp>
      <p:sp>
        <p:nvSpPr>
          <p:cNvPr id="11" name="Rectángulo: esquinas diagonales redondeadas 10">
            <a:extLst>
              <a:ext uri="{FF2B5EF4-FFF2-40B4-BE49-F238E27FC236}">
                <a16:creationId xmlns:a16="http://schemas.microsoft.com/office/drawing/2014/main" id="{203F59A7-E941-2374-DB72-5753C023A971}"/>
              </a:ext>
            </a:extLst>
          </p:cNvPr>
          <p:cNvSpPr/>
          <p:nvPr/>
        </p:nvSpPr>
        <p:spPr>
          <a:xfrm>
            <a:off x="624305" y="5496264"/>
            <a:ext cx="1357362" cy="531387"/>
          </a:xfrm>
          <a:prstGeom prst="round2DiagRect">
            <a:avLst/>
          </a:prstGeom>
          <a:solidFill>
            <a:srgbClr val="00924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Positivos</a:t>
            </a:r>
          </a:p>
        </p:txBody>
      </p:sp>
      <p:sp>
        <p:nvSpPr>
          <p:cNvPr id="12" name="Rectángulo: esquinas diagonales redondeadas 11">
            <a:extLst>
              <a:ext uri="{FF2B5EF4-FFF2-40B4-BE49-F238E27FC236}">
                <a16:creationId xmlns:a16="http://schemas.microsoft.com/office/drawing/2014/main" id="{EAA1A807-2EDC-14CA-A9DC-3C542B047458}"/>
              </a:ext>
            </a:extLst>
          </p:cNvPr>
          <p:cNvSpPr/>
          <p:nvPr/>
        </p:nvSpPr>
        <p:spPr>
          <a:xfrm>
            <a:off x="2576287" y="5496263"/>
            <a:ext cx="1357362" cy="531387"/>
          </a:xfrm>
          <a:prstGeom prst="round2DiagRect">
            <a:avLst/>
          </a:prstGeom>
          <a:solidFill>
            <a:srgbClr val="E3070C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Negativos</a:t>
            </a:r>
          </a:p>
        </p:txBody>
      </p:sp>
      <p:sp>
        <p:nvSpPr>
          <p:cNvPr id="13" name="Rectángulo: esquinas diagonales redondeadas 12">
            <a:extLst>
              <a:ext uri="{FF2B5EF4-FFF2-40B4-BE49-F238E27FC236}">
                <a16:creationId xmlns:a16="http://schemas.microsoft.com/office/drawing/2014/main" id="{592020A8-2ACE-5B29-C34D-27A19EFCE230}"/>
              </a:ext>
            </a:extLst>
          </p:cNvPr>
          <p:cNvSpPr/>
          <p:nvPr/>
        </p:nvSpPr>
        <p:spPr>
          <a:xfrm>
            <a:off x="5365315" y="1956018"/>
            <a:ext cx="1557682" cy="531387"/>
          </a:xfrm>
          <a:prstGeom prst="round2Diag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Ingresos</a:t>
            </a:r>
          </a:p>
        </p:txBody>
      </p:sp>
      <p:sp>
        <p:nvSpPr>
          <p:cNvPr id="14" name="Rectángulo: esquinas diagonales redondeadas 13">
            <a:extLst>
              <a:ext uri="{FF2B5EF4-FFF2-40B4-BE49-F238E27FC236}">
                <a16:creationId xmlns:a16="http://schemas.microsoft.com/office/drawing/2014/main" id="{A2E9BCA4-B1EB-1A47-30F1-F05D27EED09E}"/>
              </a:ext>
            </a:extLst>
          </p:cNvPr>
          <p:cNvSpPr/>
          <p:nvPr/>
        </p:nvSpPr>
        <p:spPr>
          <a:xfrm>
            <a:off x="8700091" y="3830651"/>
            <a:ext cx="2521850" cy="531387"/>
          </a:xfrm>
          <a:prstGeom prst="round2DiagRect">
            <a:avLst/>
          </a:prstGeom>
          <a:solidFill>
            <a:srgbClr val="0070C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Horizonte temporal</a:t>
            </a:r>
          </a:p>
        </p:txBody>
      </p:sp>
      <p:sp>
        <p:nvSpPr>
          <p:cNvPr id="15" name="Rectángulo: esquinas diagonales redondeadas 14">
            <a:extLst>
              <a:ext uri="{FF2B5EF4-FFF2-40B4-BE49-F238E27FC236}">
                <a16:creationId xmlns:a16="http://schemas.microsoft.com/office/drawing/2014/main" id="{7D099B88-8A89-BDDE-DE9E-0245698BC545}"/>
              </a:ext>
            </a:extLst>
          </p:cNvPr>
          <p:cNvSpPr/>
          <p:nvPr/>
        </p:nvSpPr>
        <p:spPr>
          <a:xfrm>
            <a:off x="8700091" y="2569105"/>
            <a:ext cx="2521850" cy="531387"/>
          </a:xfrm>
          <a:prstGeom prst="round2DiagRect">
            <a:avLst/>
          </a:prstGeom>
          <a:solidFill>
            <a:srgbClr val="0070C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Probabilidad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622B665-D9B6-1304-45F6-18894E20FC31}"/>
              </a:ext>
            </a:extLst>
          </p:cNvPr>
          <p:cNvCxnSpPr>
            <a:stCxn id="8" idx="0"/>
            <a:endCxn id="13" idx="2"/>
          </p:cNvCxnSpPr>
          <p:nvPr/>
        </p:nvCxnSpPr>
        <p:spPr>
          <a:xfrm flipV="1">
            <a:off x="3203205" y="2221712"/>
            <a:ext cx="2162110" cy="1886201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DB31F48-C1C0-0C87-461A-493168E52F7B}"/>
              </a:ext>
            </a:extLst>
          </p:cNvPr>
          <p:cNvCxnSpPr>
            <a:cxnSpLocks/>
            <a:stCxn id="8" idx="0"/>
            <a:endCxn id="30" idx="2"/>
          </p:cNvCxnSpPr>
          <p:nvPr/>
        </p:nvCxnSpPr>
        <p:spPr>
          <a:xfrm>
            <a:off x="3203205" y="4107913"/>
            <a:ext cx="2162110" cy="898171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F4D2F23-A416-E589-4852-7D8428882358}"/>
              </a:ext>
            </a:extLst>
          </p:cNvPr>
          <p:cNvCxnSpPr>
            <a:cxnSpLocks/>
            <a:stCxn id="8" idx="1"/>
            <a:endCxn id="11" idx="3"/>
          </p:cNvCxnSpPr>
          <p:nvPr/>
        </p:nvCxnSpPr>
        <p:spPr>
          <a:xfrm flipH="1">
            <a:off x="1302986" y="4546467"/>
            <a:ext cx="975991" cy="949797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: esquinas diagonales redondeadas 27">
            <a:extLst>
              <a:ext uri="{FF2B5EF4-FFF2-40B4-BE49-F238E27FC236}">
                <a16:creationId xmlns:a16="http://schemas.microsoft.com/office/drawing/2014/main" id="{ECCCC4FC-D5CB-384B-2A70-B5712F7D5BBB}"/>
              </a:ext>
            </a:extLst>
          </p:cNvPr>
          <p:cNvSpPr/>
          <p:nvPr/>
        </p:nvSpPr>
        <p:spPr>
          <a:xfrm>
            <a:off x="5365315" y="2884142"/>
            <a:ext cx="1557682" cy="531387"/>
          </a:xfrm>
          <a:prstGeom prst="round2Diag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Gastos</a:t>
            </a:r>
          </a:p>
        </p:txBody>
      </p:sp>
      <p:sp>
        <p:nvSpPr>
          <p:cNvPr id="29" name="Rectángulo: esquinas diagonales redondeadas 28">
            <a:extLst>
              <a:ext uri="{FF2B5EF4-FFF2-40B4-BE49-F238E27FC236}">
                <a16:creationId xmlns:a16="http://schemas.microsoft.com/office/drawing/2014/main" id="{0DBC3E95-C710-6529-EF77-F229C91A8680}"/>
              </a:ext>
            </a:extLst>
          </p:cNvPr>
          <p:cNvSpPr/>
          <p:nvPr/>
        </p:nvSpPr>
        <p:spPr>
          <a:xfrm>
            <a:off x="5365315" y="3812266"/>
            <a:ext cx="1557682" cy="531387"/>
          </a:xfrm>
          <a:prstGeom prst="round2Diag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Activos</a:t>
            </a:r>
          </a:p>
        </p:txBody>
      </p:sp>
      <p:sp>
        <p:nvSpPr>
          <p:cNvPr id="30" name="Rectángulo: esquinas diagonales redondeadas 29">
            <a:extLst>
              <a:ext uri="{FF2B5EF4-FFF2-40B4-BE49-F238E27FC236}">
                <a16:creationId xmlns:a16="http://schemas.microsoft.com/office/drawing/2014/main" id="{9E8692C5-FCBA-8CA1-5595-982D2A67FC5C}"/>
              </a:ext>
            </a:extLst>
          </p:cNvPr>
          <p:cNvSpPr/>
          <p:nvPr/>
        </p:nvSpPr>
        <p:spPr>
          <a:xfrm>
            <a:off x="5365315" y="4740390"/>
            <a:ext cx="1557682" cy="531387"/>
          </a:xfrm>
          <a:prstGeom prst="round2Diag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Pasivos</a:t>
            </a:r>
          </a:p>
        </p:txBody>
      </p:sp>
      <p:sp>
        <p:nvSpPr>
          <p:cNvPr id="31" name="Rectángulo: esquinas diagonales redondeadas 30">
            <a:extLst>
              <a:ext uri="{FF2B5EF4-FFF2-40B4-BE49-F238E27FC236}">
                <a16:creationId xmlns:a16="http://schemas.microsoft.com/office/drawing/2014/main" id="{EC2B6F2F-8687-2F2B-6424-7FF84C925C61}"/>
              </a:ext>
            </a:extLst>
          </p:cNvPr>
          <p:cNvSpPr/>
          <p:nvPr/>
        </p:nvSpPr>
        <p:spPr>
          <a:xfrm>
            <a:off x="5365315" y="5668515"/>
            <a:ext cx="1557682" cy="697777"/>
          </a:xfrm>
          <a:prstGeom prst="round2Diag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Valor de mercado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194D627E-0C5A-C120-1465-57E5880768D1}"/>
              </a:ext>
            </a:extLst>
          </p:cNvPr>
          <p:cNvCxnSpPr>
            <a:cxnSpLocks/>
            <a:stCxn id="8" idx="1"/>
            <a:endCxn id="12" idx="3"/>
          </p:cNvCxnSpPr>
          <p:nvPr/>
        </p:nvCxnSpPr>
        <p:spPr>
          <a:xfrm>
            <a:off x="2278977" y="4546467"/>
            <a:ext cx="975991" cy="949796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532101E2-BCB1-E119-9CF2-AEC3E9CAE601}"/>
              </a:ext>
            </a:extLst>
          </p:cNvPr>
          <p:cNvCxnSpPr>
            <a:cxnSpLocks/>
            <a:stCxn id="8" idx="0"/>
            <a:endCxn id="28" idx="2"/>
          </p:cNvCxnSpPr>
          <p:nvPr/>
        </p:nvCxnSpPr>
        <p:spPr>
          <a:xfrm flipV="1">
            <a:off x="3203205" y="3149836"/>
            <a:ext cx="2162110" cy="958077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4AA36106-A990-5CBD-5F37-F49A80D7F828}"/>
              </a:ext>
            </a:extLst>
          </p:cNvPr>
          <p:cNvCxnSpPr>
            <a:cxnSpLocks/>
            <a:stCxn id="8" idx="0"/>
            <a:endCxn id="29" idx="2"/>
          </p:cNvCxnSpPr>
          <p:nvPr/>
        </p:nvCxnSpPr>
        <p:spPr>
          <a:xfrm flipV="1">
            <a:off x="3203205" y="4077960"/>
            <a:ext cx="2162110" cy="29953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0A643292-146F-4158-D3A0-DB5700CE9073}"/>
              </a:ext>
            </a:extLst>
          </p:cNvPr>
          <p:cNvCxnSpPr>
            <a:cxnSpLocks/>
            <a:stCxn id="8" idx="0"/>
            <a:endCxn id="31" idx="2"/>
          </p:cNvCxnSpPr>
          <p:nvPr/>
        </p:nvCxnSpPr>
        <p:spPr>
          <a:xfrm>
            <a:off x="3203205" y="4107913"/>
            <a:ext cx="2162110" cy="1909491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ángulo: esquinas diagonales redondeadas 48">
            <a:extLst>
              <a:ext uri="{FF2B5EF4-FFF2-40B4-BE49-F238E27FC236}">
                <a16:creationId xmlns:a16="http://schemas.microsoft.com/office/drawing/2014/main" id="{CB42B365-CF34-5304-2BF1-846C009E4A46}"/>
              </a:ext>
            </a:extLst>
          </p:cNvPr>
          <p:cNvSpPr/>
          <p:nvPr/>
        </p:nvSpPr>
        <p:spPr>
          <a:xfrm>
            <a:off x="8700091" y="5223393"/>
            <a:ext cx="2521850" cy="531387"/>
          </a:xfrm>
          <a:prstGeom prst="round2DiagRect">
            <a:avLst/>
          </a:prstGeom>
          <a:solidFill>
            <a:srgbClr val="0070C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Grado control</a:t>
            </a:r>
          </a:p>
        </p:txBody>
      </p:sp>
      <p:sp>
        <p:nvSpPr>
          <p:cNvPr id="54" name="Abrir llave 53">
            <a:extLst>
              <a:ext uri="{FF2B5EF4-FFF2-40B4-BE49-F238E27FC236}">
                <a16:creationId xmlns:a16="http://schemas.microsoft.com/office/drawing/2014/main" id="{10C40BAB-9D53-263B-2A11-ED92A30CDFCB}"/>
              </a:ext>
            </a:extLst>
          </p:cNvPr>
          <p:cNvSpPr/>
          <p:nvPr/>
        </p:nvSpPr>
        <p:spPr>
          <a:xfrm flipH="1">
            <a:off x="7211691" y="1721346"/>
            <a:ext cx="500332" cy="4800221"/>
          </a:xfrm>
          <a:prstGeom prst="leftBrace">
            <a:avLst>
              <a:gd name="adj1" fmla="val 42816"/>
              <a:gd name="adj2" fmla="val 50000"/>
            </a:avLst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0F6CA7C9-B005-B111-8A3A-84BF387740EA}"/>
              </a:ext>
            </a:extLst>
          </p:cNvPr>
          <p:cNvCxnSpPr>
            <a:cxnSpLocks/>
            <a:stCxn id="54" idx="1"/>
            <a:endCxn id="15" idx="2"/>
          </p:cNvCxnSpPr>
          <p:nvPr/>
        </p:nvCxnSpPr>
        <p:spPr>
          <a:xfrm flipV="1">
            <a:off x="7712023" y="2834799"/>
            <a:ext cx="988068" cy="1286658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4C07DCB2-505F-7C6C-2962-43FC26AE8EEC}"/>
              </a:ext>
            </a:extLst>
          </p:cNvPr>
          <p:cNvCxnSpPr>
            <a:cxnSpLocks/>
            <a:stCxn id="54" idx="1"/>
            <a:endCxn id="14" idx="2"/>
          </p:cNvCxnSpPr>
          <p:nvPr/>
        </p:nvCxnSpPr>
        <p:spPr>
          <a:xfrm flipV="1">
            <a:off x="7712023" y="4096345"/>
            <a:ext cx="988068" cy="25112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E1DED32E-6B0B-2342-ED28-F8DB1CBA16DA}"/>
              </a:ext>
            </a:extLst>
          </p:cNvPr>
          <p:cNvCxnSpPr>
            <a:cxnSpLocks/>
            <a:stCxn id="54" idx="1"/>
            <a:endCxn id="49" idx="2"/>
          </p:cNvCxnSpPr>
          <p:nvPr/>
        </p:nvCxnSpPr>
        <p:spPr>
          <a:xfrm>
            <a:off x="7712023" y="4121457"/>
            <a:ext cx="988068" cy="1367630"/>
          </a:xfrm>
          <a:prstGeom prst="straightConnector1">
            <a:avLst/>
          </a:prstGeom>
          <a:ln w="508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>
            <a:extLst>
              <a:ext uri="{FF2B5EF4-FFF2-40B4-BE49-F238E27FC236}">
                <a16:creationId xmlns:a16="http://schemas.microsoft.com/office/drawing/2014/main" id="{D53BFC64-9B42-F525-9A47-EB780946CF8C}"/>
              </a:ext>
            </a:extLst>
          </p:cNvPr>
          <p:cNvSpPr txBox="1"/>
          <p:nvPr/>
        </p:nvSpPr>
        <p:spPr>
          <a:xfrm>
            <a:off x="217131" y="2221712"/>
            <a:ext cx="2359155" cy="646331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Ejemplo de indicadores (</a:t>
            </a:r>
            <a:r>
              <a:rPr lang="es-ES" dirty="0">
                <a:hlinkClick r:id="rId3"/>
              </a:rPr>
              <a:t>Estándar ISSB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40773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48" y="533807"/>
            <a:ext cx="9732498" cy="1325563"/>
          </a:xfrm>
        </p:spPr>
        <p:txBody>
          <a:bodyPr>
            <a:normAutofit fontScale="90000"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IDENTIFICACIÓN DE LAS CUESTIONES MATERIALES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9ECE49F6-4F55-66FC-EF9C-EFB822AEDA69}"/>
              </a:ext>
            </a:extLst>
          </p:cNvPr>
          <p:cNvSpPr/>
          <p:nvPr/>
        </p:nvSpPr>
        <p:spPr>
          <a:xfrm>
            <a:off x="3970637" y="1295494"/>
            <a:ext cx="4758432" cy="443930"/>
          </a:xfrm>
          <a:prstGeom prst="round2SameRect">
            <a:avLst>
              <a:gd name="adj1" fmla="val 366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/>
              <a:t>Análisis de Materialidad Financiera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DF57D97-EA5D-0868-83A7-0825569958AE}"/>
              </a:ext>
            </a:extLst>
          </p:cNvPr>
          <p:cNvSpPr txBox="1"/>
          <p:nvPr/>
        </p:nvSpPr>
        <p:spPr>
          <a:xfrm>
            <a:off x="325321" y="2260121"/>
            <a:ext cx="3470305" cy="1323439"/>
          </a:xfrm>
          <a:prstGeom prst="rect">
            <a:avLst/>
          </a:prstGeom>
          <a:noFill/>
          <a:ln w="101600" cmpd="tri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El proceso para determinar las cuestiones materiales desde el punto de vista financiero es análogo al anterior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98E4A17-674F-C6E9-8CEB-A418BBBDC649}"/>
              </a:ext>
            </a:extLst>
          </p:cNvPr>
          <p:cNvSpPr txBox="1"/>
          <p:nvPr/>
        </p:nvSpPr>
        <p:spPr>
          <a:xfrm>
            <a:off x="4255698" y="2260121"/>
            <a:ext cx="7435970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Para cada tema/subtema/</a:t>
            </a:r>
            <a:r>
              <a:rPr lang="es-ES" sz="2000" dirty="0" err="1"/>
              <a:t>subsubtema</a:t>
            </a:r>
            <a:r>
              <a:rPr lang="es-ES" sz="2000" dirty="0"/>
              <a:t> de la AR 16 la empresa realiza un análisis IRO desde el punto de vista financiero</a:t>
            </a:r>
          </a:p>
        </p:txBody>
      </p:sp>
      <p:sp>
        <p:nvSpPr>
          <p:cNvPr id="10" name="Flecha: doblada 9">
            <a:extLst>
              <a:ext uri="{FF2B5EF4-FFF2-40B4-BE49-F238E27FC236}">
                <a16:creationId xmlns:a16="http://schemas.microsoft.com/office/drawing/2014/main" id="{E47CFD25-25A9-A71B-C46D-11A997249180}"/>
              </a:ext>
            </a:extLst>
          </p:cNvPr>
          <p:cNvSpPr/>
          <p:nvPr/>
        </p:nvSpPr>
        <p:spPr>
          <a:xfrm flipV="1">
            <a:off x="4295958" y="3046763"/>
            <a:ext cx="1570007" cy="2306286"/>
          </a:xfrm>
          <a:prstGeom prst="bent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9" name="Abrir llave 18">
            <a:extLst>
              <a:ext uri="{FF2B5EF4-FFF2-40B4-BE49-F238E27FC236}">
                <a16:creationId xmlns:a16="http://schemas.microsoft.com/office/drawing/2014/main" id="{044F0BC9-E88A-39FC-9EF5-590CA7BBDABD}"/>
              </a:ext>
            </a:extLst>
          </p:cNvPr>
          <p:cNvSpPr/>
          <p:nvPr/>
        </p:nvSpPr>
        <p:spPr>
          <a:xfrm>
            <a:off x="5865965" y="3532877"/>
            <a:ext cx="500332" cy="2829464"/>
          </a:xfrm>
          <a:prstGeom prst="leftBrace">
            <a:avLst>
              <a:gd name="adj1" fmla="val 42816"/>
              <a:gd name="adj2" fmla="val 50000"/>
            </a:avLst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B17DAFB-409D-4B5F-384C-4A6F88638F5D}"/>
              </a:ext>
            </a:extLst>
          </p:cNvPr>
          <p:cNvSpPr txBox="1"/>
          <p:nvPr/>
        </p:nvSpPr>
        <p:spPr>
          <a:xfrm>
            <a:off x="6416452" y="3663643"/>
            <a:ext cx="5275216" cy="400110"/>
          </a:xfrm>
          <a:prstGeom prst="rect">
            <a:avLst/>
          </a:prstGeom>
          <a:solidFill>
            <a:srgbClr val="FCEEE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Se eligen indicadores cualitativos y cuantitativos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01AC46A-CB55-992A-729C-D6CF1250BCD6}"/>
              </a:ext>
            </a:extLst>
          </p:cNvPr>
          <p:cNvSpPr txBox="1"/>
          <p:nvPr/>
        </p:nvSpPr>
        <p:spPr>
          <a:xfrm>
            <a:off x="6416452" y="4673408"/>
            <a:ext cx="5275216" cy="400110"/>
          </a:xfrm>
          <a:prstGeom prst="rect">
            <a:avLst/>
          </a:prstGeom>
          <a:solidFill>
            <a:srgbClr val="FCEEE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Se definen escalas para valorar los cualitativos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C1C43F2-6A4C-3696-8F50-165DBBE944F1}"/>
              </a:ext>
            </a:extLst>
          </p:cNvPr>
          <p:cNvSpPr txBox="1"/>
          <p:nvPr/>
        </p:nvSpPr>
        <p:spPr>
          <a:xfrm>
            <a:off x="6416452" y="5683172"/>
            <a:ext cx="5275216" cy="400110"/>
          </a:xfrm>
          <a:prstGeom prst="rect">
            <a:avLst/>
          </a:prstGeom>
          <a:solidFill>
            <a:srgbClr val="FCEEE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Se fija un umbral para considerar el ítem material</a:t>
            </a:r>
          </a:p>
        </p:txBody>
      </p:sp>
      <p:sp>
        <p:nvSpPr>
          <p:cNvPr id="25" name="Flecha: hacia abajo 24">
            <a:extLst>
              <a:ext uri="{FF2B5EF4-FFF2-40B4-BE49-F238E27FC236}">
                <a16:creationId xmlns:a16="http://schemas.microsoft.com/office/drawing/2014/main" id="{4651F013-A029-28D4-0802-312A194DEFA6}"/>
              </a:ext>
            </a:extLst>
          </p:cNvPr>
          <p:cNvSpPr/>
          <p:nvPr/>
        </p:nvSpPr>
        <p:spPr>
          <a:xfrm>
            <a:off x="8847026" y="4107355"/>
            <a:ext cx="414068" cy="490267"/>
          </a:xfrm>
          <a:prstGeom prst="down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Flecha: hacia abajo 25">
            <a:extLst>
              <a:ext uri="{FF2B5EF4-FFF2-40B4-BE49-F238E27FC236}">
                <a16:creationId xmlns:a16="http://schemas.microsoft.com/office/drawing/2014/main" id="{AA91AE5D-6782-9410-5287-4DD082D53BA2}"/>
              </a:ext>
            </a:extLst>
          </p:cNvPr>
          <p:cNvSpPr/>
          <p:nvPr/>
        </p:nvSpPr>
        <p:spPr>
          <a:xfrm>
            <a:off x="8843350" y="5182755"/>
            <a:ext cx="414068" cy="490267"/>
          </a:xfrm>
          <a:prstGeom prst="down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29548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48" y="533807"/>
            <a:ext cx="9732498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MATRIZ DE DOBLE MATERIALIDAD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684C068-7D65-6088-10EA-B92B19B2CAE7}"/>
              </a:ext>
            </a:extLst>
          </p:cNvPr>
          <p:cNvSpPr txBox="1"/>
          <p:nvPr/>
        </p:nvSpPr>
        <p:spPr>
          <a:xfrm>
            <a:off x="8169843" y="2800953"/>
            <a:ext cx="3317862" cy="1938992"/>
          </a:xfrm>
          <a:prstGeom prst="rect">
            <a:avLst/>
          </a:prstGeom>
          <a:noFill/>
          <a:ln w="50800">
            <a:gradFill>
              <a:gsLst>
                <a:gs pos="0">
                  <a:srgbClr val="C00000"/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5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  <a:lin ang="5400000" scaled="1"/>
            </a:gra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Cada cuestión material ha recibido una puntuación de impacto y financiera. La representación cartesiana de esos dos valores es la </a:t>
            </a:r>
            <a:r>
              <a:rPr lang="es-ES" sz="2000" b="1" dirty="0"/>
              <a:t>Matriz de Doble Materialidad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D37FF70-7F95-3C01-AA56-CEB558BD4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8" y="1647387"/>
            <a:ext cx="7999285" cy="467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489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48" y="533807"/>
            <a:ext cx="9732498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MATRIZ DE DOBLE MATERIALIDAD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8F9AEC2-4F5B-927A-DAE5-308291C9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90" y="1803754"/>
            <a:ext cx="3723817" cy="3738196"/>
          </a:xfrm>
          <a:prstGeom prst="rect">
            <a:avLst/>
          </a:prstGeom>
        </p:spPr>
      </p:pic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1F211CA9-2685-EEAA-FEEB-0AAFB6F48841}"/>
              </a:ext>
            </a:extLst>
          </p:cNvPr>
          <p:cNvSpPr/>
          <p:nvPr/>
        </p:nvSpPr>
        <p:spPr>
          <a:xfrm rot="16200000">
            <a:off x="5007578" y="3752790"/>
            <a:ext cx="782216" cy="842237"/>
          </a:xfrm>
          <a:prstGeom prst="down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A88D985-3E32-0161-8D97-A7FFB419F280}"/>
              </a:ext>
            </a:extLst>
          </p:cNvPr>
          <p:cNvSpPr/>
          <p:nvPr/>
        </p:nvSpPr>
        <p:spPr>
          <a:xfrm>
            <a:off x="6527325" y="2805866"/>
            <a:ext cx="4169434" cy="2736084"/>
          </a:xfrm>
          <a:prstGeom prst="roundRect">
            <a:avLst/>
          </a:prstGeom>
          <a:solidFill>
            <a:srgbClr val="A8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Las cuestiones que figuran en el cuadrante superior derecho son las más relevantes y, por tanto, deben contemplarse para elaborar el </a:t>
            </a:r>
            <a:r>
              <a:rPr lang="es-ES" sz="2400" b="1" u="sng" dirty="0"/>
              <a:t>Plan de Sostenibilidad</a:t>
            </a:r>
          </a:p>
        </p:txBody>
      </p:sp>
    </p:spTree>
    <p:extLst>
      <p:ext uri="{BB962C8B-B14F-4D97-AF65-F5344CB8AC3E}">
        <p14:creationId xmlns:p14="http://schemas.microsoft.com/office/powerpoint/2010/main" val="5588358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PLAN DIRECTOR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2AD44D3-F550-C8E1-5E69-2DD10E3AE662}"/>
              </a:ext>
            </a:extLst>
          </p:cNvPr>
          <p:cNvSpPr txBox="1"/>
          <p:nvPr/>
        </p:nvSpPr>
        <p:spPr>
          <a:xfrm>
            <a:off x="4720319" y="6145007"/>
            <a:ext cx="275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FASE 4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73BC093-8E55-7E1C-59EF-81674418E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355" y="1389056"/>
            <a:ext cx="7573992" cy="476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57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PLAN DIRECTOR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24" name="Imagen 23" descr="Logotipo&#10;&#10;Descripción generada automáticamente">
            <a:extLst>
              <a:ext uri="{FF2B5EF4-FFF2-40B4-BE49-F238E27FC236}">
                <a16:creationId xmlns:a16="http://schemas.microsoft.com/office/drawing/2014/main" id="{BBDF978A-2431-3DF6-8112-5C2C053935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704" y="2299084"/>
            <a:ext cx="3191306" cy="3191306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8A7F61C5-0037-271A-6D2D-90B4E909C1E1}"/>
              </a:ext>
            </a:extLst>
          </p:cNvPr>
          <p:cNvSpPr txBox="1"/>
          <p:nvPr/>
        </p:nvSpPr>
        <p:spPr>
          <a:xfrm>
            <a:off x="4899803" y="2639684"/>
            <a:ext cx="533112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600" dirty="0"/>
              <a:t>El </a:t>
            </a:r>
            <a:r>
              <a:rPr lang="es-ES" sz="2600" b="1" dirty="0"/>
              <a:t>Plan Director </a:t>
            </a:r>
            <a:r>
              <a:rPr lang="es-ES" sz="2600" dirty="0"/>
              <a:t>es un documento que forma parte del Plan de Sostenibilidad donde se reflejan las acciones que se van a llevar a cabo en materia de sostenibilidad, con información detallada para su implementación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7D13893-B2A2-77EB-BEF3-D1950AFF836F}"/>
              </a:ext>
            </a:extLst>
          </p:cNvPr>
          <p:cNvSpPr/>
          <p:nvPr/>
        </p:nvSpPr>
        <p:spPr>
          <a:xfrm>
            <a:off x="1328468" y="2104845"/>
            <a:ext cx="9323682" cy="3576683"/>
          </a:xfrm>
          <a:prstGeom prst="rect">
            <a:avLst/>
          </a:prstGeom>
          <a:noFill/>
          <a:ln w="152400" cmpd="tri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8140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PLAN DIRECTOR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F7B6956A-208A-2A5C-5681-36AE3F39688E}"/>
              </a:ext>
            </a:extLst>
          </p:cNvPr>
          <p:cNvSpPr/>
          <p:nvPr/>
        </p:nvSpPr>
        <p:spPr>
          <a:xfrm>
            <a:off x="682923" y="2674185"/>
            <a:ext cx="3198962" cy="132556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Cuestiones Materiales más relevantes</a:t>
            </a:r>
          </a:p>
        </p:txBody>
      </p: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79BE6D2F-4D52-1CD2-B6D5-8FC5C2FDC618}"/>
              </a:ext>
            </a:extLst>
          </p:cNvPr>
          <p:cNvSpPr/>
          <p:nvPr/>
        </p:nvSpPr>
        <p:spPr>
          <a:xfrm rot="16200000">
            <a:off x="4368401" y="2915847"/>
            <a:ext cx="782216" cy="842237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B81AE04-BD2A-2D15-44F0-F77243C0F792}"/>
              </a:ext>
            </a:extLst>
          </p:cNvPr>
          <p:cNvSpPr/>
          <p:nvPr/>
        </p:nvSpPr>
        <p:spPr>
          <a:xfrm>
            <a:off x="5538156" y="2674185"/>
            <a:ext cx="1932317" cy="132556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Definir iniciativas 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D1340D9-78FC-47BF-287D-48CF8AE0C56D}"/>
              </a:ext>
            </a:extLst>
          </p:cNvPr>
          <p:cNvSpPr/>
          <p:nvPr/>
        </p:nvSpPr>
        <p:spPr>
          <a:xfrm>
            <a:off x="8357091" y="1638953"/>
            <a:ext cx="3198962" cy="1035232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Minimicen Impactos y/o Riesgos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B6745ED-C3B5-2B56-B4B5-421B6D7944D8}"/>
              </a:ext>
            </a:extLst>
          </p:cNvPr>
          <p:cNvSpPr/>
          <p:nvPr/>
        </p:nvSpPr>
        <p:spPr>
          <a:xfrm>
            <a:off x="8353797" y="3991693"/>
            <a:ext cx="3198962" cy="1035232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Aprovechen Oportunidades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28F721CC-4E94-A1E1-EFB0-52DADBC0B515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7470473" y="2156569"/>
            <a:ext cx="886618" cy="1180398"/>
          </a:xfrm>
          <a:prstGeom prst="line">
            <a:avLst/>
          </a:prstGeom>
          <a:ln w="508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8A9F8E0-D182-5C2F-0407-4AFB77DB33B9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7470473" y="3336967"/>
            <a:ext cx="883324" cy="1172342"/>
          </a:xfrm>
          <a:prstGeom prst="line">
            <a:avLst/>
          </a:prstGeom>
          <a:ln w="508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echa: doblada 17">
            <a:extLst>
              <a:ext uri="{FF2B5EF4-FFF2-40B4-BE49-F238E27FC236}">
                <a16:creationId xmlns:a16="http://schemas.microsoft.com/office/drawing/2014/main" id="{950B92A3-6E96-6430-2F12-8723791F6E9C}"/>
              </a:ext>
            </a:extLst>
          </p:cNvPr>
          <p:cNvSpPr/>
          <p:nvPr/>
        </p:nvSpPr>
        <p:spPr>
          <a:xfrm rot="16200000">
            <a:off x="704295" y="4140128"/>
            <a:ext cx="1570007" cy="1603393"/>
          </a:xfrm>
          <a:prstGeom prst="ben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9" name="Abrir llave 18">
            <a:extLst>
              <a:ext uri="{FF2B5EF4-FFF2-40B4-BE49-F238E27FC236}">
                <a16:creationId xmlns:a16="http://schemas.microsoft.com/office/drawing/2014/main" id="{0311CE2D-2ECA-19F7-05C2-BC175339448C}"/>
              </a:ext>
            </a:extLst>
          </p:cNvPr>
          <p:cNvSpPr/>
          <p:nvPr/>
        </p:nvSpPr>
        <p:spPr>
          <a:xfrm>
            <a:off x="2324457" y="4509309"/>
            <a:ext cx="500332" cy="1967121"/>
          </a:xfrm>
          <a:prstGeom prst="leftBrace">
            <a:avLst>
              <a:gd name="adj1" fmla="val 42816"/>
              <a:gd name="adj2" fmla="val 50000"/>
            </a:avLst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6AD7402-CF2D-4066-06F1-2F61C897B144}"/>
              </a:ext>
            </a:extLst>
          </p:cNvPr>
          <p:cNvSpPr txBox="1"/>
          <p:nvPr/>
        </p:nvSpPr>
        <p:spPr>
          <a:xfrm>
            <a:off x="2824789" y="4651476"/>
            <a:ext cx="4145354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Análisis doble materialidad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C6CE071-2A42-893C-A316-04D4236D9813}"/>
              </a:ext>
            </a:extLst>
          </p:cNvPr>
          <p:cNvSpPr txBox="1"/>
          <p:nvPr/>
        </p:nvSpPr>
        <p:spPr>
          <a:xfrm>
            <a:off x="2824789" y="5341247"/>
            <a:ext cx="4145354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Diagnóstico interno y/o externo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CD378E0-3AE6-EE19-410C-C98BD882A26E}"/>
              </a:ext>
            </a:extLst>
          </p:cNvPr>
          <p:cNvSpPr txBox="1"/>
          <p:nvPr/>
        </p:nvSpPr>
        <p:spPr>
          <a:xfrm>
            <a:off x="2824789" y="6031018"/>
            <a:ext cx="4145354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Pendientes de planes anteriores</a:t>
            </a:r>
          </a:p>
        </p:txBody>
      </p:sp>
    </p:spTree>
    <p:extLst>
      <p:ext uri="{BB962C8B-B14F-4D97-AF65-F5344CB8AC3E}">
        <p14:creationId xmlns:p14="http://schemas.microsoft.com/office/powerpoint/2010/main" val="31099629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PLAN DIRECTOR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11" name="Rectángulo: esquinas diagonales redondeadas 10">
            <a:extLst>
              <a:ext uri="{FF2B5EF4-FFF2-40B4-BE49-F238E27FC236}">
                <a16:creationId xmlns:a16="http://schemas.microsoft.com/office/drawing/2014/main" id="{BAB4DC5E-D7CF-8505-3A59-A5B05C13BD6E}"/>
              </a:ext>
            </a:extLst>
          </p:cNvPr>
          <p:cNvSpPr/>
          <p:nvPr/>
        </p:nvSpPr>
        <p:spPr>
          <a:xfrm>
            <a:off x="638821" y="1490158"/>
            <a:ext cx="1512533" cy="531387"/>
          </a:xfrm>
          <a:prstGeom prst="round2DiagRect">
            <a:avLst/>
          </a:prstGeom>
          <a:solidFill>
            <a:srgbClr val="00924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Ejemplo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70B859E-09E4-B175-083F-2E13675A149F}"/>
              </a:ext>
            </a:extLst>
          </p:cNvPr>
          <p:cNvSpPr/>
          <p:nvPr/>
        </p:nvSpPr>
        <p:spPr>
          <a:xfrm>
            <a:off x="1966821" y="2859651"/>
            <a:ext cx="1932317" cy="105242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Consumo de Agua</a:t>
            </a:r>
          </a:p>
        </p:txBody>
      </p:sp>
      <p:sp>
        <p:nvSpPr>
          <p:cNvPr id="14" name="Abrir llave 13">
            <a:extLst>
              <a:ext uri="{FF2B5EF4-FFF2-40B4-BE49-F238E27FC236}">
                <a16:creationId xmlns:a16="http://schemas.microsoft.com/office/drawing/2014/main" id="{E7E84F4F-25F2-5B10-FEE3-42C4BEF06E51}"/>
              </a:ext>
            </a:extLst>
          </p:cNvPr>
          <p:cNvSpPr/>
          <p:nvPr/>
        </p:nvSpPr>
        <p:spPr>
          <a:xfrm>
            <a:off x="4054420" y="1971130"/>
            <a:ext cx="500332" cy="2829464"/>
          </a:xfrm>
          <a:prstGeom prst="leftBrace">
            <a:avLst>
              <a:gd name="adj1" fmla="val 42816"/>
              <a:gd name="adj2" fmla="val 50000"/>
            </a:avLst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C611248-B2EC-4F36-E87E-7BA63BE2D57E}"/>
              </a:ext>
            </a:extLst>
          </p:cNvPr>
          <p:cNvSpPr txBox="1"/>
          <p:nvPr/>
        </p:nvSpPr>
        <p:spPr>
          <a:xfrm>
            <a:off x="4761780" y="2173851"/>
            <a:ext cx="5773953" cy="369332"/>
          </a:xfrm>
          <a:prstGeom prst="rect">
            <a:avLst/>
          </a:prstGeom>
          <a:noFill/>
          <a:ln w="50800">
            <a:solidFill>
              <a:srgbClr val="00B050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s-ES" dirty="0"/>
              <a:t>Reutilización y/o reciclaje de agua en el proceso productivo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8B84B81-16BB-CA24-235F-0E2ED3774113}"/>
              </a:ext>
            </a:extLst>
          </p:cNvPr>
          <p:cNvSpPr txBox="1"/>
          <p:nvPr/>
        </p:nvSpPr>
        <p:spPr>
          <a:xfrm>
            <a:off x="4761780" y="2915439"/>
            <a:ext cx="5773953" cy="369332"/>
          </a:xfrm>
          <a:prstGeom prst="rect">
            <a:avLst/>
          </a:prstGeom>
          <a:noFill/>
          <a:ln w="50800">
            <a:solidFill>
              <a:srgbClr val="00B050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s-ES" dirty="0"/>
              <a:t>Restauración y conservación de cuencas hidrográficas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CE06CEB-4F3D-0D66-CC41-57B7A4F7B26D}"/>
              </a:ext>
            </a:extLst>
          </p:cNvPr>
          <p:cNvSpPr txBox="1"/>
          <p:nvPr/>
        </p:nvSpPr>
        <p:spPr>
          <a:xfrm>
            <a:off x="4761780" y="3657027"/>
            <a:ext cx="5773953" cy="369332"/>
          </a:xfrm>
          <a:prstGeom prst="rect">
            <a:avLst/>
          </a:prstGeom>
          <a:noFill/>
          <a:ln w="50800">
            <a:solidFill>
              <a:srgbClr val="00B050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s-ES" dirty="0"/>
              <a:t>Medidas de ahorro y eficiencia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7DBC31F-2B56-94E2-0038-DDAEC8792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83" y="4026359"/>
            <a:ext cx="1371791" cy="1819529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D55B75A3-E627-543D-3105-98F41BEDC74C}"/>
              </a:ext>
            </a:extLst>
          </p:cNvPr>
          <p:cNvSpPr txBox="1"/>
          <p:nvPr/>
        </p:nvSpPr>
        <p:spPr>
          <a:xfrm>
            <a:off x="4761780" y="4398614"/>
            <a:ext cx="5773953" cy="369332"/>
          </a:xfrm>
          <a:prstGeom prst="rect">
            <a:avLst/>
          </a:prstGeom>
          <a:noFill/>
          <a:ln w="50800">
            <a:solidFill>
              <a:srgbClr val="00B050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s-ES" dirty="0"/>
              <a:t>Supresión de agentes contaminantes en los vertidos</a:t>
            </a:r>
          </a:p>
        </p:txBody>
      </p:sp>
      <p:sp>
        <p:nvSpPr>
          <p:cNvPr id="22" name="Flecha: hacia abajo 21">
            <a:extLst>
              <a:ext uri="{FF2B5EF4-FFF2-40B4-BE49-F238E27FC236}">
                <a16:creationId xmlns:a16="http://schemas.microsoft.com/office/drawing/2014/main" id="{1D0EF1AF-8F82-B8CC-3E04-886D3B734C2B}"/>
              </a:ext>
            </a:extLst>
          </p:cNvPr>
          <p:cNvSpPr/>
          <p:nvPr/>
        </p:nvSpPr>
        <p:spPr>
          <a:xfrm>
            <a:off x="7441722" y="4983539"/>
            <a:ext cx="414068" cy="490267"/>
          </a:xfrm>
          <a:prstGeom prst="downArrow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Rectángulo: esquinas diagonales redondeadas 22">
            <a:extLst>
              <a:ext uri="{FF2B5EF4-FFF2-40B4-BE49-F238E27FC236}">
                <a16:creationId xmlns:a16="http://schemas.microsoft.com/office/drawing/2014/main" id="{3965222E-5D91-AD5A-F5F9-1143298F0AF9}"/>
              </a:ext>
            </a:extLst>
          </p:cNvPr>
          <p:cNvSpPr/>
          <p:nvPr/>
        </p:nvSpPr>
        <p:spPr>
          <a:xfrm>
            <a:off x="4761780" y="5637529"/>
            <a:ext cx="5773953" cy="531387"/>
          </a:xfrm>
          <a:prstGeom prst="round2DiagRect">
            <a:avLst/>
          </a:prstGeom>
          <a:solidFill>
            <a:srgbClr val="00924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¿Cómo de factibles son estas medidas?</a:t>
            </a:r>
          </a:p>
        </p:txBody>
      </p:sp>
    </p:spTree>
    <p:extLst>
      <p:ext uri="{BB962C8B-B14F-4D97-AF65-F5344CB8AC3E}">
        <p14:creationId xmlns:p14="http://schemas.microsoft.com/office/powerpoint/2010/main" val="11415293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PLAN DIRECTOR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4664D6A-40A2-5397-43CF-4D47B39BB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468" y="1538038"/>
            <a:ext cx="7131595" cy="446482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ED66B57-5A52-07A1-B0F0-62B8E741469E}"/>
              </a:ext>
            </a:extLst>
          </p:cNvPr>
          <p:cNvSpPr txBox="1"/>
          <p:nvPr/>
        </p:nvSpPr>
        <p:spPr>
          <a:xfrm>
            <a:off x="370433" y="1359035"/>
            <a:ext cx="3908268" cy="1938992"/>
          </a:xfrm>
          <a:prstGeom prst="rect">
            <a:avLst/>
          </a:prstGeom>
          <a:solidFill>
            <a:srgbClr val="FFFFD9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Mediante una representación cartesiana de cada una de las medidas propuestas para cada cuestión material en función de su peso o impacto ASG o ESG y de su facilidad de implementación</a:t>
            </a:r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0CC872A5-E684-AE4B-6E75-3F295AF02D1F}"/>
              </a:ext>
            </a:extLst>
          </p:cNvPr>
          <p:cNvSpPr/>
          <p:nvPr/>
        </p:nvSpPr>
        <p:spPr>
          <a:xfrm>
            <a:off x="2117533" y="3425465"/>
            <a:ext cx="414068" cy="490267"/>
          </a:xfrm>
          <a:prstGeom prst="down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F08BFA58-12B5-B78F-9CA3-D0CAFE79C1D6}"/>
              </a:ext>
            </a:extLst>
          </p:cNvPr>
          <p:cNvSpPr/>
          <p:nvPr/>
        </p:nvSpPr>
        <p:spPr>
          <a:xfrm>
            <a:off x="625162" y="4026981"/>
            <a:ext cx="3398809" cy="1430261"/>
          </a:xfrm>
          <a:prstGeom prst="round2Diag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Permite priorizar las que son más factibles y al mismo tiempo tienen mayor repercusión</a:t>
            </a:r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676781CD-12A8-050D-D2BA-E433DA4C995E}"/>
              </a:ext>
            </a:extLst>
          </p:cNvPr>
          <p:cNvSpPr/>
          <p:nvPr/>
        </p:nvSpPr>
        <p:spPr>
          <a:xfrm>
            <a:off x="2117533" y="5592385"/>
            <a:ext cx="414068" cy="490267"/>
          </a:xfrm>
          <a:prstGeom prst="down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3E1B8E4-AEF4-A7F3-6213-5661699FD918}"/>
              </a:ext>
            </a:extLst>
          </p:cNvPr>
          <p:cNvSpPr txBox="1"/>
          <p:nvPr/>
        </p:nvSpPr>
        <p:spPr>
          <a:xfrm>
            <a:off x="370433" y="6046603"/>
            <a:ext cx="3908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ACTIVIDADES INCLUIDAS EN EL PLAN DIRECTOR</a:t>
            </a:r>
          </a:p>
        </p:txBody>
      </p:sp>
    </p:spTree>
    <p:extLst>
      <p:ext uri="{BB962C8B-B14F-4D97-AF65-F5344CB8AC3E}">
        <p14:creationId xmlns:p14="http://schemas.microsoft.com/office/powerpoint/2010/main" val="16583833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PLAN DIRECTOR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E9D523F-02BD-35AE-1940-A38BC4E73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09" y="1196588"/>
            <a:ext cx="7571127" cy="566472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8A50305-F3C2-3E78-EBF6-3268B8A41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210" y="2463010"/>
            <a:ext cx="3398869" cy="317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0789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PLAN DE COMUNICACIÓN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2AD44D3-F550-C8E1-5E69-2DD10E3AE662}"/>
              </a:ext>
            </a:extLst>
          </p:cNvPr>
          <p:cNvSpPr txBox="1"/>
          <p:nvPr/>
        </p:nvSpPr>
        <p:spPr>
          <a:xfrm>
            <a:off x="4720319" y="6145007"/>
            <a:ext cx="275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FASE 5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84FF9DA-649D-059E-4776-5F0B8F557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612" y="1411297"/>
            <a:ext cx="8711076" cy="432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015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PLAN DE COMUNICACIÓN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6" name="Imagen 5" descr="Imagen que contiene Forma&#10;&#10;Descripción generada automáticamente">
            <a:extLst>
              <a:ext uri="{FF2B5EF4-FFF2-40B4-BE49-F238E27FC236}">
                <a16:creationId xmlns:a16="http://schemas.microsoft.com/office/drawing/2014/main" id="{68A008E1-BF9F-085F-C2C5-62D9154C5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013" y="2294625"/>
            <a:ext cx="3425927" cy="342592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434FDB8-098D-D179-BBA2-149D8F7DC7C8}"/>
              </a:ext>
            </a:extLst>
          </p:cNvPr>
          <p:cNvSpPr txBox="1"/>
          <p:nvPr/>
        </p:nvSpPr>
        <p:spPr>
          <a:xfrm>
            <a:off x="4796285" y="2561038"/>
            <a:ext cx="619376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600" dirty="0"/>
              <a:t>El </a:t>
            </a:r>
            <a:r>
              <a:rPr lang="es-ES" sz="2600" b="1" dirty="0"/>
              <a:t>Plan de Comunicación </a:t>
            </a:r>
            <a:r>
              <a:rPr lang="es-ES" sz="2600" dirty="0"/>
              <a:t>es un documento que forma parte del Plan de Sostenibilidad donde se reflejan la forma en que se va a comunicar las acciones de sostenibilidad de la empresa, detallando medios y lugares de comunicación, grupos de interés a la que se dirige, responsables de comunicar, etc.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BD8AA5F-1E29-155C-0A3C-0F23113BBD26}"/>
              </a:ext>
            </a:extLst>
          </p:cNvPr>
          <p:cNvSpPr/>
          <p:nvPr/>
        </p:nvSpPr>
        <p:spPr>
          <a:xfrm>
            <a:off x="1235013" y="2294625"/>
            <a:ext cx="9755038" cy="3425927"/>
          </a:xfrm>
          <a:prstGeom prst="rect">
            <a:avLst/>
          </a:prstGeom>
          <a:noFill/>
          <a:ln w="101600">
            <a:solidFill>
              <a:srgbClr val="EF54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84067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PLAN DE COMUNICACIÓN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3" name="Pergamino: vertical 2">
            <a:extLst>
              <a:ext uri="{FF2B5EF4-FFF2-40B4-BE49-F238E27FC236}">
                <a16:creationId xmlns:a16="http://schemas.microsoft.com/office/drawing/2014/main" id="{6EEFFA91-755D-3507-66F7-8FEED66A5A10}"/>
              </a:ext>
            </a:extLst>
          </p:cNvPr>
          <p:cNvSpPr/>
          <p:nvPr/>
        </p:nvSpPr>
        <p:spPr>
          <a:xfrm>
            <a:off x="1466491" y="1328467"/>
            <a:ext cx="9202445" cy="5139705"/>
          </a:xfrm>
          <a:prstGeom prst="verticalScroll">
            <a:avLst/>
          </a:prstGeom>
          <a:solidFill>
            <a:srgbClr val="1390BD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u="sng" dirty="0"/>
              <a:t>PLAN DE COMUNICACIÓN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Designación del elemento comunicable.</a:t>
            </a:r>
            <a:endParaRPr lang="es-ES" sz="20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Grupo de interés al que se dirige.</a:t>
            </a:r>
            <a:endParaRPr lang="es-ES" sz="20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Objetivo general que se quiere conseguir con la comunicación.</a:t>
            </a:r>
            <a:endParaRPr lang="es-ES" sz="20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Objetivos específicos o qué se quiere comunicar.</a:t>
            </a:r>
            <a:endParaRPr lang="es-ES" sz="20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Detalles de la actividad.</a:t>
            </a:r>
            <a:endParaRPr lang="es-ES" sz="20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Mensajes principales.</a:t>
            </a:r>
            <a:endParaRPr lang="es-ES" sz="20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Responsables de comunicar y de realizar el seguimiento.</a:t>
            </a:r>
            <a:endParaRPr lang="es-ES" sz="20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Medio o canal empleado.</a:t>
            </a:r>
            <a:endParaRPr lang="es-ES" sz="20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Lugar de comunicación, físico o virtual.</a:t>
            </a:r>
            <a:endParaRPr lang="es-ES" sz="20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Duración de la comunicación.</a:t>
            </a:r>
            <a:endParaRPr lang="es-ES" sz="20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</a:pPr>
            <a:r>
              <a:rPr lang="es-ES_tradnl" sz="20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Si es puntual o periódica. En este último caso se indica la frecuencia.</a:t>
            </a:r>
            <a:endParaRPr lang="es-ES" sz="20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Recursos económicos y materiales para ejecutarla.</a:t>
            </a:r>
            <a:endParaRPr lang="es-ES" sz="2000" b="1" dirty="0"/>
          </a:p>
        </p:txBody>
      </p:sp>
    </p:spTree>
    <p:extLst>
      <p:ext uri="{BB962C8B-B14F-4D97-AF65-F5344CB8AC3E}">
        <p14:creationId xmlns:p14="http://schemas.microsoft.com/office/powerpoint/2010/main" val="24307816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21" name="Imagen 20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2228CA1A-BC4F-8C9D-1AD3-F35ED3E26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9F474EC-0257-6438-C082-1992833519BA}"/>
              </a:ext>
            </a:extLst>
          </p:cNvPr>
          <p:cNvSpPr txBox="1">
            <a:spLocks/>
          </p:cNvSpPr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58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5.3. ESTRATEGIAS DE SEGUIMIENTO Y MEJORA CONTINUA</a:t>
            </a:r>
            <a:br>
              <a:rPr lang="es-ES" b="1" kern="0" dirty="0">
                <a:solidFill>
                  <a:srgbClr val="2F5496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5AA9B4AD-B159-A05A-7923-66BA64CDA3FA}"/>
              </a:ext>
            </a:extLst>
          </p:cNvPr>
          <p:cNvSpPr txBox="1">
            <a:spLocks/>
          </p:cNvSpPr>
          <p:nvPr/>
        </p:nvSpPr>
        <p:spPr>
          <a:xfrm>
            <a:off x="7433263" y="6452911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</p:spTree>
    <p:extLst>
      <p:ext uri="{BB962C8B-B14F-4D97-AF65-F5344CB8AC3E}">
        <p14:creationId xmlns:p14="http://schemas.microsoft.com/office/powerpoint/2010/main" val="26832562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SEGUIMIENTO Y MEJORA CONTINUA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6" name="Pergamino: vertical 5">
            <a:extLst>
              <a:ext uri="{FF2B5EF4-FFF2-40B4-BE49-F238E27FC236}">
                <a16:creationId xmlns:a16="http://schemas.microsoft.com/office/drawing/2014/main" id="{DD93E5D5-13E1-6D24-1BE5-B2C97A0F8EAF}"/>
              </a:ext>
            </a:extLst>
          </p:cNvPr>
          <p:cNvSpPr/>
          <p:nvPr/>
        </p:nvSpPr>
        <p:spPr>
          <a:xfrm>
            <a:off x="417723" y="2970697"/>
            <a:ext cx="2518913" cy="1587260"/>
          </a:xfrm>
          <a:prstGeom prst="verticalScroll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PLAN DE SOSTENIBILIDAD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884A79-DAEC-AE16-51CA-42BA27593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543" y="2428934"/>
            <a:ext cx="1390165" cy="1242821"/>
          </a:xfrm>
          <a:prstGeom prst="rect">
            <a:avLst/>
          </a:prstGeom>
        </p:spPr>
      </p:pic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FD33C51B-DF4D-34FE-F8B1-57857997272D}"/>
              </a:ext>
            </a:extLst>
          </p:cNvPr>
          <p:cNvSpPr/>
          <p:nvPr/>
        </p:nvSpPr>
        <p:spPr>
          <a:xfrm>
            <a:off x="2889659" y="3461659"/>
            <a:ext cx="1906626" cy="650078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B6B9CC-D72C-6755-2C04-9A5F04730481}"/>
              </a:ext>
            </a:extLst>
          </p:cNvPr>
          <p:cNvSpPr txBox="1"/>
          <p:nvPr/>
        </p:nvSpPr>
        <p:spPr>
          <a:xfrm>
            <a:off x="2784802" y="3986176"/>
            <a:ext cx="185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Seguimiento</a:t>
            </a:r>
          </a:p>
        </p:txBody>
      </p:sp>
      <p:sp>
        <p:nvSpPr>
          <p:cNvPr id="12" name="Rectángulo: esquinas diagonales redondeadas 11">
            <a:extLst>
              <a:ext uri="{FF2B5EF4-FFF2-40B4-BE49-F238E27FC236}">
                <a16:creationId xmlns:a16="http://schemas.microsoft.com/office/drawing/2014/main" id="{F4A8F310-B783-0156-98EA-5E685DA121EE}"/>
              </a:ext>
            </a:extLst>
          </p:cNvPr>
          <p:cNvSpPr/>
          <p:nvPr/>
        </p:nvSpPr>
        <p:spPr>
          <a:xfrm>
            <a:off x="5106832" y="2260121"/>
            <a:ext cx="2122098" cy="569343"/>
          </a:xfrm>
          <a:prstGeom prst="round2Diag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LOGROS</a:t>
            </a:r>
          </a:p>
        </p:txBody>
      </p:sp>
      <p:sp>
        <p:nvSpPr>
          <p:cNvPr id="13" name="Rectángulo: esquinas diagonales redondeadas 12">
            <a:extLst>
              <a:ext uri="{FF2B5EF4-FFF2-40B4-BE49-F238E27FC236}">
                <a16:creationId xmlns:a16="http://schemas.microsoft.com/office/drawing/2014/main" id="{61788DD1-3B3B-B2C0-3B6C-74EA73643984}"/>
              </a:ext>
            </a:extLst>
          </p:cNvPr>
          <p:cNvSpPr/>
          <p:nvPr/>
        </p:nvSpPr>
        <p:spPr>
          <a:xfrm>
            <a:off x="5106832" y="4743932"/>
            <a:ext cx="2122098" cy="569343"/>
          </a:xfrm>
          <a:prstGeom prst="round2Diag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DESVIACIONES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96C1A83C-D50E-9951-14FF-23D127B3DEB1}"/>
              </a:ext>
            </a:extLst>
          </p:cNvPr>
          <p:cNvSpPr/>
          <p:nvPr/>
        </p:nvSpPr>
        <p:spPr>
          <a:xfrm>
            <a:off x="7443901" y="3462431"/>
            <a:ext cx="1906626" cy="650078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: esquinas diagonales redondeadas 15">
            <a:extLst>
              <a:ext uri="{FF2B5EF4-FFF2-40B4-BE49-F238E27FC236}">
                <a16:creationId xmlns:a16="http://schemas.microsoft.com/office/drawing/2014/main" id="{AA0A690D-071F-3A00-26BE-9A21E2053C74}"/>
              </a:ext>
            </a:extLst>
          </p:cNvPr>
          <p:cNvSpPr/>
          <p:nvPr/>
        </p:nvSpPr>
        <p:spPr>
          <a:xfrm>
            <a:off x="9557563" y="2260120"/>
            <a:ext cx="2122098" cy="569343"/>
          </a:xfrm>
          <a:prstGeom prst="round2Diag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CORRECCIONES</a:t>
            </a:r>
          </a:p>
        </p:txBody>
      </p:sp>
      <p:sp>
        <p:nvSpPr>
          <p:cNvPr id="17" name="Rectángulo: esquinas diagonales redondeadas 16">
            <a:extLst>
              <a:ext uri="{FF2B5EF4-FFF2-40B4-BE49-F238E27FC236}">
                <a16:creationId xmlns:a16="http://schemas.microsoft.com/office/drawing/2014/main" id="{E425AE65-07FE-F499-9A63-E6E9CF469861}"/>
              </a:ext>
            </a:extLst>
          </p:cNvPr>
          <p:cNvSpPr/>
          <p:nvPr/>
        </p:nvSpPr>
        <p:spPr>
          <a:xfrm>
            <a:off x="9557563" y="4749151"/>
            <a:ext cx="2122098" cy="569343"/>
          </a:xfrm>
          <a:prstGeom prst="round2Diag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MEJORAS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BE90771-743A-AE28-CACA-4DAFF5C0F184}"/>
              </a:ext>
            </a:extLst>
          </p:cNvPr>
          <p:cNvSpPr txBox="1"/>
          <p:nvPr/>
        </p:nvSpPr>
        <p:spPr>
          <a:xfrm>
            <a:off x="7399701" y="3986176"/>
            <a:ext cx="185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Implementar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A90F835-C51A-8C29-CE00-8CEB52627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212" y="2354866"/>
            <a:ext cx="1143117" cy="1240542"/>
          </a:xfrm>
          <a:prstGeom prst="rect">
            <a:avLst/>
          </a:prstGeom>
        </p:spPr>
      </p:pic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1340949B-6EC8-E182-09F7-686FE8FC0D64}"/>
              </a:ext>
            </a:extLst>
          </p:cNvPr>
          <p:cNvCxnSpPr>
            <a:stCxn id="10" idx="3"/>
            <a:endCxn id="12" idx="2"/>
          </p:cNvCxnSpPr>
          <p:nvPr/>
        </p:nvCxnSpPr>
        <p:spPr>
          <a:xfrm flipV="1">
            <a:off x="4796285" y="2544793"/>
            <a:ext cx="310547" cy="1241905"/>
          </a:xfrm>
          <a:prstGeom prst="line">
            <a:avLst/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B1AC0A9-FB59-CE9C-D35C-585BA4221C69}"/>
              </a:ext>
            </a:extLst>
          </p:cNvPr>
          <p:cNvCxnSpPr>
            <a:cxnSpLocks/>
            <a:stCxn id="10" idx="3"/>
            <a:endCxn id="13" idx="2"/>
          </p:cNvCxnSpPr>
          <p:nvPr/>
        </p:nvCxnSpPr>
        <p:spPr>
          <a:xfrm>
            <a:off x="4796285" y="3786698"/>
            <a:ext cx="310547" cy="1241906"/>
          </a:xfrm>
          <a:prstGeom prst="line">
            <a:avLst/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4E6EB22C-5224-6214-DA66-A27349134E55}"/>
              </a:ext>
            </a:extLst>
          </p:cNvPr>
          <p:cNvCxnSpPr>
            <a:cxnSpLocks/>
            <a:stCxn id="15" idx="3"/>
            <a:endCxn id="16" idx="2"/>
          </p:cNvCxnSpPr>
          <p:nvPr/>
        </p:nvCxnSpPr>
        <p:spPr>
          <a:xfrm flipV="1">
            <a:off x="9350527" y="2544792"/>
            <a:ext cx="207036" cy="1242678"/>
          </a:xfrm>
          <a:prstGeom prst="line">
            <a:avLst/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50ADF632-63C9-106A-52DC-B21DFB515851}"/>
              </a:ext>
            </a:extLst>
          </p:cNvPr>
          <p:cNvCxnSpPr>
            <a:cxnSpLocks/>
            <a:stCxn id="15" idx="3"/>
            <a:endCxn id="17" idx="2"/>
          </p:cNvCxnSpPr>
          <p:nvPr/>
        </p:nvCxnSpPr>
        <p:spPr>
          <a:xfrm>
            <a:off x="9350527" y="3787470"/>
            <a:ext cx="207036" cy="1246353"/>
          </a:xfrm>
          <a:prstGeom prst="line">
            <a:avLst/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7656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INDICADORES DE DESEMPEÑO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3" name="Rectángulo: esquinas diagonales redondeadas 2">
            <a:extLst>
              <a:ext uri="{FF2B5EF4-FFF2-40B4-BE49-F238E27FC236}">
                <a16:creationId xmlns:a16="http://schemas.microsoft.com/office/drawing/2014/main" id="{37B7D53D-61E9-BB57-B42B-57E063F02C6D}"/>
              </a:ext>
            </a:extLst>
          </p:cNvPr>
          <p:cNvSpPr/>
          <p:nvPr/>
        </p:nvSpPr>
        <p:spPr>
          <a:xfrm>
            <a:off x="1449236" y="3184931"/>
            <a:ext cx="2553419" cy="879894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INDICADORES DE DESEMPEÑO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DB16455-7E30-B43B-E254-0A7C5EA5CD74}"/>
              </a:ext>
            </a:extLst>
          </p:cNvPr>
          <p:cNvSpPr txBox="1"/>
          <p:nvPr/>
        </p:nvSpPr>
        <p:spPr>
          <a:xfrm>
            <a:off x="1018385" y="4692977"/>
            <a:ext cx="3433313" cy="1631216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_tradnl" sz="2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También denominados </a:t>
            </a:r>
            <a:r>
              <a:rPr lang="es-ES_tradnl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KPI </a:t>
            </a:r>
            <a:r>
              <a:rPr lang="es-ES_trad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_tradnl" sz="2000" i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s-ES_tradnl" sz="20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Performance </a:t>
            </a:r>
            <a:r>
              <a:rPr lang="es-ES_tradnl" sz="2000" i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Indicator</a:t>
            </a:r>
            <a:r>
              <a:rPr lang="es-ES_trad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Son métricas que permitan conocer el grado de consecución de un objetivo</a:t>
            </a:r>
            <a:endParaRPr lang="es-ES" sz="2000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C2358D84-C012-D1F4-B81C-9A0CBC6994EA}"/>
              </a:ext>
            </a:extLst>
          </p:cNvPr>
          <p:cNvCxnSpPr>
            <a:stCxn id="3" idx="1"/>
            <a:endCxn id="8" idx="0"/>
          </p:cNvCxnSpPr>
          <p:nvPr/>
        </p:nvCxnSpPr>
        <p:spPr>
          <a:xfrm>
            <a:off x="2725946" y="4064825"/>
            <a:ext cx="9096" cy="628152"/>
          </a:xfrm>
          <a:prstGeom prst="line">
            <a:avLst/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brir llave 20">
            <a:extLst>
              <a:ext uri="{FF2B5EF4-FFF2-40B4-BE49-F238E27FC236}">
                <a16:creationId xmlns:a16="http://schemas.microsoft.com/office/drawing/2014/main" id="{C1342252-5497-0F0C-EED6-69EAA2AC24DB}"/>
              </a:ext>
            </a:extLst>
          </p:cNvPr>
          <p:cNvSpPr/>
          <p:nvPr/>
        </p:nvSpPr>
        <p:spPr>
          <a:xfrm>
            <a:off x="4451698" y="2210146"/>
            <a:ext cx="500332" cy="2829464"/>
          </a:xfrm>
          <a:prstGeom prst="leftBrace">
            <a:avLst>
              <a:gd name="adj1" fmla="val 42816"/>
              <a:gd name="adj2" fmla="val 50000"/>
            </a:avLst>
          </a:prstGeom>
          <a:ln w="50800">
            <a:solidFill>
              <a:schemeClr val="bg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BC6060E-09BB-3AA3-B21D-08DC88C0492A}"/>
              </a:ext>
            </a:extLst>
          </p:cNvPr>
          <p:cNvSpPr txBox="1"/>
          <p:nvPr/>
        </p:nvSpPr>
        <p:spPr>
          <a:xfrm>
            <a:off x="5111573" y="2409160"/>
            <a:ext cx="5934974" cy="24314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200" dirty="0"/>
              <a:t>Están relacionados con los objetivos fijados en el Plan director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200" dirty="0"/>
              <a:t>Son específicos de la magnitud que quieren medir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200" dirty="0"/>
              <a:t>Deben compararse con una referencia determinada (se expresarían en %)</a:t>
            </a:r>
          </a:p>
        </p:txBody>
      </p:sp>
    </p:spTree>
    <p:extLst>
      <p:ext uri="{BB962C8B-B14F-4D97-AF65-F5344CB8AC3E}">
        <p14:creationId xmlns:p14="http://schemas.microsoft.com/office/powerpoint/2010/main" val="12048458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INDICADORES DE DESEMPEÑO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E87545E-6853-1D38-2784-06A43C8E99B3}"/>
              </a:ext>
            </a:extLst>
          </p:cNvPr>
          <p:cNvSpPr/>
          <p:nvPr/>
        </p:nvSpPr>
        <p:spPr>
          <a:xfrm>
            <a:off x="838200" y="3293842"/>
            <a:ext cx="2432649" cy="94890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TIPOS DE KPI</a:t>
            </a:r>
          </a:p>
        </p:txBody>
      </p:sp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E76A42E6-0D0F-5AE7-6BD6-B0B34DBAE927}"/>
              </a:ext>
            </a:extLst>
          </p:cNvPr>
          <p:cNvSpPr/>
          <p:nvPr/>
        </p:nvSpPr>
        <p:spPr>
          <a:xfrm>
            <a:off x="4356736" y="1937060"/>
            <a:ext cx="1691817" cy="531387"/>
          </a:xfrm>
          <a:prstGeom prst="round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Estratégicos </a:t>
            </a:r>
          </a:p>
        </p:txBody>
      </p:sp>
      <p:sp>
        <p:nvSpPr>
          <p:cNvPr id="10" name="Rectángulo: esquinas diagonales redondeadas 9">
            <a:extLst>
              <a:ext uri="{FF2B5EF4-FFF2-40B4-BE49-F238E27FC236}">
                <a16:creationId xmlns:a16="http://schemas.microsoft.com/office/drawing/2014/main" id="{F70F9427-8AA5-22CB-7337-4ED96A6F93E2}"/>
              </a:ext>
            </a:extLst>
          </p:cNvPr>
          <p:cNvSpPr/>
          <p:nvPr/>
        </p:nvSpPr>
        <p:spPr>
          <a:xfrm>
            <a:off x="4356736" y="3504191"/>
            <a:ext cx="1691817" cy="531387"/>
          </a:xfrm>
          <a:prstGeom prst="round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Tácticos </a:t>
            </a:r>
          </a:p>
        </p:txBody>
      </p:sp>
      <p:sp>
        <p:nvSpPr>
          <p:cNvPr id="11" name="Rectángulo: esquinas diagonales redondeadas 10">
            <a:extLst>
              <a:ext uri="{FF2B5EF4-FFF2-40B4-BE49-F238E27FC236}">
                <a16:creationId xmlns:a16="http://schemas.microsoft.com/office/drawing/2014/main" id="{344125F9-9C35-BDFE-E3E3-E68722B76DCD}"/>
              </a:ext>
            </a:extLst>
          </p:cNvPr>
          <p:cNvSpPr/>
          <p:nvPr/>
        </p:nvSpPr>
        <p:spPr>
          <a:xfrm>
            <a:off x="4356736" y="5105828"/>
            <a:ext cx="1691817" cy="531387"/>
          </a:xfrm>
          <a:prstGeom prst="round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Operativos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BDD39AD-C3D7-5799-0152-FA4E3A20123C}"/>
              </a:ext>
            </a:extLst>
          </p:cNvPr>
          <p:cNvSpPr txBox="1"/>
          <p:nvPr/>
        </p:nvSpPr>
        <p:spPr>
          <a:xfrm>
            <a:off x="7010121" y="1741088"/>
            <a:ext cx="4244196" cy="923330"/>
          </a:xfrm>
          <a:prstGeom prst="rect">
            <a:avLst/>
          </a:prstGeom>
          <a:noFill/>
          <a:ln w="508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_tradnl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Evalúan si se está cumpliendo con la misión y la visión del Plan Director y deben ser definidos por el gobierno corporativo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BBF504A-A33C-5301-A77B-BFCE4003AB30}"/>
              </a:ext>
            </a:extLst>
          </p:cNvPr>
          <p:cNvSpPr txBox="1"/>
          <p:nvPr/>
        </p:nvSpPr>
        <p:spPr>
          <a:xfrm>
            <a:off x="7010121" y="3308219"/>
            <a:ext cx="4244196" cy="923330"/>
          </a:xfrm>
          <a:prstGeom prst="rect">
            <a:avLst/>
          </a:prstGeom>
          <a:noFill/>
          <a:ln w="508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_tradnl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s-ES_tradnl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relacionan con los procesos y deben medir si están cumpliendo con sus objetivos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A55572D-5C79-E6D3-D573-F71D07465180}"/>
              </a:ext>
            </a:extLst>
          </p:cNvPr>
          <p:cNvSpPr txBox="1"/>
          <p:nvPr/>
        </p:nvSpPr>
        <p:spPr>
          <a:xfrm>
            <a:off x="4356736" y="2638772"/>
            <a:ext cx="1691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Largo Plazo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96AFDDE-3E02-79DA-B978-3B39B4952543}"/>
              </a:ext>
            </a:extLst>
          </p:cNvPr>
          <p:cNvSpPr txBox="1"/>
          <p:nvPr/>
        </p:nvSpPr>
        <p:spPr>
          <a:xfrm>
            <a:off x="4356735" y="4242748"/>
            <a:ext cx="1691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Medio Plazo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9569C2F-270D-19BE-BA21-797FB8DC9DEA}"/>
              </a:ext>
            </a:extLst>
          </p:cNvPr>
          <p:cNvSpPr txBox="1"/>
          <p:nvPr/>
        </p:nvSpPr>
        <p:spPr>
          <a:xfrm>
            <a:off x="4356734" y="5801164"/>
            <a:ext cx="1691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Corto Plazo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CF57F41-9161-E46D-3748-FA46FF368148}"/>
              </a:ext>
            </a:extLst>
          </p:cNvPr>
          <p:cNvSpPr txBox="1"/>
          <p:nvPr/>
        </p:nvSpPr>
        <p:spPr>
          <a:xfrm>
            <a:off x="7010121" y="4909856"/>
            <a:ext cx="4244196" cy="923330"/>
          </a:xfrm>
          <a:prstGeom prst="rect">
            <a:avLst/>
          </a:prstGeom>
          <a:noFill/>
          <a:ln w="508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_tradnl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s-ES_tradnl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rientan en las decisiones a nivel de operación o tareas concretas. Constituyen el último nivel y son más numerosos</a:t>
            </a:r>
            <a:endParaRPr lang="es-ES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998A292-30F7-5681-8FA1-BFD28FB28996}"/>
              </a:ext>
            </a:extLst>
          </p:cNvPr>
          <p:cNvCxnSpPr>
            <a:stCxn id="6" idx="3"/>
            <a:endCxn id="9" idx="2"/>
          </p:cNvCxnSpPr>
          <p:nvPr/>
        </p:nvCxnSpPr>
        <p:spPr>
          <a:xfrm flipV="1">
            <a:off x="3270849" y="2202754"/>
            <a:ext cx="1085887" cy="1565541"/>
          </a:xfrm>
          <a:prstGeom prst="straightConnector1">
            <a:avLst/>
          </a:prstGeom>
          <a:ln w="50800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9905307F-B1CD-E5E0-E1B2-8F776EEE1145}"/>
              </a:ext>
            </a:extLst>
          </p:cNvPr>
          <p:cNvCxnSpPr>
            <a:cxnSpLocks/>
            <a:stCxn id="6" idx="3"/>
            <a:endCxn id="10" idx="2"/>
          </p:cNvCxnSpPr>
          <p:nvPr/>
        </p:nvCxnSpPr>
        <p:spPr>
          <a:xfrm>
            <a:off x="3270849" y="3768295"/>
            <a:ext cx="1085887" cy="1590"/>
          </a:xfrm>
          <a:prstGeom prst="straightConnector1">
            <a:avLst/>
          </a:prstGeom>
          <a:ln w="50800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2234E404-166F-F269-0761-FE1A4F410390}"/>
              </a:ext>
            </a:extLst>
          </p:cNvPr>
          <p:cNvCxnSpPr>
            <a:cxnSpLocks/>
            <a:stCxn id="6" idx="3"/>
            <a:endCxn id="11" idx="2"/>
          </p:cNvCxnSpPr>
          <p:nvPr/>
        </p:nvCxnSpPr>
        <p:spPr>
          <a:xfrm>
            <a:off x="3270849" y="3768295"/>
            <a:ext cx="1085887" cy="1603227"/>
          </a:xfrm>
          <a:prstGeom prst="straightConnector1">
            <a:avLst/>
          </a:prstGeom>
          <a:ln w="50800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3C72607F-C86E-AEE3-D3D0-E74B120CA666}"/>
              </a:ext>
            </a:extLst>
          </p:cNvPr>
          <p:cNvCxnSpPr>
            <a:cxnSpLocks/>
            <a:stCxn id="9" idx="0"/>
            <a:endCxn id="12" idx="1"/>
          </p:cNvCxnSpPr>
          <p:nvPr/>
        </p:nvCxnSpPr>
        <p:spPr>
          <a:xfrm flipV="1">
            <a:off x="6048553" y="2202753"/>
            <a:ext cx="961568" cy="1"/>
          </a:xfrm>
          <a:prstGeom prst="straightConnector1">
            <a:avLst/>
          </a:prstGeom>
          <a:ln w="50800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4F39BDE9-0954-C246-5F05-B799A37D6A42}"/>
              </a:ext>
            </a:extLst>
          </p:cNvPr>
          <p:cNvCxnSpPr>
            <a:cxnSpLocks/>
          </p:cNvCxnSpPr>
          <p:nvPr/>
        </p:nvCxnSpPr>
        <p:spPr>
          <a:xfrm flipV="1">
            <a:off x="6048553" y="3752170"/>
            <a:ext cx="961568" cy="1"/>
          </a:xfrm>
          <a:prstGeom prst="straightConnector1">
            <a:avLst/>
          </a:prstGeom>
          <a:ln w="50800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199AAF94-9A61-F42B-E0EB-8F99D146FAFB}"/>
              </a:ext>
            </a:extLst>
          </p:cNvPr>
          <p:cNvCxnSpPr>
            <a:cxnSpLocks/>
          </p:cNvCxnSpPr>
          <p:nvPr/>
        </p:nvCxnSpPr>
        <p:spPr>
          <a:xfrm flipV="1">
            <a:off x="6048551" y="5371105"/>
            <a:ext cx="961568" cy="1"/>
          </a:xfrm>
          <a:prstGeom prst="straightConnector1">
            <a:avLst/>
          </a:prstGeom>
          <a:ln w="50800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AE478C4-09EA-B367-FC5F-07AA824F80DC}"/>
              </a:ext>
            </a:extLst>
          </p:cNvPr>
          <p:cNvSpPr txBox="1"/>
          <p:nvPr/>
        </p:nvSpPr>
        <p:spPr>
          <a:xfrm>
            <a:off x="456125" y="4763083"/>
            <a:ext cx="2976064" cy="1631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El número de indicadores empleados dependerá del nivel de ambición de la empresa. A más ambición, más indicadores</a:t>
            </a:r>
          </a:p>
        </p:txBody>
      </p:sp>
    </p:spTree>
    <p:extLst>
      <p:ext uri="{BB962C8B-B14F-4D97-AF65-F5344CB8AC3E}">
        <p14:creationId xmlns:p14="http://schemas.microsoft.com/office/powerpoint/2010/main" val="27182448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INDICADORES DE DESEMPEÑO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9" name="Imagen 8">
            <a:hlinkClick r:id="rId3"/>
            <a:extLst>
              <a:ext uri="{FF2B5EF4-FFF2-40B4-BE49-F238E27FC236}">
                <a16:creationId xmlns:a16="http://schemas.microsoft.com/office/drawing/2014/main" id="{2F56CCD9-4841-3149-3623-882AE0C35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72" y="1242006"/>
            <a:ext cx="7457428" cy="5353592"/>
          </a:xfrm>
          <a:prstGeom prst="rect">
            <a:avLst/>
          </a:prstGeom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FB8AA21-6DC5-5DAB-674B-C8D56EAB6A90}"/>
              </a:ext>
            </a:extLst>
          </p:cNvPr>
          <p:cNvSpPr/>
          <p:nvPr/>
        </p:nvSpPr>
        <p:spPr>
          <a:xfrm>
            <a:off x="8441164" y="2740862"/>
            <a:ext cx="3198962" cy="235588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Ejemplos de indicadores de desempeño del Anexo I del Reglamento Delegado 2022/1288</a:t>
            </a:r>
          </a:p>
        </p:txBody>
      </p:sp>
    </p:spTree>
    <p:extLst>
      <p:ext uri="{BB962C8B-B14F-4D97-AF65-F5344CB8AC3E}">
        <p14:creationId xmlns:p14="http://schemas.microsoft.com/office/powerpoint/2010/main" val="15709481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INDICADORES DE DESEMPEÑO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204AAB60-8F6D-842D-5C9A-1878DA7D00F8}"/>
              </a:ext>
            </a:extLst>
          </p:cNvPr>
          <p:cNvSpPr/>
          <p:nvPr/>
        </p:nvSpPr>
        <p:spPr>
          <a:xfrm>
            <a:off x="1638300" y="2171248"/>
            <a:ext cx="3198962" cy="132556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Información sobre indicadores en el Plan de Sostenibilidad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1D74318-ADEA-6C1E-3EB4-217CCB27C1C8}"/>
              </a:ext>
            </a:extLst>
          </p:cNvPr>
          <p:cNvSpPr/>
          <p:nvPr/>
        </p:nvSpPr>
        <p:spPr>
          <a:xfrm>
            <a:off x="5929892" y="2171248"/>
            <a:ext cx="4528558" cy="319840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ES_tradnl" sz="20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Nombre del indicador.</a:t>
            </a:r>
            <a:endParaRPr lang="es-ES" sz="20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ES_tradnl" sz="20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Descripción y su fórmula de cálculo.</a:t>
            </a:r>
            <a:endParaRPr lang="es-ES" sz="20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ES_tradnl" sz="20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Responsable/es de registrarlo.</a:t>
            </a:r>
            <a:endParaRPr lang="es-ES" sz="20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ES_tradnl" sz="20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Periodicidad de registro o cálculo.</a:t>
            </a:r>
            <a:endParaRPr lang="es-ES" sz="20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ES_tradnl" sz="20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Fuente de obtención de los datos.</a:t>
            </a:r>
            <a:endParaRPr lang="es-ES" sz="20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ES_tradnl" sz="20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Relación con el o los ODS pertinentes.</a:t>
            </a:r>
            <a:endParaRPr lang="es-ES" sz="20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0A0BA179-ED66-51B5-6030-CF9220BA3D73}"/>
              </a:ext>
            </a:extLst>
          </p:cNvPr>
          <p:cNvSpPr/>
          <p:nvPr/>
        </p:nvSpPr>
        <p:spPr>
          <a:xfrm>
            <a:off x="2176732" y="4386581"/>
            <a:ext cx="2122098" cy="983069"/>
          </a:xfrm>
          <a:prstGeom prst="round2Diag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Complejidad en la recogida de datos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1144347A-4EA6-9FAE-455E-85137155F750}"/>
              </a:ext>
            </a:extLst>
          </p:cNvPr>
          <p:cNvCxnSpPr>
            <a:stCxn id="3" idx="3"/>
          </p:cNvCxnSpPr>
          <p:nvPr/>
        </p:nvCxnSpPr>
        <p:spPr>
          <a:xfrm flipV="1">
            <a:off x="4837262" y="2834029"/>
            <a:ext cx="1092630" cy="1"/>
          </a:xfrm>
          <a:prstGeom prst="straightConnector1">
            <a:avLst/>
          </a:prstGeom>
          <a:ln w="635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05D6B65-2FF8-6580-E223-A20D0F8996D9}"/>
              </a:ext>
            </a:extLst>
          </p:cNvPr>
          <p:cNvCxnSpPr>
            <a:cxnSpLocks/>
            <a:stCxn id="3" idx="2"/>
            <a:endCxn id="8" idx="3"/>
          </p:cNvCxnSpPr>
          <p:nvPr/>
        </p:nvCxnSpPr>
        <p:spPr>
          <a:xfrm>
            <a:off x="3237781" y="3496811"/>
            <a:ext cx="0" cy="889770"/>
          </a:xfrm>
          <a:prstGeom prst="straightConnector1">
            <a:avLst/>
          </a:prstGeom>
          <a:ln w="635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7224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EVALUACIÓN DEL DESEMPEÑO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092424A-657A-B83D-EABA-E16BFD7D838C}"/>
              </a:ext>
            </a:extLst>
          </p:cNvPr>
          <p:cNvCxnSpPr>
            <a:cxnSpLocks/>
            <a:stCxn id="10" idx="0"/>
            <a:endCxn id="14" idx="1"/>
          </p:cNvCxnSpPr>
          <p:nvPr/>
        </p:nvCxnSpPr>
        <p:spPr>
          <a:xfrm>
            <a:off x="3790950" y="3611186"/>
            <a:ext cx="1172222" cy="904523"/>
          </a:xfrm>
          <a:prstGeom prst="straightConnector1">
            <a:avLst/>
          </a:prstGeom>
          <a:ln w="635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diagonales redondeadas 9">
            <a:extLst>
              <a:ext uri="{FF2B5EF4-FFF2-40B4-BE49-F238E27FC236}">
                <a16:creationId xmlns:a16="http://schemas.microsoft.com/office/drawing/2014/main" id="{A18024E6-89C4-F6DA-7E3B-CB34DC1133BF}"/>
              </a:ext>
            </a:extLst>
          </p:cNvPr>
          <p:cNvSpPr/>
          <p:nvPr/>
        </p:nvSpPr>
        <p:spPr>
          <a:xfrm>
            <a:off x="1143000" y="3119651"/>
            <a:ext cx="2647950" cy="983069"/>
          </a:xfrm>
          <a:prstGeom prst="round2DiagRect">
            <a:avLst>
              <a:gd name="adj1" fmla="val 37983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/>
              <a:t>EVALUACIÓN DEL DESEMPEÑO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2FA49DD-F644-7CFB-853B-EA9279177277}"/>
              </a:ext>
            </a:extLst>
          </p:cNvPr>
          <p:cNvSpPr/>
          <p:nvPr/>
        </p:nvSpPr>
        <p:spPr>
          <a:xfrm>
            <a:off x="4963172" y="4213119"/>
            <a:ext cx="1994908" cy="605179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/>
              <a:t>Progreso 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8BAC4EF-2C07-AE46-5A2C-886E5BB1983F}"/>
              </a:ext>
            </a:extLst>
          </p:cNvPr>
          <p:cNvSpPr/>
          <p:nvPr/>
        </p:nvSpPr>
        <p:spPr>
          <a:xfrm>
            <a:off x="4963172" y="2404073"/>
            <a:ext cx="1994908" cy="605179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/>
              <a:t>Desviaciones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94D16F60-3359-757F-F974-75813D414DAC}"/>
              </a:ext>
            </a:extLst>
          </p:cNvPr>
          <p:cNvCxnSpPr>
            <a:cxnSpLocks/>
            <a:stCxn id="10" idx="0"/>
            <a:endCxn id="17" idx="1"/>
          </p:cNvCxnSpPr>
          <p:nvPr/>
        </p:nvCxnSpPr>
        <p:spPr>
          <a:xfrm flipV="1">
            <a:off x="3790950" y="2706663"/>
            <a:ext cx="1172222" cy="904523"/>
          </a:xfrm>
          <a:prstGeom prst="straightConnector1">
            <a:avLst/>
          </a:prstGeom>
          <a:ln w="635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A43FC1E-868B-B296-C3FC-872AF5DCA8B8}"/>
              </a:ext>
            </a:extLst>
          </p:cNvPr>
          <p:cNvSpPr txBox="1"/>
          <p:nvPr/>
        </p:nvSpPr>
        <p:spPr>
          <a:xfrm>
            <a:off x="8754399" y="2482523"/>
            <a:ext cx="1994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u="sng" dirty="0"/>
              <a:t>CAUSAS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163DD7E-0001-D8EA-0E03-9043F6FB7224}"/>
              </a:ext>
            </a:extLst>
          </p:cNvPr>
          <p:cNvSpPr txBox="1"/>
          <p:nvPr/>
        </p:nvSpPr>
        <p:spPr>
          <a:xfrm>
            <a:off x="8130302" y="3066402"/>
            <a:ext cx="3243103" cy="2554545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ES_tradnl" sz="20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Las actividades no han producido los efectos esperados.</a:t>
            </a:r>
            <a:endParaRPr lang="es-ES" sz="20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ES_tradnl" sz="20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Los recursos desplegados no han sido.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ES_trad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han producido cambios en el contexto, ajenos a la empresa.</a:t>
            </a:r>
            <a:endParaRPr lang="es-ES" sz="2000" dirty="0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0319BFD-1A4B-2F45-DC34-56381F4F01FD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 flipV="1">
            <a:off x="6958080" y="2682578"/>
            <a:ext cx="1796319" cy="24085"/>
          </a:xfrm>
          <a:prstGeom prst="straightConnector1">
            <a:avLst/>
          </a:prstGeom>
          <a:ln w="63500">
            <a:solidFill>
              <a:schemeClr val="bg2">
                <a:lumMod val="2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9093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EVALUACIÓN DEL DESEMPEÑO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241FA9-2DA4-9ABB-D37F-4D0E44DCD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090" y="5241435"/>
            <a:ext cx="1176416" cy="1034435"/>
          </a:xfrm>
          <a:prstGeom prst="rect">
            <a:avLst/>
          </a:prstGeom>
        </p:spPr>
      </p:pic>
      <p:sp>
        <p:nvSpPr>
          <p:cNvPr id="6" name="Rectángulo: esquinas diagonales redondeadas 5">
            <a:extLst>
              <a:ext uri="{FF2B5EF4-FFF2-40B4-BE49-F238E27FC236}">
                <a16:creationId xmlns:a16="http://schemas.microsoft.com/office/drawing/2014/main" id="{5C3ACE88-1B92-4E87-14F2-930A949A5292}"/>
              </a:ext>
            </a:extLst>
          </p:cNvPr>
          <p:cNvSpPr/>
          <p:nvPr/>
        </p:nvSpPr>
        <p:spPr>
          <a:xfrm>
            <a:off x="1943100" y="4041694"/>
            <a:ext cx="2647950" cy="983069"/>
          </a:xfrm>
          <a:prstGeom prst="round2DiagRect">
            <a:avLst>
              <a:gd name="adj1" fmla="val 37983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/>
              <a:t>INFORMACIÓN RECABADA</a:t>
            </a:r>
          </a:p>
        </p:txBody>
      </p:sp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537ABD18-ADB7-CDC1-5935-20CE435DB0B5}"/>
              </a:ext>
            </a:extLst>
          </p:cNvPr>
          <p:cNvSpPr/>
          <p:nvPr/>
        </p:nvSpPr>
        <p:spPr>
          <a:xfrm>
            <a:off x="5503323" y="4041694"/>
            <a:ext cx="2647950" cy="983069"/>
          </a:xfrm>
          <a:prstGeom prst="round2DiagRect">
            <a:avLst>
              <a:gd name="adj1" fmla="val 37983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/>
              <a:t>ANÁLISIS POR LA ALTA DIRECCIÓN</a:t>
            </a:r>
          </a:p>
        </p:txBody>
      </p:sp>
      <p:sp>
        <p:nvSpPr>
          <p:cNvPr id="11" name="Rectángulo: esquinas diagonales redondeadas 10">
            <a:extLst>
              <a:ext uri="{FF2B5EF4-FFF2-40B4-BE49-F238E27FC236}">
                <a16:creationId xmlns:a16="http://schemas.microsoft.com/office/drawing/2014/main" id="{9C2BF325-5BA9-172E-4E04-BE1FD2E5BD64}"/>
              </a:ext>
            </a:extLst>
          </p:cNvPr>
          <p:cNvSpPr/>
          <p:nvPr/>
        </p:nvSpPr>
        <p:spPr>
          <a:xfrm>
            <a:off x="9063547" y="4041694"/>
            <a:ext cx="2647950" cy="983069"/>
          </a:xfrm>
          <a:prstGeom prst="round2DiagRect">
            <a:avLst>
              <a:gd name="adj1" fmla="val 37983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b="1" dirty="0"/>
              <a:t>EXTRACCIÓN DE CONCLUSIONES</a:t>
            </a:r>
          </a:p>
        </p:txBody>
      </p:sp>
      <p:sp>
        <p:nvSpPr>
          <p:cNvPr id="12" name="Flecha: curvada hacia arriba 11">
            <a:extLst>
              <a:ext uri="{FF2B5EF4-FFF2-40B4-BE49-F238E27FC236}">
                <a16:creationId xmlns:a16="http://schemas.microsoft.com/office/drawing/2014/main" id="{C11B35D3-36F2-94F0-6CDE-104A80531566}"/>
              </a:ext>
            </a:extLst>
          </p:cNvPr>
          <p:cNvSpPr/>
          <p:nvPr/>
        </p:nvSpPr>
        <p:spPr>
          <a:xfrm flipH="1" flipV="1">
            <a:off x="867596" y="2598283"/>
            <a:ext cx="9643965" cy="1440763"/>
          </a:xfrm>
          <a:prstGeom prst="curvedUpArrow">
            <a:avLst>
              <a:gd name="adj1" fmla="val 25000"/>
              <a:gd name="adj2" fmla="val 65994"/>
              <a:gd name="adj3" fmla="val 39544"/>
            </a:avLst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384B7A74-EB45-E5B7-AE03-4A20568E66E4}"/>
              </a:ext>
            </a:extLst>
          </p:cNvPr>
          <p:cNvSpPr/>
          <p:nvPr/>
        </p:nvSpPr>
        <p:spPr>
          <a:xfrm>
            <a:off x="4781550" y="4342728"/>
            <a:ext cx="533400" cy="38100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A9EC089D-2056-98F7-A774-73DF77AAA76E}"/>
              </a:ext>
            </a:extLst>
          </p:cNvPr>
          <p:cNvSpPr/>
          <p:nvPr/>
        </p:nvSpPr>
        <p:spPr>
          <a:xfrm>
            <a:off x="8339646" y="4342728"/>
            <a:ext cx="533400" cy="38100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F8698BF-5A30-5CDC-47D3-1C626FEC49AC}"/>
              </a:ext>
            </a:extLst>
          </p:cNvPr>
          <p:cNvSpPr txBox="1"/>
          <p:nvPr/>
        </p:nvSpPr>
        <p:spPr>
          <a:xfrm>
            <a:off x="3981450" y="1517775"/>
            <a:ext cx="4000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REFORMULACIÓN DEL PLAN DE SOSTENIBILIDAD</a:t>
            </a:r>
          </a:p>
        </p:txBody>
      </p:sp>
    </p:spTree>
    <p:extLst>
      <p:ext uri="{BB962C8B-B14F-4D97-AF65-F5344CB8AC3E}">
        <p14:creationId xmlns:p14="http://schemas.microsoft.com/office/powerpoint/2010/main" val="7675601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2221-9891-C157-40DA-DFAD0B9A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807"/>
            <a:ext cx="9202445" cy="1325563"/>
          </a:xfrm>
        </p:spPr>
        <p:txBody>
          <a:bodyPr>
            <a:normAutofit/>
          </a:bodyPr>
          <a:lstStyle/>
          <a:p>
            <a:r>
              <a:rPr lang="es-ES" sz="40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EVALUACIÓN DEL DESEMPEÑO</a:t>
            </a:r>
            <a:br>
              <a:rPr lang="es-ES" sz="4400" b="1" kern="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1A8819-7497-7C07-0087-684C0D6CF1D7}"/>
              </a:ext>
            </a:extLst>
          </p:cNvPr>
          <p:cNvCxnSpPr/>
          <p:nvPr/>
        </p:nvCxnSpPr>
        <p:spPr>
          <a:xfrm>
            <a:off x="638822" y="1137447"/>
            <a:ext cx="8673484" cy="0"/>
          </a:xfrm>
          <a:prstGeom prst="line">
            <a:avLst/>
          </a:prstGeom>
          <a:ln>
            <a:solidFill>
              <a:srgbClr val="B3C5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A5C5D01-229D-EF58-B70D-187FAEF4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BA5F4F-95D1-18D4-8E89-38346F0FABD2}"/>
              </a:ext>
            </a:extLst>
          </p:cNvPr>
          <p:cNvSpPr txBox="1">
            <a:spLocks/>
          </p:cNvSpPr>
          <p:nvPr/>
        </p:nvSpPr>
        <p:spPr>
          <a:xfrm>
            <a:off x="6729273" y="6468173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7C96641-FC91-E8A6-D8AC-0C8A2E562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22" y="1431254"/>
            <a:ext cx="5254863" cy="503691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0F519435-BCEE-14D5-413A-73910093E48B}"/>
              </a:ext>
            </a:extLst>
          </p:cNvPr>
          <p:cNvSpPr txBox="1"/>
          <p:nvPr/>
        </p:nvSpPr>
        <p:spPr>
          <a:xfrm>
            <a:off x="6570769" y="1941123"/>
            <a:ext cx="475843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2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 el </a:t>
            </a:r>
            <a:r>
              <a:rPr lang="es-ES_tradnl" sz="2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 de Sostenibilidad </a:t>
            </a:r>
            <a:r>
              <a:rPr lang="es-ES_tradnl" sz="2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instaura un </a:t>
            </a:r>
            <a:r>
              <a:rPr lang="es-ES_tradnl" sz="2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Ciclo de Deming</a:t>
            </a:r>
            <a:r>
              <a:rPr lang="es-ES_tradnl" sz="2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 PHVA de </a:t>
            </a:r>
            <a:r>
              <a:rPr lang="es-ES_tradnl" sz="2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mejora continua</a:t>
            </a:r>
            <a:r>
              <a:rPr lang="es-ES_tradnl" sz="2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se hace una planificación definiendo las actividades y objetivos (Planificar), se ejecutan las actividades de acuerdo con el plan establecido (hacer), se comparan los resultados obtenidos con los esperados (verificar) y, finalmente, se establecen acciones para corregir desviaciones y/o mejorar el proceso (hacer)</a:t>
            </a:r>
            <a:endParaRPr lang="es-ES" sz="2200" dirty="0"/>
          </a:p>
        </p:txBody>
      </p:sp>
    </p:spTree>
    <p:extLst>
      <p:ext uri="{BB962C8B-B14F-4D97-AF65-F5344CB8AC3E}">
        <p14:creationId xmlns:p14="http://schemas.microsoft.com/office/powerpoint/2010/main" val="946306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21" name="Imagen 20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2228CA1A-BC4F-8C9D-1AD3-F35ED3E26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555" y="350080"/>
            <a:ext cx="1300884" cy="722646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9F474EC-0257-6438-C082-1992833519BA}"/>
              </a:ext>
            </a:extLst>
          </p:cNvPr>
          <p:cNvSpPr txBox="1">
            <a:spLocks/>
          </p:cNvSpPr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5800" b="1" kern="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 DE LA UNIDAD 5</a:t>
            </a:r>
            <a:br>
              <a:rPr lang="es-ES" b="1" kern="0" dirty="0">
                <a:solidFill>
                  <a:srgbClr val="2F5496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5AA9B4AD-B159-A05A-7923-66BA64CDA3FA}"/>
              </a:ext>
            </a:extLst>
          </p:cNvPr>
          <p:cNvSpPr txBox="1">
            <a:spLocks/>
          </p:cNvSpPr>
          <p:nvPr/>
        </p:nvSpPr>
        <p:spPr>
          <a:xfrm>
            <a:off x="7433263" y="6452911"/>
            <a:ext cx="4758432" cy="44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400" b="1" kern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Sostenibilidad aplicada al sistema productivo</a:t>
            </a:r>
          </a:p>
        </p:txBody>
      </p:sp>
    </p:spTree>
    <p:extLst>
      <p:ext uri="{BB962C8B-B14F-4D97-AF65-F5344CB8AC3E}">
        <p14:creationId xmlns:p14="http://schemas.microsoft.com/office/powerpoint/2010/main" val="1278928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2262</TotalTime>
  <Words>2790</Words>
  <Application>Microsoft Office PowerPoint</Application>
  <PresentationFormat>Panorámica</PresentationFormat>
  <Paragraphs>368</Paragraphs>
  <Slides>58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58</vt:i4>
      </vt:variant>
    </vt:vector>
  </HeadingPairs>
  <TitlesOfParts>
    <vt:vector size="65" baseType="lpstr">
      <vt:lpstr>Aptos</vt:lpstr>
      <vt:lpstr>Arial</vt:lpstr>
      <vt:lpstr>Calibri</vt:lpstr>
      <vt:lpstr>Calibri Light</vt:lpstr>
      <vt:lpstr>Symbol</vt:lpstr>
      <vt:lpstr>Times New Roman</vt:lpstr>
      <vt:lpstr>Tema de Office</vt:lpstr>
      <vt:lpstr>SOSTENIBILIDAD APLICADA AL SISTEMA PRODUCTIVO</vt:lpstr>
      <vt:lpstr>Presentación de PowerPoint</vt:lpstr>
      <vt:lpstr>INTRODUCCIÓN </vt:lpstr>
      <vt:lpstr>EL PLAN DE SOSTENIBILIDAD </vt:lpstr>
      <vt:lpstr>EL PLAN DE SOSTENIBILIDAD </vt:lpstr>
      <vt:lpstr>ASPECTOS DEL PLAN DE SOSTENIBILIDAD </vt:lpstr>
      <vt:lpstr>Presentación de PowerPoint</vt:lpstr>
      <vt:lpstr>FASES PARA DEFINIR EL PLAN DE SOSTENIBILIDAD </vt:lpstr>
      <vt:lpstr>DEFINICIÓN DE COMPROMISOS </vt:lpstr>
      <vt:lpstr>COMPROMISO CORPORATIVO </vt:lpstr>
      <vt:lpstr>COMPROMISO CORPORATIVO </vt:lpstr>
      <vt:lpstr>COMPROMISO CORPORATIVO </vt:lpstr>
      <vt:lpstr>DIAGNÓSTICO </vt:lpstr>
      <vt:lpstr>DIAGNÓSTICO INTERNO Y EXTERNO </vt:lpstr>
      <vt:lpstr>DIAGNÓSTICO INTERNO Y EXTERNO </vt:lpstr>
      <vt:lpstr>DIAGNÓSTICO INTERNO </vt:lpstr>
      <vt:lpstr>ANÁLISIS DE DOBLE MATERIALIDAD </vt:lpstr>
      <vt:lpstr>CUESTIONES MATERIALES </vt:lpstr>
      <vt:lpstr>ANÁLISIS IRO </vt:lpstr>
      <vt:lpstr>TIPOS DE CUESTIONES MATERIALES </vt:lpstr>
      <vt:lpstr>EVALUACIÓN DE LA MATERIALIDAD </vt:lpstr>
      <vt:lpstr>ANÁLISIS DOBLE MATERIALIDAD </vt:lpstr>
      <vt:lpstr>ANÁLISIS DOBLE MATERIALIDAD </vt:lpstr>
      <vt:lpstr>SECUENCIA ANÁLISIS DOBLE MATERIALIDAD </vt:lpstr>
      <vt:lpstr>DETERMINACIÓN DE LOS GRUPOS DE INTERÉS </vt:lpstr>
      <vt:lpstr>CAPADIDAD DE INFLUENCIA E IMPACTO </vt:lpstr>
      <vt:lpstr>CAPADIDAD DE INFLUENCIA E IMPACTO </vt:lpstr>
      <vt:lpstr>IDENTIFICACIÓN DE LAS CUESTIONES MATERIALES </vt:lpstr>
      <vt:lpstr>IDENTIFICACIÓN DE LAS CUESTIONES MATERIALES </vt:lpstr>
      <vt:lpstr>IDENTIFICACIÓN DE LAS CUESTIONES MATERIALES </vt:lpstr>
      <vt:lpstr>IDENTIFICACIÓN DE LAS CUESTIONES MATERIALES </vt:lpstr>
      <vt:lpstr>IDENTIFICACIÓN DE LAS CUESTIONES MATERIALES </vt:lpstr>
      <vt:lpstr>IDENTIFICACIÓN DE LAS CUESTIONES MATERIALES </vt:lpstr>
      <vt:lpstr>IDENTIFICACIÓN DE LAS CUESTIONES MATERIALES </vt:lpstr>
      <vt:lpstr>IDENTIFICACIÓN DE LAS CUESTIONES MATERIALES </vt:lpstr>
      <vt:lpstr>IDENTIFICACIÓN DE LAS CUESTIONES MATERIALES </vt:lpstr>
      <vt:lpstr>IDENTIFICACIÓN DE LAS CUESTIONES MATERIALES </vt:lpstr>
      <vt:lpstr>MATRIZ DE DOBLE MATERIALIDAD </vt:lpstr>
      <vt:lpstr>MATRIZ DE DOBLE MATERIALIDAD </vt:lpstr>
      <vt:lpstr>EL PLAN DIRECTOR </vt:lpstr>
      <vt:lpstr>EL PLAN DIRECTOR </vt:lpstr>
      <vt:lpstr>EL PLAN DIRECTOR </vt:lpstr>
      <vt:lpstr>EL PLAN DIRECTOR </vt:lpstr>
      <vt:lpstr>EL PLAN DIRECTOR </vt:lpstr>
      <vt:lpstr>EL PLAN DIRECTOR </vt:lpstr>
      <vt:lpstr>EL PLAN DE COMUNICACIÓN </vt:lpstr>
      <vt:lpstr>EL PLAN DE COMUNICACIÓN </vt:lpstr>
      <vt:lpstr>EL PLAN DE COMUNICACIÓN </vt:lpstr>
      <vt:lpstr>Presentación de PowerPoint</vt:lpstr>
      <vt:lpstr>SEGUIMIENTO Y MEJORA CONTINUA </vt:lpstr>
      <vt:lpstr>INDICADORES DE DESEMPEÑO </vt:lpstr>
      <vt:lpstr>INDICADORES DE DESEMPEÑO </vt:lpstr>
      <vt:lpstr>INDICADORES DE DESEMPEÑO </vt:lpstr>
      <vt:lpstr>INDICADORES DE DESEMPEÑO </vt:lpstr>
      <vt:lpstr>EVALUACIÓN DEL DESEMPEÑO </vt:lpstr>
      <vt:lpstr>EVALUACIÓN DEL DESEMPEÑO </vt:lpstr>
      <vt:lpstr>EVALUACIÓN DEL DESEMPEÑO </vt:lpstr>
      <vt:lpstr>Presentación de PowerPoint</vt:lpstr>
    </vt:vector>
  </TitlesOfParts>
  <Company>Empresa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DEL LIBRO</dc:title>
  <dc:creator>Rosa Castillo</dc:creator>
  <cp:lastModifiedBy>Maria León</cp:lastModifiedBy>
  <cp:revision>212</cp:revision>
  <dcterms:created xsi:type="dcterms:W3CDTF">2024-04-15T10:19:16Z</dcterms:created>
  <dcterms:modified xsi:type="dcterms:W3CDTF">2024-10-01T08:07:02Z</dcterms:modified>
</cp:coreProperties>
</file>