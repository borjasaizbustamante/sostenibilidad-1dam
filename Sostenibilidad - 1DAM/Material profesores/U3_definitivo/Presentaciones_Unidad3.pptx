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60" r:id="rId3"/>
    <p:sldId id="263" r:id="rId4"/>
    <p:sldId id="431" r:id="rId5"/>
    <p:sldId id="427" r:id="rId6"/>
    <p:sldId id="440" r:id="rId7"/>
    <p:sldId id="441" r:id="rId8"/>
    <p:sldId id="442" r:id="rId9"/>
    <p:sldId id="428" r:id="rId10"/>
    <p:sldId id="408" r:id="rId11"/>
    <p:sldId id="425" r:id="rId12"/>
    <p:sldId id="429" r:id="rId13"/>
    <p:sldId id="426" r:id="rId14"/>
    <p:sldId id="430" r:id="rId15"/>
    <p:sldId id="436" r:id="rId16"/>
    <p:sldId id="437" r:id="rId17"/>
    <p:sldId id="297" r:id="rId18"/>
    <p:sldId id="296" r:id="rId19"/>
    <p:sldId id="404" r:id="rId20"/>
    <p:sldId id="432" r:id="rId21"/>
    <p:sldId id="458" r:id="rId22"/>
    <p:sldId id="435" r:id="rId23"/>
    <p:sldId id="438" r:id="rId24"/>
    <p:sldId id="434" r:id="rId25"/>
    <p:sldId id="433" r:id="rId26"/>
    <p:sldId id="439" r:id="rId27"/>
    <p:sldId id="457" r:id="rId28"/>
    <p:sldId id="446" r:id="rId29"/>
    <p:sldId id="443" r:id="rId30"/>
    <p:sldId id="444" r:id="rId31"/>
    <p:sldId id="309" r:id="rId32"/>
    <p:sldId id="307" r:id="rId33"/>
    <p:sldId id="407" r:id="rId34"/>
    <p:sldId id="447" r:id="rId35"/>
    <p:sldId id="448" r:id="rId36"/>
    <p:sldId id="449" r:id="rId37"/>
    <p:sldId id="450" r:id="rId38"/>
    <p:sldId id="451" r:id="rId39"/>
    <p:sldId id="461" r:id="rId40"/>
    <p:sldId id="452" r:id="rId41"/>
    <p:sldId id="453" r:id="rId42"/>
    <p:sldId id="454" r:id="rId43"/>
    <p:sldId id="455" r:id="rId44"/>
    <p:sldId id="456" r:id="rId45"/>
    <p:sldId id="459" r:id="rId46"/>
    <p:sldId id="460" r:id="rId47"/>
    <p:sldId id="318" r:id="rId48"/>
    <p:sldId id="322" r:id="rId49"/>
    <p:sldId id="466" r:id="rId50"/>
    <p:sldId id="464" r:id="rId51"/>
    <p:sldId id="469" r:id="rId52"/>
    <p:sldId id="470" r:id="rId53"/>
    <p:sldId id="468" r:id="rId54"/>
    <p:sldId id="467" r:id="rId55"/>
    <p:sldId id="471" r:id="rId56"/>
    <p:sldId id="465" r:id="rId57"/>
    <p:sldId id="423" r:id="rId58"/>
    <p:sldId id="472" r:id="rId59"/>
    <p:sldId id="424" r:id="rId60"/>
    <p:sldId id="462" r:id="rId61"/>
    <p:sldId id="463" r:id="rId62"/>
    <p:sldId id="338" r:id="rId6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dad1: La acción humana sobre el entorno" id="{25193AA9-8668-4949-BBC6-7336EC209A2E}">
          <p14:sldIdLst>
            <p14:sldId id="256"/>
          </p14:sldIdLst>
        </p14:section>
        <p14:section name="3.1. Introducción" id="{B6C341E1-91D7-41DA-9610-64E428C50B83}">
          <p14:sldIdLst>
            <p14:sldId id="260"/>
            <p14:sldId id="263"/>
            <p14:sldId id="431"/>
            <p14:sldId id="427"/>
            <p14:sldId id="440"/>
            <p14:sldId id="441"/>
            <p14:sldId id="442"/>
            <p14:sldId id="428"/>
            <p14:sldId id="408"/>
            <p14:sldId id="425"/>
            <p14:sldId id="429"/>
            <p14:sldId id="426"/>
            <p14:sldId id="430"/>
            <p14:sldId id="436"/>
            <p14:sldId id="437"/>
          </p14:sldIdLst>
        </p14:section>
        <p14:section name="3.2. Formas de producción" id="{A5541D46-6C24-44BB-A6EA-2F18AA60E2DA}">
          <p14:sldIdLst>
            <p14:sldId id="297"/>
            <p14:sldId id="296"/>
            <p14:sldId id="404"/>
            <p14:sldId id="432"/>
            <p14:sldId id="458"/>
            <p14:sldId id="435"/>
            <p14:sldId id="438"/>
            <p14:sldId id="434"/>
            <p14:sldId id="433"/>
            <p14:sldId id="439"/>
            <p14:sldId id="457"/>
            <p14:sldId id="446"/>
            <p14:sldId id="443"/>
            <p14:sldId id="444"/>
          </p14:sldIdLst>
        </p14:section>
        <p14:section name="3.3. Hacia un nuevo sistema productivo" id="{E7003578-20A7-48A8-ACE2-481420D34E84}">
          <p14:sldIdLst>
            <p14:sldId id="309"/>
            <p14:sldId id="307"/>
            <p14:sldId id="407"/>
            <p14:sldId id="447"/>
            <p14:sldId id="448"/>
            <p14:sldId id="449"/>
            <p14:sldId id="450"/>
            <p14:sldId id="451"/>
            <p14:sldId id="461"/>
            <p14:sldId id="452"/>
            <p14:sldId id="453"/>
            <p14:sldId id="454"/>
            <p14:sldId id="455"/>
            <p14:sldId id="456"/>
            <p14:sldId id="459"/>
            <p14:sldId id="460"/>
          </p14:sldIdLst>
        </p14:section>
        <p14:section name="3.4. Diseño, fabricación y utilización de productos sostenibles" id="{577F9F3B-9807-4B5B-8A50-BBC964D98EE8}">
          <p14:sldIdLst>
            <p14:sldId id="318"/>
            <p14:sldId id="322"/>
            <p14:sldId id="466"/>
            <p14:sldId id="464"/>
            <p14:sldId id="469"/>
            <p14:sldId id="470"/>
            <p14:sldId id="468"/>
            <p14:sldId id="467"/>
            <p14:sldId id="471"/>
            <p14:sldId id="465"/>
          </p14:sldIdLst>
        </p14:section>
        <p14:section name="3.5. La digitalización en el logro de productos sostenibles" id="{2960EB61-FBF4-47B3-BEC4-23D98D6A4DC5}">
          <p14:sldIdLst>
            <p14:sldId id="423"/>
            <p14:sldId id="472"/>
          </p14:sldIdLst>
        </p14:section>
        <p14:section name="3.6. La certificación y el etiquetado de los productos" id="{6BA42003-5E51-44E7-A313-8FB3D93618FE}">
          <p14:sldIdLst>
            <p14:sldId id="424"/>
            <p14:sldId id="462"/>
            <p14:sldId id="463"/>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8638"/>
    <a:srgbClr val="AA2812"/>
    <a:srgbClr val="D2F3CD"/>
    <a:srgbClr val="C7F9CC"/>
    <a:srgbClr val="C68D1C"/>
    <a:srgbClr val="F9DDB5"/>
    <a:srgbClr val="FFC305"/>
    <a:srgbClr val="F5FEC2"/>
    <a:srgbClr val="FFFFE1"/>
    <a:srgbClr val="E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42" autoAdjust="0"/>
    <p:restoredTop sz="94660"/>
  </p:normalViewPr>
  <p:slideViewPr>
    <p:cSldViewPr snapToGrid="0">
      <p:cViewPr varScale="1">
        <p:scale>
          <a:sx n="65" d="100"/>
          <a:sy n="65" d="100"/>
        </p:scale>
        <p:origin x="18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F47D87-B882-4218-B60A-E0C3DE0E2363}" type="doc">
      <dgm:prSet loTypeId="urn:microsoft.com/office/officeart/2005/8/layout/radial6" loCatId="cycle" qsTypeId="urn:microsoft.com/office/officeart/2005/8/quickstyle/3d2" qsCatId="3D" csTypeId="urn:microsoft.com/office/officeart/2005/8/colors/colorful3" csCatId="colorful" phldr="1"/>
      <dgm:spPr/>
      <dgm:t>
        <a:bodyPr/>
        <a:lstStyle/>
        <a:p>
          <a:endParaRPr lang="es-ES"/>
        </a:p>
      </dgm:t>
    </dgm:pt>
    <dgm:pt modelId="{00F6CCBB-1A8C-4B71-B3C7-7289158CBFA2}">
      <dgm:prSet phldrT="[Texto]" custT="1"/>
      <dgm:spPr/>
      <dgm:t>
        <a:bodyPr/>
        <a:lstStyle/>
        <a:p>
          <a:r>
            <a:rPr lang="es-ES" sz="2000" b="1" dirty="0"/>
            <a:t>Sostenibilidad de la Economía Circular</a:t>
          </a:r>
        </a:p>
      </dgm:t>
    </dgm:pt>
    <dgm:pt modelId="{9B1ADA8F-CCDD-45AB-9B1F-8826CB8DD762}" type="parTrans" cxnId="{9E89E0CD-079C-4CB8-9D8A-CBA8BD528278}">
      <dgm:prSet/>
      <dgm:spPr/>
      <dgm:t>
        <a:bodyPr/>
        <a:lstStyle/>
        <a:p>
          <a:endParaRPr lang="es-ES"/>
        </a:p>
      </dgm:t>
    </dgm:pt>
    <dgm:pt modelId="{56A5941D-5EBC-4057-86CC-436EFD3A5FFC}" type="sibTrans" cxnId="{9E89E0CD-079C-4CB8-9D8A-CBA8BD528278}">
      <dgm:prSet/>
      <dgm:spPr/>
      <dgm:t>
        <a:bodyPr/>
        <a:lstStyle/>
        <a:p>
          <a:endParaRPr lang="es-ES"/>
        </a:p>
      </dgm:t>
    </dgm:pt>
    <dgm:pt modelId="{70936D51-B5EC-4E49-8309-EBA7232EF213}">
      <dgm:prSet phldrT="[Texto]"/>
      <dgm:spPr/>
      <dgm:t>
        <a:bodyPr/>
        <a:lstStyle/>
        <a:p>
          <a:r>
            <a:rPr lang="es-ES" dirty="0"/>
            <a:t>Respetar los ciclos biológicos en la extracción de recursos naturales</a:t>
          </a:r>
        </a:p>
      </dgm:t>
    </dgm:pt>
    <dgm:pt modelId="{8F06848B-FA5C-4065-B3D1-D71273D65A5D}" type="parTrans" cxnId="{8A7557A7-4BDA-4535-8520-1CCF487EAE3A}">
      <dgm:prSet/>
      <dgm:spPr/>
      <dgm:t>
        <a:bodyPr/>
        <a:lstStyle/>
        <a:p>
          <a:endParaRPr lang="es-ES"/>
        </a:p>
      </dgm:t>
    </dgm:pt>
    <dgm:pt modelId="{6235F598-199F-4C45-972E-48AE23733EFB}" type="sibTrans" cxnId="{8A7557A7-4BDA-4535-8520-1CCF487EAE3A}">
      <dgm:prSet/>
      <dgm:spPr/>
      <dgm:t>
        <a:bodyPr/>
        <a:lstStyle/>
        <a:p>
          <a:endParaRPr lang="es-ES"/>
        </a:p>
      </dgm:t>
    </dgm:pt>
    <dgm:pt modelId="{E4821585-F9E9-4C23-B072-978B1E962B22}">
      <dgm:prSet phldrT="[Texto]"/>
      <dgm:spPr/>
      <dgm:t>
        <a:bodyPr/>
        <a:lstStyle/>
        <a:p>
          <a:r>
            <a:rPr lang="es-ES" dirty="0"/>
            <a:t>Crear sistema de recirculación para materiales sintéticos</a:t>
          </a:r>
        </a:p>
      </dgm:t>
    </dgm:pt>
    <dgm:pt modelId="{B3D5C9EA-8B2F-461C-9B85-65228DDB195C}" type="parTrans" cxnId="{C9898DFD-5C41-44DC-8EF8-88DA49E67E43}">
      <dgm:prSet/>
      <dgm:spPr/>
      <dgm:t>
        <a:bodyPr/>
        <a:lstStyle/>
        <a:p>
          <a:endParaRPr lang="es-ES"/>
        </a:p>
      </dgm:t>
    </dgm:pt>
    <dgm:pt modelId="{673E4ED5-CC3F-48C2-8D8E-5ED8DEA0B8BE}" type="sibTrans" cxnId="{C9898DFD-5C41-44DC-8EF8-88DA49E67E43}">
      <dgm:prSet/>
      <dgm:spPr/>
      <dgm:t>
        <a:bodyPr/>
        <a:lstStyle/>
        <a:p>
          <a:endParaRPr lang="es-ES"/>
        </a:p>
      </dgm:t>
    </dgm:pt>
    <dgm:pt modelId="{4FD5A5CC-D462-455A-B1B9-7F18F46C9119}">
      <dgm:prSet phldrT="[Texto]"/>
      <dgm:spPr/>
      <dgm:t>
        <a:bodyPr/>
        <a:lstStyle/>
        <a:p>
          <a:r>
            <a:rPr lang="es-ES" dirty="0"/>
            <a:t>Usar fuentes de energía renovables</a:t>
          </a:r>
        </a:p>
      </dgm:t>
    </dgm:pt>
    <dgm:pt modelId="{DE454B82-4855-43BC-996F-D6F8E943EA53}" type="parTrans" cxnId="{742A3C0E-BB8F-4033-87AB-DBDE8E5C7AD4}">
      <dgm:prSet/>
      <dgm:spPr/>
      <dgm:t>
        <a:bodyPr/>
        <a:lstStyle/>
        <a:p>
          <a:endParaRPr lang="es-ES"/>
        </a:p>
      </dgm:t>
    </dgm:pt>
    <dgm:pt modelId="{D02B9E48-7716-4F1D-A4E6-DA5B0D2136AD}" type="sibTrans" cxnId="{742A3C0E-BB8F-4033-87AB-DBDE8E5C7AD4}">
      <dgm:prSet/>
      <dgm:spPr/>
      <dgm:t>
        <a:bodyPr/>
        <a:lstStyle/>
        <a:p>
          <a:endParaRPr lang="es-ES"/>
        </a:p>
      </dgm:t>
    </dgm:pt>
    <dgm:pt modelId="{8AD76C24-98D2-4F37-9449-14F8462E6B00}">
      <dgm:prSet phldrT="[Texto]"/>
      <dgm:spPr/>
      <dgm:t>
        <a:bodyPr/>
        <a:lstStyle/>
        <a:p>
          <a:r>
            <a:rPr lang="es-ES" dirty="0"/>
            <a:t>Diversificar productos para mayor resiliencia</a:t>
          </a:r>
        </a:p>
      </dgm:t>
    </dgm:pt>
    <dgm:pt modelId="{D5AA9FCD-AAE2-4297-824C-EEC03BCE8081}" type="parTrans" cxnId="{66083BC2-14CE-4823-BCA6-4E71697E0237}">
      <dgm:prSet/>
      <dgm:spPr/>
      <dgm:t>
        <a:bodyPr/>
        <a:lstStyle/>
        <a:p>
          <a:endParaRPr lang="es-ES"/>
        </a:p>
      </dgm:t>
    </dgm:pt>
    <dgm:pt modelId="{B4BCDA44-CCC2-4418-B2AF-83555780647A}" type="sibTrans" cxnId="{66083BC2-14CE-4823-BCA6-4E71697E0237}">
      <dgm:prSet/>
      <dgm:spPr/>
      <dgm:t>
        <a:bodyPr/>
        <a:lstStyle/>
        <a:p>
          <a:endParaRPr lang="es-ES"/>
        </a:p>
      </dgm:t>
    </dgm:pt>
    <dgm:pt modelId="{EE1B945E-CE63-4595-BCFF-8C25ACE6111D}" type="pres">
      <dgm:prSet presAssocID="{C8F47D87-B882-4218-B60A-E0C3DE0E2363}" presName="Name0" presStyleCnt="0">
        <dgm:presLayoutVars>
          <dgm:chMax val="1"/>
          <dgm:dir/>
          <dgm:animLvl val="ctr"/>
          <dgm:resizeHandles val="exact"/>
        </dgm:presLayoutVars>
      </dgm:prSet>
      <dgm:spPr/>
    </dgm:pt>
    <dgm:pt modelId="{75F5006E-E6FF-437F-A8BB-6A1E3CDDA24E}" type="pres">
      <dgm:prSet presAssocID="{00F6CCBB-1A8C-4B71-B3C7-7289158CBFA2}" presName="centerShape" presStyleLbl="node0" presStyleIdx="0" presStyleCnt="1" custScaleX="120707" custScaleY="106147"/>
      <dgm:spPr/>
    </dgm:pt>
    <dgm:pt modelId="{B7929108-B56F-4CE1-98D3-DD414819292D}" type="pres">
      <dgm:prSet presAssocID="{70936D51-B5EC-4E49-8309-EBA7232EF213}" presName="node" presStyleLbl="node1" presStyleIdx="0" presStyleCnt="4" custScaleX="126441">
        <dgm:presLayoutVars>
          <dgm:bulletEnabled val="1"/>
        </dgm:presLayoutVars>
      </dgm:prSet>
      <dgm:spPr/>
    </dgm:pt>
    <dgm:pt modelId="{43B69745-961D-4D60-B8AE-D71A8F17172B}" type="pres">
      <dgm:prSet presAssocID="{70936D51-B5EC-4E49-8309-EBA7232EF213}" presName="dummy" presStyleCnt="0"/>
      <dgm:spPr/>
    </dgm:pt>
    <dgm:pt modelId="{7F03E2A7-B8BF-4379-953D-63798BAE9C06}" type="pres">
      <dgm:prSet presAssocID="{6235F598-199F-4C45-972E-48AE23733EFB}" presName="sibTrans" presStyleLbl="sibTrans2D1" presStyleIdx="0" presStyleCnt="4"/>
      <dgm:spPr/>
    </dgm:pt>
    <dgm:pt modelId="{83CB43DB-68E0-4B6A-9065-C06C1F99F329}" type="pres">
      <dgm:prSet presAssocID="{E4821585-F9E9-4C23-B072-978B1E962B22}" presName="node" presStyleLbl="node1" presStyleIdx="1" presStyleCnt="4" custScaleX="127796">
        <dgm:presLayoutVars>
          <dgm:bulletEnabled val="1"/>
        </dgm:presLayoutVars>
      </dgm:prSet>
      <dgm:spPr/>
    </dgm:pt>
    <dgm:pt modelId="{A4B3174B-6C64-467D-A628-1887BBC4F67A}" type="pres">
      <dgm:prSet presAssocID="{E4821585-F9E9-4C23-B072-978B1E962B22}" presName="dummy" presStyleCnt="0"/>
      <dgm:spPr/>
    </dgm:pt>
    <dgm:pt modelId="{36F8189D-EC10-48BE-8F18-319BC5B3D697}" type="pres">
      <dgm:prSet presAssocID="{673E4ED5-CC3F-48C2-8D8E-5ED8DEA0B8BE}" presName="sibTrans" presStyleLbl="sibTrans2D1" presStyleIdx="1" presStyleCnt="4"/>
      <dgm:spPr/>
    </dgm:pt>
    <dgm:pt modelId="{73CC4454-DD92-4753-A916-C7260EDC314C}" type="pres">
      <dgm:prSet presAssocID="{4FD5A5CC-D462-455A-B1B9-7F18F46C9119}" presName="node" presStyleLbl="node1" presStyleIdx="2" presStyleCnt="4" custScaleX="124302">
        <dgm:presLayoutVars>
          <dgm:bulletEnabled val="1"/>
        </dgm:presLayoutVars>
      </dgm:prSet>
      <dgm:spPr/>
    </dgm:pt>
    <dgm:pt modelId="{9A4CEB3B-D08A-4622-9CFE-5D43A2B64EE2}" type="pres">
      <dgm:prSet presAssocID="{4FD5A5CC-D462-455A-B1B9-7F18F46C9119}" presName="dummy" presStyleCnt="0"/>
      <dgm:spPr/>
    </dgm:pt>
    <dgm:pt modelId="{D33E4750-E679-4278-BF6F-E707E849611D}" type="pres">
      <dgm:prSet presAssocID="{D02B9E48-7716-4F1D-A4E6-DA5B0D2136AD}" presName="sibTrans" presStyleLbl="sibTrans2D1" presStyleIdx="2" presStyleCnt="4"/>
      <dgm:spPr/>
    </dgm:pt>
    <dgm:pt modelId="{D0675B8D-7EE8-489A-B8AE-78E5939D35B5}" type="pres">
      <dgm:prSet presAssocID="{8AD76C24-98D2-4F37-9449-14F8462E6B00}" presName="node" presStyleLbl="node1" presStyleIdx="3" presStyleCnt="4" custScaleX="124118">
        <dgm:presLayoutVars>
          <dgm:bulletEnabled val="1"/>
        </dgm:presLayoutVars>
      </dgm:prSet>
      <dgm:spPr/>
    </dgm:pt>
    <dgm:pt modelId="{972B406C-C21E-424D-BC75-9BBC8EEDDA12}" type="pres">
      <dgm:prSet presAssocID="{8AD76C24-98D2-4F37-9449-14F8462E6B00}" presName="dummy" presStyleCnt="0"/>
      <dgm:spPr/>
    </dgm:pt>
    <dgm:pt modelId="{6DA3DC35-9636-4CBA-8C45-99DAF9484F5B}" type="pres">
      <dgm:prSet presAssocID="{B4BCDA44-CCC2-4418-B2AF-83555780647A}" presName="sibTrans" presStyleLbl="sibTrans2D1" presStyleIdx="3" presStyleCnt="4"/>
      <dgm:spPr/>
    </dgm:pt>
  </dgm:ptLst>
  <dgm:cxnLst>
    <dgm:cxn modelId="{3D80A504-5610-4080-8175-C67EDAB4A386}" type="presOf" srcId="{D02B9E48-7716-4F1D-A4E6-DA5B0D2136AD}" destId="{D33E4750-E679-4278-BF6F-E707E849611D}" srcOrd="0" destOrd="0" presId="urn:microsoft.com/office/officeart/2005/8/layout/radial6"/>
    <dgm:cxn modelId="{1186C508-D3FC-49E6-A399-69304A60C0FC}" type="presOf" srcId="{6235F598-199F-4C45-972E-48AE23733EFB}" destId="{7F03E2A7-B8BF-4379-953D-63798BAE9C06}" srcOrd="0" destOrd="0" presId="urn:microsoft.com/office/officeart/2005/8/layout/radial6"/>
    <dgm:cxn modelId="{742A3C0E-BB8F-4033-87AB-DBDE8E5C7AD4}" srcId="{00F6CCBB-1A8C-4B71-B3C7-7289158CBFA2}" destId="{4FD5A5CC-D462-455A-B1B9-7F18F46C9119}" srcOrd="2" destOrd="0" parTransId="{DE454B82-4855-43BC-996F-D6F8E943EA53}" sibTransId="{D02B9E48-7716-4F1D-A4E6-DA5B0D2136AD}"/>
    <dgm:cxn modelId="{D93CA915-327E-4A45-A425-9F056B5360B6}" type="presOf" srcId="{8AD76C24-98D2-4F37-9449-14F8462E6B00}" destId="{D0675B8D-7EE8-489A-B8AE-78E5939D35B5}" srcOrd="0" destOrd="0" presId="urn:microsoft.com/office/officeart/2005/8/layout/radial6"/>
    <dgm:cxn modelId="{DF11C232-C076-43C0-8EF6-353285E955B6}" type="presOf" srcId="{00F6CCBB-1A8C-4B71-B3C7-7289158CBFA2}" destId="{75F5006E-E6FF-437F-A8BB-6A1E3CDDA24E}" srcOrd="0" destOrd="0" presId="urn:microsoft.com/office/officeart/2005/8/layout/radial6"/>
    <dgm:cxn modelId="{5A02D134-D8A3-47DF-BF3D-17641FCD5574}" type="presOf" srcId="{C8F47D87-B882-4218-B60A-E0C3DE0E2363}" destId="{EE1B945E-CE63-4595-BCFF-8C25ACE6111D}" srcOrd="0" destOrd="0" presId="urn:microsoft.com/office/officeart/2005/8/layout/radial6"/>
    <dgm:cxn modelId="{33676570-BC28-41A2-9D4C-5822A6AA5E63}" type="presOf" srcId="{E4821585-F9E9-4C23-B072-978B1E962B22}" destId="{83CB43DB-68E0-4B6A-9065-C06C1F99F329}" srcOrd="0" destOrd="0" presId="urn:microsoft.com/office/officeart/2005/8/layout/radial6"/>
    <dgm:cxn modelId="{2486A78F-77CE-475D-842F-395B9561D196}" type="presOf" srcId="{70936D51-B5EC-4E49-8309-EBA7232EF213}" destId="{B7929108-B56F-4CE1-98D3-DD414819292D}" srcOrd="0" destOrd="0" presId="urn:microsoft.com/office/officeart/2005/8/layout/radial6"/>
    <dgm:cxn modelId="{8A7557A7-4BDA-4535-8520-1CCF487EAE3A}" srcId="{00F6CCBB-1A8C-4B71-B3C7-7289158CBFA2}" destId="{70936D51-B5EC-4E49-8309-EBA7232EF213}" srcOrd="0" destOrd="0" parTransId="{8F06848B-FA5C-4065-B3D1-D71273D65A5D}" sibTransId="{6235F598-199F-4C45-972E-48AE23733EFB}"/>
    <dgm:cxn modelId="{66083BC2-14CE-4823-BCA6-4E71697E0237}" srcId="{00F6CCBB-1A8C-4B71-B3C7-7289158CBFA2}" destId="{8AD76C24-98D2-4F37-9449-14F8462E6B00}" srcOrd="3" destOrd="0" parTransId="{D5AA9FCD-AAE2-4297-824C-EEC03BCE8081}" sibTransId="{B4BCDA44-CCC2-4418-B2AF-83555780647A}"/>
    <dgm:cxn modelId="{31EFF4C7-FD9A-4507-B08E-56275F053A20}" type="presOf" srcId="{B4BCDA44-CCC2-4418-B2AF-83555780647A}" destId="{6DA3DC35-9636-4CBA-8C45-99DAF9484F5B}" srcOrd="0" destOrd="0" presId="urn:microsoft.com/office/officeart/2005/8/layout/radial6"/>
    <dgm:cxn modelId="{9E89E0CD-079C-4CB8-9D8A-CBA8BD528278}" srcId="{C8F47D87-B882-4218-B60A-E0C3DE0E2363}" destId="{00F6CCBB-1A8C-4B71-B3C7-7289158CBFA2}" srcOrd="0" destOrd="0" parTransId="{9B1ADA8F-CCDD-45AB-9B1F-8826CB8DD762}" sibTransId="{56A5941D-5EBC-4057-86CC-436EFD3A5FFC}"/>
    <dgm:cxn modelId="{5B52F9CE-D442-41C7-A5BE-C3CEA1A16805}" type="presOf" srcId="{4FD5A5CC-D462-455A-B1B9-7F18F46C9119}" destId="{73CC4454-DD92-4753-A916-C7260EDC314C}" srcOrd="0" destOrd="0" presId="urn:microsoft.com/office/officeart/2005/8/layout/radial6"/>
    <dgm:cxn modelId="{2F634FF1-4AA5-4F31-89D9-56DAEFF3349D}" type="presOf" srcId="{673E4ED5-CC3F-48C2-8D8E-5ED8DEA0B8BE}" destId="{36F8189D-EC10-48BE-8F18-319BC5B3D697}" srcOrd="0" destOrd="0" presId="urn:microsoft.com/office/officeart/2005/8/layout/radial6"/>
    <dgm:cxn modelId="{C9898DFD-5C41-44DC-8EF8-88DA49E67E43}" srcId="{00F6CCBB-1A8C-4B71-B3C7-7289158CBFA2}" destId="{E4821585-F9E9-4C23-B072-978B1E962B22}" srcOrd="1" destOrd="0" parTransId="{B3D5C9EA-8B2F-461C-9B85-65228DDB195C}" sibTransId="{673E4ED5-CC3F-48C2-8D8E-5ED8DEA0B8BE}"/>
    <dgm:cxn modelId="{EB06E11E-9472-43E7-8FFD-63939A9043FA}" type="presParOf" srcId="{EE1B945E-CE63-4595-BCFF-8C25ACE6111D}" destId="{75F5006E-E6FF-437F-A8BB-6A1E3CDDA24E}" srcOrd="0" destOrd="0" presId="urn:microsoft.com/office/officeart/2005/8/layout/radial6"/>
    <dgm:cxn modelId="{DAB207C1-A2EA-40E1-A54B-B84A99B8AB39}" type="presParOf" srcId="{EE1B945E-CE63-4595-BCFF-8C25ACE6111D}" destId="{B7929108-B56F-4CE1-98D3-DD414819292D}" srcOrd="1" destOrd="0" presId="urn:microsoft.com/office/officeart/2005/8/layout/radial6"/>
    <dgm:cxn modelId="{514D5D2D-82A0-477D-80C5-0F9F76E999F2}" type="presParOf" srcId="{EE1B945E-CE63-4595-BCFF-8C25ACE6111D}" destId="{43B69745-961D-4D60-B8AE-D71A8F17172B}" srcOrd="2" destOrd="0" presId="urn:microsoft.com/office/officeart/2005/8/layout/radial6"/>
    <dgm:cxn modelId="{82383E1B-28FA-4A66-957B-E181254A22D8}" type="presParOf" srcId="{EE1B945E-CE63-4595-BCFF-8C25ACE6111D}" destId="{7F03E2A7-B8BF-4379-953D-63798BAE9C06}" srcOrd="3" destOrd="0" presId="urn:microsoft.com/office/officeart/2005/8/layout/radial6"/>
    <dgm:cxn modelId="{ED87424C-53D5-4DCB-A5B6-37FC1554C2AE}" type="presParOf" srcId="{EE1B945E-CE63-4595-BCFF-8C25ACE6111D}" destId="{83CB43DB-68E0-4B6A-9065-C06C1F99F329}" srcOrd="4" destOrd="0" presId="urn:microsoft.com/office/officeart/2005/8/layout/radial6"/>
    <dgm:cxn modelId="{28248E38-98E9-4A3B-ACA8-FBEFA4367580}" type="presParOf" srcId="{EE1B945E-CE63-4595-BCFF-8C25ACE6111D}" destId="{A4B3174B-6C64-467D-A628-1887BBC4F67A}" srcOrd="5" destOrd="0" presId="urn:microsoft.com/office/officeart/2005/8/layout/radial6"/>
    <dgm:cxn modelId="{36D26B05-4D92-4C1E-A043-7B727BA66D06}" type="presParOf" srcId="{EE1B945E-CE63-4595-BCFF-8C25ACE6111D}" destId="{36F8189D-EC10-48BE-8F18-319BC5B3D697}" srcOrd="6" destOrd="0" presId="urn:microsoft.com/office/officeart/2005/8/layout/radial6"/>
    <dgm:cxn modelId="{EBEDE66C-05DC-4A6A-9F4F-B9D0828AFF1C}" type="presParOf" srcId="{EE1B945E-CE63-4595-BCFF-8C25ACE6111D}" destId="{73CC4454-DD92-4753-A916-C7260EDC314C}" srcOrd="7" destOrd="0" presId="urn:microsoft.com/office/officeart/2005/8/layout/radial6"/>
    <dgm:cxn modelId="{4D90B632-DFFA-42BF-A8A4-30E9B2651849}" type="presParOf" srcId="{EE1B945E-CE63-4595-BCFF-8C25ACE6111D}" destId="{9A4CEB3B-D08A-4622-9CFE-5D43A2B64EE2}" srcOrd="8" destOrd="0" presId="urn:microsoft.com/office/officeart/2005/8/layout/radial6"/>
    <dgm:cxn modelId="{83F01BFE-2B08-4B8A-8171-D71F3C1A8181}" type="presParOf" srcId="{EE1B945E-CE63-4595-BCFF-8C25ACE6111D}" destId="{D33E4750-E679-4278-BF6F-E707E849611D}" srcOrd="9" destOrd="0" presId="urn:microsoft.com/office/officeart/2005/8/layout/radial6"/>
    <dgm:cxn modelId="{E276307F-00A6-46A4-A902-74243AD67064}" type="presParOf" srcId="{EE1B945E-CE63-4595-BCFF-8C25ACE6111D}" destId="{D0675B8D-7EE8-489A-B8AE-78E5939D35B5}" srcOrd="10" destOrd="0" presId="urn:microsoft.com/office/officeart/2005/8/layout/radial6"/>
    <dgm:cxn modelId="{0AC9B31C-62DF-465F-A93F-8BD9943BC3D7}" type="presParOf" srcId="{EE1B945E-CE63-4595-BCFF-8C25ACE6111D}" destId="{972B406C-C21E-424D-BC75-9BBC8EEDDA12}" srcOrd="11" destOrd="0" presId="urn:microsoft.com/office/officeart/2005/8/layout/radial6"/>
    <dgm:cxn modelId="{FC18E7DC-56AD-4203-A671-C021DDF42C79}" type="presParOf" srcId="{EE1B945E-CE63-4595-BCFF-8C25ACE6111D}" destId="{6DA3DC35-9636-4CBA-8C45-99DAF9484F5B}" srcOrd="12"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A082C7-CF9A-4B98-8585-AEE5582771D1}" type="doc">
      <dgm:prSet loTypeId="urn:microsoft.com/office/officeart/2005/8/layout/StepDownProcess" loCatId="process" qsTypeId="urn:microsoft.com/office/officeart/2005/8/quickstyle/3d1" qsCatId="3D" csTypeId="urn:microsoft.com/office/officeart/2005/8/colors/colorful2" csCatId="colorful" phldr="1"/>
      <dgm:spPr/>
      <dgm:t>
        <a:bodyPr/>
        <a:lstStyle/>
        <a:p>
          <a:endParaRPr lang="es-ES"/>
        </a:p>
      </dgm:t>
    </dgm:pt>
    <dgm:pt modelId="{316C5423-8160-4EC3-AEA4-E790AF163E16}">
      <dgm:prSet phldrT="[Texto]" custT="1"/>
      <dgm:spPr/>
      <dgm:t>
        <a:bodyPr/>
        <a:lstStyle/>
        <a:p>
          <a:r>
            <a:rPr lang="es-ES" sz="2000" b="1" dirty="0"/>
            <a:t>Define</a:t>
          </a:r>
        </a:p>
      </dgm:t>
    </dgm:pt>
    <dgm:pt modelId="{D9CA79E2-4D6A-4EF1-832E-F6CA2F05B4DB}" type="parTrans" cxnId="{2EF34455-F072-46C4-9FBE-0DEA3AEDF844}">
      <dgm:prSet/>
      <dgm:spPr/>
      <dgm:t>
        <a:bodyPr/>
        <a:lstStyle/>
        <a:p>
          <a:endParaRPr lang="es-ES"/>
        </a:p>
      </dgm:t>
    </dgm:pt>
    <dgm:pt modelId="{7C47C57F-3BED-48EF-A27F-1C3149D5229B}" type="sibTrans" cxnId="{2EF34455-F072-46C4-9FBE-0DEA3AEDF844}">
      <dgm:prSet/>
      <dgm:spPr/>
      <dgm:t>
        <a:bodyPr/>
        <a:lstStyle/>
        <a:p>
          <a:endParaRPr lang="es-ES"/>
        </a:p>
      </dgm:t>
    </dgm:pt>
    <dgm:pt modelId="{3A522DA2-6BDD-4FA5-B293-56E4A71B1D5B}">
      <dgm:prSet phldrT="[Texto]" custT="1"/>
      <dgm:spPr/>
      <dgm:t>
        <a:bodyPr/>
        <a:lstStyle/>
        <a:p>
          <a:r>
            <a:rPr lang="es-ES" sz="1600" dirty="0"/>
            <a:t>Concretar el problema que se quiere resolver</a:t>
          </a:r>
          <a:r>
            <a:rPr lang="es-ES" sz="700" dirty="0"/>
            <a:t>.</a:t>
          </a:r>
        </a:p>
      </dgm:t>
    </dgm:pt>
    <dgm:pt modelId="{DC71DC66-E9A3-4B63-AA9E-8A51F2CDBDD1}" type="parTrans" cxnId="{FCAFA673-05A0-447F-BBC5-94F10D818464}">
      <dgm:prSet/>
      <dgm:spPr/>
      <dgm:t>
        <a:bodyPr/>
        <a:lstStyle/>
        <a:p>
          <a:endParaRPr lang="es-ES"/>
        </a:p>
      </dgm:t>
    </dgm:pt>
    <dgm:pt modelId="{2C1BE6C8-F220-4E35-978A-82916D64AEEB}" type="sibTrans" cxnId="{FCAFA673-05A0-447F-BBC5-94F10D818464}">
      <dgm:prSet/>
      <dgm:spPr/>
      <dgm:t>
        <a:bodyPr/>
        <a:lstStyle/>
        <a:p>
          <a:endParaRPr lang="es-ES"/>
        </a:p>
      </dgm:t>
    </dgm:pt>
    <dgm:pt modelId="{472204DF-D342-429F-9A21-D899B6CAE178}">
      <dgm:prSet phldrT="[Texto]" custT="1"/>
      <dgm:spPr/>
      <dgm:t>
        <a:bodyPr/>
        <a:lstStyle/>
        <a:p>
          <a:r>
            <a:rPr lang="es-ES" sz="1600" b="1" dirty="0" err="1"/>
            <a:t>Biologiza</a:t>
          </a:r>
          <a:endParaRPr lang="es-ES" sz="1600" b="1" dirty="0"/>
        </a:p>
      </dgm:t>
    </dgm:pt>
    <dgm:pt modelId="{28399F6D-81BE-4524-8163-88C495A12E21}" type="parTrans" cxnId="{B2C1DBFD-A0FB-43A7-9FBF-9E7D0078AB6F}">
      <dgm:prSet/>
      <dgm:spPr/>
      <dgm:t>
        <a:bodyPr/>
        <a:lstStyle/>
        <a:p>
          <a:endParaRPr lang="es-ES"/>
        </a:p>
      </dgm:t>
    </dgm:pt>
    <dgm:pt modelId="{832584D8-0DD5-4E27-A809-E26661BF2E0C}" type="sibTrans" cxnId="{B2C1DBFD-A0FB-43A7-9FBF-9E7D0078AB6F}">
      <dgm:prSet/>
      <dgm:spPr/>
      <dgm:t>
        <a:bodyPr/>
        <a:lstStyle/>
        <a:p>
          <a:endParaRPr lang="es-ES"/>
        </a:p>
      </dgm:t>
    </dgm:pt>
    <dgm:pt modelId="{81B051E4-E197-47EB-B7EC-8CEB8C9339C1}">
      <dgm:prSet phldrT="[Texto]" custT="1"/>
      <dgm:spPr/>
      <dgm:t>
        <a:bodyPr/>
        <a:lstStyle/>
        <a:p>
          <a:r>
            <a:rPr lang="es-ES" sz="1600" dirty="0"/>
            <a:t>Traducir ese problema en términos de funcionalidad.</a:t>
          </a:r>
        </a:p>
      </dgm:t>
    </dgm:pt>
    <dgm:pt modelId="{1692DA81-E7E3-491D-B3F9-290A8860E8A1}" type="parTrans" cxnId="{B78EF05B-366D-4823-B37D-0EAAAF9B38FB}">
      <dgm:prSet/>
      <dgm:spPr/>
      <dgm:t>
        <a:bodyPr/>
        <a:lstStyle/>
        <a:p>
          <a:endParaRPr lang="es-ES"/>
        </a:p>
      </dgm:t>
    </dgm:pt>
    <dgm:pt modelId="{8A6B3833-2F35-43F8-9D5D-C3286A40B68C}" type="sibTrans" cxnId="{B78EF05B-366D-4823-B37D-0EAAAF9B38FB}">
      <dgm:prSet/>
      <dgm:spPr/>
      <dgm:t>
        <a:bodyPr/>
        <a:lstStyle/>
        <a:p>
          <a:endParaRPr lang="es-ES"/>
        </a:p>
      </dgm:t>
    </dgm:pt>
    <dgm:pt modelId="{CFFF4781-D303-423F-AFCB-A8DB87D4E693}">
      <dgm:prSet phldrT="[Texto]"/>
      <dgm:spPr/>
      <dgm:t>
        <a:bodyPr/>
        <a:lstStyle/>
        <a:p>
          <a:r>
            <a:rPr lang="es-ES" b="1" dirty="0"/>
            <a:t>Descubre</a:t>
          </a:r>
        </a:p>
      </dgm:t>
    </dgm:pt>
    <dgm:pt modelId="{58E38BBB-FB5A-44E1-8436-039F81B77E07}" type="parTrans" cxnId="{9A691708-445E-4738-A4B6-D44607A31C11}">
      <dgm:prSet/>
      <dgm:spPr/>
      <dgm:t>
        <a:bodyPr/>
        <a:lstStyle/>
        <a:p>
          <a:endParaRPr lang="es-ES"/>
        </a:p>
      </dgm:t>
    </dgm:pt>
    <dgm:pt modelId="{0ACB4972-DCF8-404B-B503-C3DB6A055954}" type="sibTrans" cxnId="{9A691708-445E-4738-A4B6-D44607A31C11}">
      <dgm:prSet/>
      <dgm:spPr/>
      <dgm:t>
        <a:bodyPr/>
        <a:lstStyle/>
        <a:p>
          <a:endParaRPr lang="es-ES"/>
        </a:p>
      </dgm:t>
    </dgm:pt>
    <dgm:pt modelId="{D3074737-F0A3-42EC-AE6F-D4E1974DF2F6}">
      <dgm:prSet phldrT="[Texto]" custT="1"/>
      <dgm:spPr/>
      <dgm:t>
        <a:bodyPr/>
        <a:lstStyle/>
        <a:p>
          <a:r>
            <a:rPr lang="es-ES" sz="1600" dirty="0"/>
            <a:t>Investiga observando la naturaleza y buscando fuentes bibliográficas</a:t>
          </a:r>
        </a:p>
      </dgm:t>
    </dgm:pt>
    <dgm:pt modelId="{9801E478-32DF-479A-91DE-9C3E6B908CEF}" type="parTrans" cxnId="{51BD9098-384C-40F5-A66D-1B9A8EF8BB3C}">
      <dgm:prSet/>
      <dgm:spPr/>
      <dgm:t>
        <a:bodyPr/>
        <a:lstStyle/>
        <a:p>
          <a:endParaRPr lang="es-ES"/>
        </a:p>
      </dgm:t>
    </dgm:pt>
    <dgm:pt modelId="{B1C6BCCC-E1F5-4BF4-8A26-00953F2F7327}" type="sibTrans" cxnId="{51BD9098-384C-40F5-A66D-1B9A8EF8BB3C}">
      <dgm:prSet/>
      <dgm:spPr/>
      <dgm:t>
        <a:bodyPr/>
        <a:lstStyle/>
        <a:p>
          <a:endParaRPr lang="es-ES"/>
        </a:p>
      </dgm:t>
    </dgm:pt>
    <dgm:pt modelId="{F759ECD8-ACD5-48E7-9FE4-196835BD069B}">
      <dgm:prSet phldrT="[Texto]" custT="1"/>
      <dgm:spPr/>
      <dgm:t>
        <a:bodyPr/>
        <a:lstStyle/>
        <a:p>
          <a:r>
            <a:rPr lang="es-ES" sz="2000" b="1" dirty="0"/>
            <a:t>Abstrae</a:t>
          </a:r>
        </a:p>
      </dgm:t>
    </dgm:pt>
    <dgm:pt modelId="{4B72C669-A3A0-40B3-A49B-D812A71F809A}" type="parTrans" cxnId="{26A53105-8E34-495F-82C3-C234F77E01E8}">
      <dgm:prSet/>
      <dgm:spPr/>
      <dgm:t>
        <a:bodyPr/>
        <a:lstStyle/>
        <a:p>
          <a:endParaRPr lang="es-ES"/>
        </a:p>
      </dgm:t>
    </dgm:pt>
    <dgm:pt modelId="{A651E5C3-14E9-42F5-BA0C-C2B3672089DE}" type="sibTrans" cxnId="{26A53105-8E34-495F-82C3-C234F77E01E8}">
      <dgm:prSet/>
      <dgm:spPr/>
      <dgm:t>
        <a:bodyPr/>
        <a:lstStyle/>
        <a:p>
          <a:endParaRPr lang="es-ES"/>
        </a:p>
      </dgm:t>
    </dgm:pt>
    <dgm:pt modelId="{302A0C53-7901-4EA4-A107-F9FA04FE1F26}">
      <dgm:prSet phldrT="[Texto]" custT="1"/>
      <dgm:spPr/>
      <dgm:t>
        <a:bodyPr/>
        <a:lstStyle/>
        <a:p>
          <a:r>
            <a:rPr lang="es-ES" sz="1600" dirty="0"/>
            <a:t>Descubre las claves del éxito de esa solución natural</a:t>
          </a:r>
        </a:p>
      </dgm:t>
    </dgm:pt>
    <dgm:pt modelId="{B8206430-2509-4013-8F5B-9B900669F5C3}" type="parTrans" cxnId="{50F83D35-CD68-405C-9C36-6DE017838557}">
      <dgm:prSet/>
      <dgm:spPr/>
      <dgm:t>
        <a:bodyPr/>
        <a:lstStyle/>
        <a:p>
          <a:endParaRPr lang="es-ES"/>
        </a:p>
      </dgm:t>
    </dgm:pt>
    <dgm:pt modelId="{CAC987D7-1175-40F2-B713-4CB20FD68181}" type="sibTrans" cxnId="{50F83D35-CD68-405C-9C36-6DE017838557}">
      <dgm:prSet/>
      <dgm:spPr/>
      <dgm:t>
        <a:bodyPr/>
        <a:lstStyle/>
        <a:p>
          <a:endParaRPr lang="es-ES"/>
        </a:p>
      </dgm:t>
    </dgm:pt>
    <dgm:pt modelId="{57D85706-A956-47CA-B7F7-D6705EAC37BB}">
      <dgm:prSet phldrT="[Texto]" custT="1"/>
      <dgm:spPr/>
      <dgm:t>
        <a:bodyPr/>
        <a:lstStyle/>
        <a:p>
          <a:r>
            <a:rPr lang="es-ES" sz="2000" b="1" dirty="0"/>
            <a:t>Emula</a:t>
          </a:r>
        </a:p>
      </dgm:t>
    </dgm:pt>
    <dgm:pt modelId="{C1C16230-EBA7-4A5D-9560-2A0214CA6B6E}" type="parTrans" cxnId="{6FD7FD35-BBA0-44D2-B85B-67FFF4499911}">
      <dgm:prSet/>
      <dgm:spPr/>
      <dgm:t>
        <a:bodyPr/>
        <a:lstStyle/>
        <a:p>
          <a:endParaRPr lang="es-ES"/>
        </a:p>
      </dgm:t>
    </dgm:pt>
    <dgm:pt modelId="{B766BA63-39AD-4DE6-8B97-17E5EBCFEAF7}" type="sibTrans" cxnId="{6FD7FD35-BBA0-44D2-B85B-67FFF4499911}">
      <dgm:prSet/>
      <dgm:spPr/>
      <dgm:t>
        <a:bodyPr/>
        <a:lstStyle/>
        <a:p>
          <a:endParaRPr lang="es-ES"/>
        </a:p>
      </dgm:t>
    </dgm:pt>
    <dgm:pt modelId="{5C1C8587-C79F-4FDF-BE68-1E8474E91548}">
      <dgm:prSet phldrT="[Texto]" custT="1"/>
      <dgm:spPr/>
      <dgm:t>
        <a:bodyPr/>
        <a:lstStyle/>
        <a:p>
          <a:r>
            <a:rPr lang="es-ES" sz="1600" dirty="0"/>
            <a:t>Propón una solución amigable con la vida</a:t>
          </a:r>
        </a:p>
      </dgm:t>
    </dgm:pt>
    <dgm:pt modelId="{59E2BCB7-2E87-4D4D-9F13-8820A3FB6D40}" type="parTrans" cxnId="{226CFF6E-5805-45FA-89F3-811ABA771264}">
      <dgm:prSet/>
      <dgm:spPr/>
      <dgm:t>
        <a:bodyPr/>
        <a:lstStyle/>
        <a:p>
          <a:endParaRPr lang="es-ES"/>
        </a:p>
      </dgm:t>
    </dgm:pt>
    <dgm:pt modelId="{4ABB8694-6C4E-4CC2-BB05-390BBEEB7556}" type="sibTrans" cxnId="{226CFF6E-5805-45FA-89F3-811ABA771264}">
      <dgm:prSet/>
      <dgm:spPr/>
      <dgm:t>
        <a:bodyPr/>
        <a:lstStyle/>
        <a:p>
          <a:endParaRPr lang="es-ES"/>
        </a:p>
      </dgm:t>
    </dgm:pt>
    <dgm:pt modelId="{4B19E086-BBF0-47ED-B370-744861B6FA46}">
      <dgm:prSet phldrT="[Texto]" custT="1"/>
      <dgm:spPr/>
      <dgm:t>
        <a:bodyPr/>
        <a:lstStyle/>
        <a:p>
          <a:r>
            <a:rPr lang="es-ES" sz="2000" b="1" dirty="0"/>
            <a:t>Evalúa</a:t>
          </a:r>
        </a:p>
      </dgm:t>
    </dgm:pt>
    <dgm:pt modelId="{73CCE499-BDF2-41EA-B0EA-04830919B47F}" type="parTrans" cxnId="{93C67E14-35E3-43A6-B82B-A374CE7EC5DE}">
      <dgm:prSet/>
      <dgm:spPr/>
      <dgm:t>
        <a:bodyPr/>
        <a:lstStyle/>
        <a:p>
          <a:endParaRPr lang="es-ES"/>
        </a:p>
      </dgm:t>
    </dgm:pt>
    <dgm:pt modelId="{BD00C9EC-C8D0-4DED-8A2A-87581401A07F}" type="sibTrans" cxnId="{93C67E14-35E3-43A6-B82B-A374CE7EC5DE}">
      <dgm:prSet/>
      <dgm:spPr/>
      <dgm:t>
        <a:bodyPr/>
        <a:lstStyle/>
        <a:p>
          <a:endParaRPr lang="es-ES"/>
        </a:p>
      </dgm:t>
    </dgm:pt>
    <dgm:pt modelId="{806F4567-018B-4146-8671-6FE310D2205E}">
      <dgm:prSet phldrT="[Texto]" custT="1"/>
      <dgm:spPr/>
      <dgm:t>
        <a:bodyPr/>
        <a:lstStyle/>
        <a:p>
          <a:r>
            <a:rPr lang="es-ES" sz="1600" dirty="0"/>
            <a:t>Perfecciona la solución hasta llegar a una sostenible</a:t>
          </a:r>
        </a:p>
      </dgm:t>
    </dgm:pt>
    <dgm:pt modelId="{DE5B7C96-ADBD-4A3A-914E-5804D2B515F2}" type="parTrans" cxnId="{0A22F873-03F6-48FD-9DF1-FF47439EAF13}">
      <dgm:prSet/>
      <dgm:spPr/>
      <dgm:t>
        <a:bodyPr/>
        <a:lstStyle/>
        <a:p>
          <a:endParaRPr lang="es-ES"/>
        </a:p>
      </dgm:t>
    </dgm:pt>
    <dgm:pt modelId="{D6227C54-1B04-413E-900C-40EC138B821F}" type="sibTrans" cxnId="{0A22F873-03F6-48FD-9DF1-FF47439EAF13}">
      <dgm:prSet/>
      <dgm:spPr/>
      <dgm:t>
        <a:bodyPr/>
        <a:lstStyle/>
        <a:p>
          <a:endParaRPr lang="es-ES"/>
        </a:p>
      </dgm:t>
    </dgm:pt>
    <dgm:pt modelId="{BC13CBFD-7072-4122-9DA1-F7EB7A5D7F61}" type="pres">
      <dgm:prSet presAssocID="{E7A082C7-CF9A-4B98-8585-AEE5582771D1}" presName="rootnode" presStyleCnt="0">
        <dgm:presLayoutVars>
          <dgm:chMax/>
          <dgm:chPref/>
          <dgm:dir/>
          <dgm:animLvl val="lvl"/>
        </dgm:presLayoutVars>
      </dgm:prSet>
      <dgm:spPr/>
    </dgm:pt>
    <dgm:pt modelId="{D747F7D9-34C4-421A-BD76-6A17F33AC5C1}" type="pres">
      <dgm:prSet presAssocID="{316C5423-8160-4EC3-AEA4-E790AF163E16}" presName="composite" presStyleCnt="0"/>
      <dgm:spPr/>
    </dgm:pt>
    <dgm:pt modelId="{7FEBDF70-3E15-494B-92F4-45F93AEC2C33}" type="pres">
      <dgm:prSet presAssocID="{316C5423-8160-4EC3-AEA4-E790AF163E16}" presName="bentUpArrow1" presStyleLbl="alignImgPlace1" presStyleIdx="0" presStyleCnt="5"/>
      <dgm:spPr/>
    </dgm:pt>
    <dgm:pt modelId="{B2CAB3EA-67AE-48D5-9485-02CE76A4AABF}" type="pres">
      <dgm:prSet presAssocID="{316C5423-8160-4EC3-AEA4-E790AF163E16}" presName="ParentText" presStyleLbl="node1" presStyleIdx="0" presStyleCnt="6">
        <dgm:presLayoutVars>
          <dgm:chMax val="1"/>
          <dgm:chPref val="1"/>
          <dgm:bulletEnabled val="1"/>
        </dgm:presLayoutVars>
      </dgm:prSet>
      <dgm:spPr/>
    </dgm:pt>
    <dgm:pt modelId="{DF1C6925-2B07-42E2-A0DF-F12C800B96F4}" type="pres">
      <dgm:prSet presAssocID="{316C5423-8160-4EC3-AEA4-E790AF163E16}" presName="ChildText" presStyleLbl="revTx" presStyleIdx="0" presStyleCnt="6" custScaleX="307857" custLinFactX="2735" custLinFactNeighborX="100000" custLinFactNeighborY="-20008">
        <dgm:presLayoutVars>
          <dgm:chMax val="0"/>
          <dgm:chPref val="0"/>
          <dgm:bulletEnabled val="1"/>
        </dgm:presLayoutVars>
      </dgm:prSet>
      <dgm:spPr/>
    </dgm:pt>
    <dgm:pt modelId="{B7D4989B-4FCB-453F-BDEB-28253BC5AFD6}" type="pres">
      <dgm:prSet presAssocID="{7C47C57F-3BED-48EF-A27F-1C3149D5229B}" presName="sibTrans" presStyleCnt="0"/>
      <dgm:spPr/>
    </dgm:pt>
    <dgm:pt modelId="{9C1641CE-F478-4FB5-89E7-8A14E40BC6B5}" type="pres">
      <dgm:prSet presAssocID="{472204DF-D342-429F-9A21-D899B6CAE178}" presName="composite" presStyleCnt="0"/>
      <dgm:spPr/>
    </dgm:pt>
    <dgm:pt modelId="{D0F972BD-B37E-4054-8E4C-E225990FDC02}" type="pres">
      <dgm:prSet presAssocID="{472204DF-D342-429F-9A21-D899B6CAE178}" presName="bentUpArrow1" presStyleLbl="alignImgPlace1" presStyleIdx="1" presStyleCnt="5"/>
      <dgm:spPr/>
    </dgm:pt>
    <dgm:pt modelId="{113F2DA8-5675-4458-85B0-635BD1C3CC2C}" type="pres">
      <dgm:prSet presAssocID="{472204DF-D342-429F-9A21-D899B6CAE178}" presName="ParentText" presStyleLbl="node1" presStyleIdx="1" presStyleCnt="6">
        <dgm:presLayoutVars>
          <dgm:chMax val="1"/>
          <dgm:chPref val="1"/>
          <dgm:bulletEnabled val="1"/>
        </dgm:presLayoutVars>
      </dgm:prSet>
      <dgm:spPr/>
    </dgm:pt>
    <dgm:pt modelId="{2973CEB5-D007-41D7-915D-39200B47DC0C}" type="pres">
      <dgm:prSet presAssocID="{472204DF-D342-429F-9A21-D899B6CAE178}" presName="ChildText" presStyleLbl="revTx" presStyleIdx="1" presStyleCnt="6" custScaleX="281692" custLinFactX="10613" custLinFactNeighborX="100000" custLinFactNeighborY="-10059">
        <dgm:presLayoutVars>
          <dgm:chMax val="0"/>
          <dgm:chPref val="0"/>
          <dgm:bulletEnabled val="1"/>
        </dgm:presLayoutVars>
      </dgm:prSet>
      <dgm:spPr/>
    </dgm:pt>
    <dgm:pt modelId="{9C6C0222-AD4C-42E6-9F41-FA642A89B57A}" type="pres">
      <dgm:prSet presAssocID="{832584D8-0DD5-4E27-A809-E26661BF2E0C}" presName="sibTrans" presStyleCnt="0"/>
      <dgm:spPr/>
    </dgm:pt>
    <dgm:pt modelId="{D4F58EBC-320D-4531-8C3F-E0A88232D6DB}" type="pres">
      <dgm:prSet presAssocID="{CFFF4781-D303-423F-AFCB-A8DB87D4E693}" presName="composite" presStyleCnt="0"/>
      <dgm:spPr/>
    </dgm:pt>
    <dgm:pt modelId="{BFC6F6B9-CE45-481D-943B-9122008F0AC4}" type="pres">
      <dgm:prSet presAssocID="{CFFF4781-D303-423F-AFCB-A8DB87D4E693}" presName="bentUpArrow1" presStyleLbl="alignImgPlace1" presStyleIdx="2" presStyleCnt="5"/>
      <dgm:spPr/>
    </dgm:pt>
    <dgm:pt modelId="{0C17416F-31C2-4D79-9E3D-CCA9F397FFCA}" type="pres">
      <dgm:prSet presAssocID="{CFFF4781-D303-423F-AFCB-A8DB87D4E693}" presName="ParentText" presStyleLbl="node1" presStyleIdx="2" presStyleCnt="6">
        <dgm:presLayoutVars>
          <dgm:chMax val="1"/>
          <dgm:chPref val="1"/>
          <dgm:bulletEnabled val="1"/>
        </dgm:presLayoutVars>
      </dgm:prSet>
      <dgm:spPr/>
    </dgm:pt>
    <dgm:pt modelId="{EB69B93A-97E2-4742-B324-8259FC868B1B}" type="pres">
      <dgm:prSet presAssocID="{CFFF4781-D303-423F-AFCB-A8DB87D4E693}" presName="ChildText" presStyleLbl="revTx" presStyleIdx="2" presStyleCnt="6" custScaleX="376075" custLinFactX="66625" custLinFactNeighborX="100000" custLinFactNeighborY="-4777">
        <dgm:presLayoutVars>
          <dgm:chMax val="0"/>
          <dgm:chPref val="0"/>
          <dgm:bulletEnabled val="1"/>
        </dgm:presLayoutVars>
      </dgm:prSet>
      <dgm:spPr/>
    </dgm:pt>
    <dgm:pt modelId="{7FE9290F-0557-4023-B6E5-4CE12FDC6BA5}" type="pres">
      <dgm:prSet presAssocID="{0ACB4972-DCF8-404B-B503-C3DB6A055954}" presName="sibTrans" presStyleCnt="0"/>
      <dgm:spPr/>
    </dgm:pt>
    <dgm:pt modelId="{6C75B8BF-9F47-4DDA-9062-5EE8BDC39492}" type="pres">
      <dgm:prSet presAssocID="{F759ECD8-ACD5-48E7-9FE4-196835BD069B}" presName="composite" presStyleCnt="0"/>
      <dgm:spPr/>
    </dgm:pt>
    <dgm:pt modelId="{3269CCB6-DD09-40D0-B340-7C42E1B497F4}" type="pres">
      <dgm:prSet presAssocID="{F759ECD8-ACD5-48E7-9FE4-196835BD069B}" presName="bentUpArrow1" presStyleLbl="alignImgPlace1" presStyleIdx="3" presStyleCnt="5"/>
      <dgm:spPr/>
    </dgm:pt>
    <dgm:pt modelId="{91E19BCC-62E5-43C6-A90A-607CC108C3EA}" type="pres">
      <dgm:prSet presAssocID="{F759ECD8-ACD5-48E7-9FE4-196835BD069B}" presName="ParentText" presStyleLbl="node1" presStyleIdx="3" presStyleCnt="6">
        <dgm:presLayoutVars>
          <dgm:chMax val="1"/>
          <dgm:chPref val="1"/>
          <dgm:bulletEnabled val="1"/>
        </dgm:presLayoutVars>
      </dgm:prSet>
      <dgm:spPr/>
    </dgm:pt>
    <dgm:pt modelId="{B7C99115-831B-45EB-9920-2A8E1B93D637}" type="pres">
      <dgm:prSet presAssocID="{F759ECD8-ACD5-48E7-9FE4-196835BD069B}" presName="ChildText" presStyleLbl="revTx" presStyleIdx="3" presStyleCnt="6" custScaleX="292800" custLinFactX="1141" custLinFactNeighborX="100000" custLinFactNeighborY="-4803">
        <dgm:presLayoutVars>
          <dgm:chMax val="0"/>
          <dgm:chPref val="0"/>
          <dgm:bulletEnabled val="1"/>
        </dgm:presLayoutVars>
      </dgm:prSet>
      <dgm:spPr/>
    </dgm:pt>
    <dgm:pt modelId="{ABB24CB4-75EC-495B-8054-F54ADED68131}" type="pres">
      <dgm:prSet presAssocID="{A651E5C3-14E9-42F5-BA0C-C2B3672089DE}" presName="sibTrans" presStyleCnt="0"/>
      <dgm:spPr/>
    </dgm:pt>
    <dgm:pt modelId="{C61614C7-390B-4377-822A-620C0E7D0A26}" type="pres">
      <dgm:prSet presAssocID="{57D85706-A956-47CA-B7F7-D6705EAC37BB}" presName="composite" presStyleCnt="0"/>
      <dgm:spPr/>
    </dgm:pt>
    <dgm:pt modelId="{92897C52-4384-4289-8060-CE9B07E7DC70}" type="pres">
      <dgm:prSet presAssocID="{57D85706-A956-47CA-B7F7-D6705EAC37BB}" presName="bentUpArrow1" presStyleLbl="alignImgPlace1" presStyleIdx="4" presStyleCnt="5"/>
      <dgm:spPr/>
    </dgm:pt>
    <dgm:pt modelId="{8646A09A-B4A1-49C5-953A-605E900AFC05}" type="pres">
      <dgm:prSet presAssocID="{57D85706-A956-47CA-B7F7-D6705EAC37BB}" presName="ParentText" presStyleLbl="node1" presStyleIdx="4" presStyleCnt="6">
        <dgm:presLayoutVars>
          <dgm:chMax val="1"/>
          <dgm:chPref val="1"/>
          <dgm:bulletEnabled val="1"/>
        </dgm:presLayoutVars>
      </dgm:prSet>
      <dgm:spPr/>
    </dgm:pt>
    <dgm:pt modelId="{A412454B-7DD6-412A-B53E-3B5A8A10376B}" type="pres">
      <dgm:prSet presAssocID="{57D85706-A956-47CA-B7F7-D6705EAC37BB}" presName="ChildText" presStyleLbl="revTx" presStyleIdx="4" presStyleCnt="6" custScaleX="262236" custLinFactX="2735" custLinFactNeighborX="100000" custLinFactNeighborY="-4803">
        <dgm:presLayoutVars>
          <dgm:chMax val="0"/>
          <dgm:chPref val="0"/>
          <dgm:bulletEnabled val="1"/>
        </dgm:presLayoutVars>
      </dgm:prSet>
      <dgm:spPr/>
    </dgm:pt>
    <dgm:pt modelId="{89CD035A-2335-439E-A4B1-045781CFFBB3}" type="pres">
      <dgm:prSet presAssocID="{B766BA63-39AD-4DE6-8B97-17E5EBCFEAF7}" presName="sibTrans" presStyleCnt="0"/>
      <dgm:spPr/>
    </dgm:pt>
    <dgm:pt modelId="{999F099D-BDDD-4C05-948A-70AF0D978355}" type="pres">
      <dgm:prSet presAssocID="{4B19E086-BBF0-47ED-B370-744861B6FA46}" presName="composite" presStyleCnt="0"/>
      <dgm:spPr/>
    </dgm:pt>
    <dgm:pt modelId="{04067881-42D4-4870-B0B1-C0F5FF987749}" type="pres">
      <dgm:prSet presAssocID="{4B19E086-BBF0-47ED-B370-744861B6FA46}" presName="ParentText" presStyleLbl="node1" presStyleIdx="5" presStyleCnt="6">
        <dgm:presLayoutVars>
          <dgm:chMax val="1"/>
          <dgm:chPref val="1"/>
          <dgm:bulletEnabled val="1"/>
        </dgm:presLayoutVars>
      </dgm:prSet>
      <dgm:spPr/>
    </dgm:pt>
    <dgm:pt modelId="{71832360-0541-43A2-9772-CFAE82D00A99}" type="pres">
      <dgm:prSet presAssocID="{4B19E086-BBF0-47ED-B370-744861B6FA46}" presName="FinalChildText" presStyleLbl="revTx" presStyleIdx="5" presStyleCnt="6" custScaleX="279839" custLinFactX="15482" custLinFactNeighborX="100000" custLinFactNeighborY="-2159">
        <dgm:presLayoutVars>
          <dgm:chMax val="0"/>
          <dgm:chPref val="0"/>
          <dgm:bulletEnabled val="1"/>
        </dgm:presLayoutVars>
      </dgm:prSet>
      <dgm:spPr/>
    </dgm:pt>
  </dgm:ptLst>
  <dgm:cxnLst>
    <dgm:cxn modelId="{26A53105-8E34-495F-82C3-C234F77E01E8}" srcId="{E7A082C7-CF9A-4B98-8585-AEE5582771D1}" destId="{F759ECD8-ACD5-48E7-9FE4-196835BD069B}" srcOrd="3" destOrd="0" parTransId="{4B72C669-A3A0-40B3-A49B-D812A71F809A}" sibTransId="{A651E5C3-14E9-42F5-BA0C-C2B3672089DE}"/>
    <dgm:cxn modelId="{9A691708-445E-4738-A4B6-D44607A31C11}" srcId="{E7A082C7-CF9A-4B98-8585-AEE5582771D1}" destId="{CFFF4781-D303-423F-AFCB-A8DB87D4E693}" srcOrd="2" destOrd="0" parTransId="{58E38BBB-FB5A-44E1-8436-039F81B77E07}" sibTransId="{0ACB4972-DCF8-404B-B503-C3DB6A055954}"/>
    <dgm:cxn modelId="{0777260E-32D0-415C-ABBF-0224815B1506}" type="presOf" srcId="{472204DF-D342-429F-9A21-D899B6CAE178}" destId="{113F2DA8-5675-4458-85B0-635BD1C3CC2C}" srcOrd="0" destOrd="0" presId="urn:microsoft.com/office/officeart/2005/8/layout/StepDownProcess"/>
    <dgm:cxn modelId="{93C67E14-35E3-43A6-B82B-A374CE7EC5DE}" srcId="{E7A082C7-CF9A-4B98-8585-AEE5582771D1}" destId="{4B19E086-BBF0-47ED-B370-744861B6FA46}" srcOrd="5" destOrd="0" parTransId="{73CCE499-BDF2-41EA-B0EA-04830919B47F}" sibTransId="{BD00C9EC-C8D0-4DED-8A2A-87581401A07F}"/>
    <dgm:cxn modelId="{DF059B18-DA55-4FDE-ABC7-5AC4886DEE5F}" type="presOf" srcId="{3A522DA2-6BDD-4FA5-B293-56E4A71B1D5B}" destId="{DF1C6925-2B07-42E2-A0DF-F12C800B96F4}" srcOrd="0" destOrd="0" presId="urn:microsoft.com/office/officeart/2005/8/layout/StepDownProcess"/>
    <dgm:cxn modelId="{50F83D35-CD68-405C-9C36-6DE017838557}" srcId="{F759ECD8-ACD5-48E7-9FE4-196835BD069B}" destId="{302A0C53-7901-4EA4-A107-F9FA04FE1F26}" srcOrd="0" destOrd="0" parTransId="{B8206430-2509-4013-8F5B-9B900669F5C3}" sibTransId="{CAC987D7-1175-40F2-B713-4CB20FD68181}"/>
    <dgm:cxn modelId="{6FD7FD35-BBA0-44D2-B85B-67FFF4499911}" srcId="{E7A082C7-CF9A-4B98-8585-AEE5582771D1}" destId="{57D85706-A956-47CA-B7F7-D6705EAC37BB}" srcOrd="4" destOrd="0" parTransId="{C1C16230-EBA7-4A5D-9560-2A0214CA6B6E}" sibTransId="{B766BA63-39AD-4DE6-8B97-17E5EBCFEAF7}"/>
    <dgm:cxn modelId="{B78EF05B-366D-4823-B37D-0EAAAF9B38FB}" srcId="{472204DF-D342-429F-9A21-D899B6CAE178}" destId="{81B051E4-E197-47EB-B7EC-8CEB8C9339C1}" srcOrd="0" destOrd="0" parTransId="{1692DA81-E7E3-491D-B3F9-290A8860E8A1}" sibTransId="{8A6B3833-2F35-43F8-9D5D-C3286A40B68C}"/>
    <dgm:cxn modelId="{8F581547-7007-4671-89C2-E9C9B9D042D2}" type="presOf" srcId="{F759ECD8-ACD5-48E7-9FE4-196835BD069B}" destId="{91E19BCC-62E5-43C6-A90A-607CC108C3EA}" srcOrd="0" destOrd="0" presId="urn:microsoft.com/office/officeart/2005/8/layout/StepDownProcess"/>
    <dgm:cxn modelId="{B5FD4E6C-BD0B-4F57-8B8F-5AA43FE0CE87}" type="presOf" srcId="{81B051E4-E197-47EB-B7EC-8CEB8C9339C1}" destId="{2973CEB5-D007-41D7-915D-39200B47DC0C}" srcOrd="0" destOrd="0" presId="urn:microsoft.com/office/officeart/2005/8/layout/StepDownProcess"/>
    <dgm:cxn modelId="{226CFF6E-5805-45FA-89F3-811ABA771264}" srcId="{57D85706-A956-47CA-B7F7-D6705EAC37BB}" destId="{5C1C8587-C79F-4FDF-BE68-1E8474E91548}" srcOrd="0" destOrd="0" parTransId="{59E2BCB7-2E87-4D4D-9F13-8820A3FB6D40}" sibTransId="{4ABB8694-6C4E-4CC2-BB05-390BBEEB7556}"/>
    <dgm:cxn modelId="{84BE2170-F9D0-4C88-AD86-503308CF7893}" type="presOf" srcId="{CFFF4781-D303-423F-AFCB-A8DB87D4E693}" destId="{0C17416F-31C2-4D79-9E3D-CCA9F397FFCA}" srcOrd="0" destOrd="0" presId="urn:microsoft.com/office/officeart/2005/8/layout/StepDownProcess"/>
    <dgm:cxn modelId="{FCAFA673-05A0-447F-BBC5-94F10D818464}" srcId="{316C5423-8160-4EC3-AEA4-E790AF163E16}" destId="{3A522DA2-6BDD-4FA5-B293-56E4A71B1D5B}" srcOrd="0" destOrd="0" parTransId="{DC71DC66-E9A3-4B63-AA9E-8A51F2CDBDD1}" sibTransId="{2C1BE6C8-F220-4E35-978A-82916D64AEEB}"/>
    <dgm:cxn modelId="{0A22F873-03F6-48FD-9DF1-FF47439EAF13}" srcId="{4B19E086-BBF0-47ED-B370-744861B6FA46}" destId="{806F4567-018B-4146-8671-6FE310D2205E}" srcOrd="0" destOrd="0" parTransId="{DE5B7C96-ADBD-4A3A-914E-5804D2B515F2}" sibTransId="{D6227C54-1B04-413E-900C-40EC138B821F}"/>
    <dgm:cxn modelId="{2EF34455-F072-46C4-9FBE-0DEA3AEDF844}" srcId="{E7A082C7-CF9A-4B98-8585-AEE5582771D1}" destId="{316C5423-8160-4EC3-AEA4-E790AF163E16}" srcOrd="0" destOrd="0" parTransId="{D9CA79E2-4D6A-4EF1-832E-F6CA2F05B4DB}" sibTransId="{7C47C57F-3BED-48EF-A27F-1C3149D5229B}"/>
    <dgm:cxn modelId="{EA0E727D-C718-4D56-85D5-3987CDB65C5A}" type="presOf" srcId="{D3074737-F0A3-42EC-AE6F-D4E1974DF2F6}" destId="{EB69B93A-97E2-4742-B324-8259FC868B1B}" srcOrd="0" destOrd="0" presId="urn:microsoft.com/office/officeart/2005/8/layout/StepDownProcess"/>
    <dgm:cxn modelId="{11684B84-F8A2-4DCB-89BD-A73B5A8A26D3}" type="presOf" srcId="{57D85706-A956-47CA-B7F7-D6705EAC37BB}" destId="{8646A09A-B4A1-49C5-953A-605E900AFC05}" srcOrd="0" destOrd="0" presId="urn:microsoft.com/office/officeart/2005/8/layout/StepDownProcess"/>
    <dgm:cxn modelId="{51BD9098-384C-40F5-A66D-1B9A8EF8BB3C}" srcId="{CFFF4781-D303-423F-AFCB-A8DB87D4E693}" destId="{D3074737-F0A3-42EC-AE6F-D4E1974DF2F6}" srcOrd="0" destOrd="0" parTransId="{9801E478-32DF-479A-91DE-9C3E6B908CEF}" sibTransId="{B1C6BCCC-E1F5-4BF4-8A26-00953F2F7327}"/>
    <dgm:cxn modelId="{0EFBD8A9-3007-4C82-B5F5-C5B48D69EAC2}" type="presOf" srcId="{E7A082C7-CF9A-4B98-8585-AEE5582771D1}" destId="{BC13CBFD-7072-4122-9DA1-F7EB7A5D7F61}" srcOrd="0" destOrd="0" presId="urn:microsoft.com/office/officeart/2005/8/layout/StepDownProcess"/>
    <dgm:cxn modelId="{E3E667AA-073A-49B9-B8B3-B752CC70AAE6}" type="presOf" srcId="{806F4567-018B-4146-8671-6FE310D2205E}" destId="{71832360-0541-43A2-9772-CFAE82D00A99}" srcOrd="0" destOrd="0" presId="urn:microsoft.com/office/officeart/2005/8/layout/StepDownProcess"/>
    <dgm:cxn modelId="{DC2F68B6-835B-4774-AC96-1D2BCE90A8AD}" type="presOf" srcId="{4B19E086-BBF0-47ED-B370-744861B6FA46}" destId="{04067881-42D4-4870-B0B1-C0F5FF987749}" srcOrd="0" destOrd="0" presId="urn:microsoft.com/office/officeart/2005/8/layout/StepDownProcess"/>
    <dgm:cxn modelId="{718F2DCF-280F-4D97-A394-6C2F09DA4A9C}" type="presOf" srcId="{316C5423-8160-4EC3-AEA4-E790AF163E16}" destId="{B2CAB3EA-67AE-48D5-9485-02CE76A4AABF}" srcOrd="0" destOrd="0" presId="urn:microsoft.com/office/officeart/2005/8/layout/StepDownProcess"/>
    <dgm:cxn modelId="{FA4170E2-1AA7-408D-BFF9-B1560B1E9EF7}" type="presOf" srcId="{302A0C53-7901-4EA4-A107-F9FA04FE1F26}" destId="{B7C99115-831B-45EB-9920-2A8E1B93D637}" srcOrd="0" destOrd="0" presId="urn:microsoft.com/office/officeart/2005/8/layout/StepDownProcess"/>
    <dgm:cxn modelId="{715701F7-9E44-481A-8485-17627A4F16EF}" type="presOf" srcId="{5C1C8587-C79F-4FDF-BE68-1E8474E91548}" destId="{A412454B-7DD6-412A-B53E-3B5A8A10376B}" srcOrd="0" destOrd="0" presId="urn:microsoft.com/office/officeart/2005/8/layout/StepDownProcess"/>
    <dgm:cxn modelId="{B2C1DBFD-A0FB-43A7-9FBF-9E7D0078AB6F}" srcId="{E7A082C7-CF9A-4B98-8585-AEE5582771D1}" destId="{472204DF-D342-429F-9A21-D899B6CAE178}" srcOrd="1" destOrd="0" parTransId="{28399F6D-81BE-4524-8163-88C495A12E21}" sibTransId="{832584D8-0DD5-4E27-A809-E26661BF2E0C}"/>
    <dgm:cxn modelId="{19B37DB1-80AD-4535-81F0-55A9CAE132CE}" type="presParOf" srcId="{BC13CBFD-7072-4122-9DA1-F7EB7A5D7F61}" destId="{D747F7D9-34C4-421A-BD76-6A17F33AC5C1}" srcOrd="0" destOrd="0" presId="urn:microsoft.com/office/officeart/2005/8/layout/StepDownProcess"/>
    <dgm:cxn modelId="{372559E3-A4F3-492F-8CF0-F51FBFAAF9A3}" type="presParOf" srcId="{D747F7D9-34C4-421A-BD76-6A17F33AC5C1}" destId="{7FEBDF70-3E15-494B-92F4-45F93AEC2C33}" srcOrd="0" destOrd="0" presId="urn:microsoft.com/office/officeart/2005/8/layout/StepDownProcess"/>
    <dgm:cxn modelId="{2C1E9F7B-4DE7-4107-9CA5-4B65C036F221}" type="presParOf" srcId="{D747F7D9-34C4-421A-BD76-6A17F33AC5C1}" destId="{B2CAB3EA-67AE-48D5-9485-02CE76A4AABF}" srcOrd="1" destOrd="0" presId="urn:microsoft.com/office/officeart/2005/8/layout/StepDownProcess"/>
    <dgm:cxn modelId="{22C756B9-3573-4ACF-A87D-9246CAB9EAB2}" type="presParOf" srcId="{D747F7D9-34C4-421A-BD76-6A17F33AC5C1}" destId="{DF1C6925-2B07-42E2-A0DF-F12C800B96F4}" srcOrd="2" destOrd="0" presId="urn:microsoft.com/office/officeart/2005/8/layout/StepDownProcess"/>
    <dgm:cxn modelId="{FC44EEAD-7301-4DB0-840E-F1D1A25B7328}" type="presParOf" srcId="{BC13CBFD-7072-4122-9DA1-F7EB7A5D7F61}" destId="{B7D4989B-4FCB-453F-BDEB-28253BC5AFD6}" srcOrd="1" destOrd="0" presId="urn:microsoft.com/office/officeart/2005/8/layout/StepDownProcess"/>
    <dgm:cxn modelId="{75641267-0371-4447-B752-7B4F770D6933}" type="presParOf" srcId="{BC13CBFD-7072-4122-9DA1-F7EB7A5D7F61}" destId="{9C1641CE-F478-4FB5-89E7-8A14E40BC6B5}" srcOrd="2" destOrd="0" presId="urn:microsoft.com/office/officeart/2005/8/layout/StepDownProcess"/>
    <dgm:cxn modelId="{F3B3C5D9-5DB2-49BB-8319-EF9AAC131225}" type="presParOf" srcId="{9C1641CE-F478-4FB5-89E7-8A14E40BC6B5}" destId="{D0F972BD-B37E-4054-8E4C-E225990FDC02}" srcOrd="0" destOrd="0" presId="urn:microsoft.com/office/officeart/2005/8/layout/StepDownProcess"/>
    <dgm:cxn modelId="{E3A27F49-A3C0-4127-8B00-BFEC4C207F3F}" type="presParOf" srcId="{9C1641CE-F478-4FB5-89E7-8A14E40BC6B5}" destId="{113F2DA8-5675-4458-85B0-635BD1C3CC2C}" srcOrd="1" destOrd="0" presId="urn:microsoft.com/office/officeart/2005/8/layout/StepDownProcess"/>
    <dgm:cxn modelId="{4C1701F1-7BAD-4AAD-9C71-4B29E2DB8C4E}" type="presParOf" srcId="{9C1641CE-F478-4FB5-89E7-8A14E40BC6B5}" destId="{2973CEB5-D007-41D7-915D-39200B47DC0C}" srcOrd="2" destOrd="0" presId="urn:microsoft.com/office/officeart/2005/8/layout/StepDownProcess"/>
    <dgm:cxn modelId="{37AAE3B8-41C9-42EA-A254-7CDFC28CF417}" type="presParOf" srcId="{BC13CBFD-7072-4122-9DA1-F7EB7A5D7F61}" destId="{9C6C0222-AD4C-42E6-9F41-FA642A89B57A}" srcOrd="3" destOrd="0" presId="urn:microsoft.com/office/officeart/2005/8/layout/StepDownProcess"/>
    <dgm:cxn modelId="{9EFDF7F5-D0CD-4887-B899-0E6F86220699}" type="presParOf" srcId="{BC13CBFD-7072-4122-9DA1-F7EB7A5D7F61}" destId="{D4F58EBC-320D-4531-8C3F-E0A88232D6DB}" srcOrd="4" destOrd="0" presId="urn:microsoft.com/office/officeart/2005/8/layout/StepDownProcess"/>
    <dgm:cxn modelId="{1EDFBE09-92ED-424B-B0C4-59D3E398715C}" type="presParOf" srcId="{D4F58EBC-320D-4531-8C3F-E0A88232D6DB}" destId="{BFC6F6B9-CE45-481D-943B-9122008F0AC4}" srcOrd="0" destOrd="0" presId="urn:microsoft.com/office/officeart/2005/8/layout/StepDownProcess"/>
    <dgm:cxn modelId="{8158AAA4-3CFF-4480-B02B-FD0D1E84D782}" type="presParOf" srcId="{D4F58EBC-320D-4531-8C3F-E0A88232D6DB}" destId="{0C17416F-31C2-4D79-9E3D-CCA9F397FFCA}" srcOrd="1" destOrd="0" presId="urn:microsoft.com/office/officeart/2005/8/layout/StepDownProcess"/>
    <dgm:cxn modelId="{D310CFB9-7535-48FD-83D8-DA1E1706844F}" type="presParOf" srcId="{D4F58EBC-320D-4531-8C3F-E0A88232D6DB}" destId="{EB69B93A-97E2-4742-B324-8259FC868B1B}" srcOrd="2" destOrd="0" presId="urn:microsoft.com/office/officeart/2005/8/layout/StepDownProcess"/>
    <dgm:cxn modelId="{3086E06B-B437-434F-87B0-F01F72FEBC51}" type="presParOf" srcId="{BC13CBFD-7072-4122-9DA1-F7EB7A5D7F61}" destId="{7FE9290F-0557-4023-B6E5-4CE12FDC6BA5}" srcOrd="5" destOrd="0" presId="urn:microsoft.com/office/officeart/2005/8/layout/StepDownProcess"/>
    <dgm:cxn modelId="{0516855B-6F61-43C3-A04F-167682D94F1B}" type="presParOf" srcId="{BC13CBFD-7072-4122-9DA1-F7EB7A5D7F61}" destId="{6C75B8BF-9F47-4DDA-9062-5EE8BDC39492}" srcOrd="6" destOrd="0" presId="urn:microsoft.com/office/officeart/2005/8/layout/StepDownProcess"/>
    <dgm:cxn modelId="{32E5C4D1-5644-4B0E-97F8-50BCA7581054}" type="presParOf" srcId="{6C75B8BF-9F47-4DDA-9062-5EE8BDC39492}" destId="{3269CCB6-DD09-40D0-B340-7C42E1B497F4}" srcOrd="0" destOrd="0" presId="urn:microsoft.com/office/officeart/2005/8/layout/StepDownProcess"/>
    <dgm:cxn modelId="{F5EEC99B-1B87-4B71-9490-BFA7704BC8FC}" type="presParOf" srcId="{6C75B8BF-9F47-4DDA-9062-5EE8BDC39492}" destId="{91E19BCC-62E5-43C6-A90A-607CC108C3EA}" srcOrd="1" destOrd="0" presId="urn:microsoft.com/office/officeart/2005/8/layout/StepDownProcess"/>
    <dgm:cxn modelId="{C1084236-C7E7-4807-9B07-863F98D922AF}" type="presParOf" srcId="{6C75B8BF-9F47-4DDA-9062-5EE8BDC39492}" destId="{B7C99115-831B-45EB-9920-2A8E1B93D637}" srcOrd="2" destOrd="0" presId="urn:microsoft.com/office/officeart/2005/8/layout/StepDownProcess"/>
    <dgm:cxn modelId="{D7D10131-EB73-428E-BC8B-B2025B04647E}" type="presParOf" srcId="{BC13CBFD-7072-4122-9DA1-F7EB7A5D7F61}" destId="{ABB24CB4-75EC-495B-8054-F54ADED68131}" srcOrd="7" destOrd="0" presId="urn:microsoft.com/office/officeart/2005/8/layout/StepDownProcess"/>
    <dgm:cxn modelId="{5205FCEE-5F04-418E-A439-59E83515D172}" type="presParOf" srcId="{BC13CBFD-7072-4122-9DA1-F7EB7A5D7F61}" destId="{C61614C7-390B-4377-822A-620C0E7D0A26}" srcOrd="8" destOrd="0" presId="urn:microsoft.com/office/officeart/2005/8/layout/StepDownProcess"/>
    <dgm:cxn modelId="{FDC87688-F5F7-4211-A8B3-B3FB4D9520CD}" type="presParOf" srcId="{C61614C7-390B-4377-822A-620C0E7D0A26}" destId="{92897C52-4384-4289-8060-CE9B07E7DC70}" srcOrd="0" destOrd="0" presId="urn:microsoft.com/office/officeart/2005/8/layout/StepDownProcess"/>
    <dgm:cxn modelId="{E425B699-22A0-4EB0-90CC-2D4A53F71796}" type="presParOf" srcId="{C61614C7-390B-4377-822A-620C0E7D0A26}" destId="{8646A09A-B4A1-49C5-953A-605E900AFC05}" srcOrd="1" destOrd="0" presId="urn:microsoft.com/office/officeart/2005/8/layout/StepDownProcess"/>
    <dgm:cxn modelId="{7D7FD401-25DD-4C1F-BDB3-0BD7146F3B4F}" type="presParOf" srcId="{C61614C7-390B-4377-822A-620C0E7D0A26}" destId="{A412454B-7DD6-412A-B53E-3B5A8A10376B}" srcOrd="2" destOrd="0" presId="urn:microsoft.com/office/officeart/2005/8/layout/StepDownProcess"/>
    <dgm:cxn modelId="{9BB64F91-8CD0-483B-9DC2-C0EA54CE1C4E}" type="presParOf" srcId="{BC13CBFD-7072-4122-9DA1-F7EB7A5D7F61}" destId="{89CD035A-2335-439E-A4B1-045781CFFBB3}" srcOrd="9" destOrd="0" presId="urn:microsoft.com/office/officeart/2005/8/layout/StepDownProcess"/>
    <dgm:cxn modelId="{43968327-6025-4B66-AEAC-17602D4A1F56}" type="presParOf" srcId="{BC13CBFD-7072-4122-9DA1-F7EB7A5D7F61}" destId="{999F099D-BDDD-4C05-948A-70AF0D978355}" srcOrd="10" destOrd="0" presId="urn:microsoft.com/office/officeart/2005/8/layout/StepDownProcess"/>
    <dgm:cxn modelId="{1EC313E8-F185-4292-AD0B-F53A64FE16DB}" type="presParOf" srcId="{999F099D-BDDD-4C05-948A-70AF0D978355}" destId="{04067881-42D4-4870-B0B1-C0F5FF987749}" srcOrd="0" destOrd="0" presId="urn:microsoft.com/office/officeart/2005/8/layout/StepDownProcess"/>
    <dgm:cxn modelId="{E0E9307E-9610-4DB7-A715-C686F64E1A89}" type="presParOf" srcId="{999F099D-BDDD-4C05-948A-70AF0D978355}" destId="{71832360-0541-43A2-9772-CFAE82D00A99}" srcOrd="1"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378972-3619-484C-90E0-CC083BCEE41E}" type="doc">
      <dgm:prSet loTypeId="urn:microsoft.com/office/officeart/2005/8/layout/hList1" loCatId="list" qsTypeId="urn:microsoft.com/office/officeart/2005/8/quickstyle/3d1" qsCatId="3D" csTypeId="urn:microsoft.com/office/officeart/2005/8/colors/accent2_3" csCatId="accent2" phldr="1"/>
      <dgm:spPr/>
      <dgm:t>
        <a:bodyPr/>
        <a:lstStyle/>
        <a:p>
          <a:endParaRPr lang="es-ES"/>
        </a:p>
      </dgm:t>
    </dgm:pt>
    <dgm:pt modelId="{021D6F14-75CC-4452-937A-C7AF0D6E5AE4}">
      <dgm:prSet phldrT="[Texto]"/>
      <dgm:spPr/>
      <dgm:t>
        <a:bodyPr/>
        <a:lstStyle/>
        <a:p>
          <a:r>
            <a:rPr lang="es-ES" dirty="0"/>
            <a:t>Nutrientes Biológicos</a:t>
          </a:r>
        </a:p>
      </dgm:t>
    </dgm:pt>
    <dgm:pt modelId="{DDE7FED3-F6EB-4214-A191-7D7E73E245EB}" type="parTrans" cxnId="{47EFBF09-BBE6-49F5-B83F-2E8F6CA10EFA}">
      <dgm:prSet/>
      <dgm:spPr/>
      <dgm:t>
        <a:bodyPr/>
        <a:lstStyle/>
        <a:p>
          <a:endParaRPr lang="es-ES"/>
        </a:p>
      </dgm:t>
    </dgm:pt>
    <dgm:pt modelId="{C11F698C-6C33-4497-86C8-83B6FE7681E7}" type="sibTrans" cxnId="{47EFBF09-BBE6-49F5-B83F-2E8F6CA10EFA}">
      <dgm:prSet/>
      <dgm:spPr/>
      <dgm:t>
        <a:bodyPr/>
        <a:lstStyle/>
        <a:p>
          <a:endParaRPr lang="es-ES"/>
        </a:p>
      </dgm:t>
    </dgm:pt>
    <dgm:pt modelId="{83DB87DC-B7A0-4338-B46C-4730932BC637}">
      <dgm:prSet phldrT="[Texto]"/>
      <dgm:spPr/>
      <dgm:t>
        <a:bodyPr/>
        <a:lstStyle/>
        <a:p>
          <a:r>
            <a:rPr lang="es-ES" dirty="0"/>
            <a:t>Materiales totalmente biodegradables</a:t>
          </a:r>
        </a:p>
      </dgm:t>
    </dgm:pt>
    <dgm:pt modelId="{7C6F52A6-198A-429B-8AD3-B228954E5044}" type="parTrans" cxnId="{6113E359-579E-4FD5-AD73-E6F257334939}">
      <dgm:prSet/>
      <dgm:spPr/>
      <dgm:t>
        <a:bodyPr/>
        <a:lstStyle/>
        <a:p>
          <a:endParaRPr lang="es-ES"/>
        </a:p>
      </dgm:t>
    </dgm:pt>
    <dgm:pt modelId="{E108D720-6EDE-454C-95D5-964E60BD8DE1}" type="sibTrans" cxnId="{6113E359-579E-4FD5-AD73-E6F257334939}">
      <dgm:prSet/>
      <dgm:spPr/>
      <dgm:t>
        <a:bodyPr/>
        <a:lstStyle/>
        <a:p>
          <a:endParaRPr lang="es-ES"/>
        </a:p>
      </dgm:t>
    </dgm:pt>
    <dgm:pt modelId="{1FB0DC41-C7BE-41C2-BB68-A0F1424F3C41}">
      <dgm:prSet phldrT="[Texto]"/>
      <dgm:spPr/>
      <dgm:t>
        <a:bodyPr/>
        <a:lstStyle/>
        <a:p>
          <a:r>
            <a:rPr lang="es-ES" dirty="0"/>
            <a:t>Deben estar exentos de cualquier tóxico.</a:t>
          </a:r>
        </a:p>
      </dgm:t>
    </dgm:pt>
    <dgm:pt modelId="{F0C09ECA-DEAB-4335-A543-9A81C4D71C87}" type="parTrans" cxnId="{7B1AAF24-83BC-427E-A68B-F4D76352636F}">
      <dgm:prSet/>
      <dgm:spPr/>
      <dgm:t>
        <a:bodyPr/>
        <a:lstStyle/>
        <a:p>
          <a:endParaRPr lang="es-ES"/>
        </a:p>
      </dgm:t>
    </dgm:pt>
    <dgm:pt modelId="{15E083F6-815A-4A18-99D4-A28B2BD21531}" type="sibTrans" cxnId="{7B1AAF24-83BC-427E-A68B-F4D76352636F}">
      <dgm:prSet/>
      <dgm:spPr/>
      <dgm:t>
        <a:bodyPr/>
        <a:lstStyle/>
        <a:p>
          <a:endParaRPr lang="es-ES"/>
        </a:p>
      </dgm:t>
    </dgm:pt>
    <dgm:pt modelId="{D7F8AAB1-29AB-4FCA-A45A-21AE754E12A3}">
      <dgm:prSet phldrT="[Texto]"/>
      <dgm:spPr/>
      <dgm:t>
        <a:bodyPr/>
        <a:lstStyle/>
        <a:p>
          <a:r>
            <a:rPr lang="es-ES" dirty="0"/>
            <a:t>Nutrientes técnicos</a:t>
          </a:r>
        </a:p>
      </dgm:t>
    </dgm:pt>
    <dgm:pt modelId="{E148D5C0-F627-4CEF-BA15-0E1EA03DAE1F}" type="parTrans" cxnId="{F456BA98-BEE2-41BC-A3A8-E64121D03D7D}">
      <dgm:prSet/>
      <dgm:spPr/>
      <dgm:t>
        <a:bodyPr/>
        <a:lstStyle/>
        <a:p>
          <a:endParaRPr lang="es-ES"/>
        </a:p>
      </dgm:t>
    </dgm:pt>
    <dgm:pt modelId="{CB1B723C-CF41-41E7-9889-C558B2D4CF36}" type="sibTrans" cxnId="{F456BA98-BEE2-41BC-A3A8-E64121D03D7D}">
      <dgm:prSet/>
      <dgm:spPr/>
      <dgm:t>
        <a:bodyPr/>
        <a:lstStyle/>
        <a:p>
          <a:endParaRPr lang="es-ES"/>
        </a:p>
      </dgm:t>
    </dgm:pt>
    <dgm:pt modelId="{737BA99F-0362-4FE6-A835-B68E4348B454}">
      <dgm:prSet phldrT="[Texto]"/>
      <dgm:spPr/>
      <dgm:t>
        <a:bodyPr/>
        <a:lstStyle/>
        <a:p>
          <a:r>
            <a:rPr lang="es-ES" dirty="0"/>
            <a:t>Materiales sintéticos, no biodegradables</a:t>
          </a:r>
        </a:p>
      </dgm:t>
    </dgm:pt>
    <dgm:pt modelId="{04D61E94-2AE7-4E2D-A991-C4F931A5FDC7}" type="parTrans" cxnId="{B0904B98-0030-4C03-9FC1-E5C1AE97E472}">
      <dgm:prSet/>
      <dgm:spPr/>
      <dgm:t>
        <a:bodyPr/>
        <a:lstStyle/>
        <a:p>
          <a:endParaRPr lang="es-ES"/>
        </a:p>
      </dgm:t>
    </dgm:pt>
    <dgm:pt modelId="{ED093A18-1CE1-4B11-84CD-363217CA43E4}" type="sibTrans" cxnId="{B0904B98-0030-4C03-9FC1-E5C1AE97E472}">
      <dgm:prSet/>
      <dgm:spPr/>
      <dgm:t>
        <a:bodyPr/>
        <a:lstStyle/>
        <a:p>
          <a:endParaRPr lang="es-ES"/>
        </a:p>
      </dgm:t>
    </dgm:pt>
    <dgm:pt modelId="{D0DB2E54-16A1-4E99-837E-681B26BD7918}">
      <dgm:prSet phldrT="[Texto]"/>
      <dgm:spPr/>
      <dgm:t>
        <a:bodyPr/>
        <a:lstStyle/>
        <a:p>
          <a:r>
            <a:rPr lang="es-ES" dirty="0"/>
            <a:t>Deben poderse reciclar (</a:t>
          </a:r>
          <a:r>
            <a:rPr lang="es-ES" i="1" dirty="0"/>
            <a:t>o </a:t>
          </a:r>
          <a:r>
            <a:rPr lang="es-ES" i="1" dirty="0" err="1"/>
            <a:t>upcycling</a:t>
          </a:r>
          <a:r>
            <a:rPr lang="es-ES" dirty="0"/>
            <a:t>) una y otra vez</a:t>
          </a:r>
        </a:p>
      </dgm:t>
    </dgm:pt>
    <dgm:pt modelId="{078902A2-A7CC-404A-BD58-AE93B5C167B3}" type="parTrans" cxnId="{D73FB779-1E6D-4C95-97DE-20C175872BE8}">
      <dgm:prSet/>
      <dgm:spPr/>
      <dgm:t>
        <a:bodyPr/>
        <a:lstStyle/>
        <a:p>
          <a:endParaRPr lang="es-ES"/>
        </a:p>
      </dgm:t>
    </dgm:pt>
    <dgm:pt modelId="{DBE0658C-0CDC-445F-AA56-378D9E25F8DE}" type="sibTrans" cxnId="{D73FB779-1E6D-4C95-97DE-20C175872BE8}">
      <dgm:prSet/>
      <dgm:spPr/>
      <dgm:t>
        <a:bodyPr/>
        <a:lstStyle/>
        <a:p>
          <a:endParaRPr lang="es-ES"/>
        </a:p>
      </dgm:t>
    </dgm:pt>
    <dgm:pt modelId="{1B519E80-3164-4B8F-8CC1-A019BB51043A}">
      <dgm:prSet phldrT="[Texto]"/>
      <dgm:spPr/>
      <dgm:t>
        <a:bodyPr/>
        <a:lstStyle/>
        <a:p>
          <a:r>
            <a:rPr lang="es-ES" dirty="0"/>
            <a:t>Monstruos híbridos</a:t>
          </a:r>
        </a:p>
      </dgm:t>
    </dgm:pt>
    <dgm:pt modelId="{5220F568-BDA6-4FB6-AF2A-032E25CD0B88}" type="parTrans" cxnId="{FA8CF0DE-6509-4241-99F0-525A9F69FAFA}">
      <dgm:prSet/>
      <dgm:spPr/>
      <dgm:t>
        <a:bodyPr/>
        <a:lstStyle/>
        <a:p>
          <a:endParaRPr lang="es-ES"/>
        </a:p>
      </dgm:t>
    </dgm:pt>
    <dgm:pt modelId="{46B72B41-0168-4C00-9BAD-5C103AF49248}" type="sibTrans" cxnId="{FA8CF0DE-6509-4241-99F0-525A9F69FAFA}">
      <dgm:prSet/>
      <dgm:spPr/>
      <dgm:t>
        <a:bodyPr/>
        <a:lstStyle/>
        <a:p>
          <a:endParaRPr lang="es-ES"/>
        </a:p>
      </dgm:t>
    </dgm:pt>
    <dgm:pt modelId="{FD336CE4-EE4F-4755-8E26-73B723261265}">
      <dgm:prSet phldrT="[Texto]"/>
      <dgm:spPr/>
      <dgm:t>
        <a:bodyPr/>
        <a:lstStyle/>
        <a:p>
          <a:r>
            <a:rPr lang="es-ES" dirty="0"/>
            <a:t>Mezcla de materiales biodegradables y no biodegradables sin que se puedan separar</a:t>
          </a:r>
        </a:p>
      </dgm:t>
    </dgm:pt>
    <dgm:pt modelId="{A1276576-0966-4D9C-9BA7-60A62E7F1AC9}" type="parTrans" cxnId="{4DA1FF47-443C-4F50-A0C8-DFC17B55EE72}">
      <dgm:prSet/>
      <dgm:spPr/>
      <dgm:t>
        <a:bodyPr/>
        <a:lstStyle/>
        <a:p>
          <a:endParaRPr lang="es-ES"/>
        </a:p>
      </dgm:t>
    </dgm:pt>
    <dgm:pt modelId="{FF9F12CA-14EF-4189-9B14-9DE85855FE8C}" type="sibTrans" cxnId="{4DA1FF47-443C-4F50-A0C8-DFC17B55EE72}">
      <dgm:prSet/>
      <dgm:spPr/>
      <dgm:t>
        <a:bodyPr/>
        <a:lstStyle/>
        <a:p>
          <a:endParaRPr lang="es-ES"/>
        </a:p>
      </dgm:t>
    </dgm:pt>
    <dgm:pt modelId="{8B0F133F-7F28-4F51-88A4-F05F97615BFE}">
      <dgm:prSet phldrT="[Texto]"/>
      <dgm:spPr/>
      <dgm:t>
        <a:bodyPr/>
        <a:lstStyle/>
        <a:p>
          <a:r>
            <a:rPr lang="es-ES" b="1" dirty="0"/>
            <a:t>Se deben evitar</a:t>
          </a:r>
        </a:p>
      </dgm:t>
    </dgm:pt>
    <dgm:pt modelId="{A16EEF77-7F17-48B4-B68E-D0AEBDE75E2F}" type="parTrans" cxnId="{BC430BD6-5DA8-4257-AC29-A7980EFFD441}">
      <dgm:prSet/>
      <dgm:spPr/>
      <dgm:t>
        <a:bodyPr/>
        <a:lstStyle/>
        <a:p>
          <a:endParaRPr lang="es-ES"/>
        </a:p>
      </dgm:t>
    </dgm:pt>
    <dgm:pt modelId="{60B60107-AA32-4992-BE05-40ED86ED1EBC}" type="sibTrans" cxnId="{BC430BD6-5DA8-4257-AC29-A7980EFFD441}">
      <dgm:prSet/>
      <dgm:spPr/>
      <dgm:t>
        <a:bodyPr/>
        <a:lstStyle/>
        <a:p>
          <a:endParaRPr lang="es-ES"/>
        </a:p>
      </dgm:t>
    </dgm:pt>
    <dgm:pt modelId="{74EE2CEF-EA10-4368-BE4B-238772809B60}" type="pres">
      <dgm:prSet presAssocID="{B9378972-3619-484C-90E0-CC083BCEE41E}" presName="Name0" presStyleCnt="0">
        <dgm:presLayoutVars>
          <dgm:dir/>
          <dgm:animLvl val="lvl"/>
          <dgm:resizeHandles val="exact"/>
        </dgm:presLayoutVars>
      </dgm:prSet>
      <dgm:spPr/>
    </dgm:pt>
    <dgm:pt modelId="{6955F869-977E-4F9A-A443-5B046DDE6E82}" type="pres">
      <dgm:prSet presAssocID="{021D6F14-75CC-4452-937A-C7AF0D6E5AE4}" presName="composite" presStyleCnt="0"/>
      <dgm:spPr/>
    </dgm:pt>
    <dgm:pt modelId="{7CA2FC46-DEEB-4F1B-B3E5-F6D28AF9F8DD}" type="pres">
      <dgm:prSet presAssocID="{021D6F14-75CC-4452-937A-C7AF0D6E5AE4}" presName="parTx" presStyleLbl="alignNode1" presStyleIdx="0" presStyleCnt="3">
        <dgm:presLayoutVars>
          <dgm:chMax val="0"/>
          <dgm:chPref val="0"/>
          <dgm:bulletEnabled val="1"/>
        </dgm:presLayoutVars>
      </dgm:prSet>
      <dgm:spPr/>
    </dgm:pt>
    <dgm:pt modelId="{3717B521-AE6C-4BE6-9009-99D15FD2EDBD}" type="pres">
      <dgm:prSet presAssocID="{021D6F14-75CC-4452-937A-C7AF0D6E5AE4}" presName="desTx" presStyleLbl="alignAccFollowNode1" presStyleIdx="0" presStyleCnt="3">
        <dgm:presLayoutVars>
          <dgm:bulletEnabled val="1"/>
        </dgm:presLayoutVars>
      </dgm:prSet>
      <dgm:spPr/>
    </dgm:pt>
    <dgm:pt modelId="{B5251101-64CF-46E8-83C7-D165C8E8238A}" type="pres">
      <dgm:prSet presAssocID="{C11F698C-6C33-4497-86C8-83B6FE7681E7}" presName="space" presStyleCnt="0"/>
      <dgm:spPr/>
    </dgm:pt>
    <dgm:pt modelId="{7E295D0A-045E-4B7B-9B95-4D19472A947B}" type="pres">
      <dgm:prSet presAssocID="{D7F8AAB1-29AB-4FCA-A45A-21AE754E12A3}" presName="composite" presStyleCnt="0"/>
      <dgm:spPr/>
    </dgm:pt>
    <dgm:pt modelId="{AA2B6B57-2B31-49EF-AD1D-C8049C4CA070}" type="pres">
      <dgm:prSet presAssocID="{D7F8AAB1-29AB-4FCA-A45A-21AE754E12A3}" presName="parTx" presStyleLbl="alignNode1" presStyleIdx="1" presStyleCnt="3">
        <dgm:presLayoutVars>
          <dgm:chMax val="0"/>
          <dgm:chPref val="0"/>
          <dgm:bulletEnabled val="1"/>
        </dgm:presLayoutVars>
      </dgm:prSet>
      <dgm:spPr/>
    </dgm:pt>
    <dgm:pt modelId="{45B9B729-E7F5-4F4B-84C2-10AB7B0C58EB}" type="pres">
      <dgm:prSet presAssocID="{D7F8AAB1-29AB-4FCA-A45A-21AE754E12A3}" presName="desTx" presStyleLbl="alignAccFollowNode1" presStyleIdx="1" presStyleCnt="3">
        <dgm:presLayoutVars>
          <dgm:bulletEnabled val="1"/>
        </dgm:presLayoutVars>
      </dgm:prSet>
      <dgm:spPr/>
    </dgm:pt>
    <dgm:pt modelId="{94B5BD94-5CE6-4CEA-882F-8A79561C187C}" type="pres">
      <dgm:prSet presAssocID="{CB1B723C-CF41-41E7-9889-C558B2D4CF36}" presName="space" presStyleCnt="0"/>
      <dgm:spPr/>
    </dgm:pt>
    <dgm:pt modelId="{CE65F6B3-1289-4E46-BB20-020167D96177}" type="pres">
      <dgm:prSet presAssocID="{1B519E80-3164-4B8F-8CC1-A019BB51043A}" presName="composite" presStyleCnt="0"/>
      <dgm:spPr/>
    </dgm:pt>
    <dgm:pt modelId="{9061DA68-ED34-4A67-BE38-F19AD7C4BF23}" type="pres">
      <dgm:prSet presAssocID="{1B519E80-3164-4B8F-8CC1-A019BB51043A}" presName="parTx" presStyleLbl="alignNode1" presStyleIdx="2" presStyleCnt="3">
        <dgm:presLayoutVars>
          <dgm:chMax val="0"/>
          <dgm:chPref val="0"/>
          <dgm:bulletEnabled val="1"/>
        </dgm:presLayoutVars>
      </dgm:prSet>
      <dgm:spPr/>
    </dgm:pt>
    <dgm:pt modelId="{4084BA2D-A6A0-4ECD-9980-A071AD6F313C}" type="pres">
      <dgm:prSet presAssocID="{1B519E80-3164-4B8F-8CC1-A019BB51043A}" presName="desTx" presStyleLbl="alignAccFollowNode1" presStyleIdx="2" presStyleCnt="3">
        <dgm:presLayoutVars>
          <dgm:bulletEnabled val="1"/>
        </dgm:presLayoutVars>
      </dgm:prSet>
      <dgm:spPr/>
    </dgm:pt>
  </dgm:ptLst>
  <dgm:cxnLst>
    <dgm:cxn modelId="{92EACE06-715A-4F4F-82F2-AB6CAA0AEF70}" type="presOf" srcId="{FD336CE4-EE4F-4755-8E26-73B723261265}" destId="{4084BA2D-A6A0-4ECD-9980-A071AD6F313C}" srcOrd="0" destOrd="0" presId="urn:microsoft.com/office/officeart/2005/8/layout/hList1"/>
    <dgm:cxn modelId="{47EFBF09-BBE6-49F5-B83F-2E8F6CA10EFA}" srcId="{B9378972-3619-484C-90E0-CC083BCEE41E}" destId="{021D6F14-75CC-4452-937A-C7AF0D6E5AE4}" srcOrd="0" destOrd="0" parTransId="{DDE7FED3-F6EB-4214-A191-7D7E73E245EB}" sibTransId="{C11F698C-6C33-4497-86C8-83B6FE7681E7}"/>
    <dgm:cxn modelId="{7B1AAF24-83BC-427E-A68B-F4D76352636F}" srcId="{021D6F14-75CC-4452-937A-C7AF0D6E5AE4}" destId="{1FB0DC41-C7BE-41C2-BB68-A0F1424F3C41}" srcOrd="1" destOrd="0" parTransId="{F0C09ECA-DEAB-4335-A543-9A81C4D71C87}" sibTransId="{15E083F6-815A-4A18-99D4-A28B2BD21531}"/>
    <dgm:cxn modelId="{4DA1FF47-443C-4F50-A0C8-DFC17B55EE72}" srcId="{1B519E80-3164-4B8F-8CC1-A019BB51043A}" destId="{FD336CE4-EE4F-4755-8E26-73B723261265}" srcOrd="0" destOrd="0" parTransId="{A1276576-0966-4D9C-9BA7-60A62E7F1AC9}" sibTransId="{FF9F12CA-14EF-4189-9B14-9DE85855FE8C}"/>
    <dgm:cxn modelId="{BA38FC72-DE88-4161-9E44-E2E57128421D}" type="presOf" srcId="{1FB0DC41-C7BE-41C2-BB68-A0F1424F3C41}" destId="{3717B521-AE6C-4BE6-9009-99D15FD2EDBD}" srcOrd="0" destOrd="1" presId="urn:microsoft.com/office/officeart/2005/8/layout/hList1"/>
    <dgm:cxn modelId="{91F62256-D733-4381-87AF-DE4E570405A7}" type="presOf" srcId="{1B519E80-3164-4B8F-8CC1-A019BB51043A}" destId="{9061DA68-ED34-4A67-BE38-F19AD7C4BF23}" srcOrd="0" destOrd="0" presId="urn:microsoft.com/office/officeart/2005/8/layout/hList1"/>
    <dgm:cxn modelId="{D73FB779-1E6D-4C95-97DE-20C175872BE8}" srcId="{D7F8AAB1-29AB-4FCA-A45A-21AE754E12A3}" destId="{D0DB2E54-16A1-4E99-837E-681B26BD7918}" srcOrd="1" destOrd="0" parTransId="{078902A2-A7CC-404A-BD58-AE93B5C167B3}" sibTransId="{DBE0658C-0CDC-445F-AA56-378D9E25F8DE}"/>
    <dgm:cxn modelId="{6113E359-579E-4FD5-AD73-E6F257334939}" srcId="{021D6F14-75CC-4452-937A-C7AF0D6E5AE4}" destId="{83DB87DC-B7A0-4338-B46C-4730932BC637}" srcOrd="0" destOrd="0" parTransId="{7C6F52A6-198A-429B-8AD3-B228954E5044}" sibTransId="{E108D720-6EDE-454C-95D5-964E60BD8DE1}"/>
    <dgm:cxn modelId="{98430795-F49B-4235-9FAF-4094F9D70770}" type="presOf" srcId="{83DB87DC-B7A0-4338-B46C-4730932BC637}" destId="{3717B521-AE6C-4BE6-9009-99D15FD2EDBD}" srcOrd="0" destOrd="0" presId="urn:microsoft.com/office/officeart/2005/8/layout/hList1"/>
    <dgm:cxn modelId="{B0904B98-0030-4C03-9FC1-E5C1AE97E472}" srcId="{D7F8AAB1-29AB-4FCA-A45A-21AE754E12A3}" destId="{737BA99F-0362-4FE6-A835-B68E4348B454}" srcOrd="0" destOrd="0" parTransId="{04D61E94-2AE7-4E2D-A991-C4F931A5FDC7}" sibTransId="{ED093A18-1CE1-4B11-84CD-363217CA43E4}"/>
    <dgm:cxn modelId="{F456BA98-BEE2-41BC-A3A8-E64121D03D7D}" srcId="{B9378972-3619-484C-90E0-CC083BCEE41E}" destId="{D7F8AAB1-29AB-4FCA-A45A-21AE754E12A3}" srcOrd="1" destOrd="0" parTransId="{E148D5C0-F627-4CEF-BA15-0E1EA03DAE1F}" sibTransId="{CB1B723C-CF41-41E7-9889-C558B2D4CF36}"/>
    <dgm:cxn modelId="{28FF7B9F-766C-41F8-B2CF-5469B56EE746}" type="presOf" srcId="{021D6F14-75CC-4452-937A-C7AF0D6E5AE4}" destId="{7CA2FC46-DEEB-4F1B-B3E5-F6D28AF9F8DD}" srcOrd="0" destOrd="0" presId="urn:microsoft.com/office/officeart/2005/8/layout/hList1"/>
    <dgm:cxn modelId="{674E0DAE-BABA-4522-BF00-85CC676159FD}" type="presOf" srcId="{D0DB2E54-16A1-4E99-837E-681B26BD7918}" destId="{45B9B729-E7F5-4F4B-84C2-10AB7B0C58EB}" srcOrd="0" destOrd="1" presId="urn:microsoft.com/office/officeart/2005/8/layout/hList1"/>
    <dgm:cxn modelId="{BC430BD6-5DA8-4257-AC29-A7980EFFD441}" srcId="{1B519E80-3164-4B8F-8CC1-A019BB51043A}" destId="{8B0F133F-7F28-4F51-88A4-F05F97615BFE}" srcOrd="1" destOrd="0" parTransId="{A16EEF77-7F17-48B4-B68E-D0AEBDE75E2F}" sibTransId="{60B60107-AA32-4992-BE05-40ED86ED1EBC}"/>
    <dgm:cxn modelId="{621425DE-B3CE-48E8-A00A-2B4EF7B95E29}" type="presOf" srcId="{737BA99F-0362-4FE6-A835-B68E4348B454}" destId="{45B9B729-E7F5-4F4B-84C2-10AB7B0C58EB}" srcOrd="0" destOrd="0" presId="urn:microsoft.com/office/officeart/2005/8/layout/hList1"/>
    <dgm:cxn modelId="{FA8CF0DE-6509-4241-99F0-525A9F69FAFA}" srcId="{B9378972-3619-484C-90E0-CC083BCEE41E}" destId="{1B519E80-3164-4B8F-8CC1-A019BB51043A}" srcOrd="2" destOrd="0" parTransId="{5220F568-BDA6-4FB6-AF2A-032E25CD0B88}" sibTransId="{46B72B41-0168-4C00-9BAD-5C103AF49248}"/>
    <dgm:cxn modelId="{9BBF98EE-0200-49AF-A41B-16FBDCC4DBAE}" type="presOf" srcId="{8B0F133F-7F28-4F51-88A4-F05F97615BFE}" destId="{4084BA2D-A6A0-4ECD-9980-A071AD6F313C}" srcOrd="0" destOrd="1" presId="urn:microsoft.com/office/officeart/2005/8/layout/hList1"/>
    <dgm:cxn modelId="{5260D8FC-24C2-4C94-BC31-9E84770133A2}" type="presOf" srcId="{D7F8AAB1-29AB-4FCA-A45A-21AE754E12A3}" destId="{AA2B6B57-2B31-49EF-AD1D-C8049C4CA070}" srcOrd="0" destOrd="0" presId="urn:microsoft.com/office/officeart/2005/8/layout/hList1"/>
    <dgm:cxn modelId="{0B6765FF-AC71-434C-B80D-9CCA49A1E0B8}" type="presOf" srcId="{B9378972-3619-484C-90E0-CC083BCEE41E}" destId="{74EE2CEF-EA10-4368-BE4B-238772809B60}" srcOrd="0" destOrd="0" presId="urn:microsoft.com/office/officeart/2005/8/layout/hList1"/>
    <dgm:cxn modelId="{C513FA9D-DBE2-4A86-8A3D-60730D305333}" type="presParOf" srcId="{74EE2CEF-EA10-4368-BE4B-238772809B60}" destId="{6955F869-977E-4F9A-A443-5B046DDE6E82}" srcOrd="0" destOrd="0" presId="urn:microsoft.com/office/officeart/2005/8/layout/hList1"/>
    <dgm:cxn modelId="{CA5BCF0F-308A-4A9D-9CE4-BCBDDAE15737}" type="presParOf" srcId="{6955F869-977E-4F9A-A443-5B046DDE6E82}" destId="{7CA2FC46-DEEB-4F1B-B3E5-F6D28AF9F8DD}" srcOrd="0" destOrd="0" presId="urn:microsoft.com/office/officeart/2005/8/layout/hList1"/>
    <dgm:cxn modelId="{CB92883F-F488-426E-BEE2-6941CAE6992F}" type="presParOf" srcId="{6955F869-977E-4F9A-A443-5B046DDE6E82}" destId="{3717B521-AE6C-4BE6-9009-99D15FD2EDBD}" srcOrd="1" destOrd="0" presId="urn:microsoft.com/office/officeart/2005/8/layout/hList1"/>
    <dgm:cxn modelId="{4343E8E2-A565-42A2-B362-C13587247332}" type="presParOf" srcId="{74EE2CEF-EA10-4368-BE4B-238772809B60}" destId="{B5251101-64CF-46E8-83C7-D165C8E8238A}" srcOrd="1" destOrd="0" presId="urn:microsoft.com/office/officeart/2005/8/layout/hList1"/>
    <dgm:cxn modelId="{18E79C42-4B77-444E-93EB-28B8D5935071}" type="presParOf" srcId="{74EE2CEF-EA10-4368-BE4B-238772809B60}" destId="{7E295D0A-045E-4B7B-9B95-4D19472A947B}" srcOrd="2" destOrd="0" presId="urn:microsoft.com/office/officeart/2005/8/layout/hList1"/>
    <dgm:cxn modelId="{89020CBA-3B8F-4CDB-A076-595EAB217DB5}" type="presParOf" srcId="{7E295D0A-045E-4B7B-9B95-4D19472A947B}" destId="{AA2B6B57-2B31-49EF-AD1D-C8049C4CA070}" srcOrd="0" destOrd="0" presId="urn:microsoft.com/office/officeart/2005/8/layout/hList1"/>
    <dgm:cxn modelId="{6B05DAE3-D014-4A88-833F-65073E9C1ACC}" type="presParOf" srcId="{7E295D0A-045E-4B7B-9B95-4D19472A947B}" destId="{45B9B729-E7F5-4F4B-84C2-10AB7B0C58EB}" srcOrd="1" destOrd="0" presId="urn:microsoft.com/office/officeart/2005/8/layout/hList1"/>
    <dgm:cxn modelId="{75E23681-7D0D-489D-A314-8A18C921554C}" type="presParOf" srcId="{74EE2CEF-EA10-4368-BE4B-238772809B60}" destId="{94B5BD94-5CE6-4CEA-882F-8A79561C187C}" srcOrd="3" destOrd="0" presId="urn:microsoft.com/office/officeart/2005/8/layout/hList1"/>
    <dgm:cxn modelId="{1E8B456B-B8F6-41F8-86E2-DAE0BFB694D7}" type="presParOf" srcId="{74EE2CEF-EA10-4368-BE4B-238772809B60}" destId="{CE65F6B3-1289-4E46-BB20-020167D96177}" srcOrd="4" destOrd="0" presId="urn:microsoft.com/office/officeart/2005/8/layout/hList1"/>
    <dgm:cxn modelId="{22069E5C-C36E-49F0-BA8E-20FC6AEAF40A}" type="presParOf" srcId="{CE65F6B3-1289-4E46-BB20-020167D96177}" destId="{9061DA68-ED34-4A67-BE38-F19AD7C4BF23}" srcOrd="0" destOrd="0" presId="urn:microsoft.com/office/officeart/2005/8/layout/hList1"/>
    <dgm:cxn modelId="{855C8667-474D-426C-9986-5E3BE5949038}" type="presParOf" srcId="{CE65F6B3-1289-4E46-BB20-020167D96177}" destId="{4084BA2D-A6A0-4ECD-9980-A071AD6F313C}"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9D3351-259E-4619-884D-9BEE80D320E9}" type="doc">
      <dgm:prSet loTypeId="urn:microsoft.com/office/officeart/2005/8/layout/cycle1" loCatId="cycle" qsTypeId="urn:microsoft.com/office/officeart/2005/8/quickstyle/3d4" qsCatId="3D" csTypeId="urn:microsoft.com/office/officeart/2005/8/colors/colorful2" csCatId="colorful" phldr="1"/>
      <dgm:spPr/>
      <dgm:t>
        <a:bodyPr/>
        <a:lstStyle/>
        <a:p>
          <a:endParaRPr lang="es-ES"/>
        </a:p>
      </dgm:t>
    </dgm:pt>
    <dgm:pt modelId="{0892F88E-2F4E-44F9-A328-FAD41C67497C}">
      <dgm:prSet phldrT="[Texto]" custT="1"/>
      <dgm:spPr/>
      <dgm:t>
        <a:bodyPr/>
        <a:lstStyle/>
        <a:p>
          <a:r>
            <a:rPr lang="es-ES" sz="1700" b="1" dirty="0"/>
            <a:t>Acondicionamiento y embalaje</a:t>
          </a:r>
        </a:p>
      </dgm:t>
    </dgm:pt>
    <dgm:pt modelId="{339CD3A6-0176-4122-842F-C5C35180DABC}" type="parTrans" cxnId="{FB2B30F6-2E20-42EA-A3BE-B020054D90F2}">
      <dgm:prSet/>
      <dgm:spPr/>
      <dgm:t>
        <a:bodyPr/>
        <a:lstStyle/>
        <a:p>
          <a:endParaRPr lang="es-ES"/>
        </a:p>
      </dgm:t>
    </dgm:pt>
    <dgm:pt modelId="{06F387DD-451C-4AF4-ABE8-ABA6DC9558C7}" type="sibTrans" cxnId="{FB2B30F6-2E20-42EA-A3BE-B020054D90F2}">
      <dgm:prSet/>
      <dgm:spPr/>
      <dgm:t>
        <a:bodyPr/>
        <a:lstStyle/>
        <a:p>
          <a:endParaRPr lang="es-ES"/>
        </a:p>
      </dgm:t>
    </dgm:pt>
    <dgm:pt modelId="{A473E9F5-1074-4801-92A1-F8A38E16BA77}">
      <dgm:prSet phldrT="[Texto]" custT="1"/>
      <dgm:spPr/>
      <dgm:t>
        <a:bodyPr/>
        <a:lstStyle/>
        <a:p>
          <a:r>
            <a:rPr lang="es-ES" sz="1700" b="1" dirty="0"/>
            <a:t>Transporte</a:t>
          </a:r>
        </a:p>
      </dgm:t>
    </dgm:pt>
    <dgm:pt modelId="{79CBF961-F8E0-4502-9CEB-58C5C2985A2B}" type="parTrans" cxnId="{09C9247F-3363-4A07-8333-535A01BBD879}">
      <dgm:prSet/>
      <dgm:spPr/>
      <dgm:t>
        <a:bodyPr/>
        <a:lstStyle/>
        <a:p>
          <a:endParaRPr lang="es-ES"/>
        </a:p>
      </dgm:t>
    </dgm:pt>
    <dgm:pt modelId="{E054977D-A676-43B2-999D-35B44DE7EB39}" type="sibTrans" cxnId="{09C9247F-3363-4A07-8333-535A01BBD879}">
      <dgm:prSet/>
      <dgm:spPr/>
      <dgm:t>
        <a:bodyPr/>
        <a:lstStyle/>
        <a:p>
          <a:endParaRPr lang="es-ES"/>
        </a:p>
      </dgm:t>
    </dgm:pt>
    <dgm:pt modelId="{42473ACA-C408-4DB0-AD22-531AB5590AB6}">
      <dgm:prSet phldrT="[Texto]" custT="1"/>
      <dgm:spPr/>
      <dgm:t>
        <a:bodyPr/>
        <a:lstStyle/>
        <a:p>
          <a:r>
            <a:rPr lang="es-ES" sz="1700" b="1" dirty="0"/>
            <a:t>Uso</a:t>
          </a:r>
        </a:p>
      </dgm:t>
    </dgm:pt>
    <dgm:pt modelId="{438CCC7F-8865-49B0-B35E-8A7E0833B6C2}" type="parTrans" cxnId="{33134D35-D6AA-437A-A427-67897E0D2776}">
      <dgm:prSet/>
      <dgm:spPr/>
      <dgm:t>
        <a:bodyPr/>
        <a:lstStyle/>
        <a:p>
          <a:endParaRPr lang="es-ES"/>
        </a:p>
      </dgm:t>
    </dgm:pt>
    <dgm:pt modelId="{33C281B3-712F-4192-8BF8-8480B70C1276}" type="sibTrans" cxnId="{33134D35-D6AA-437A-A427-67897E0D2776}">
      <dgm:prSet/>
      <dgm:spPr/>
      <dgm:t>
        <a:bodyPr/>
        <a:lstStyle/>
        <a:p>
          <a:endParaRPr lang="es-ES"/>
        </a:p>
      </dgm:t>
    </dgm:pt>
    <dgm:pt modelId="{1A2512FC-853D-4990-B105-BA0015A1AB41}">
      <dgm:prSet phldrT="[Texto]" custT="1"/>
      <dgm:spPr/>
      <dgm:t>
        <a:bodyPr/>
        <a:lstStyle/>
        <a:p>
          <a:r>
            <a:rPr lang="es-ES" sz="1700" b="1" dirty="0"/>
            <a:t>Extracción de materias primas</a:t>
          </a:r>
        </a:p>
      </dgm:t>
    </dgm:pt>
    <dgm:pt modelId="{DFE5D04A-CDDD-4C30-BF49-0055A5063678}" type="parTrans" cxnId="{B6D1F646-148C-4FB7-AC82-CFF04AF255C8}">
      <dgm:prSet/>
      <dgm:spPr/>
      <dgm:t>
        <a:bodyPr/>
        <a:lstStyle/>
        <a:p>
          <a:endParaRPr lang="es-ES"/>
        </a:p>
      </dgm:t>
    </dgm:pt>
    <dgm:pt modelId="{818172D2-F280-4265-A7E6-65AD790B73A3}" type="sibTrans" cxnId="{B6D1F646-148C-4FB7-AC82-CFF04AF255C8}">
      <dgm:prSet/>
      <dgm:spPr/>
      <dgm:t>
        <a:bodyPr/>
        <a:lstStyle/>
        <a:p>
          <a:endParaRPr lang="es-ES"/>
        </a:p>
      </dgm:t>
    </dgm:pt>
    <dgm:pt modelId="{F1E6789A-A366-4925-9E98-E06D4064FD8C}">
      <dgm:prSet phldrT="[Texto]" custT="1"/>
      <dgm:spPr/>
      <dgm:t>
        <a:bodyPr/>
        <a:lstStyle/>
        <a:p>
          <a:r>
            <a:rPr lang="es-ES" sz="1700" b="1" dirty="0"/>
            <a:t>Fabricación</a:t>
          </a:r>
        </a:p>
      </dgm:t>
    </dgm:pt>
    <dgm:pt modelId="{F8501E97-0A25-4B07-A27F-508011083F56}" type="parTrans" cxnId="{A8B1C7C7-CAF5-46B4-8B11-D61AC30DC243}">
      <dgm:prSet/>
      <dgm:spPr/>
      <dgm:t>
        <a:bodyPr/>
        <a:lstStyle/>
        <a:p>
          <a:endParaRPr lang="es-ES"/>
        </a:p>
      </dgm:t>
    </dgm:pt>
    <dgm:pt modelId="{120358B2-F319-4E17-8D49-3C2D3E45E2F0}" type="sibTrans" cxnId="{A8B1C7C7-CAF5-46B4-8B11-D61AC30DC243}">
      <dgm:prSet/>
      <dgm:spPr/>
      <dgm:t>
        <a:bodyPr/>
        <a:lstStyle/>
        <a:p>
          <a:endParaRPr lang="es-ES"/>
        </a:p>
      </dgm:t>
    </dgm:pt>
    <dgm:pt modelId="{22365683-B8DF-4670-94F4-0019DAD94626}">
      <dgm:prSet custT="1"/>
      <dgm:spPr/>
      <dgm:t>
        <a:bodyPr/>
        <a:lstStyle/>
        <a:p>
          <a:r>
            <a:rPr lang="es-ES" sz="1700" b="1" dirty="0"/>
            <a:t>Desecho</a:t>
          </a:r>
        </a:p>
      </dgm:t>
    </dgm:pt>
    <dgm:pt modelId="{15DC4381-F10A-49F2-943F-85C0D8DF1DE9}" type="parTrans" cxnId="{1E3F28A5-24DC-4EA6-80DB-4D5F6A2D4268}">
      <dgm:prSet/>
      <dgm:spPr/>
      <dgm:t>
        <a:bodyPr/>
        <a:lstStyle/>
        <a:p>
          <a:endParaRPr lang="es-ES"/>
        </a:p>
      </dgm:t>
    </dgm:pt>
    <dgm:pt modelId="{922470B2-65E6-4D94-A747-28EDF81C250B}" type="sibTrans" cxnId="{1E3F28A5-24DC-4EA6-80DB-4D5F6A2D4268}">
      <dgm:prSet/>
      <dgm:spPr/>
      <dgm:t>
        <a:bodyPr/>
        <a:lstStyle/>
        <a:p>
          <a:endParaRPr lang="es-ES"/>
        </a:p>
      </dgm:t>
    </dgm:pt>
    <dgm:pt modelId="{01F3CE67-A62A-4C85-8962-0074D7989750}" type="pres">
      <dgm:prSet presAssocID="{E79D3351-259E-4619-884D-9BEE80D320E9}" presName="cycle" presStyleCnt="0">
        <dgm:presLayoutVars>
          <dgm:dir/>
          <dgm:resizeHandles val="exact"/>
        </dgm:presLayoutVars>
      </dgm:prSet>
      <dgm:spPr/>
    </dgm:pt>
    <dgm:pt modelId="{DEB70917-A3A8-40A5-9C5E-EA2BEF54A551}" type="pres">
      <dgm:prSet presAssocID="{0892F88E-2F4E-44F9-A328-FAD41C67497C}" presName="dummy" presStyleCnt="0"/>
      <dgm:spPr/>
    </dgm:pt>
    <dgm:pt modelId="{AACD4DF6-45A7-4B62-9CA9-A51FC0B0FB6E}" type="pres">
      <dgm:prSet presAssocID="{0892F88E-2F4E-44F9-A328-FAD41C67497C}" presName="node" presStyleLbl="revTx" presStyleIdx="0" presStyleCnt="6" custScaleX="170204" custRadScaleRad="97874" custRadScaleInc="3606">
        <dgm:presLayoutVars>
          <dgm:bulletEnabled val="1"/>
        </dgm:presLayoutVars>
      </dgm:prSet>
      <dgm:spPr/>
    </dgm:pt>
    <dgm:pt modelId="{4AED166C-1B3D-4D93-8C1A-75D1EB47F7E4}" type="pres">
      <dgm:prSet presAssocID="{06F387DD-451C-4AF4-ABE8-ABA6DC9558C7}" presName="sibTrans" presStyleLbl="node1" presStyleIdx="0" presStyleCnt="6"/>
      <dgm:spPr/>
    </dgm:pt>
    <dgm:pt modelId="{DF038BAD-D74F-4423-8508-9B204F94C7D6}" type="pres">
      <dgm:prSet presAssocID="{A473E9F5-1074-4801-92A1-F8A38E16BA77}" presName="dummy" presStyleCnt="0"/>
      <dgm:spPr/>
    </dgm:pt>
    <dgm:pt modelId="{21F5FA9E-30E0-4AA9-AC9B-E556ACCE2B58}" type="pres">
      <dgm:prSet presAssocID="{A473E9F5-1074-4801-92A1-F8A38E16BA77}" presName="node" presStyleLbl="revTx" presStyleIdx="1" presStyleCnt="6">
        <dgm:presLayoutVars>
          <dgm:bulletEnabled val="1"/>
        </dgm:presLayoutVars>
      </dgm:prSet>
      <dgm:spPr/>
    </dgm:pt>
    <dgm:pt modelId="{06D162D0-D8A0-46B9-B559-404A40FD27BD}" type="pres">
      <dgm:prSet presAssocID="{E054977D-A676-43B2-999D-35B44DE7EB39}" presName="sibTrans" presStyleLbl="node1" presStyleIdx="1" presStyleCnt="6"/>
      <dgm:spPr/>
    </dgm:pt>
    <dgm:pt modelId="{62E57E99-A2C5-40DD-9D0E-DC9032CC8193}" type="pres">
      <dgm:prSet presAssocID="{42473ACA-C408-4DB0-AD22-531AB5590AB6}" presName="dummy" presStyleCnt="0"/>
      <dgm:spPr/>
    </dgm:pt>
    <dgm:pt modelId="{367DA7E5-E77D-481C-85C8-A62F5038C368}" type="pres">
      <dgm:prSet presAssocID="{42473ACA-C408-4DB0-AD22-531AB5590AB6}" presName="node" presStyleLbl="revTx" presStyleIdx="2" presStyleCnt="6">
        <dgm:presLayoutVars>
          <dgm:bulletEnabled val="1"/>
        </dgm:presLayoutVars>
      </dgm:prSet>
      <dgm:spPr/>
    </dgm:pt>
    <dgm:pt modelId="{FE5489E0-1CF7-4F17-A4CB-53D3DEB5ED03}" type="pres">
      <dgm:prSet presAssocID="{33C281B3-712F-4192-8BF8-8480B70C1276}" presName="sibTrans" presStyleLbl="node1" presStyleIdx="2" presStyleCnt="6"/>
      <dgm:spPr/>
    </dgm:pt>
    <dgm:pt modelId="{DAE96842-9CFA-4CE7-9D3E-FB8CC55FDB7B}" type="pres">
      <dgm:prSet presAssocID="{22365683-B8DF-4670-94F4-0019DAD94626}" presName="dummy" presStyleCnt="0"/>
      <dgm:spPr/>
    </dgm:pt>
    <dgm:pt modelId="{9A68928F-39FE-4E7C-B2C9-662AFE24C75F}" type="pres">
      <dgm:prSet presAssocID="{22365683-B8DF-4670-94F4-0019DAD94626}" presName="node" presStyleLbl="revTx" presStyleIdx="3" presStyleCnt="6">
        <dgm:presLayoutVars>
          <dgm:bulletEnabled val="1"/>
        </dgm:presLayoutVars>
      </dgm:prSet>
      <dgm:spPr/>
    </dgm:pt>
    <dgm:pt modelId="{4BA3EFED-9151-44A6-98C9-115E5A2F1F6C}" type="pres">
      <dgm:prSet presAssocID="{922470B2-65E6-4D94-A747-28EDF81C250B}" presName="sibTrans" presStyleLbl="node1" presStyleIdx="3" presStyleCnt="6"/>
      <dgm:spPr/>
    </dgm:pt>
    <dgm:pt modelId="{B20340B5-2CCE-4AF8-BBF6-0523396D0668}" type="pres">
      <dgm:prSet presAssocID="{1A2512FC-853D-4990-B105-BA0015A1AB41}" presName="dummy" presStyleCnt="0"/>
      <dgm:spPr/>
    </dgm:pt>
    <dgm:pt modelId="{46F5B2E4-C92F-4549-9F51-FE99336B84E7}" type="pres">
      <dgm:prSet presAssocID="{1A2512FC-853D-4990-B105-BA0015A1AB41}" presName="node" presStyleLbl="revTx" presStyleIdx="4" presStyleCnt="6" custScaleX="171775">
        <dgm:presLayoutVars>
          <dgm:bulletEnabled val="1"/>
        </dgm:presLayoutVars>
      </dgm:prSet>
      <dgm:spPr/>
    </dgm:pt>
    <dgm:pt modelId="{F4E9A001-C787-4AC2-9F54-B414C7543A06}" type="pres">
      <dgm:prSet presAssocID="{818172D2-F280-4265-A7E6-65AD790B73A3}" presName="sibTrans" presStyleLbl="node1" presStyleIdx="4" presStyleCnt="6"/>
      <dgm:spPr/>
    </dgm:pt>
    <dgm:pt modelId="{39380AFE-4B5C-415C-9FBE-A5761DB3FEBF}" type="pres">
      <dgm:prSet presAssocID="{F1E6789A-A366-4925-9E98-E06D4064FD8C}" presName="dummy" presStyleCnt="0"/>
      <dgm:spPr/>
    </dgm:pt>
    <dgm:pt modelId="{76D1D0B3-4E7D-4221-B5EF-1C683302C901}" type="pres">
      <dgm:prSet presAssocID="{F1E6789A-A366-4925-9E98-E06D4064FD8C}" presName="node" presStyleLbl="revTx" presStyleIdx="5" presStyleCnt="6">
        <dgm:presLayoutVars>
          <dgm:bulletEnabled val="1"/>
        </dgm:presLayoutVars>
      </dgm:prSet>
      <dgm:spPr/>
    </dgm:pt>
    <dgm:pt modelId="{778AF4F5-34E9-403A-A787-4074BF53CE2C}" type="pres">
      <dgm:prSet presAssocID="{120358B2-F319-4E17-8D49-3C2D3E45E2F0}" presName="sibTrans" presStyleLbl="node1" presStyleIdx="5" presStyleCnt="6"/>
      <dgm:spPr/>
    </dgm:pt>
  </dgm:ptLst>
  <dgm:cxnLst>
    <dgm:cxn modelId="{DB6AC820-4FFA-46BB-B87E-3F58FEB5F5ED}" type="presOf" srcId="{E79D3351-259E-4619-884D-9BEE80D320E9}" destId="{01F3CE67-A62A-4C85-8962-0074D7989750}" srcOrd="0" destOrd="0" presId="urn:microsoft.com/office/officeart/2005/8/layout/cycle1"/>
    <dgm:cxn modelId="{F6502327-D7F9-4F22-9F6B-C05B713D64A6}" type="presOf" srcId="{22365683-B8DF-4670-94F4-0019DAD94626}" destId="{9A68928F-39FE-4E7C-B2C9-662AFE24C75F}" srcOrd="0" destOrd="0" presId="urn:microsoft.com/office/officeart/2005/8/layout/cycle1"/>
    <dgm:cxn modelId="{741E4334-243B-49D7-96C4-C3B843B8D039}" type="presOf" srcId="{42473ACA-C408-4DB0-AD22-531AB5590AB6}" destId="{367DA7E5-E77D-481C-85C8-A62F5038C368}" srcOrd="0" destOrd="0" presId="urn:microsoft.com/office/officeart/2005/8/layout/cycle1"/>
    <dgm:cxn modelId="{33134D35-D6AA-437A-A427-67897E0D2776}" srcId="{E79D3351-259E-4619-884D-9BEE80D320E9}" destId="{42473ACA-C408-4DB0-AD22-531AB5590AB6}" srcOrd="2" destOrd="0" parTransId="{438CCC7F-8865-49B0-B35E-8A7E0833B6C2}" sibTransId="{33C281B3-712F-4192-8BF8-8480B70C1276}"/>
    <dgm:cxn modelId="{79FC0A3E-14D7-45C7-86AB-B7E89D9ADF92}" type="presOf" srcId="{120358B2-F319-4E17-8D49-3C2D3E45E2F0}" destId="{778AF4F5-34E9-403A-A787-4074BF53CE2C}" srcOrd="0" destOrd="0" presId="urn:microsoft.com/office/officeart/2005/8/layout/cycle1"/>
    <dgm:cxn modelId="{B6D1F646-148C-4FB7-AC82-CFF04AF255C8}" srcId="{E79D3351-259E-4619-884D-9BEE80D320E9}" destId="{1A2512FC-853D-4990-B105-BA0015A1AB41}" srcOrd="4" destOrd="0" parTransId="{DFE5D04A-CDDD-4C30-BF49-0055A5063678}" sibTransId="{818172D2-F280-4265-A7E6-65AD790B73A3}"/>
    <dgm:cxn modelId="{16103448-9B36-46C8-B46F-DC9FEE7C5413}" type="presOf" srcId="{818172D2-F280-4265-A7E6-65AD790B73A3}" destId="{F4E9A001-C787-4AC2-9F54-B414C7543A06}" srcOrd="0" destOrd="0" presId="urn:microsoft.com/office/officeart/2005/8/layout/cycle1"/>
    <dgm:cxn modelId="{401F2F4A-4AA8-485B-BFF5-D4BBED7C1B20}" type="presOf" srcId="{0892F88E-2F4E-44F9-A328-FAD41C67497C}" destId="{AACD4DF6-45A7-4B62-9CA9-A51FC0B0FB6E}" srcOrd="0" destOrd="0" presId="urn:microsoft.com/office/officeart/2005/8/layout/cycle1"/>
    <dgm:cxn modelId="{09C9247F-3363-4A07-8333-535A01BBD879}" srcId="{E79D3351-259E-4619-884D-9BEE80D320E9}" destId="{A473E9F5-1074-4801-92A1-F8A38E16BA77}" srcOrd="1" destOrd="0" parTransId="{79CBF961-F8E0-4502-9CEB-58C5C2985A2B}" sibTransId="{E054977D-A676-43B2-999D-35B44DE7EB39}"/>
    <dgm:cxn modelId="{AE35DF98-5BEE-49C1-AB31-789340A43C54}" type="presOf" srcId="{E054977D-A676-43B2-999D-35B44DE7EB39}" destId="{06D162D0-D8A0-46B9-B559-404A40FD27BD}" srcOrd="0" destOrd="0" presId="urn:microsoft.com/office/officeart/2005/8/layout/cycle1"/>
    <dgm:cxn modelId="{5B61CB9C-DB53-4E70-83CD-4D176E0532D6}" type="presOf" srcId="{33C281B3-712F-4192-8BF8-8480B70C1276}" destId="{FE5489E0-1CF7-4F17-A4CB-53D3DEB5ED03}" srcOrd="0" destOrd="0" presId="urn:microsoft.com/office/officeart/2005/8/layout/cycle1"/>
    <dgm:cxn modelId="{1E3F28A5-24DC-4EA6-80DB-4D5F6A2D4268}" srcId="{E79D3351-259E-4619-884D-9BEE80D320E9}" destId="{22365683-B8DF-4670-94F4-0019DAD94626}" srcOrd="3" destOrd="0" parTransId="{15DC4381-F10A-49F2-943F-85C0D8DF1DE9}" sibTransId="{922470B2-65E6-4D94-A747-28EDF81C250B}"/>
    <dgm:cxn modelId="{CE1B9CB4-400F-47AD-B19F-62F9FE0382B6}" type="presOf" srcId="{A473E9F5-1074-4801-92A1-F8A38E16BA77}" destId="{21F5FA9E-30E0-4AA9-AC9B-E556ACCE2B58}" srcOrd="0" destOrd="0" presId="urn:microsoft.com/office/officeart/2005/8/layout/cycle1"/>
    <dgm:cxn modelId="{FC8C56BE-FCF1-4147-A127-933E551298AC}" type="presOf" srcId="{06F387DD-451C-4AF4-ABE8-ABA6DC9558C7}" destId="{4AED166C-1B3D-4D93-8C1A-75D1EB47F7E4}" srcOrd="0" destOrd="0" presId="urn:microsoft.com/office/officeart/2005/8/layout/cycle1"/>
    <dgm:cxn modelId="{B4A8FCBE-947A-449C-A3EB-58BF6BFBA5F0}" type="presOf" srcId="{922470B2-65E6-4D94-A747-28EDF81C250B}" destId="{4BA3EFED-9151-44A6-98C9-115E5A2F1F6C}" srcOrd="0" destOrd="0" presId="urn:microsoft.com/office/officeart/2005/8/layout/cycle1"/>
    <dgm:cxn modelId="{A8B1C7C7-CAF5-46B4-8B11-D61AC30DC243}" srcId="{E79D3351-259E-4619-884D-9BEE80D320E9}" destId="{F1E6789A-A366-4925-9E98-E06D4064FD8C}" srcOrd="5" destOrd="0" parTransId="{F8501E97-0A25-4B07-A27F-508011083F56}" sibTransId="{120358B2-F319-4E17-8D49-3C2D3E45E2F0}"/>
    <dgm:cxn modelId="{047CE2CA-1F1D-4E45-9494-4B750C4019AF}" type="presOf" srcId="{1A2512FC-853D-4990-B105-BA0015A1AB41}" destId="{46F5B2E4-C92F-4549-9F51-FE99336B84E7}" srcOrd="0" destOrd="0" presId="urn:microsoft.com/office/officeart/2005/8/layout/cycle1"/>
    <dgm:cxn modelId="{A3FA90DA-74D6-47AC-B882-770114F09320}" type="presOf" srcId="{F1E6789A-A366-4925-9E98-E06D4064FD8C}" destId="{76D1D0B3-4E7D-4221-B5EF-1C683302C901}" srcOrd="0" destOrd="0" presId="urn:microsoft.com/office/officeart/2005/8/layout/cycle1"/>
    <dgm:cxn modelId="{FB2B30F6-2E20-42EA-A3BE-B020054D90F2}" srcId="{E79D3351-259E-4619-884D-9BEE80D320E9}" destId="{0892F88E-2F4E-44F9-A328-FAD41C67497C}" srcOrd="0" destOrd="0" parTransId="{339CD3A6-0176-4122-842F-C5C35180DABC}" sibTransId="{06F387DD-451C-4AF4-ABE8-ABA6DC9558C7}"/>
    <dgm:cxn modelId="{2C8B23FF-8066-42FF-8379-004F396CA2BA}" type="presParOf" srcId="{01F3CE67-A62A-4C85-8962-0074D7989750}" destId="{DEB70917-A3A8-40A5-9C5E-EA2BEF54A551}" srcOrd="0" destOrd="0" presId="urn:microsoft.com/office/officeart/2005/8/layout/cycle1"/>
    <dgm:cxn modelId="{78852555-AC88-4E19-8DE8-F9D55B6156B7}" type="presParOf" srcId="{01F3CE67-A62A-4C85-8962-0074D7989750}" destId="{AACD4DF6-45A7-4B62-9CA9-A51FC0B0FB6E}" srcOrd="1" destOrd="0" presId="urn:microsoft.com/office/officeart/2005/8/layout/cycle1"/>
    <dgm:cxn modelId="{255A10AB-9AF2-4FD6-B652-3BFE05863648}" type="presParOf" srcId="{01F3CE67-A62A-4C85-8962-0074D7989750}" destId="{4AED166C-1B3D-4D93-8C1A-75D1EB47F7E4}" srcOrd="2" destOrd="0" presId="urn:microsoft.com/office/officeart/2005/8/layout/cycle1"/>
    <dgm:cxn modelId="{7CF12582-ED92-4133-841F-F31DA4950ED3}" type="presParOf" srcId="{01F3CE67-A62A-4C85-8962-0074D7989750}" destId="{DF038BAD-D74F-4423-8508-9B204F94C7D6}" srcOrd="3" destOrd="0" presId="urn:microsoft.com/office/officeart/2005/8/layout/cycle1"/>
    <dgm:cxn modelId="{79D8CBFC-A95C-4570-904F-2CCCCC723DA8}" type="presParOf" srcId="{01F3CE67-A62A-4C85-8962-0074D7989750}" destId="{21F5FA9E-30E0-4AA9-AC9B-E556ACCE2B58}" srcOrd="4" destOrd="0" presId="urn:microsoft.com/office/officeart/2005/8/layout/cycle1"/>
    <dgm:cxn modelId="{653EE625-AC5D-4E3C-B18F-1349187A9BFC}" type="presParOf" srcId="{01F3CE67-A62A-4C85-8962-0074D7989750}" destId="{06D162D0-D8A0-46B9-B559-404A40FD27BD}" srcOrd="5" destOrd="0" presId="urn:microsoft.com/office/officeart/2005/8/layout/cycle1"/>
    <dgm:cxn modelId="{392FBB9C-7642-4CCE-A2A4-183116EF01ED}" type="presParOf" srcId="{01F3CE67-A62A-4C85-8962-0074D7989750}" destId="{62E57E99-A2C5-40DD-9D0E-DC9032CC8193}" srcOrd="6" destOrd="0" presId="urn:microsoft.com/office/officeart/2005/8/layout/cycle1"/>
    <dgm:cxn modelId="{BB390CE4-6BB5-46A6-8CDF-D967570136CA}" type="presParOf" srcId="{01F3CE67-A62A-4C85-8962-0074D7989750}" destId="{367DA7E5-E77D-481C-85C8-A62F5038C368}" srcOrd="7" destOrd="0" presId="urn:microsoft.com/office/officeart/2005/8/layout/cycle1"/>
    <dgm:cxn modelId="{39F0F59A-ED43-4F73-99DB-C0C55AB434D5}" type="presParOf" srcId="{01F3CE67-A62A-4C85-8962-0074D7989750}" destId="{FE5489E0-1CF7-4F17-A4CB-53D3DEB5ED03}" srcOrd="8" destOrd="0" presId="urn:microsoft.com/office/officeart/2005/8/layout/cycle1"/>
    <dgm:cxn modelId="{35143C85-2250-44B6-8AE0-F3BA1F122871}" type="presParOf" srcId="{01F3CE67-A62A-4C85-8962-0074D7989750}" destId="{DAE96842-9CFA-4CE7-9D3E-FB8CC55FDB7B}" srcOrd="9" destOrd="0" presId="urn:microsoft.com/office/officeart/2005/8/layout/cycle1"/>
    <dgm:cxn modelId="{9AB68B8E-1401-4D22-8E55-1EDD6B7D7C3A}" type="presParOf" srcId="{01F3CE67-A62A-4C85-8962-0074D7989750}" destId="{9A68928F-39FE-4E7C-B2C9-662AFE24C75F}" srcOrd="10" destOrd="0" presId="urn:microsoft.com/office/officeart/2005/8/layout/cycle1"/>
    <dgm:cxn modelId="{AE3F9B54-0F5F-414B-AF50-D4F552151CF6}" type="presParOf" srcId="{01F3CE67-A62A-4C85-8962-0074D7989750}" destId="{4BA3EFED-9151-44A6-98C9-115E5A2F1F6C}" srcOrd="11" destOrd="0" presId="urn:microsoft.com/office/officeart/2005/8/layout/cycle1"/>
    <dgm:cxn modelId="{9B89E53B-4041-4878-A63D-651D14C2862C}" type="presParOf" srcId="{01F3CE67-A62A-4C85-8962-0074D7989750}" destId="{B20340B5-2CCE-4AF8-BBF6-0523396D0668}" srcOrd="12" destOrd="0" presId="urn:microsoft.com/office/officeart/2005/8/layout/cycle1"/>
    <dgm:cxn modelId="{A365F91C-A7B4-45BF-84CB-B8A35F12A730}" type="presParOf" srcId="{01F3CE67-A62A-4C85-8962-0074D7989750}" destId="{46F5B2E4-C92F-4549-9F51-FE99336B84E7}" srcOrd="13" destOrd="0" presId="urn:microsoft.com/office/officeart/2005/8/layout/cycle1"/>
    <dgm:cxn modelId="{CCC4134E-2CEA-4F0B-96B0-247431BDBDC8}" type="presParOf" srcId="{01F3CE67-A62A-4C85-8962-0074D7989750}" destId="{F4E9A001-C787-4AC2-9F54-B414C7543A06}" srcOrd="14" destOrd="0" presId="urn:microsoft.com/office/officeart/2005/8/layout/cycle1"/>
    <dgm:cxn modelId="{AC24E838-E7DC-49BB-AE60-588F16D5265E}" type="presParOf" srcId="{01F3CE67-A62A-4C85-8962-0074D7989750}" destId="{39380AFE-4B5C-415C-9FBE-A5761DB3FEBF}" srcOrd="15" destOrd="0" presId="urn:microsoft.com/office/officeart/2005/8/layout/cycle1"/>
    <dgm:cxn modelId="{F1891F72-E680-4AD6-A4CA-45AE31625D5A}" type="presParOf" srcId="{01F3CE67-A62A-4C85-8962-0074D7989750}" destId="{76D1D0B3-4E7D-4221-B5EF-1C683302C901}" srcOrd="16" destOrd="0" presId="urn:microsoft.com/office/officeart/2005/8/layout/cycle1"/>
    <dgm:cxn modelId="{8DA4B9E6-AC49-4D41-97B5-63E57800C924}" type="presParOf" srcId="{01F3CE67-A62A-4C85-8962-0074D7989750}" destId="{778AF4F5-34E9-403A-A787-4074BF53CE2C}" srcOrd="17" destOrd="0" presId="urn:microsoft.com/office/officeart/2005/8/layout/cycle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9AC90F2-086C-4992-9D2A-8FEDBD397C6B}" type="doc">
      <dgm:prSet loTypeId="urn:microsoft.com/office/officeart/2005/8/layout/cycle8" loCatId="cycle" qsTypeId="urn:microsoft.com/office/officeart/2005/8/quickstyle/3d1" qsCatId="3D" csTypeId="urn:microsoft.com/office/officeart/2005/8/colors/colorful5" csCatId="colorful" phldr="1"/>
      <dgm:spPr/>
    </dgm:pt>
    <dgm:pt modelId="{91F1D2EF-4E1C-4190-B94A-7CA2C0ABFBDA}">
      <dgm:prSet phldrT="[Texto]" custT="1"/>
      <dgm:spPr/>
      <dgm:t>
        <a:bodyPr/>
        <a:lstStyle/>
        <a:p>
          <a:r>
            <a:rPr lang="es-ES" sz="2000" b="1" dirty="0"/>
            <a:t>Diseño </a:t>
          </a:r>
        </a:p>
      </dgm:t>
    </dgm:pt>
    <dgm:pt modelId="{F76D5260-BEE7-40C7-BA3E-7C6A2DE2E44F}" type="parTrans" cxnId="{7247D793-8FA6-4816-A0B2-FE626EE677E8}">
      <dgm:prSet/>
      <dgm:spPr/>
      <dgm:t>
        <a:bodyPr/>
        <a:lstStyle/>
        <a:p>
          <a:endParaRPr lang="es-ES"/>
        </a:p>
      </dgm:t>
    </dgm:pt>
    <dgm:pt modelId="{CA4EE945-2F53-4BA5-AC4C-53A224BFDF4B}" type="sibTrans" cxnId="{7247D793-8FA6-4816-A0B2-FE626EE677E8}">
      <dgm:prSet/>
      <dgm:spPr/>
      <dgm:t>
        <a:bodyPr/>
        <a:lstStyle/>
        <a:p>
          <a:endParaRPr lang="es-ES"/>
        </a:p>
      </dgm:t>
    </dgm:pt>
    <dgm:pt modelId="{52D06F5E-DF6B-47E6-B966-2DD43B394EF0}">
      <dgm:prSet phldrT="[Texto]" custT="1"/>
      <dgm:spPr/>
      <dgm:t>
        <a:bodyPr/>
        <a:lstStyle/>
        <a:p>
          <a:r>
            <a:rPr lang="es-ES" sz="2000" b="1" dirty="0"/>
            <a:t>Fabricación</a:t>
          </a:r>
        </a:p>
      </dgm:t>
    </dgm:pt>
    <dgm:pt modelId="{E3087CB2-9ADC-4CC9-845F-449B245ABD36}" type="parTrans" cxnId="{D0FF3759-6409-444F-91F5-685AAA11AC6C}">
      <dgm:prSet/>
      <dgm:spPr/>
      <dgm:t>
        <a:bodyPr/>
        <a:lstStyle/>
        <a:p>
          <a:endParaRPr lang="es-ES"/>
        </a:p>
      </dgm:t>
    </dgm:pt>
    <dgm:pt modelId="{27FEAE1D-052F-4129-A870-9C88B65579EF}" type="sibTrans" cxnId="{D0FF3759-6409-444F-91F5-685AAA11AC6C}">
      <dgm:prSet/>
      <dgm:spPr/>
      <dgm:t>
        <a:bodyPr/>
        <a:lstStyle/>
        <a:p>
          <a:endParaRPr lang="es-ES"/>
        </a:p>
      </dgm:t>
    </dgm:pt>
    <dgm:pt modelId="{0F28626E-008C-4B0E-B84C-8DD8BFB2FD62}">
      <dgm:prSet phldrT="[Texto]" custT="1"/>
      <dgm:spPr/>
      <dgm:t>
        <a:bodyPr/>
        <a:lstStyle/>
        <a:p>
          <a:r>
            <a:rPr lang="es-ES" sz="2000" b="1" dirty="0"/>
            <a:t>Distribución</a:t>
          </a:r>
        </a:p>
      </dgm:t>
    </dgm:pt>
    <dgm:pt modelId="{415C2B50-5C4A-43F6-AFF6-D43C3BCAA7BF}" type="parTrans" cxnId="{B941ACE1-F911-4E3B-82C4-AE63F2242DA7}">
      <dgm:prSet/>
      <dgm:spPr/>
      <dgm:t>
        <a:bodyPr/>
        <a:lstStyle/>
        <a:p>
          <a:endParaRPr lang="es-ES"/>
        </a:p>
      </dgm:t>
    </dgm:pt>
    <dgm:pt modelId="{5BB7CE25-162B-481C-91D0-2A31152DF578}" type="sibTrans" cxnId="{B941ACE1-F911-4E3B-82C4-AE63F2242DA7}">
      <dgm:prSet/>
      <dgm:spPr/>
      <dgm:t>
        <a:bodyPr/>
        <a:lstStyle/>
        <a:p>
          <a:endParaRPr lang="es-ES"/>
        </a:p>
      </dgm:t>
    </dgm:pt>
    <dgm:pt modelId="{5832370F-3728-45A6-BBC5-07DD1223FA20}">
      <dgm:prSet phldrT="[Texto]" custT="1"/>
      <dgm:spPr/>
      <dgm:t>
        <a:bodyPr/>
        <a:lstStyle/>
        <a:p>
          <a:r>
            <a:rPr lang="es-ES" sz="2000" b="1" dirty="0"/>
            <a:t>Final de la vida útil</a:t>
          </a:r>
        </a:p>
      </dgm:t>
    </dgm:pt>
    <dgm:pt modelId="{E18FED98-A68E-4C47-924C-8959DF002EB9}" type="parTrans" cxnId="{BE83A47D-5335-4FF5-95D2-3FD76A8BD4D3}">
      <dgm:prSet/>
      <dgm:spPr/>
      <dgm:t>
        <a:bodyPr/>
        <a:lstStyle/>
        <a:p>
          <a:endParaRPr lang="es-ES"/>
        </a:p>
      </dgm:t>
    </dgm:pt>
    <dgm:pt modelId="{14133DD1-219F-45C2-BFEE-E5A9701B527C}" type="sibTrans" cxnId="{BE83A47D-5335-4FF5-95D2-3FD76A8BD4D3}">
      <dgm:prSet/>
      <dgm:spPr/>
      <dgm:t>
        <a:bodyPr/>
        <a:lstStyle/>
        <a:p>
          <a:endParaRPr lang="es-ES"/>
        </a:p>
      </dgm:t>
    </dgm:pt>
    <dgm:pt modelId="{618E1029-F8DB-4210-A372-2F34E2699222}" type="pres">
      <dgm:prSet presAssocID="{89AC90F2-086C-4992-9D2A-8FEDBD397C6B}" presName="compositeShape" presStyleCnt="0">
        <dgm:presLayoutVars>
          <dgm:chMax val="7"/>
          <dgm:dir/>
          <dgm:resizeHandles val="exact"/>
        </dgm:presLayoutVars>
      </dgm:prSet>
      <dgm:spPr/>
    </dgm:pt>
    <dgm:pt modelId="{3BE78916-9C9F-41FA-AA72-56F61AF4764B}" type="pres">
      <dgm:prSet presAssocID="{89AC90F2-086C-4992-9D2A-8FEDBD397C6B}" presName="wedge1" presStyleLbl="node1" presStyleIdx="0" presStyleCnt="4"/>
      <dgm:spPr/>
    </dgm:pt>
    <dgm:pt modelId="{BDE4A918-0A27-4AB8-8ECA-8E54FF5E0EB2}" type="pres">
      <dgm:prSet presAssocID="{89AC90F2-086C-4992-9D2A-8FEDBD397C6B}" presName="dummy1a" presStyleCnt="0"/>
      <dgm:spPr/>
    </dgm:pt>
    <dgm:pt modelId="{F93ADB81-E26A-483F-9D8D-8D1238FBD5AE}" type="pres">
      <dgm:prSet presAssocID="{89AC90F2-086C-4992-9D2A-8FEDBD397C6B}" presName="dummy1b" presStyleCnt="0"/>
      <dgm:spPr/>
    </dgm:pt>
    <dgm:pt modelId="{B0FF7857-D3A0-4BC1-B406-E29383F486FC}" type="pres">
      <dgm:prSet presAssocID="{89AC90F2-086C-4992-9D2A-8FEDBD397C6B}" presName="wedge1Tx" presStyleLbl="node1" presStyleIdx="0" presStyleCnt="4">
        <dgm:presLayoutVars>
          <dgm:chMax val="0"/>
          <dgm:chPref val="0"/>
          <dgm:bulletEnabled val="1"/>
        </dgm:presLayoutVars>
      </dgm:prSet>
      <dgm:spPr/>
    </dgm:pt>
    <dgm:pt modelId="{FA8D988C-CBBB-432E-93E4-937CC153E06F}" type="pres">
      <dgm:prSet presAssocID="{89AC90F2-086C-4992-9D2A-8FEDBD397C6B}" presName="wedge2" presStyleLbl="node1" presStyleIdx="1" presStyleCnt="4"/>
      <dgm:spPr/>
    </dgm:pt>
    <dgm:pt modelId="{C3E8E1CE-8A5D-40F9-9AE5-533252E594A8}" type="pres">
      <dgm:prSet presAssocID="{89AC90F2-086C-4992-9D2A-8FEDBD397C6B}" presName="dummy2a" presStyleCnt="0"/>
      <dgm:spPr/>
    </dgm:pt>
    <dgm:pt modelId="{C23E6F74-1FF2-4875-A95B-DB5ED7B16013}" type="pres">
      <dgm:prSet presAssocID="{89AC90F2-086C-4992-9D2A-8FEDBD397C6B}" presName="dummy2b" presStyleCnt="0"/>
      <dgm:spPr/>
    </dgm:pt>
    <dgm:pt modelId="{3AFA2F86-AA18-4F22-B76E-EFE0A8D5AC4C}" type="pres">
      <dgm:prSet presAssocID="{89AC90F2-086C-4992-9D2A-8FEDBD397C6B}" presName="wedge2Tx" presStyleLbl="node1" presStyleIdx="1" presStyleCnt="4">
        <dgm:presLayoutVars>
          <dgm:chMax val="0"/>
          <dgm:chPref val="0"/>
          <dgm:bulletEnabled val="1"/>
        </dgm:presLayoutVars>
      </dgm:prSet>
      <dgm:spPr/>
    </dgm:pt>
    <dgm:pt modelId="{AF3E877C-01F5-4FAA-962C-F4E1D1D45309}" type="pres">
      <dgm:prSet presAssocID="{89AC90F2-086C-4992-9D2A-8FEDBD397C6B}" presName="wedge3" presStyleLbl="node1" presStyleIdx="2" presStyleCnt="4"/>
      <dgm:spPr/>
    </dgm:pt>
    <dgm:pt modelId="{F116FE25-F6B2-413F-B17A-C22B0DA836DC}" type="pres">
      <dgm:prSet presAssocID="{89AC90F2-086C-4992-9D2A-8FEDBD397C6B}" presName="dummy3a" presStyleCnt="0"/>
      <dgm:spPr/>
    </dgm:pt>
    <dgm:pt modelId="{C75103A2-BB2A-49E4-9961-A56949BB9F7C}" type="pres">
      <dgm:prSet presAssocID="{89AC90F2-086C-4992-9D2A-8FEDBD397C6B}" presName="dummy3b" presStyleCnt="0"/>
      <dgm:spPr/>
    </dgm:pt>
    <dgm:pt modelId="{50DD8450-9F75-45CC-B641-42FAF8ADE971}" type="pres">
      <dgm:prSet presAssocID="{89AC90F2-086C-4992-9D2A-8FEDBD397C6B}" presName="wedge3Tx" presStyleLbl="node1" presStyleIdx="2" presStyleCnt="4">
        <dgm:presLayoutVars>
          <dgm:chMax val="0"/>
          <dgm:chPref val="0"/>
          <dgm:bulletEnabled val="1"/>
        </dgm:presLayoutVars>
      </dgm:prSet>
      <dgm:spPr/>
    </dgm:pt>
    <dgm:pt modelId="{FE6A0984-89B9-408C-A7D8-6FF3A8A54D24}" type="pres">
      <dgm:prSet presAssocID="{89AC90F2-086C-4992-9D2A-8FEDBD397C6B}" presName="wedge4" presStyleLbl="node1" presStyleIdx="3" presStyleCnt="4"/>
      <dgm:spPr/>
    </dgm:pt>
    <dgm:pt modelId="{E5C26E5D-FE11-448A-9550-B881C2995C56}" type="pres">
      <dgm:prSet presAssocID="{89AC90F2-086C-4992-9D2A-8FEDBD397C6B}" presName="dummy4a" presStyleCnt="0"/>
      <dgm:spPr/>
    </dgm:pt>
    <dgm:pt modelId="{C6237438-2A8A-4D0C-B04F-BC9C97E01079}" type="pres">
      <dgm:prSet presAssocID="{89AC90F2-086C-4992-9D2A-8FEDBD397C6B}" presName="dummy4b" presStyleCnt="0"/>
      <dgm:spPr/>
    </dgm:pt>
    <dgm:pt modelId="{3DF62D88-81C3-4947-A2E4-34D9CB157EDE}" type="pres">
      <dgm:prSet presAssocID="{89AC90F2-086C-4992-9D2A-8FEDBD397C6B}" presName="wedge4Tx" presStyleLbl="node1" presStyleIdx="3" presStyleCnt="4">
        <dgm:presLayoutVars>
          <dgm:chMax val="0"/>
          <dgm:chPref val="0"/>
          <dgm:bulletEnabled val="1"/>
        </dgm:presLayoutVars>
      </dgm:prSet>
      <dgm:spPr/>
    </dgm:pt>
    <dgm:pt modelId="{83F1D4C3-BA07-47DF-B91F-5FAB552E63AA}" type="pres">
      <dgm:prSet presAssocID="{CA4EE945-2F53-4BA5-AC4C-53A224BFDF4B}" presName="arrowWedge1" presStyleLbl="fgSibTrans2D1" presStyleIdx="0" presStyleCnt="4"/>
      <dgm:spPr/>
    </dgm:pt>
    <dgm:pt modelId="{DBD117C3-7ED4-4454-A319-4D4B7CFE789F}" type="pres">
      <dgm:prSet presAssocID="{27FEAE1D-052F-4129-A870-9C88B65579EF}" presName="arrowWedge2" presStyleLbl="fgSibTrans2D1" presStyleIdx="1" presStyleCnt="4"/>
      <dgm:spPr/>
    </dgm:pt>
    <dgm:pt modelId="{2A62853B-2099-4721-996A-6367DB5FE716}" type="pres">
      <dgm:prSet presAssocID="{5BB7CE25-162B-481C-91D0-2A31152DF578}" presName="arrowWedge3" presStyleLbl="fgSibTrans2D1" presStyleIdx="2" presStyleCnt="4"/>
      <dgm:spPr/>
    </dgm:pt>
    <dgm:pt modelId="{B9E7EF74-9FCE-47EA-9448-3FCE7764CA31}" type="pres">
      <dgm:prSet presAssocID="{14133DD1-219F-45C2-BFEE-E5A9701B527C}" presName="arrowWedge4" presStyleLbl="fgSibTrans2D1" presStyleIdx="3" presStyleCnt="4"/>
      <dgm:spPr/>
    </dgm:pt>
  </dgm:ptLst>
  <dgm:cxnLst>
    <dgm:cxn modelId="{84CA385E-E7E9-49B3-9BD0-DF4FAE9B01CA}" type="presOf" srcId="{5832370F-3728-45A6-BBC5-07DD1223FA20}" destId="{3DF62D88-81C3-4947-A2E4-34D9CB157EDE}" srcOrd="1" destOrd="0" presId="urn:microsoft.com/office/officeart/2005/8/layout/cycle8"/>
    <dgm:cxn modelId="{11589C41-A5CC-4EB3-B8DC-4269E482497E}" type="presOf" srcId="{5832370F-3728-45A6-BBC5-07DD1223FA20}" destId="{FE6A0984-89B9-408C-A7D8-6FF3A8A54D24}" srcOrd="0" destOrd="0" presId="urn:microsoft.com/office/officeart/2005/8/layout/cycle8"/>
    <dgm:cxn modelId="{CBDD926C-FD4A-4F29-9D1B-5C422974A78C}" type="presOf" srcId="{52D06F5E-DF6B-47E6-B966-2DD43B394EF0}" destId="{3AFA2F86-AA18-4F22-B76E-EFE0A8D5AC4C}" srcOrd="1" destOrd="0" presId="urn:microsoft.com/office/officeart/2005/8/layout/cycle8"/>
    <dgm:cxn modelId="{D0FF3759-6409-444F-91F5-685AAA11AC6C}" srcId="{89AC90F2-086C-4992-9D2A-8FEDBD397C6B}" destId="{52D06F5E-DF6B-47E6-B966-2DD43B394EF0}" srcOrd="1" destOrd="0" parTransId="{E3087CB2-9ADC-4CC9-845F-449B245ABD36}" sibTransId="{27FEAE1D-052F-4129-A870-9C88B65579EF}"/>
    <dgm:cxn modelId="{BE83A47D-5335-4FF5-95D2-3FD76A8BD4D3}" srcId="{89AC90F2-086C-4992-9D2A-8FEDBD397C6B}" destId="{5832370F-3728-45A6-BBC5-07DD1223FA20}" srcOrd="3" destOrd="0" parTransId="{E18FED98-A68E-4C47-924C-8959DF002EB9}" sibTransId="{14133DD1-219F-45C2-BFEE-E5A9701B527C}"/>
    <dgm:cxn modelId="{02471985-CDD3-4ED4-A04E-7DC3E868A827}" type="presOf" srcId="{89AC90F2-086C-4992-9D2A-8FEDBD397C6B}" destId="{618E1029-F8DB-4210-A372-2F34E2699222}" srcOrd="0" destOrd="0" presId="urn:microsoft.com/office/officeart/2005/8/layout/cycle8"/>
    <dgm:cxn modelId="{7247D793-8FA6-4816-A0B2-FE626EE677E8}" srcId="{89AC90F2-086C-4992-9D2A-8FEDBD397C6B}" destId="{91F1D2EF-4E1C-4190-B94A-7CA2C0ABFBDA}" srcOrd="0" destOrd="0" parTransId="{F76D5260-BEE7-40C7-BA3E-7C6A2DE2E44F}" sibTransId="{CA4EE945-2F53-4BA5-AC4C-53A224BFDF4B}"/>
    <dgm:cxn modelId="{487DB899-1853-41DD-83B2-244C22F24BD4}" type="presOf" srcId="{91F1D2EF-4E1C-4190-B94A-7CA2C0ABFBDA}" destId="{3BE78916-9C9F-41FA-AA72-56F61AF4764B}" srcOrd="0" destOrd="0" presId="urn:microsoft.com/office/officeart/2005/8/layout/cycle8"/>
    <dgm:cxn modelId="{630E17B2-5E09-4F18-9DA7-CD60FDB9CF13}" type="presOf" srcId="{91F1D2EF-4E1C-4190-B94A-7CA2C0ABFBDA}" destId="{B0FF7857-D3A0-4BC1-B406-E29383F486FC}" srcOrd="1" destOrd="0" presId="urn:microsoft.com/office/officeart/2005/8/layout/cycle8"/>
    <dgm:cxn modelId="{778277B8-24A8-4456-BB80-78F7345899D8}" type="presOf" srcId="{0F28626E-008C-4B0E-B84C-8DD8BFB2FD62}" destId="{50DD8450-9F75-45CC-B641-42FAF8ADE971}" srcOrd="1" destOrd="0" presId="urn:microsoft.com/office/officeart/2005/8/layout/cycle8"/>
    <dgm:cxn modelId="{B941ACE1-F911-4E3B-82C4-AE63F2242DA7}" srcId="{89AC90F2-086C-4992-9D2A-8FEDBD397C6B}" destId="{0F28626E-008C-4B0E-B84C-8DD8BFB2FD62}" srcOrd="2" destOrd="0" parTransId="{415C2B50-5C4A-43F6-AFF6-D43C3BCAA7BF}" sibTransId="{5BB7CE25-162B-481C-91D0-2A31152DF578}"/>
    <dgm:cxn modelId="{E61B72EB-2C3A-4918-86ED-43FA14C8CD8D}" type="presOf" srcId="{52D06F5E-DF6B-47E6-B966-2DD43B394EF0}" destId="{FA8D988C-CBBB-432E-93E4-937CC153E06F}" srcOrd="0" destOrd="0" presId="urn:microsoft.com/office/officeart/2005/8/layout/cycle8"/>
    <dgm:cxn modelId="{D6D743FD-E57D-470F-B012-635DFCB83D76}" type="presOf" srcId="{0F28626E-008C-4B0E-B84C-8DD8BFB2FD62}" destId="{AF3E877C-01F5-4FAA-962C-F4E1D1D45309}" srcOrd="0" destOrd="0" presId="urn:microsoft.com/office/officeart/2005/8/layout/cycle8"/>
    <dgm:cxn modelId="{CF4B867A-7582-4A56-989C-12B706DDCFBE}" type="presParOf" srcId="{618E1029-F8DB-4210-A372-2F34E2699222}" destId="{3BE78916-9C9F-41FA-AA72-56F61AF4764B}" srcOrd="0" destOrd="0" presId="urn:microsoft.com/office/officeart/2005/8/layout/cycle8"/>
    <dgm:cxn modelId="{1AA5A5F6-AAA8-4C1D-ABA3-CFE67BEFEE6A}" type="presParOf" srcId="{618E1029-F8DB-4210-A372-2F34E2699222}" destId="{BDE4A918-0A27-4AB8-8ECA-8E54FF5E0EB2}" srcOrd="1" destOrd="0" presId="urn:microsoft.com/office/officeart/2005/8/layout/cycle8"/>
    <dgm:cxn modelId="{7101C07D-90A9-46E2-AF96-19B88CCCDA08}" type="presParOf" srcId="{618E1029-F8DB-4210-A372-2F34E2699222}" destId="{F93ADB81-E26A-483F-9D8D-8D1238FBD5AE}" srcOrd="2" destOrd="0" presId="urn:microsoft.com/office/officeart/2005/8/layout/cycle8"/>
    <dgm:cxn modelId="{13DC0BF2-62FE-4EC9-A599-1743DA622E71}" type="presParOf" srcId="{618E1029-F8DB-4210-A372-2F34E2699222}" destId="{B0FF7857-D3A0-4BC1-B406-E29383F486FC}" srcOrd="3" destOrd="0" presId="urn:microsoft.com/office/officeart/2005/8/layout/cycle8"/>
    <dgm:cxn modelId="{11609C0D-09D7-43F7-898D-C61206909728}" type="presParOf" srcId="{618E1029-F8DB-4210-A372-2F34E2699222}" destId="{FA8D988C-CBBB-432E-93E4-937CC153E06F}" srcOrd="4" destOrd="0" presId="urn:microsoft.com/office/officeart/2005/8/layout/cycle8"/>
    <dgm:cxn modelId="{70C02E0C-E28C-4D98-8D0B-04753DDFDD65}" type="presParOf" srcId="{618E1029-F8DB-4210-A372-2F34E2699222}" destId="{C3E8E1CE-8A5D-40F9-9AE5-533252E594A8}" srcOrd="5" destOrd="0" presId="urn:microsoft.com/office/officeart/2005/8/layout/cycle8"/>
    <dgm:cxn modelId="{A048B8AC-01CC-4899-8153-F27F6DFBBB1B}" type="presParOf" srcId="{618E1029-F8DB-4210-A372-2F34E2699222}" destId="{C23E6F74-1FF2-4875-A95B-DB5ED7B16013}" srcOrd="6" destOrd="0" presId="urn:microsoft.com/office/officeart/2005/8/layout/cycle8"/>
    <dgm:cxn modelId="{E4B705B7-6872-43C9-BFD3-8F4337DADCB1}" type="presParOf" srcId="{618E1029-F8DB-4210-A372-2F34E2699222}" destId="{3AFA2F86-AA18-4F22-B76E-EFE0A8D5AC4C}" srcOrd="7" destOrd="0" presId="urn:microsoft.com/office/officeart/2005/8/layout/cycle8"/>
    <dgm:cxn modelId="{B1D84BF6-2EA0-41C8-A740-183F9D5D7BC5}" type="presParOf" srcId="{618E1029-F8DB-4210-A372-2F34E2699222}" destId="{AF3E877C-01F5-4FAA-962C-F4E1D1D45309}" srcOrd="8" destOrd="0" presId="urn:microsoft.com/office/officeart/2005/8/layout/cycle8"/>
    <dgm:cxn modelId="{15D67851-E30C-429F-9C70-E2CCF3B2A3BA}" type="presParOf" srcId="{618E1029-F8DB-4210-A372-2F34E2699222}" destId="{F116FE25-F6B2-413F-B17A-C22B0DA836DC}" srcOrd="9" destOrd="0" presId="urn:microsoft.com/office/officeart/2005/8/layout/cycle8"/>
    <dgm:cxn modelId="{43EA5ED9-58E2-4FF6-9E48-63E8F83A65B7}" type="presParOf" srcId="{618E1029-F8DB-4210-A372-2F34E2699222}" destId="{C75103A2-BB2A-49E4-9961-A56949BB9F7C}" srcOrd="10" destOrd="0" presId="urn:microsoft.com/office/officeart/2005/8/layout/cycle8"/>
    <dgm:cxn modelId="{00728260-683B-4BC3-BA1C-EEF83EF9F877}" type="presParOf" srcId="{618E1029-F8DB-4210-A372-2F34E2699222}" destId="{50DD8450-9F75-45CC-B641-42FAF8ADE971}" srcOrd="11" destOrd="0" presId="urn:microsoft.com/office/officeart/2005/8/layout/cycle8"/>
    <dgm:cxn modelId="{16350FF9-D427-4EEA-BD9A-4DF363C2096F}" type="presParOf" srcId="{618E1029-F8DB-4210-A372-2F34E2699222}" destId="{FE6A0984-89B9-408C-A7D8-6FF3A8A54D24}" srcOrd="12" destOrd="0" presId="urn:microsoft.com/office/officeart/2005/8/layout/cycle8"/>
    <dgm:cxn modelId="{1AEC2D8D-B84A-4E7C-999E-E8DEAD164190}" type="presParOf" srcId="{618E1029-F8DB-4210-A372-2F34E2699222}" destId="{E5C26E5D-FE11-448A-9550-B881C2995C56}" srcOrd="13" destOrd="0" presId="urn:microsoft.com/office/officeart/2005/8/layout/cycle8"/>
    <dgm:cxn modelId="{8DBABA3C-600B-4B9A-BDB3-94D944264E84}" type="presParOf" srcId="{618E1029-F8DB-4210-A372-2F34E2699222}" destId="{C6237438-2A8A-4D0C-B04F-BC9C97E01079}" srcOrd="14" destOrd="0" presId="urn:microsoft.com/office/officeart/2005/8/layout/cycle8"/>
    <dgm:cxn modelId="{B3DB7A7E-C031-4532-91DB-29CAAFAC4152}" type="presParOf" srcId="{618E1029-F8DB-4210-A372-2F34E2699222}" destId="{3DF62D88-81C3-4947-A2E4-34D9CB157EDE}" srcOrd="15" destOrd="0" presId="urn:microsoft.com/office/officeart/2005/8/layout/cycle8"/>
    <dgm:cxn modelId="{E5BF2985-D63F-4A47-BF49-0EEF834C5102}" type="presParOf" srcId="{618E1029-F8DB-4210-A372-2F34E2699222}" destId="{83F1D4C3-BA07-47DF-B91F-5FAB552E63AA}" srcOrd="16" destOrd="0" presId="urn:microsoft.com/office/officeart/2005/8/layout/cycle8"/>
    <dgm:cxn modelId="{796B6BE5-9BD0-439F-A69A-A50085947C09}" type="presParOf" srcId="{618E1029-F8DB-4210-A372-2F34E2699222}" destId="{DBD117C3-7ED4-4454-A319-4D4B7CFE789F}" srcOrd="17" destOrd="0" presId="urn:microsoft.com/office/officeart/2005/8/layout/cycle8"/>
    <dgm:cxn modelId="{7B194EFD-D489-49C1-A2D9-2DB21BC42278}" type="presParOf" srcId="{618E1029-F8DB-4210-A372-2F34E2699222}" destId="{2A62853B-2099-4721-996A-6367DB5FE716}" srcOrd="18" destOrd="0" presId="urn:microsoft.com/office/officeart/2005/8/layout/cycle8"/>
    <dgm:cxn modelId="{F280BF02-4135-42BF-A0F1-2E426EE451D0}" type="presParOf" srcId="{618E1029-F8DB-4210-A372-2F34E2699222}" destId="{B9E7EF74-9FCE-47EA-9448-3FCE7764CA31}" srcOrd="19"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3DC35-9636-4CBA-8C45-99DAF9484F5B}">
      <dsp:nvSpPr>
        <dsp:cNvPr id="0" name=""/>
        <dsp:cNvSpPr/>
      </dsp:nvSpPr>
      <dsp:spPr>
        <a:xfrm>
          <a:off x="2337859" y="640941"/>
          <a:ext cx="4283968" cy="4283968"/>
        </a:xfrm>
        <a:prstGeom prst="blockArc">
          <a:avLst>
            <a:gd name="adj1" fmla="val 10800000"/>
            <a:gd name="adj2" fmla="val 16200000"/>
            <a:gd name="adj3" fmla="val 4635"/>
          </a:avLst>
        </a:prstGeom>
        <a:solidFill>
          <a:schemeClr val="accent3">
            <a:hueOff val="2710599"/>
            <a:satOff val="100000"/>
            <a:lumOff val="-14706"/>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33E4750-E679-4278-BF6F-E707E849611D}">
      <dsp:nvSpPr>
        <dsp:cNvPr id="0" name=""/>
        <dsp:cNvSpPr/>
      </dsp:nvSpPr>
      <dsp:spPr>
        <a:xfrm>
          <a:off x="2337859" y="640941"/>
          <a:ext cx="4283968" cy="4283968"/>
        </a:xfrm>
        <a:prstGeom prst="blockArc">
          <a:avLst>
            <a:gd name="adj1" fmla="val 5400000"/>
            <a:gd name="adj2" fmla="val 10800000"/>
            <a:gd name="adj3" fmla="val 4635"/>
          </a:avLst>
        </a:prstGeom>
        <a:solidFill>
          <a:schemeClr val="accent3">
            <a:hueOff val="1807066"/>
            <a:satOff val="66667"/>
            <a:lumOff val="-9804"/>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36F8189D-EC10-48BE-8F18-319BC5B3D697}">
      <dsp:nvSpPr>
        <dsp:cNvPr id="0" name=""/>
        <dsp:cNvSpPr/>
      </dsp:nvSpPr>
      <dsp:spPr>
        <a:xfrm>
          <a:off x="2337859" y="640941"/>
          <a:ext cx="4283968" cy="4283968"/>
        </a:xfrm>
        <a:prstGeom prst="blockArc">
          <a:avLst>
            <a:gd name="adj1" fmla="val 0"/>
            <a:gd name="adj2" fmla="val 5400000"/>
            <a:gd name="adj3" fmla="val 4635"/>
          </a:avLst>
        </a:prstGeom>
        <a:solidFill>
          <a:schemeClr val="accent3">
            <a:hueOff val="903533"/>
            <a:satOff val="33333"/>
            <a:lumOff val="-4902"/>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7F03E2A7-B8BF-4379-953D-63798BAE9C06}">
      <dsp:nvSpPr>
        <dsp:cNvPr id="0" name=""/>
        <dsp:cNvSpPr/>
      </dsp:nvSpPr>
      <dsp:spPr>
        <a:xfrm>
          <a:off x="2337859" y="640941"/>
          <a:ext cx="4283968" cy="4283968"/>
        </a:xfrm>
        <a:prstGeom prst="blockArc">
          <a:avLst>
            <a:gd name="adj1" fmla="val 16200000"/>
            <a:gd name="adj2" fmla="val 0"/>
            <a:gd name="adj3" fmla="val 4635"/>
          </a:avLst>
        </a:prstGeom>
        <a:solidFill>
          <a:schemeClr val="accent3">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75F5006E-E6FF-437F-A8BB-6A1E3CDDA24E}">
      <dsp:nvSpPr>
        <dsp:cNvPr id="0" name=""/>
        <dsp:cNvSpPr/>
      </dsp:nvSpPr>
      <dsp:spPr>
        <a:xfrm>
          <a:off x="3290960" y="1737449"/>
          <a:ext cx="2377766" cy="2090953"/>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Sostenibilidad de la Economía Circular</a:t>
          </a:r>
        </a:p>
      </dsp:txBody>
      <dsp:txXfrm>
        <a:off x="3639176" y="2043662"/>
        <a:ext cx="1681334" cy="1478527"/>
      </dsp:txXfrm>
    </dsp:sp>
    <dsp:sp modelId="{B7929108-B56F-4CE1-98D3-DD414819292D}">
      <dsp:nvSpPr>
        <dsp:cNvPr id="0" name=""/>
        <dsp:cNvSpPr/>
      </dsp:nvSpPr>
      <dsp:spPr>
        <a:xfrm>
          <a:off x="3608092" y="1129"/>
          <a:ext cx="1743502" cy="1378906"/>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Respetar los ciclos biológicos en la extracción de recursos naturales</a:t>
          </a:r>
        </a:p>
      </dsp:txBody>
      <dsp:txXfrm>
        <a:off x="3863422" y="203065"/>
        <a:ext cx="1232842" cy="975034"/>
      </dsp:txXfrm>
    </dsp:sp>
    <dsp:sp modelId="{83CB43DB-68E0-4B6A-9065-C06C1F99F329}">
      <dsp:nvSpPr>
        <dsp:cNvPr id="0" name=""/>
        <dsp:cNvSpPr/>
      </dsp:nvSpPr>
      <dsp:spPr>
        <a:xfrm>
          <a:off x="5691094" y="2093472"/>
          <a:ext cx="1762187" cy="1378906"/>
        </a:xfrm>
        <a:prstGeom prst="ellipse">
          <a:avLst/>
        </a:prstGeom>
        <a:gradFill rotWithShape="0">
          <a:gsLst>
            <a:gs pos="0">
              <a:schemeClr val="accent3">
                <a:hueOff val="903533"/>
                <a:satOff val="33333"/>
                <a:lumOff val="-4902"/>
                <a:alphaOff val="0"/>
                <a:satMod val="103000"/>
                <a:lumMod val="102000"/>
                <a:tint val="94000"/>
              </a:schemeClr>
            </a:gs>
            <a:gs pos="50000">
              <a:schemeClr val="accent3">
                <a:hueOff val="903533"/>
                <a:satOff val="33333"/>
                <a:lumOff val="-4902"/>
                <a:alphaOff val="0"/>
                <a:satMod val="110000"/>
                <a:lumMod val="100000"/>
                <a:shade val="100000"/>
              </a:schemeClr>
            </a:gs>
            <a:gs pos="100000">
              <a:schemeClr val="accent3">
                <a:hueOff val="903533"/>
                <a:satOff val="33333"/>
                <a:lumOff val="-490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Crear sistema de recirculación para materiales sintéticos</a:t>
          </a:r>
        </a:p>
      </dsp:txBody>
      <dsp:txXfrm>
        <a:off x="5949160" y="2295408"/>
        <a:ext cx="1246055" cy="975034"/>
      </dsp:txXfrm>
    </dsp:sp>
    <dsp:sp modelId="{73CC4454-DD92-4753-A916-C7260EDC314C}">
      <dsp:nvSpPr>
        <dsp:cNvPr id="0" name=""/>
        <dsp:cNvSpPr/>
      </dsp:nvSpPr>
      <dsp:spPr>
        <a:xfrm>
          <a:off x="3622839" y="4185816"/>
          <a:ext cx="1714008" cy="1378906"/>
        </a:xfrm>
        <a:prstGeom prst="ellipse">
          <a:avLst/>
        </a:prstGeom>
        <a:gradFill rotWithShape="0">
          <a:gsLst>
            <a:gs pos="0">
              <a:schemeClr val="accent3">
                <a:hueOff val="1807066"/>
                <a:satOff val="66667"/>
                <a:lumOff val="-9804"/>
                <a:alphaOff val="0"/>
                <a:satMod val="103000"/>
                <a:lumMod val="102000"/>
                <a:tint val="94000"/>
              </a:schemeClr>
            </a:gs>
            <a:gs pos="50000">
              <a:schemeClr val="accent3">
                <a:hueOff val="1807066"/>
                <a:satOff val="66667"/>
                <a:lumOff val="-9804"/>
                <a:alphaOff val="0"/>
                <a:satMod val="110000"/>
                <a:lumMod val="100000"/>
                <a:shade val="100000"/>
              </a:schemeClr>
            </a:gs>
            <a:gs pos="100000">
              <a:schemeClr val="accent3">
                <a:hueOff val="1807066"/>
                <a:satOff val="66667"/>
                <a:lumOff val="-980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Usar fuentes de energía renovables</a:t>
          </a:r>
        </a:p>
      </dsp:txBody>
      <dsp:txXfrm>
        <a:off x="3873850" y="4387752"/>
        <a:ext cx="1211986" cy="975034"/>
      </dsp:txXfrm>
    </dsp:sp>
    <dsp:sp modelId="{D0675B8D-7EE8-489A-B8AE-78E5939D35B5}">
      <dsp:nvSpPr>
        <dsp:cNvPr id="0" name=""/>
        <dsp:cNvSpPr/>
      </dsp:nvSpPr>
      <dsp:spPr>
        <a:xfrm>
          <a:off x="1531764" y="2093472"/>
          <a:ext cx="1711470" cy="1378906"/>
        </a:xfrm>
        <a:prstGeom prst="ellipse">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Diversificar productos para mayor resiliencia</a:t>
          </a:r>
        </a:p>
      </dsp:txBody>
      <dsp:txXfrm>
        <a:off x="1782403" y="2295408"/>
        <a:ext cx="1210192" cy="975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BDF70-3E15-494B-92F4-45F93AEC2C33}">
      <dsp:nvSpPr>
        <dsp:cNvPr id="0" name=""/>
        <dsp:cNvSpPr/>
      </dsp:nvSpPr>
      <dsp:spPr>
        <a:xfrm rot="5400000">
          <a:off x="1684355" y="749190"/>
          <a:ext cx="644885" cy="734179"/>
        </a:xfrm>
        <a:prstGeom prst="bentUpArrow">
          <a:avLst>
            <a:gd name="adj1" fmla="val 32840"/>
            <a:gd name="adj2" fmla="val 25000"/>
            <a:gd name="adj3" fmla="val 35780"/>
          </a:avLst>
        </a:prstGeom>
        <a:gradFill rotWithShape="0">
          <a:gsLst>
            <a:gs pos="0">
              <a:schemeClr val="accent2">
                <a:tint val="50000"/>
                <a:hueOff val="0"/>
                <a:satOff val="0"/>
                <a:lumOff val="0"/>
                <a:alphaOff val="0"/>
                <a:satMod val="103000"/>
                <a:lumMod val="102000"/>
                <a:tint val="94000"/>
              </a:schemeClr>
            </a:gs>
            <a:gs pos="50000">
              <a:schemeClr val="accent2">
                <a:tint val="50000"/>
                <a:hueOff val="0"/>
                <a:satOff val="0"/>
                <a:lumOff val="0"/>
                <a:alphaOff val="0"/>
                <a:satMod val="110000"/>
                <a:lumMod val="100000"/>
                <a:shade val="100000"/>
              </a:schemeClr>
            </a:gs>
            <a:gs pos="100000">
              <a:schemeClr val="accent2">
                <a:tint val="5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B2CAB3EA-67AE-48D5-9485-02CE76A4AABF}">
      <dsp:nvSpPr>
        <dsp:cNvPr id="0" name=""/>
        <dsp:cNvSpPr/>
      </dsp:nvSpPr>
      <dsp:spPr>
        <a:xfrm>
          <a:off x="1513499" y="34322"/>
          <a:ext cx="1085607" cy="759890"/>
        </a:xfrm>
        <a:prstGeom prst="roundRect">
          <a:avLst>
            <a:gd name="adj" fmla="val 166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t>Define</a:t>
          </a:r>
        </a:p>
      </dsp:txBody>
      <dsp:txXfrm>
        <a:off x="1550600" y="71423"/>
        <a:ext cx="1011405" cy="685688"/>
      </dsp:txXfrm>
    </dsp:sp>
    <dsp:sp modelId="{DF1C6925-2B07-42E2-A0DF-F12C800B96F4}">
      <dsp:nvSpPr>
        <dsp:cNvPr id="0" name=""/>
        <dsp:cNvSpPr/>
      </dsp:nvSpPr>
      <dsp:spPr>
        <a:xfrm>
          <a:off x="2589683" y="0"/>
          <a:ext cx="2430738" cy="6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Concretar el problema que se quiere resolver</a:t>
          </a:r>
          <a:r>
            <a:rPr lang="es-ES" sz="700" kern="1200" dirty="0"/>
            <a:t>.</a:t>
          </a:r>
        </a:p>
      </dsp:txBody>
      <dsp:txXfrm>
        <a:off x="2589683" y="0"/>
        <a:ext cx="2430738" cy="614176"/>
      </dsp:txXfrm>
    </dsp:sp>
    <dsp:sp modelId="{D0F972BD-B37E-4054-8E4C-E225990FDC02}">
      <dsp:nvSpPr>
        <dsp:cNvPr id="0" name=""/>
        <dsp:cNvSpPr/>
      </dsp:nvSpPr>
      <dsp:spPr>
        <a:xfrm rot="5400000">
          <a:off x="2978320" y="1602798"/>
          <a:ext cx="644885" cy="734179"/>
        </a:xfrm>
        <a:prstGeom prst="bentUpArrow">
          <a:avLst>
            <a:gd name="adj1" fmla="val 32840"/>
            <a:gd name="adj2" fmla="val 25000"/>
            <a:gd name="adj3" fmla="val 35780"/>
          </a:avLst>
        </a:prstGeom>
        <a:gradFill rotWithShape="0">
          <a:gsLst>
            <a:gs pos="0">
              <a:schemeClr val="accent2">
                <a:tint val="50000"/>
                <a:hueOff val="-220166"/>
                <a:satOff val="-19042"/>
                <a:lumOff val="2189"/>
                <a:alphaOff val="0"/>
                <a:satMod val="103000"/>
                <a:lumMod val="102000"/>
                <a:tint val="94000"/>
              </a:schemeClr>
            </a:gs>
            <a:gs pos="50000">
              <a:schemeClr val="accent2">
                <a:tint val="50000"/>
                <a:hueOff val="-220166"/>
                <a:satOff val="-19042"/>
                <a:lumOff val="2189"/>
                <a:alphaOff val="0"/>
                <a:satMod val="110000"/>
                <a:lumMod val="100000"/>
                <a:shade val="100000"/>
              </a:schemeClr>
            </a:gs>
            <a:gs pos="100000">
              <a:schemeClr val="accent2">
                <a:tint val="50000"/>
                <a:hueOff val="-220166"/>
                <a:satOff val="-19042"/>
                <a:lumOff val="2189"/>
                <a:alphaOff val="0"/>
                <a:lumMod val="99000"/>
                <a:satMod val="120000"/>
                <a:shade val="78000"/>
              </a:schemeClr>
            </a:gs>
          </a:gsLst>
          <a:lin ang="5400000" scaled="0"/>
        </a:gradFill>
        <a:ln>
          <a:noFill/>
        </a:ln>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113F2DA8-5675-4458-85B0-635BD1C3CC2C}">
      <dsp:nvSpPr>
        <dsp:cNvPr id="0" name=""/>
        <dsp:cNvSpPr/>
      </dsp:nvSpPr>
      <dsp:spPr>
        <a:xfrm>
          <a:off x="2807464" y="887929"/>
          <a:ext cx="1085607" cy="759890"/>
        </a:xfrm>
        <a:prstGeom prst="roundRect">
          <a:avLst>
            <a:gd name="adj" fmla="val 16670"/>
          </a:avLst>
        </a:prstGeom>
        <a:gradFill rotWithShape="0">
          <a:gsLst>
            <a:gs pos="0">
              <a:schemeClr val="accent2">
                <a:hueOff val="-291073"/>
                <a:satOff val="-16786"/>
                <a:lumOff val="1726"/>
                <a:alphaOff val="0"/>
                <a:satMod val="103000"/>
                <a:lumMod val="102000"/>
                <a:tint val="94000"/>
              </a:schemeClr>
            </a:gs>
            <a:gs pos="50000">
              <a:schemeClr val="accent2">
                <a:hueOff val="-291073"/>
                <a:satOff val="-16786"/>
                <a:lumOff val="1726"/>
                <a:alphaOff val="0"/>
                <a:satMod val="110000"/>
                <a:lumMod val="100000"/>
                <a:shade val="100000"/>
              </a:schemeClr>
            </a:gs>
            <a:gs pos="100000">
              <a:schemeClr val="accent2">
                <a:hueOff val="-291073"/>
                <a:satOff val="-16786"/>
                <a:lumOff val="172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b="1" kern="1200" dirty="0" err="1"/>
            <a:t>Biologiza</a:t>
          </a:r>
          <a:endParaRPr lang="es-ES" sz="1600" b="1" kern="1200" dirty="0"/>
        </a:p>
      </dsp:txBody>
      <dsp:txXfrm>
        <a:off x="2844565" y="925030"/>
        <a:ext cx="1011405" cy="685688"/>
      </dsp:txXfrm>
    </dsp:sp>
    <dsp:sp modelId="{2973CEB5-D007-41D7-915D-39200B47DC0C}">
      <dsp:nvSpPr>
        <dsp:cNvPr id="0" name=""/>
        <dsp:cNvSpPr/>
      </dsp:nvSpPr>
      <dsp:spPr>
        <a:xfrm>
          <a:off x="4049146" y="898622"/>
          <a:ext cx="2224148" cy="6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Traducir ese problema en términos de funcionalidad.</a:t>
          </a:r>
        </a:p>
      </dsp:txBody>
      <dsp:txXfrm>
        <a:off x="4049146" y="898622"/>
        <a:ext cx="2224148" cy="614176"/>
      </dsp:txXfrm>
    </dsp:sp>
    <dsp:sp modelId="{BFC6F6B9-CE45-481D-943B-9122008F0AC4}">
      <dsp:nvSpPr>
        <dsp:cNvPr id="0" name=""/>
        <dsp:cNvSpPr/>
      </dsp:nvSpPr>
      <dsp:spPr>
        <a:xfrm rot="5400000">
          <a:off x="4276577" y="2456405"/>
          <a:ext cx="644885" cy="734179"/>
        </a:xfrm>
        <a:prstGeom prst="bentUpArrow">
          <a:avLst>
            <a:gd name="adj1" fmla="val 32840"/>
            <a:gd name="adj2" fmla="val 25000"/>
            <a:gd name="adj3" fmla="val 35780"/>
          </a:avLst>
        </a:prstGeom>
        <a:gradFill rotWithShape="0">
          <a:gsLst>
            <a:gs pos="0">
              <a:schemeClr val="accent2">
                <a:tint val="50000"/>
                <a:hueOff val="-440331"/>
                <a:satOff val="-38085"/>
                <a:lumOff val="4377"/>
                <a:alphaOff val="0"/>
                <a:satMod val="103000"/>
                <a:lumMod val="102000"/>
                <a:tint val="94000"/>
              </a:schemeClr>
            </a:gs>
            <a:gs pos="50000">
              <a:schemeClr val="accent2">
                <a:tint val="50000"/>
                <a:hueOff val="-440331"/>
                <a:satOff val="-38085"/>
                <a:lumOff val="4377"/>
                <a:alphaOff val="0"/>
                <a:satMod val="110000"/>
                <a:lumMod val="100000"/>
                <a:shade val="100000"/>
              </a:schemeClr>
            </a:gs>
            <a:gs pos="100000">
              <a:schemeClr val="accent2">
                <a:tint val="50000"/>
                <a:hueOff val="-440331"/>
                <a:satOff val="-38085"/>
                <a:lumOff val="4377"/>
                <a:alphaOff val="0"/>
                <a:lumMod val="99000"/>
                <a:satMod val="120000"/>
                <a:shade val="78000"/>
              </a:schemeClr>
            </a:gs>
          </a:gsLst>
          <a:lin ang="5400000" scaled="0"/>
        </a:gradFill>
        <a:ln>
          <a:noFill/>
        </a:ln>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0C17416F-31C2-4D79-9E3D-CCA9F397FFCA}">
      <dsp:nvSpPr>
        <dsp:cNvPr id="0" name=""/>
        <dsp:cNvSpPr/>
      </dsp:nvSpPr>
      <dsp:spPr>
        <a:xfrm>
          <a:off x="4105721" y="1741536"/>
          <a:ext cx="1085607" cy="759890"/>
        </a:xfrm>
        <a:prstGeom prst="roundRect">
          <a:avLst>
            <a:gd name="adj" fmla="val 16670"/>
          </a:avLst>
        </a:prstGeom>
        <a:gradFill rotWithShape="0">
          <a:gsLst>
            <a:gs pos="0">
              <a:schemeClr val="accent2">
                <a:hueOff val="-582145"/>
                <a:satOff val="-33571"/>
                <a:lumOff val="3451"/>
                <a:alphaOff val="0"/>
                <a:satMod val="103000"/>
                <a:lumMod val="102000"/>
                <a:tint val="94000"/>
              </a:schemeClr>
            </a:gs>
            <a:gs pos="50000">
              <a:schemeClr val="accent2">
                <a:hueOff val="-582145"/>
                <a:satOff val="-33571"/>
                <a:lumOff val="3451"/>
                <a:alphaOff val="0"/>
                <a:satMod val="110000"/>
                <a:lumMod val="100000"/>
                <a:shade val="100000"/>
              </a:schemeClr>
            </a:gs>
            <a:gs pos="100000">
              <a:schemeClr val="accent2">
                <a:hueOff val="-582145"/>
                <a:satOff val="-33571"/>
                <a:lumOff val="345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b="1" kern="1200" dirty="0"/>
            <a:t>Descubre</a:t>
          </a:r>
        </a:p>
      </dsp:txBody>
      <dsp:txXfrm>
        <a:off x="4142822" y="1778637"/>
        <a:ext cx="1011405" cy="685688"/>
      </dsp:txXfrm>
    </dsp:sp>
    <dsp:sp modelId="{EB69B93A-97E2-4742-B324-8259FC868B1B}">
      <dsp:nvSpPr>
        <dsp:cNvPr id="0" name=""/>
        <dsp:cNvSpPr/>
      </dsp:nvSpPr>
      <dsp:spPr>
        <a:xfrm>
          <a:off x="5417046" y="1784670"/>
          <a:ext cx="2969365" cy="6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Investiga observando la naturaleza y buscando fuentes bibliográficas</a:t>
          </a:r>
        </a:p>
      </dsp:txBody>
      <dsp:txXfrm>
        <a:off x="5417046" y="1784670"/>
        <a:ext cx="2969365" cy="614176"/>
      </dsp:txXfrm>
    </dsp:sp>
    <dsp:sp modelId="{3269CCB6-DD09-40D0-B340-7C42E1B497F4}">
      <dsp:nvSpPr>
        <dsp:cNvPr id="0" name=""/>
        <dsp:cNvSpPr/>
      </dsp:nvSpPr>
      <dsp:spPr>
        <a:xfrm rot="5400000">
          <a:off x="5566250" y="3310012"/>
          <a:ext cx="644885" cy="734179"/>
        </a:xfrm>
        <a:prstGeom prst="bentUpArrow">
          <a:avLst>
            <a:gd name="adj1" fmla="val 32840"/>
            <a:gd name="adj2" fmla="val 25000"/>
            <a:gd name="adj3" fmla="val 35780"/>
          </a:avLst>
        </a:prstGeom>
        <a:gradFill rotWithShape="0">
          <a:gsLst>
            <a:gs pos="0">
              <a:schemeClr val="accent2">
                <a:tint val="50000"/>
                <a:hueOff val="-660497"/>
                <a:satOff val="-57127"/>
                <a:lumOff val="6566"/>
                <a:alphaOff val="0"/>
                <a:satMod val="103000"/>
                <a:lumMod val="102000"/>
                <a:tint val="94000"/>
              </a:schemeClr>
            </a:gs>
            <a:gs pos="50000">
              <a:schemeClr val="accent2">
                <a:tint val="50000"/>
                <a:hueOff val="-660497"/>
                <a:satOff val="-57127"/>
                <a:lumOff val="6566"/>
                <a:alphaOff val="0"/>
                <a:satMod val="110000"/>
                <a:lumMod val="100000"/>
                <a:shade val="100000"/>
              </a:schemeClr>
            </a:gs>
            <a:gs pos="100000">
              <a:schemeClr val="accent2">
                <a:tint val="50000"/>
                <a:hueOff val="-660497"/>
                <a:satOff val="-57127"/>
                <a:lumOff val="6566"/>
                <a:alphaOff val="0"/>
                <a:lumMod val="99000"/>
                <a:satMod val="120000"/>
                <a:shade val="78000"/>
              </a:schemeClr>
            </a:gs>
          </a:gsLst>
          <a:lin ang="5400000" scaled="0"/>
        </a:gradFill>
        <a:ln>
          <a:noFill/>
        </a:ln>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91E19BCC-62E5-43C6-A90A-607CC108C3EA}">
      <dsp:nvSpPr>
        <dsp:cNvPr id="0" name=""/>
        <dsp:cNvSpPr/>
      </dsp:nvSpPr>
      <dsp:spPr>
        <a:xfrm>
          <a:off x="5395395" y="2595144"/>
          <a:ext cx="1085607" cy="759890"/>
        </a:xfrm>
        <a:prstGeom prst="roundRect">
          <a:avLst>
            <a:gd name="adj" fmla="val 16670"/>
          </a:avLst>
        </a:prstGeom>
        <a:gradFill rotWithShape="0">
          <a:gsLst>
            <a:gs pos="0">
              <a:schemeClr val="accent2">
                <a:hueOff val="-873218"/>
                <a:satOff val="-50357"/>
                <a:lumOff val="5177"/>
                <a:alphaOff val="0"/>
                <a:satMod val="103000"/>
                <a:lumMod val="102000"/>
                <a:tint val="94000"/>
              </a:schemeClr>
            </a:gs>
            <a:gs pos="50000">
              <a:schemeClr val="accent2">
                <a:hueOff val="-873218"/>
                <a:satOff val="-50357"/>
                <a:lumOff val="5177"/>
                <a:alphaOff val="0"/>
                <a:satMod val="110000"/>
                <a:lumMod val="100000"/>
                <a:shade val="100000"/>
              </a:schemeClr>
            </a:gs>
            <a:gs pos="100000">
              <a:schemeClr val="accent2">
                <a:hueOff val="-873218"/>
                <a:satOff val="-50357"/>
                <a:lumOff val="517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t>Abstrae</a:t>
          </a:r>
        </a:p>
      </dsp:txBody>
      <dsp:txXfrm>
        <a:off x="5432496" y="2632245"/>
        <a:ext cx="1011405" cy="685688"/>
      </dsp:txXfrm>
    </dsp:sp>
    <dsp:sp modelId="{B7C99115-831B-45EB-9920-2A8E1B93D637}">
      <dsp:nvSpPr>
        <dsp:cNvPr id="0" name=""/>
        <dsp:cNvSpPr/>
      </dsp:nvSpPr>
      <dsp:spPr>
        <a:xfrm>
          <a:off x="6518435" y="2638118"/>
          <a:ext cx="2311853" cy="6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Descubre las claves del éxito de esa solución natural</a:t>
          </a:r>
        </a:p>
      </dsp:txBody>
      <dsp:txXfrm>
        <a:off x="6518435" y="2638118"/>
        <a:ext cx="2311853" cy="614176"/>
      </dsp:txXfrm>
    </dsp:sp>
    <dsp:sp modelId="{92897C52-4384-4289-8060-CE9B07E7DC70}">
      <dsp:nvSpPr>
        <dsp:cNvPr id="0" name=""/>
        <dsp:cNvSpPr/>
      </dsp:nvSpPr>
      <dsp:spPr>
        <a:xfrm rot="5400000">
          <a:off x="6860215" y="4163619"/>
          <a:ext cx="644885" cy="734179"/>
        </a:xfrm>
        <a:prstGeom prst="bentUpArrow">
          <a:avLst>
            <a:gd name="adj1" fmla="val 32840"/>
            <a:gd name="adj2" fmla="val 25000"/>
            <a:gd name="adj3" fmla="val 35780"/>
          </a:avLst>
        </a:prstGeom>
        <a:gradFill rotWithShape="0">
          <a:gsLst>
            <a:gs pos="0">
              <a:schemeClr val="accent2">
                <a:tint val="50000"/>
                <a:hueOff val="-880662"/>
                <a:satOff val="-76170"/>
                <a:lumOff val="8755"/>
                <a:alphaOff val="0"/>
                <a:satMod val="103000"/>
                <a:lumMod val="102000"/>
                <a:tint val="94000"/>
              </a:schemeClr>
            </a:gs>
            <a:gs pos="50000">
              <a:schemeClr val="accent2">
                <a:tint val="50000"/>
                <a:hueOff val="-880662"/>
                <a:satOff val="-76170"/>
                <a:lumOff val="8755"/>
                <a:alphaOff val="0"/>
                <a:satMod val="110000"/>
                <a:lumMod val="100000"/>
                <a:shade val="100000"/>
              </a:schemeClr>
            </a:gs>
            <a:gs pos="100000">
              <a:schemeClr val="accent2">
                <a:tint val="50000"/>
                <a:hueOff val="-880662"/>
                <a:satOff val="-76170"/>
                <a:lumOff val="8755"/>
                <a:alphaOff val="0"/>
                <a:lumMod val="99000"/>
                <a:satMod val="120000"/>
                <a:shade val="78000"/>
              </a:schemeClr>
            </a:gs>
          </a:gsLst>
          <a:lin ang="5400000" scaled="0"/>
        </a:gradFill>
        <a:ln>
          <a:noFill/>
        </a:ln>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8646A09A-B4A1-49C5-953A-605E900AFC05}">
      <dsp:nvSpPr>
        <dsp:cNvPr id="0" name=""/>
        <dsp:cNvSpPr/>
      </dsp:nvSpPr>
      <dsp:spPr>
        <a:xfrm>
          <a:off x="6689360" y="3448751"/>
          <a:ext cx="1085607" cy="759890"/>
        </a:xfrm>
        <a:prstGeom prst="roundRect">
          <a:avLst>
            <a:gd name="adj" fmla="val 16670"/>
          </a:avLst>
        </a:prstGeom>
        <a:gradFill rotWithShape="0">
          <a:gsLst>
            <a:gs pos="0">
              <a:schemeClr val="accent2">
                <a:hueOff val="-1164290"/>
                <a:satOff val="-67142"/>
                <a:lumOff val="6902"/>
                <a:alphaOff val="0"/>
                <a:satMod val="103000"/>
                <a:lumMod val="102000"/>
                <a:tint val="94000"/>
              </a:schemeClr>
            </a:gs>
            <a:gs pos="50000">
              <a:schemeClr val="accent2">
                <a:hueOff val="-1164290"/>
                <a:satOff val="-67142"/>
                <a:lumOff val="6902"/>
                <a:alphaOff val="0"/>
                <a:satMod val="110000"/>
                <a:lumMod val="100000"/>
                <a:shade val="100000"/>
              </a:schemeClr>
            </a:gs>
            <a:gs pos="100000">
              <a:schemeClr val="accent2">
                <a:hueOff val="-1164290"/>
                <a:satOff val="-67142"/>
                <a:lumOff val="690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t>Emula</a:t>
          </a:r>
        </a:p>
      </dsp:txBody>
      <dsp:txXfrm>
        <a:off x="6726461" y="3485852"/>
        <a:ext cx="1011405" cy="685688"/>
      </dsp:txXfrm>
    </dsp:sp>
    <dsp:sp modelId="{A412454B-7DD6-412A-B53E-3B5A8A10376B}">
      <dsp:nvSpPr>
        <dsp:cNvPr id="0" name=""/>
        <dsp:cNvSpPr/>
      </dsp:nvSpPr>
      <dsp:spPr>
        <a:xfrm>
          <a:off x="7945648" y="3491725"/>
          <a:ext cx="2070530" cy="6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Propón una solución amigable con la vida</a:t>
          </a:r>
        </a:p>
      </dsp:txBody>
      <dsp:txXfrm>
        <a:off x="7945648" y="3491725"/>
        <a:ext cx="2070530" cy="614176"/>
      </dsp:txXfrm>
    </dsp:sp>
    <dsp:sp modelId="{04067881-42D4-4870-B0B1-C0F5FF987749}">
      <dsp:nvSpPr>
        <dsp:cNvPr id="0" name=""/>
        <dsp:cNvSpPr/>
      </dsp:nvSpPr>
      <dsp:spPr>
        <a:xfrm>
          <a:off x="7983325" y="4302358"/>
          <a:ext cx="1085607" cy="759890"/>
        </a:xfrm>
        <a:prstGeom prst="roundRect">
          <a:avLst>
            <a:gd name="adj" fmla="val 1667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t>Evalúa</a:t>
          </a:r>
        </a:p>
      </dsp:txBody>
      <dsp:txXfrm>
        <a:off x="8020426" y="4339459"/>
        <a:ext cx="1011405" cy="685688"/>
      </dsp:txXfrm>
    </dsp:sp>
    <dsp:sp modelId="{71832360-0541-43A2-9772-CFAE82D00A99}">
      <dsp:nvSpPr>
        <dsp:cNvPr id="0" name=""/>
        <dsp:cNvSpPr/>
      </dsp:nvSpPr>
      <dsp:spPr>
        <a:xfrm>
          <a:off x="9270765" y="4361571"/>
          <a:ext cx="2209517" cy="6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Perfecciona la solución hasta llegar a una sostenible</a:t>
          </a:r>
        </a:p>
      </dsp:txBody>
      <dsp:txXfrm>
        <a:off x="9270765" y="4361571"/>
        <a:ext cx="2209517" cy="6141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2FC46-DEEB-4F1B-B3E5-F6D28AF9F8DD}">
      <dsp:nvSpPr>
        <dsp:cNvPr id="0" name=""/>
        <dsp:cNvSpPr/>
      </dsp:nvSpPr>
      <dsp:spPr>
        <a:xfrm>
          <a:off x="2167" y="176101"/>
          <a:ext cx="2113013" cy="727428"/>
        </a:xfrm>
        <a:prstGeom prst="rect">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w="635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kern="1200" dirty="0"/>
            <a:t>Nutrientes Biológicos</a:t>
          </a:r>
        </a:p>
      </dsp:txBody>
      <dsp:txXfrm>
        <a:off x="2167" y="176101"/>
        <a:ext cx="2113013" cy="727428"/>
      </dsp:txXfrm>
    </dsp:sp>
    <dsp:sp modelId="{3717B521-AE6C-4BE6-9009-99D15FD2EDBD}">
      <dsp:nvSpPr>
        <dsp:cNvPr id="0" name=""/>
        <dsp:cNvSpPr/>
      </dsp:nvSpPr>
      <dsp:spPr>
        <a:xfrm>
          <a:off x="2167" y="903529"/>
          <a:ext cx="2113013" cy="288224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Materiales totalmente biodegradables</a:t>
          </a:r>
        </a:p>
        <a:p>
          <a:pPr marL="228600" lvl="1" indent="-228600" algn="l" defTabSz="889000">
            <a:lnSpc>
              <a:spcPct val="90000"/>
            </a:lnSpc>
            <a:spcBef>
              <a:spcPct val="0"/>
            </a:spcBef>
            <a:spcAft>
              <a:spcPct val="15000"/>
            </a:spcAft>
            <a:buChar char="•"/>
          </a:pPr>
          <a:r>
            <a:rPr lang="es-ES" sz="2000" kern="1200" dirty="0"/>
            <a:t>Deben estar exentos de cualquier tóxico.</a:t>
          </a:r>
        </a:p>
      </dsp:txBody>
      <dsp:txXfrm>
        <a:off x="2167" y="903529"/>
        <a:ext cx="2113013" cy="2882249"/>
      </dsp:txXfrm>
    </dsp:sp>
    <dsp:sp modelId="{AA2B6B57-2B31-49EF-AD1D-C8049C4CA070}">
      <dsp:nvSpPr>
        <dsp:cNvPr id="0" name=""/>
        <dsp:cNvSpPr/>
      </dsp:nvSpPr>
      <dsp:spPr>
        <a:xfrm>
          <a:off x="2411002" y="176101"/>
          <a:ext cx="2113013" cy="727428"/>
        </a:xfrm>
        <a:prstGeom prst="rect">
          <a:avLst/>
        </a:prstGeom>
        <a:gradFill rotWithShape="0">
          <a:gsLst>
            <a:gs pos="0">
              <a:schemeClr val="accent2">
                <a:shade val="80000"/>
                <a:hueOff val="-240708"/>
                <a:satOff val="5083"/>
                <a:lumOff val="13541"/>
                <a:alphaOff val="0"/>
                <a:satMod val="103000"/>
                <a:lumMod val="102000"/>
                <a:tint val="94000"/>
              </a:schemeClr>
            </a:gs>
            <a:gs pos="50000">
              <a:schemeClr val="accent2">
                <a:shade val="80000"/>
                <a:hueOff val="-240708"/>
                <a:satOff val="5083"/>
                <a:lumOff val="13541"/>
                <a:alphaOff val="0"/>
                <a:satMod val="110000"/>
                <a:lumMod val="100000"/>
                <a:shade val="100000"/>
              </a:schemeClr>
            </a:gs>
            <a:gs pos="100000">
              <a:schemeClr val="accent2">
                <a:shade val="80000"/>
                <a:hueOff val="-240708"/>
                <a:satOff val="5083"/>
                <a:lumOff val="13541"/>
                <a:alphaOff val="0"/>
                <a:lumMod val="99000"/>
                <a:satMod val="120000"/>
                <a:shade val="78000"/>
              </a:schemeClr>
            </a:gs>
          </a:gsLst>
          <a:lin ang="5400000" scaled="0"/>
        </a:gradFill>
        <a:ln w="6350" cap="flat" cmpd="sng" algn="ctr">
          <a:solidFill>
            <a:schemeClr val="accent2">
              <a:shade val="80000"/>
              <a:hueOff val="-240708"/>
              <a:satOff val="5083"/>
              <a:lumOff val="13541"/>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kern="1200" dirty="0"/>
            <a:t>Nutrientes técnicos</a:t>
          </a:r>
        </a:p>
      </dsp:txBody>
      <dsp:txXfrm>
        <a:off x="2411002" y="176101"/>
        <a:ext cx="2113013" cy="727428"/>
      </dsp:txXfrm>
    </dsp:sp>
    <dsp:sp modelId="{45B9B729-E7F5-4F4B-84C2-10AB7B0C58EB}">
      <dsp:nvSpPr>
        <dsp:cNvPr id="0" name=""/>
        <dsp:cNvSpPr/>
      </dsp:nvSpPr>
      <dsp:spPr>
        <a:xfrm>
          <a:off x="2411002" y="903529"/>
          <a:ext cx="2113013" cy="288224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Materiales sintéticos, no biodegradables</a:t>
          </a:r>
        </a:p>
        <a:p>
          <a:pPr marL="228600" lvl="1" indent="-228600" algn="l" defTabSz="889000">
            <a:lnSpc>
              <a:spcPct val="90000"/>
            </a:lnSpc>
            <a:spcBef>
              <a:spcPct val="0"/>
            </a:spcBef>
            <a:spcAft>
              <a:spcPct val="15000"/>
            </a:spcAft>
            <a:buChar char="•"/>
          </a:pPr>
          <a:r>
            <a:rPr lang="es-ES" sz="2000" kern="1200" dirty="0"/>
            <a:t>Deben poderse reciclar (</a:t>
          </a:r>
          <a:r>
            <a:rPr lang="es-ES" sz="2000" i="1" kern="1200" dirty="0"/>
            <a:t>o </a:t>
          </a:r>
          <a:r>
            <a:rPr lang="es-ES" sz="2000" i="1" kern="1200" dirty="0" err="1"/>
            <a:t>upcycling</a:t>
          </a:r>
          <a:r>
            <a:rPr lang="es-ES" sz="2000" kern="1200" dirty="0"/>
            <a:t>) una y otra vez</a:t>
          </a:r>
        </a:p>
      </dsp:txBody>
      <dsp:txXfrm>
        <a:off x="2411002" y="903529"/>
        <a:ext cx="2113013" cy="2882249"/>
      </dsp:txXfrm>
    </dsp:sp>
    <dsp:sp modelId="{9061DA68-ED34-4A67-BE38-F19AD7C4BF23}">
      <dsp:nvSpPr>
        <dsp:cNvPr id="0" name=""/>
        <dsp:cNvSpPr/>
      </dsp:nvSpPr>
      <dsp:spPr>
        <a:xfrm>
          <a:off x="4819838" y="176101"/>
          <a:ext cx="2113013" cy="727428"/>
        </a:xfrm>
        <a:prstGeom prst="rect">
          <a:avLst/>
        </a:prstGeom>
        <a:gradFill rotWithShape="0">
          <a:gsLst>
            <a:gs pos="0">
              <a:schemeClr val="accent2">
                <a:shade val="80000"/>
                <a:hueOff val="-481415"/>
                <a:satOff val="10166"/>
                <a:lumOff val="27081"/>
                <a:alphaOff val="0"/>
                <a:satMod val="103000"/>
                <a:lumMod val="102000"/>
                <a:tint val="94000"/>
              </a:schemeClr>
            </a:gs>
            <a:gs pos="50000">
              <a:schemeClr val="accent2">
                <a:shade val="80000"/>
                <a:hueOff val="-481415"/>
                <a:satOff val="10166"/>
                <a:lumOff val="27081"/>
                <a:alphaOff val="0"/>
                <a:satMod val="110000"/>
                <a:lumMod val="100000"/>
                <a:shade val="100000"/>
              </a:schemeClr>
            </a:gs>
            <a:gs pos="100000">
              <a:schemeClr val="accent2">
                <a:shade val="80000"/>
                <a:hueOff val="-481415"/>
                <a:satOff val="10166"/>
                <a:lumOff val="27081"/>
                <a:alphaOff val="0"/>
                <a:lumMod val="99000"/>
                <a:satMod val="120000"/>
                <a:shade val="78000"/>
              </a:schemeClr>
            </a:gs>
          </a:gsLst>
          <a:lin ang="5400000" scaled="0"/>
        </a:gradFill>
        <a:ln w="6350" cap="flat" cmpd="sng" algn="ctr">
          <a:solidFill>
            <a:schemeClr val="accent2">
              <a:shade val="80000"/>
              <a:hueOff val="-481415"/>
              <a:satOff val="10166"/>
              <a:lumOff val="27081"/>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kern="1200" dirty="0"/>
            <a:t>Monstruos híbridos</a:t>
          </a:r>
        </a:p>
      </dsp:txBody>
      <dsp:txXfrm>
        <a:off x="4819838" y="176101"/>
        <a:ext cx="2113013" cy="727428"/>
      </dsp:txXfrm>
    </dsp:sp>
    <dsp:sp modelId="{4084BA2D-A6A0-4ECD-9980-A071AD6F313C}">
      <dsp:nvSpPr>
        <dsp:cNvPr id="0" name=""/>
        <dsp:cNvSpPr/>
      </dsp:nvSpPr>
      <dsp:spPr>
        <a:xfrm>
          <a:off x="4819838" y="903529"/>
          <a:ext cx="2113013" cy="288224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Mezcla de materiales biodegradables y no biodegradables sin que se puedan separar</a:t>
          </a:r>
        </a:p>
        <a:p>
          <a:pPr marL="228600" lvl="1" indent="-228600" algn="l" defTabSz="889000">
            <a:lnSpc>
              <a:spcPct val="90000"/>
            </a:lnSpc>
            <a:spcBef>
              <a:spcPct val="0"/>
            </a:spcBef>
            <a:spcAft>
              <a:spcPct val="15000"/>
            </a:spcAft>
            <a:buChar char="•"/>
          </a:pPr>
          <a:r>
            <a:rPr lang="es-ES" sz="2000" b="1" kern="1200" dirty="0"/>
            <a:t>Se deben evitar</a:t>
          </a:r>
        </a:p>
      </dsp:txBody>
      <dsp:txXfrm>
        <a:off x="4819838" y="903529"/>
        <a:ext cx="2113013" cy="28822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CD4DF6-45A7-4B62-9CA9-A51FC0B0FB6E}">
      <dsp:nvSpPr>
        <dsp:cNvPr id="0" name=""/>
        <dsp:cNvSpPr/>
      </dsp:nvSpPr>
      <dsp:spPr>
        <a:xfrm>
          <a:off x="4812770" y="74070"/>
          <a:ext cx="1827306" cy="107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Acondicionamiento y embalaje</a:t>
          </a:r>
        </a:p>
      </dsp:txBody>
      <dsp:txXfrm>
        <a:off x="4812770" y="74070"/>
        <a:ext cx="1827306" cy="1073597"/>
      </dsp:txXfrm>
    </dsp:sp>
    <dsp:sp modelId="{4AED166C-1B3D-4D93-8C1A-75D1EB47F7E4}">
      <dsp:nvSpPr>
        <dsp:cNvPr id="0" name=""/>
        <dsp:cNvSpPr/>
      </dsp:nvSpPr>
      <dsp:spPr>
        <a:xfrm>
          <a:off x="1937265" y="116766"/>
          <a:ext cx="5241745" cy="5241745"/>
        </a:xfrm>
        <a:prstGeom prst="circularArrow">
          <a:avLst>
            <a:gd name="adj1" fmla="val 3994"/>
            <a:gd name="adj2" fmla="val 250569"/>
            <a:gd name="adj3" fmla="val 20405361"/>
            <a:gd name="adj4" fmla="val 19103074"/>
            <a:gd name="adj5" fmla="val 466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1F5FA9E-30E0-4AA9-AC9B-E556ACCE2B58}">
      <dsp:nvSpPr>
        <dsp:cNvPr id="0" name=""/>
        <dsp:cNvSpPr/>
      </dsp:nvSpPr>
      <dsp:spPr>
        <a:xfrm>
          <a:off x="6386661" y="2088413"/>
          <a:ext cx="1073597" cy="107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Transporte</a:t>
          </a:r>
        </a:p>
      </dsp:txBody>
      <dsp:txXfrm>
        <a:off x="6386661" y="2088413"/>
        <a:ext cx="1073597" cy="1073597"/>
      </dsp:txXfrm>
    </dsp:sp>
    <dsp:sp modelId="{06D162D0-D8A0-46B9-B559-404A40FD27BD}">
      <dsp:nvSpPr>
        <dsp:cNvPr id="0" name=""/>
        <dsp:cNvSpPr/>
      </dsp:nvSpPr>
      <dsp:spPr>
        <a:xfrm>
          <a:off x="1908512" y="4339"/>
          <a:ext cx="5241745" cy="5241745"/>
        </a:xfrm>
        <a:prstGeom prst="circularArrow">
          <a:avLst>
            <a:gd name="adj1" fmla="val 3994"/>
            <a:gd name="adj2" fmla="val 250569"/>
            <a:gd name="adj3" fmla="val 2365193"/>
            <a:gd name="adj4" fmla="val 777420"/>
            <a:gd name="adj5" fmla="val 4660"/>
          </a:avLst>
        </a:prstGeom>
        <a:solidFill>
          <a:schemeClr val="accent2">
            <a:hueOff val="-291073"/>
            <a:satOff val="-16786"/>
            <a:lumOff val="172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67DA7E5-E77D-481C-85C8-A62F5038C368}">
      <dsp:nvSpPr>
        <dsp:cNvPr id="0" name=""/>
        <dsp:cNvSpPr/>
      </dsp:nvSpPr>
      <dsp:spPr>
        <a:xfrm>
          <a:off x="5189623" y="4161743"/>
          <a:ext cx="1073597" cy="107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Uso</a:t>
          </a:r>
        </a:p>
      </dsp:txBody>
      <dsp:txXfrm>
        <a:off x="5189623" y="4161743"/>
        <a:ext cx="1073597" cy="1073597"/>
      </dsp:txXfrm>
    </dsp:sp>
    <dsp:sp modelId="{FE5489E0-1CF7-4F17-A4CB-53D3DEB5ED03}">
      <dsp:nvSpPr>
        <dsp:cNvPr id="0" name=""/>
        <dsp:cNvSpPr/>
      </dsp:nvSpPr>
      <dsp:spPr>
        <a:xfrm>
          <a:off x="1908512" y="4339"/>
          <a:ext cx="5241745" cy="5241745"/>
        </a:xfrm>
        <a:prstGeom prst="circularArrow">
          <a:avLst>
            <a:gd name="adj1" fmla="val 3994"/>
            <a:gd name="adj2" fmla="val 250569"/>
            <a:gd name="adj3" fmla="val 6109942"/>
            <a:gd name="adj4" fmla="val 4439489"/>
            <a:gd name="adj5" fmla="val 4660"/>
          </a:avLst>
        </a:prstGeom>
        <a:solidFill>
          <a:schemeClr val="accent2">
            <a:hueOff val="-582145"/>
            <a:satOff val="-33571"/>
            <a:lumOff val="345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9A68928F-39FE-4E7C-B2C9-662AFE24C75F}">
      <dsp:nvSpPr>
        <dsp:cNvPr id="0" name=""/>
        <dsp:cNvSpPr/>
      </dsp:nvSpPr>
      <dsp:spPr>
        <a:xfrm>
          <a:off x="2795548" y="4161743"/>
          <a:ext cx="1073597" cy="107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Desecho</a:t>
          </a:r>
        </a:p>
      </dsp:txBody>
      <dsp:txXfrm>
        <a:off x="2795548" y="4161743"/>
        <a:ext cx="1073597" cy="1073597"/>
      </dsp:txXfrm>
    </dsp:sp>
    <dsp:sp modelId="{4BA3EFED-9151-44A6-98C9-115E5A2F1F6C}">
      <dsp:nvSpPr>
        <dsp:cNvPr id="0" name=""/>
        <dsp:cNvSpPr/>
      </dsp:nvSpPr>
      <dsp:spPr>
        <a:xfrm>
          <a:off x="1908512" y="4339"/>
          <a:ext cx="5241745" cy="5241745"/>
        </a:xfrm>
        <a:prstGeom prst="circularArrow">
          <a:avLst>
            <a:gd name="adj1" fmla="val 3994"/>
            <a:gd name="adj2" fmla="val 250569"/>
            <a:gd name="adj3" fmla="val 9772011"/>
            <a:gd name="adj4" fmla="val 8184238"/>
            <a:gd name="adj5" fmla="val 4660"/>
          </a:avLst>
        </a:prstGeom>
        <a:solidFill>
          <a:schemeClr val="accent2">
            <a:hueOff val="-873218"/>
            <a:satOff val="-50357"/>
            <a:lumOff val="5177"/>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46F5B2E4-C92F-4549-9F51-FE99336B84E7}">
      <dsp:nvSpPr>
        <dsp:cNvPr id="0" name=""/>
        <dsp:cNvSpPr/>
      </dsp:nvSpPr>
      <dsp:spPr>
        <a:xfrm>
          <a:off x="1213223" y="2088413"/>
          <a:ext cx="1844172" cy="107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Extracción de materias primas</a:t>
          </a:r>
        </a:p>
      </dsp:txBody>
      <dsp:txXfrm>
        <a:off x="1213223" y="2088413"/>
        <a:ext cx="1844172" cy="1073597"/>
      </dsp:txXfrm>
    </dsp:sp>
    <dsp:sp modelId="{F4E9A001-C787-4AC2-9F54-B414C7543A06}">
      <dsp:nvSpPr>
        <dsp:cNvPr id="0" name=""/>
        <dsp:cNvSpPr/>
      </dsp:nvSpPr>
      <dsp:spPr>
        <a:xfrm>
          <a:off x="1908512" y="4339"/>
          <a:ext cx="5241745" cy="5241745"/>
        </a:xfrm>
        <a:prstGeom prst="circularArrow">
          <a:avLst>
            <a:gd name="adj1" fmla="val 3994"/>
            <a:gd name="adj2" fmla="val 250569"/>
            <a:gd name="adj3" fmla="val 13165193"/>
            <a:gd name="adj4" fmla="val 11577420"/>
            <a:gd name="adj5" fmla="val 4660"/>
          </a:avLst>
        </a:prstGeom>
        <a:solidFill>
          <a:schemeClr val="accent2">
            <a:hueOff val="-1164290"/>
            <a:satOff val="-67142"/>
            <a:lumOff val="690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76D1D0B3-4E7D-4221-B5EF-1C683302C901}">
      <dsp:nvSpPr>
        <dsp:cNvPr id="0" name=""/>
        <dsp:cNvSpPr/>
      </dsp:nvSpPr>
      <dsp:spPr>
        <a:xfrm>
          <a:off x="2795548" y="15083"/>
          <a:ext cx="1073597" cy="107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Fabricación</a:t>
          </a:r>
        </a:p>
      </dsp:txBody>
      <dsp:txXfrm>
        <a:off x="2795548" y="15083"/>
        <a:ext cx="1073597" cy="1073597"/>
      </dsp:txXfrm>
    </dsp:sp>
    <dsp:sp modelId="{778AF4F5-34E9-403A-A787-4074BF53CE2C}">
      <dsp:nvSpPr>
        <dsp:cNvPr id="0" name=""/>
        <dsp:cNvSpPr/>
      </dsp:nvSpPr>
      <dsp:spPr>
        <a:xfrm>
          <a:off x="1781608" y="37018"/>
          <a:ext cx="5241745" cy="5241745"/>
        </a:xfrm>
        <a:prstGeom prst="circularArrow">
          <a:avLst>
            <a:gd name="adj1" fmla="val 3994"/>
            <a:gd name="adj2" fmla="val 250569"/>
            <a:gd name="adj3" fmla="val 16541504"/>
            <a:gd name="adj4" fmla="val 15427684"/>
            <a:gd name="adj5" fmla="val 4660"/>
          </a:avLst>
        </a:prstGeom>
        <a:solidFill>
          <a:schemeClr val="accent2">
            <a:hueOff val="-1455363"/>
            <a:satOff val="-83928"/>
            <a:lumOff val="862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78916-9C9F-41FA-AA72-56F61AF4764B}">
      <dsp:nvSpPr>
        <dsp:cNvPr id="0" name=""/>
        <dsp:cNvSpPr/>
      </dsp:nvSpPr>
      <dsp:spPr>
        <a:xfrm>
          <a:off x="1720274" y="277538"/>
          <a:ext cx="3767105" cy="3767105"/>
        </a:xfrm>
        <a:prstGeom prst="pie">
          <a:avLst>
            <a:gd name="adj1" fmla="val 16200000"/>
            <a:gd name="adj2" fmla="val 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Diseño </a:t>
          </a:r>
        </a:p>
      </dsp:txBody>
      <dsp:txXfrm>
        <a:off x="3719979" y="1058315"/>
        <a:ext cx="1390241" cy="1031469"/>
      </dsp:txXfrm>
    </dsp:sp>
    <dsp:sp modelId="{FA8D988C-CBBB-432E-93E4-937CC153E06F}">
      <dsp:nvSpPr>
        <dsp:cNvPr id="0" name=""/>
        <dsp:cNvSpPr/>
      </dsp:nvSpPr>
      <dsp:spPr>
        <a:xfrm>
          <a:off x="1720274" y="404005"/>
          <a:ext cx="3767105" cy="3767105"/>
        </a:xfrm>
        <a:prstGeom prst="pie">
          <a:avLst>
            <a:gd name="adj1" fmla="val 0"/>
            <a:gd name="adj2" fmla="val 5400000"/>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Fabricación</a:t>
          </a:r>
        </a:p>
      </dsp:txBody>
      <dsp:txXfrm>
        <a:off x="3719979" y="2358863"/>
        <a:ext cx="1390241" cy="1031469"/>
      </dsp:txXfrm>
    </dsp:sp>
    <dsp:sp modelId="{AF3E877C-01F5-4FAA-962C-F4E1D1D45309}">
      <dsp:nvSpPr>
        <dsp:cNvPr id="0" name=""/>
        <dsp:cNvSpPr/>
      </dsp:nvSpPr>
      <dsp:spPr>
        <a:xfrm>
          <a:off x="1593807" y="404005"/>
          <a:ext cx="3767105" cy="3767105"/>
        </a:xfrm>
        <a:prstGeom prst="pie">
          <a:avLst>
            <a:gd name="adj1" fmla="val 5400000"/>
            <a:gd name="adj2" fmla="val 10800000"/>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Distribución</a:t>
          </a:r>
        </a:p>
      </dsp:txBody>
      <dsp:txXfrm>
        <a:off x="1970966" y="2358863"/>
        <a:ext cx="1390241" cy="1031469"/>
      </dsp:txXfrm>
    </dsp:sp>
    <dsp:sp modelId="{FE6A0984-89B9-408C-A7D8-6FF3A8A54D24}">
      <dsp:nvSpPr>
        <dsp:cNvPr id="0" name=""/>
        <dsp:cNvSpPr/>
      </dsp:nvSpPr>
      <dsp:spPr>
        <a:xfrm>
          <a:off x="1593807" y="277538"/>
          <a:ext cx="3767105" cy="3767105"/>
        </a:xfrm>
        <a:prstGeom prst="pie">
          <a:avLst>
            <a:gd name="adj1" fmla="val 10800000"/>
            <a:gd name="adj2" fmla="val 16200000"/>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Final de la vida útil</a:t>
          </a:r>
        </a:p>
      </dsp:txBody>
      <dsp:txXfrm>
        <a:off x="1970966" y="1058315"/>
        <a:ext cx="1390241" cy="1031469"/>
      </dsp:txXfrm>
    </dsp:sp>
    <dsp:sp modelId="{83F1D4C3-BA07-47DF-B91F-5FAB552E63AA}">
      <dsp:nvSpPr>
        <dsp:cNvPr id="0" name=""/>
        <dsp:cNvSpPr/>
      </dsp:nvSpPr>
      <dsp:spPr>
        <a:xfrm>
          <a:off x="1487072" y="44336"/>
          <a:ext cx="4233508" cy="4233508"/>
        </a:xfrm>
        <a:prstGeom prst="circularArrow">
          <a:avLst>
            <a:gd name="adj1" fmla="val 5085"/>
            <a:gd name="adj2" fmla="val 327528"/>
            <a:gd name="adj3" fmla="val 21272472"/>
            <a:gd name="adj4" fmla="val 16200000"/>
            <a:gd name="adj5" fmla="val 5932"/>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DBD117C3-7ED4-4454-A319-4D4B7CFE789F}">
      <dsp:nvSpPr>
        <dsp:cNvPr id="0" name=""/>
        <dsp:cNvSpPr/>
      </dsp:nvSpPr>
      <dsp:spPr>
        <a:xfrm>
          <a:off x="1487072" y="170803"/>
          <a:ext cx="4233508" cy="4233508"/>
        </a:xfrm>
        <a:prstGeom prst="circularArrow">
          <a:avLst>
            <a:gd name="adj1" fmla="val 5085"/>
            <a:gd name="adj2" fmla="val 327528"/>
            <a:gd name="adj3" fmla="val 5072472"/>
            <a:gd name="adj4" fmla="val 0"/>
            <a:gd name="adj5" fmla="val 5932"/>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2A62853B-2099-4721-996A-6367DB5FE716}">
      <dsp:nvSpPr>
        <dsp:cNvPr id="0" name=""/>
        <dsp:cNvSpPr/>
      </dsp:nvSpPr>
      <dsp:spPr>
        <a:xfrm>
          <a:off x="1360605" y="170803"/>
          <a:ext cx="4233508" cy="4233508"/>
        </a:xfrm>
        <a:prstGeom prst="circularArrow">
          <a:avLst>
            <a:gd name="adj1" fmla="val 5085"/>
            <a:gd name="adj2" fmla="val 327528"/>
            <a:gd name="adj3" fmla="val 10472472"/>
            <a:gd name="adj4" fmla="val 5400000"/>
            <a:gd name="adj5" fmla="val 5932"/>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B9E7EF74-9FCE-47EA-9448-3FCE7764CA31}">
      <dsp:nvSpPr>
        <dsp:cNvPr id="0" name=""/>
        <dsp:cNvSpPr/>
      </dsp:nvSpPr>
      <dsp:spPr>
        <a:xfrm>
          <a:off x="1360605" y="44336"/>
          <a:ext cx="4233508" cy="4233508"/>
        </a:xfrm>
        <a:prstGeom prst="circularArrow">
          <a:avLst>
            <a:gd name="adj1" fmla="val 5085"/>
            <a:gd name="adj2" fmla="val 327528"/>
            <a:gd name="adj3" fmla="val 15872472"/>
            <a:gd name="adj4" fmla="val 10800000"/>
            <a:gd name="adj5" fmla="val 5932"/>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C2524-49A1-4D99-93A3-B4F510E55F03}" type="datetimeFigureOut">
              <a:rPr lang="es-ES" smtClean="0"/>
              <a:t>08/09/2024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398F5-E9FA-420A-B315-012EB89CBA8D}" type="slidenum">
              <a:rPr lang="es-ES" smtClean="0"/>
              <a:t>‹Nº›</a:t>
            </a:fld>
            <a:endParaRPr lang="es-ES"/>
          </a:p>
        </p:txBody>
      </p:sp>
    </p:spTree>
    <p:extLst>
      <p:ext uri="{BB962C8B-B14F-4D97-AF65-F5344CB8AC3E}">
        <p14:creationId xmlns:p14="http://schemas.microsoft.com/office/powerpoint/2010/main" val="1243173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a:t>
            </a:fld>
            <a:endParaRPr lang="es-ES"/>
          </a:p>
        </p:txBody>
      </p:sp>
    </p:spTree>
    <p:extLst>
      <p:ext uri="{BB962C8B-B14F-4D97-AF65-F5344CB8AC3E}">
        <p14:creationId xmlns:p14="http://schemas.microsoft.com/office/powerpoint/2010/main" val="2431612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18</a:t>
            </a:fld>
            <a:endParaRPr lang="es-ES"/>
          </a:p>
        </p:txBody>
      </p:sp>
    </p:spTree>
    <p:extLst>
      <p:ext uri="{BB962C8B-B14F-4D97-AF65-F5344CB8AC3E}">
        <p14:creationId xmlns:p14="http://schemas.microsoft.com/office/powerpoint/2010/main" val="346868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19</a:t>
            </a:fld>
            <a:endParaRPr lang="es-ES"/>
          </a:p>
        </p:txBody>
      </p:sp>
    </p:spTree>
    <p:extLst>
      <p:ext uri="{BB962C8B-B14F-4D97-AF65-F5344CB8AC3E}">
        <p14:creationId xmlns:p14="http://schemas.microsoft.com/office/powerpoint/2010/main" val="3361529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20</a:t>
            </a:fld>
            <a:endParaRPr lang="es-ES"/>
          </a:p>
        </p:txBody>
      </p:sp>
    </p:spTree>
    <p:extLst>
      <p:ext uri="{BB962C8B-B14F-4D97-AF65-F5344CB8AC3E}">
        <p14:creationId xmlns:p14="http://schemas.microsoft.com/office/powerpoint/2010/main" val="1430837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21</a:t>
            </a:fld>
            <a:endParaRPr lang="es-ES"/>
          </a:p>
        </p:txBody>
      </p:sp>
    </p:spTree>
    <p:extLst>
      <p:ext uri="{BB962C8B-B14F-4D97-AF65-F5344CB8AC3E}">
        <p14:creationId xmlns:p14="http://schemas.microsoft.com/office/powerpoint/2010/main" val="2138936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22</a:t>
            </a:fld>
            <a:endParaRPr lang="es-ES"/>
          </a:p>
        </p:txBody>
      </p:sp>
    </p:spTree>
    <p:extLst>
      <p:ext uri="{BB962C8B-B14F-4D97-AF65-F5344CB8AC3E}">
        <p14:creationId xmlns:p14="http://schemas.microsoft.com/office/powerpoint/2010/main" val="2055160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23</a:t>
            </a:fld>
            <a:endParaRPr lang="es-ES"/>
          </a:p>
        </p:txBody>
      </p:sp>
    </p:spTree>
    <p:extLst>
      <p:ext uri="{BB962C8B-B14F-4D97-AF65-F5344CB8AC3E}">
        <p14:creationId xmlns:p14="http://schemas.microsoft.com/office/powerpoint/2010/main" val="2578498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24</a:t>
            </a:fld>
            <a:endParaRPr lang="es-ES"/>
          </a:p>
        </p:txBody>
      </p:sp>
    </p:spTree>
    <p:extLst>
      <p:ext uri="{BB962C8B-B14F-4D97-AF65-F5344CB8AC3E}">
        <p14:creationId xmlns:p14="http://schemas.microsoft.com/office/powerpoint/2010/main" val="253981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25</a:t>
            </a:fld>
            <a:endParaRPr lang="es-ES"/>
          </a:p>
        </p:txBody>
      </p:sp>
    </p:spTree>
    <p:extLst>
      <p:ext uri="{BB962C8B-B14F-4D97-AF65-F5344CB8AC3E}">
        <p14:creationId xmlns:p14="http://schemas.microsoft.com/office/powerpoint/2010/main" val="4168835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26</a:t>
            </a:fld>
            <a:endParaRPr lang="es-ES"/>
          </a:p>
        </p:txBody>
      </p:sp>
    </p:spTree>
    <p:extLst>
      <p:ext uri="{BB962C8B-B14F-4D97-AF65-F5344CB8AC3E}">
        <p14:creationId xmlns:p14="http://schemas.microsoft.com/office/powerpoint/2010/main" val="2698859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27</a:t>
            </a:fld>
            <a:endParaRPr lang="es-ES"/>
          </a:p>
        </p:txBody>
      </p:sp>
    </p:spTree>
    <p:extLst>
      <p:ext uri="{BB962C8B-B14F-4D97-AF65-F5344CB8AC3E}">
        <p14:creationId xmlns:p14="http://schemas.microsoft.com/office/powerpoint/2010/main" val="3514672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28</a:t>
            </a:fld>
            <a:endParaRPr lang="es-ES"/>
          </a:p>
        </p:txBody>
      </p:sp>
    </p:spTree>
    <p:extLst>
      <p:ext uri="{BB962C8B-B14F-4D97-AF65-F5344CB8AC3E}">
        <p14:creationId xmlns:p14="http://schemas.microsoft.com/office/powerpoint/2010/main" val="3598108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29</a:t>
            </a:fld>
            <a:endParaRPr lang="es-ES"/>
          </a:p>
        </p:txBody>
      </p:sp>
    </p:spTree>
    <p:extLst>
      <p:ext uri="{BB962C8B-B14F-4D97-AF65-F5344CB8AC3E}">
        <p14:creationId xmlns:p14="http://schemas.microsoft.com/office/powerpoint/2010/main" val="3954425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explicación de cada ODS se cuentan con tres diapositivas con la siguiente estructura:</a:t>
            </a:r>
          </a:p>
          <a:p>
            <a:pPr marL="171450" indent="-171450">
              <a:buFont typeface="Arial" panose="020B0604020202020204" pitchFamily="34" charset="0"/>
              <a:buChar char="•"/>
            </a:pPr>
            <a:r>
              <a:rPr lang="es-ES" dirty="0"/>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p>
          <a:p>
            <a:pPr marL="171450" indent="-171450">
              <a:buFont typeface="Arial" panose="020B0604020202020204" pitchFamily="34" charset="0"/>
              <a:buChar char="•"/>
            </a:pPr>
            <a:r>
              <a:rPr lang="es-ES" dirty="0"/>
              <a:t>Diapositiva 2: A la izquierda resume alguna de las metas más importantes de ese ODS y a la derecha muestra un ejemplo de una aplicación de éxito de una medida relacionada con ese ODS.</a:t>
            </a:r>
          </a:p>
          <a:p>
            <a:pPr marL="171450" indent="-171450">
              <a:buFont typeface="Arial" panose="020B0604020202020204" pitchFamily="34" charset="0"/>
              <a:buChar char="•"/>
            </a:pPr>
            <a:r>
              <a:rPr lang="es-ES" dirty="0"/>
              <a:t>Diapositiva 3. Es una llamada a la concienciación y la acción. Indica algunas ideas de medidas que puede adoptar un ciudadano normal en general, y un estudiante de FP en particular, para contribuir a la consecución de ese ODS. Estas ideas pueden ser completadas con las aportaciones del alumnado.</a:t>
            </a:r>
          </a:p>
          <a:p>
            <a:pPr marL="0" indent="0">
              <a:buFont typeface="Arial" panose="020B0604020202020204" pitchFamily="34" charset="0"/>
              <a:buNone/>
            </a:pPr>
            <a:r>
              <a:rPr lang="es-ES" dirty="0"/>
              <a:t>Se puede acceder a todas las fuentes ya que los elementos tienen su vínculo.</a:t>
            </a:r>
          </a:p>
        </p:txBody>
      </p:sp>
      <p:sp>
        <p:nvSpPr>
          <p:cNvPr id="4" name="Marcador de número de diapositiva 3"/>
          <p:cNvSpPr>
            <a:spLocks noGrp="1"/>
          </p:cNvSpPr>
          <p:nvPr>
            <p:ph type="sldNum" sz="quarter" idx="5"/>
          </p:nvPr>
        </p:nvSpPr>
        <p:spPr/>
        <p:txBody>
          <a:bodyPr/>
          <a:lstStyle/>
          <a:p>
            <a:fld id="{DF5398F5-E9FA-420A-B315-012EB89CBA8D}" type="slidenum">
              <a:rPr lang="es-ES" smtClean="0"/>
              <a:t>30</a:t>
            </a:fld>
            <a:endParaRPr lang="es-ES"/>
          </a:p>
        </p:txBody>
      </p:sp>
    </p:spTree>
    <p:extLst>
      <p:ext uri="{BB962C8B-B14F-4D97-AF65-F5344CB8AC3E}">
        <p14:creationId xmlns:p14="http://schemas.microsoft.com/office/powerpoint/2010/main" val="2781516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32</a:t>
            </a:fld>
            <a:endParaRPr lang="es-ES"/>
          </a:p>
        </p:txBody>
      </p:sp>
    </p:spTree>
    <p:extLst>
      <p:ext uri="{BB962C8B-B14F-4D97-AF65-F5344CB8AC3E}">
        <p14:creationId xmlns:p14="http://schemas.microsoft.com/office/powerpoint/2010/main" val="3472548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33</a:t>
            </a:fld>
            <a:endParaRPr lang="es-ES"/>
          </a:p>
        </p:txBody>
      </p:sp>
    </p:spTree>
    <p:extLst>
      <p:ext uri="{BB962C8B-B14F-4D97-AF65-F5344CB8AC3E}">
        <p14:creationId xmlns:p14="http://schemas.microsoft.com/office/powerpoint/2010/main" val="1092188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34</a:t>
            </a:fld>
            <a:endParaRPr lang="es-ES"/>
          </a:p>
        </p:txBody>
      </p:sp>
    </p:spTree>
    <p:extLst>
      <p:ext uri="{BB962C8B-B14F-4D97-AF65-F5344CB8AC3E}">
        <p14:creationId xmlns:p14="http://schemas.microsoft.com/office/powerpoint/2010/main" val="824251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35</a:t>
            </a:fld>
            <a:endParaRPr lang="es-ES"/>
          </a:p>
        </p:txBody>
      </p:sp>
    </p:spTree>
    <p:extLst>
      <p:ext uri="{BB962C8B-B14F-4D97-AF65-F5344CB8AC3E}">
        <p14:creationId xmlns:p14="http://schemas.microsoft.com/office/powerpoint/2010/main" val="24813562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36</a:t>
            </a:fld>
            <a:endParaRPr lang="es-ES"/>
          </a:p>
        </p:txBody>
      </p:sp>
    </p:spTree>
    <p:extLst>
      <p:ext uri="{BB962C8B-B14F-4D97-AF65-F5344CB8AC3E}">
        <p14:creationId xmlns:p14="http://schemas.microsoft.com/office/powerpoint/2010/main" val="8250752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37</a:t>
            </a:fld>
            <a:endParaRPr lang="es-ES"/>
          </a:p>
        </p:txBody>
      </p:sp>
    </p:spTree>
    <p:extLst>
      <p:ext uri="{BB962C8B-B14F-4D97-AF65-F5344CB8AC3E}">
        <p14:creationId xmlns:p14="http://schemas.microsoft.com/office/powerpoint/2010/main" val="4099189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38</a:t>
            </a:fld>
            <a:endParaRPr lang="es-ES"/>
          </a:p>
        </p:txBody>
      </p:sp>
    </p:spTree>
    <p:extLst>
      <p:ext uri="{BB962C8B-B14F-4D97-AF65-F5344CB8AC3E}">
        <p14:creationId xmlns:p14="http://schemas.microsoft.com/office/powerpoint/2010/main" val="3040171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39</a:t>
            </a:fld>
            <a:endParaRPr lang="es-ES"/>
          </a:p>
        </p:txBody>
      </p:sp>
    </p:spTree>
    <p:extLst>
      <p:ext uri="{BB962C8B-B14F-4D97-AF65-F5344CB8AC3E}">
        <p14:creationId xmlns:p14="http://schemas.microsoft.com/office/powerpoint/2010/main" val="1920642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40</a:t>
            </a:fld>
            <a:endParaRPr lang="es-ES"/>
          </a:p>
        </p:txBody>
      </p:sp>
    </p:spTree>
    <p:extLst>
      <p:ext uri="{BB962C8B-B14F-4D97-AF65-F5344CB8AC3E}">
        <p14:creationId xmlns:p14="http://schemas.microsoft.com/office/powerpoint/2010/main" val="2629202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41</a:t>
            </a:fld>
            <a:endParaRPr lang="es-ES"/>
          </a:p>
        </p:txBody>
      </p:sp>
    </p:spTree>
    <p:extLst>
      <p:ext uri="{BB962C8B-B14F-4D97-AF65-F5344CB8AC3E}">
        <p14:creationId xmlns:p14="http://schemas.microsoft.com/office/powerpoint/2010/main" val="1143127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42</a:t>
            </a:fld>
            <a:endParaRPr lang="es-ES"/>
          </a:p>
        </p:txBody>
      </p:sp>
    </p:spTree>
    <p:extLst>
      <p:ext uri="{BB962C8B-B14F-4D97-AF65-F5344CB8AC3E}">
        <p14:creationId xmlns:p14="http://schemas.microsoft.com/office/powerpoint/2010/main" val="16096038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43</a:t>
            </a:fld>
            <a:endParaRPr lang="es-ES"/>
          </a:p>
        </p:txBody>
      </p:sp>
    </p:spTree>
    <p:extLst>
      <p:ext uri="{BB962C8B-B14F-4D97-AF65-F5344CB8AC3E}">
        <p14:creationId xmlns:p14="http://schemas.microsoft.com/office/powerpoint/2010/main" val="73125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44</a:t>
            </a:fld>
            <a:endParaRPr lang="es-ES"/>
          </a:p>
        </p:txBody>
      </p:sp>
    </p:spTree>
    <p:extLst>
      <p:ext uri="{BB962C8B-B14F-4D97-AF65-F5344CB8AC3E}">
        <p14:creationId xmlns:p14="http://schemas.microsoft.com/office/powerpoint/2010/main" val="22081976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45</a:t>
            </a:fld>
            <a:endParaRPr lang="es-ES"/>
          </a:p>
        </p:txBody>
      </p:sp>
    </p:spTree>
    <p:extLst>
      <p:ext uri="{BB962C8B-B14F-4D97-AF65-F5344CB8AC3E}">
        <p14:creationId xmlns:p14="http://schemas.microsoft.com/office/powerpoint/2010/main" val="2633401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46</a:t>
            </a:fld>
            <a:endParaRPr lang="es-ES"/>
          </a:p>
        </p:txBody>
      </p:sp>
    </p:spTree>
    <p:extLst>
      <p:ext uri="{BB962C8B-B14F-4D97-AF65-F5344CB8AC3E}">
        <p14:creationId xmlns:p14="http://schemas.microsoft.com/office/powerpoint/2010/main" val="2530342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48</a:t>
            </a:fld>
            <a:endParaRPr lang="es-ES"/>
          </a:p>
        </p:txBody>
      </p:sp>
    </p:spTree>
    <p:extLst>
      <p:ext uri="{BB962C8B-B14F-4D97-AF65-F5344CB8AC3E}">
        <p14:creationId xmlns:p14="http://schemas.microsoft.com/office/powerpoint/2010/main" val="7467000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49</a:t>
            </a:fld>
            <a:endParaRPr lang="es-ES"/>
          </a:p>
        </p:txBody>
      </p:sp>
    </p:spTree>
    <p:extLst>
      <p:ext uri="{BB962C8B-B14F-4D97-AF65-F5344CB8AC3E}">
        <p14:creationId xmlns:p14="http://schemas.microsoft.com/office/powerpoint/2010/main" val="2445755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50</a:t>
            </a:fld>
            <a:endParaRPr lang="es-ES"/>
          </a:p>
        </p:txBody>
      </p:sp>
    </p:spTree>
    <p:extLst>
      <p:ext uri="{BB962C8B-B14F-4D97-AF65-F5344CB8AC3E}">
        <p14:creationId xmlns:p14="http://schemas.microsoft.com/office/powerpoint/2010/main" val="3853058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51</a:t>
            </a:fld>
            <a:endParaRPr lang="es-ES"/>
          </a:p>
        </p:txBody>
      </p:sp>
    </p:spTree>
    <p:extLst>
      <p:ext uri="{BB962C8B-B14F-4D97-AF65-F5344CB8AC3E}">
        <p14:creationId xmlns:p14="http://schemas.microsoft.com/office/powerpoint/2010/main" val="6389297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52</a:t>
            </a:fld>
            <a:endParaRPr lang="es-ES"/>
          </a:p>
        </p:txBody>
      </p:sp>
    </p:spTree>
    <p:extLst>
      <p:ext uri="{BB962C8B-B14F-4D97-AF65-F5344CB8AC3E}">
        <p14:creationId xmlns:p14="http://schemas.microsoft.com/office/powerpoint/2010/main" val="31217954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53</a:t>
            </a:fld>
            <a:endParaRPr lang="es-ES"/>
          </a:p>
        </p:txBody>
      </p:sp>
    </p:spTree>
    <p:extLst>
      <p:ext uri="{BB962C8B-B14F-4D97-AF65-F5344CB8AC3E}">
        <p14:creationId xmlns:p14="http://schemas.microsoft.com/office/powerpoint/2010/main" val="17213336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54</a:t>
            </a:fld>
            <a:endParaRPr lang="es-ES"/>
          </a:p>
        </p:txBody>
      </p:sp>
    </p:spTree>
    <p:extLst>
      <p:ext uri="{BB962C8B-B14F-4D97-AF65-F5344CB8AC3E}">
        <p14:creationId xmlns:p14="http://schemas.microsoft.com/office/powerpoint/2010/main" val="29140134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55</a:t>
            </a:fld>
            <a:endParaRPr lang="es-ES"/>
          </a:p>
        </p:txBody>
      </p:sp>
    </p:spTree>
    <p:extLst>
      <p:ext uri="{BB962C8B-B14F-4D97-AF65-F5344CB8AC3E}">
        <p14:creationId xmlns:p14="http://schemas.microsoft.com/office/powerpoint/2010/main" val="20397910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56</a:t>
            </a:fld>
            <a:endParaRPr lang="es-ES"/>
          </a:p>
        </p:txBody>
      </p:sp>
    </p:spTree>
    <p:extLst>
      <p:ext uri="{BB962C8B-B14F-4D97-AF65-F5344CB8AC3E}">
        <p14:creationId xmlns:p14="http://schemas.microsoft.com/office/powerpoint/2010/main" val="11366455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58</a:t>
            </a:fld>
            <a:endParaRPr lang="es-ES"/>
          </a:p>
        </p:txBody>
      </p:sp>
    </p:spTree>
    <p:extLst>
      <p:ext uri="{BB962C8B-B14F-4D97-AF65-F5344CB8AC3E}">
        <p14:creationId xmlns:p14="http://schemas.microsoft.com/office/powerpoint/2010/main" val="25280707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60</a:t>
            </a:fld>
            <a:endParaRPr lang="es-ES"/>
          </a:p>
        </p:txBody>
      </p:sp>
    </p:spTree>
    <p:extLst>
      <p:ext uri="{BB962C8B-B14F-4D97-AF65-F5344CB8AC3E}">
        <p14:creationId xmlns:p14="http://schemas.microsoft.com/office/powerpoint/2010/main" val="30671981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61</a:t>
            </a:fld>
            <a:endParaRPr lang="es-ES"/>
          </a:p>
        </p:txBody>
      </p:sp>
    </p:spTree>
    <p:extLst>
      <p:ext uri="{BB962C8B-B14F-4D97-AF65-F5344CB8AC3E}">
        <p14:creationId xmlns:p14="http://schemas.microsoft.com/office/powerpoint/2010/main" val="551241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B92668-6D9E-DB59-3452-8108F602E7B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C869818A-8943-9746-CA3C-5CD48FA309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7104F8F6-7B29-6EA6-0A53-F080A199DF3C}"/>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5" name="Marcador de pie de página 4">
            <a:extLst>
              <a:ext uri="{FF2B5EF4-FFF2-40B4-BE49-F238E27FC236}">
                <a16:creationId xmlns:a16="http://schemas.microsoft.com/office/drawing/2014/main" id="{A327689B-B61B-D8B6-1D32-C6D369F0E52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AE49673-D454-7FC1-B34F-C8C34FFADE70}"/>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336315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602FE4-F9B1-E6C9-D749-F7818F3BB25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80A7B5B-FE10-57E3-31FB-4E34C46A5E3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E308FD2-8FF4-9E65-EC53-43F26684F2A3}"/>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5" name="Marcador de pie de página 4">
            <a:extLst>
              <a:ext uri="{FF2B5EF4-FFF2-40B4-BE49-F238E27FC236}">
                <a16:creationId xmlns:a16="http://schemas.microsoft.com/office/drawing/2014/main" id="{B0FE258E-BCC6-745A-E7B7-9CEB17153B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12AF9A8-00C7-8E33-6A6C-D44B3471E203}"/>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57041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F73E0-BE6E-0437-1033-744EAE26F29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53A980D-2C84-2A74-1BC3-A9DF7ACA32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1771F1F-4AE1-34A5-031A-5186CC9CEF3D}"/>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5" name="Marcador de pie de página 4">
            <a:extLst>
              <a:ext uri="{FF2B5EF4-FFF2-40B4-BE49-F238E27FC236}">
                <a16:creationId xmlns:a16="http://schemas.microsoft.com/office/drawing/2014/main" id="{2A901522-0FBD-DF10-9C2B-BEC9EED7AD1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A0126F2-BDF9-F470-DDD2-3D18A2DEC477}"/>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358360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F4274-0291-ED1A-0D97-B025F39E645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F161746-EE5C-DF14-0183-464C0AE1E43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5D7B791-41A8-A1A1-F23C-805F8683547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D19F56F-054D-16E7-8B2D-5DC080D3481A}"/>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6" name="Marcador de pie de página 5">
            <a:extLst>
              <a:ext uri="{FF2B5EF4-FFF2-40B4-BE49-F238E27FC236}">
                <a16:creationId xmlns:a16="http://schemas.microsoft.com/office/drawing/2014/main" id="{DB7144C2-765F-8941-1DC0-4357E19EB68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00EF2F5-8453-D698-80F6-801B40BD6AAF}"/>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378467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E60874-7185-3950-36AB-071F2EC0AA8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3F321E1-0127-D3C9-33B9-9D809886CF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4443CFC-55AF-2555-AC51-D80F8879F2A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A6C6F2C1-350C-FE53-F08E-DC3609D2F9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D83DC4D-C8FA-8BE0-236B-BC020E4C0AC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F5B06216-3451-FCAA-BB58-B6536120EC1A}"/>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8" name="Marcador de pie de página 7">
            <a:extLst>
              <a:ext uri="{FF2B5EF4-FFF2-40B4-BE49-F238E27FC236}">
                <a16:creationId xmlns:a16="http://schemas.microsoft.com/office/drawing/2014/main" id="{A737DA0C-08A5-78F6-824F-6F0A307E6D5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B00EB7C9-46F0-B82A-102E-9F151FADB19F}"/>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1373210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D67C0B-7787-D153-FCC7-12751A1EC8A2}"/>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B685E7BD-7F3A-A450-52B6-01FAE4D355AC}"/>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4" name="Marcador de pie de página 3">
            <a:extLst>
              <a:ext uri="{FF2B5EF4-FFF2-40B4-BE49-F238E27FC236}">
                <a16:creationId xmlns:a16="http://schemas.microsoft.com/office/drawing/2014/main" id="{AA0F638A-919B-2D29-9865-4DE4E8D3CA9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950B5A4B-2186-EA05-0091-BD0CE199B017}"/>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1995406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6244587-DF06-7A13-CF85-293BFA5D0FE3}"/>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3" name="Marcador de pie de página 2">
            <a:extLst>
              <a:ext uri="{FF2B5EF4-FFF2-40B4-BE49-F238E27FC236}">
                <a16:creationId xmlns:a16="http://schemas.microsoft.com/office/drawing/2014/main" id="{A419BE8B-3E5E-FD03-03D5-B03A3A96690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6B7F174-B1F1-212C-DFAC-D7F30898F261}"/>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3395163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40A32-1927-0F1A-8EFC-9CEF227AB69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3AAD9DC-597D-C0CD-67A9-770ED2A071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57450F1D-D75A-EFF5-4BF0-664DD3A847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C97CB6E-5E36-BE8A-DC9D-E1D11E0E7C82}"/>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6" name="Marcador de pie de página 5">
            <a:extLst>
              <a:ext uri="{FF2B5EF4-FFF2-40B4-BE49-F238E27FC236}">
                <a16:creationId xmlns:a16="http://schemas.microsoft.com/office/drawing/2014/main" id="{C91BF8F8-07E5-CEC5-9D87-7C23B0BB419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8EAE4B8-EE27-8B23-D5E0-10F02F9340C9}"/>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3415324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780C2B-17BC-44BE-72EE-32ABECDCE11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5B4C8BEF-B5B8-58EF-F11A-DCC88F1CC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FD6151C-2472-ED14-AD2C-B1084BFE1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506BEDA-2786-8569-C9DD-B6406DFE5077}"/>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6" name="Marcador de pie de página 5">
            <a:extLst>
              <a:ext uri="{FF2B5EF4-FFF2-40B4-BE49-F238E27FC236}">
                <a16:creationId xmlns:a16="http://schemas.microsoft.com/office/drawing/2014/main" id="{D4F16F0D-4CD7-9FA5-7945-B0C366D6EEF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740B294-62AE-E889-AA7B-D1FA4474DC67}"/>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752777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3459C-6D7A-0822-3BC5-A7C93E980C15}"/>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EE8C815-15D6-93AE-8DA2-DB4353F11B4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605C478-C7E1-CCB0-D8B0-065A24C9B923}"/>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5" name="Marcador de pie de página 4">
            <a:extLst>
              <a:ext uri="{FF2B5EF4-FFF2-40B4-BE49-F238E27FC236}">
                <a16:creationId xmlns:a16="http://schemas.microsoft.com/office/drawing/2014/main" id="{A8862560-F0DC-9C14-84A6-9C690321E25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4D539A9-F6EB-26F5-6134-2C2BDDCE4E64}"/>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4023008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31B7A5E-47DD-2D4C-97C5-4CDADC93F0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F1AB29C-1968-56A3-8F49-4AA98FCF332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E6256C1-FF31-1E16-26E3-91E7BEED6A77}"/>
              </a:ext>
            </a:extLst>
          </p:cNvPr>
          <p:cNvSpPr>
            <a:spLocks noGrp="1"/>
          </p:cNvSpPr>
          <p:nvPr>
            <p:ph type="dt" sz="half" idx="10"/>
          </p:nvPr>
        </p:nvSpPr>
        <p:spPr/>
        <p:txBody>
          <a:bodyPr/>
          <a:lstStyle/>
          <a:p>
            <a:fld id="{440EFEB4-58C1-4DEB-8963-3A1649DDE979}" type="datetimeFigureOut">
              <a:rPr lang="es-ES" smtClean="0"/>
              <a:t>08/09/2024</a:t>
            </a:fld>
            <a:endParaRPr lang="es-ES"/>
          </a:p>
        </p:txBody>
      </p:sp>
      <p:sp>
        <p:nvSpPr>
          <p:cNvPr id="5" name="Marcador de pie de página 4">
            <a:extLst>
              <a:ext uri="{FF2B5EF4-FFF2-40B4-BE49-F238E27FC236}">
                <a16:creationId xmlns:a16="http://schemas.microsoft.com/office/drawing/2014/main" id="{0365AEC2-C7C8-6BE1-842B-5E0237A742F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1AADCB1-2BC5-D30F-236F-F5918791B320}"/>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1440340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BDF2B03-C1A2-92F1-9F74-018844DD35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95FB26A-6CAC-B3A5-F8A6-E9186B9F89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6E6F543-0C5B-3EE6-8FD7-F6B5D1F4A8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0EFEB4-58C1-4DEB-8963-3A1649DDE979}" type="datetimeFigureOut">
              <a:rPr lang="es-ES" smtClean="0"/>
              <a:t>08/09/2024</a:t>
            </a:fld>
            <a:endParaRPr lang="es-ES"/>
          </a:p>
        </p:txBody>
      </p:sp>
      <p:sp>
        <p:nvSpPr>
          <p:cNvPr id="5" name="Marcador de pie de página 4">
            <a:extLst>
              <a:ext uri="{FF2B5EF4-FFF2-40B4-BE49-F238E27FC236}">
                <a16:creationId xmlns:a16="http://schemas.microsoft.com/office/drawing/2014/main" id="{AABCCD4B-F8D0-63B3-E068-EFDBC4B5A3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23AFE1C1-9F9D-B4AD-A983-FF7BAD8600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1620D-3714-4BF1-ABEA-39EEC691F8C7}" type="slidenum">
              <a:rPr lang="es-ES" smtClean="0"/>
              <a:t>‹Nº›</a:t>
            </a:fld>
            <a:endParaRPr lang="es-ES"/>
          </a:p>
        </p:txBody>
      </p:sp>
    </p:spTree>
    <p:extLst>
      <p:ext uri="{BB962C8B-B14F-4D97-AF65-F5344CB8AC3E}">
        <p14:creationId xmlns:p14="http://schemas.microsoft.com/office/powerpoint/2010/main" val="363818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youtube.com/watch?v=lg6bOeTRSe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knowledge4policy.ec.europa.eu/foresight/topic/aggravating-resource-scarcity/global-materials-extraction-resource-type_en"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elements.visualcapitalist.com/wp-content/uploads/2024/07/global-wealth-report.pdf"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es.wikipedia.org/wiki/Gran_Recesi%C3%B3n"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www.bbc.com/mundo/noticias-64394078"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FmGz3XCvRL0"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90p13ZQmPec"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youtube.com/watch?v=CBaRe0Q5mL8"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youtube.com/watch?v=JO36VGjdMq8"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www.youtube.com/watch?v=9zYEpPjYmJw&amp;t=14s"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youtube.com/watch?v=ZEgLWrMJd2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s://www.youtube.com/watch?v=aBDykqMv0xc"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jpg"/><Relationship Id="rId7" Type="http://schemas.openxmlformats.org/officeDocument/2006/relationships/hyperlink" Target="https://www.unep.org/es/node/19231"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sustainabledevelopment.un.org/rio20" TargetMode="External"/><Relationship Id="rId4" Type="http://schemas.openxmlformats.org/officeDocument/2006/relationships/hyperlink" Target="https://www.youtube.com/watch?v=HeviGu8Xzj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s://www.youtube.com/watch?v=HeviGu8XzjM"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hyperlink" Target="https://www.youtube.com/watch?v=zCRKvDyyHmI"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hyperlink" Target="https://emf.thirdlight.com/file/24/xTyQj3oxiYNMO1xTFs9xT5LF3C/Towards%20the%20circular%20economy%20Vol%201%3A%20an%20economic%20and%20business%20rationale%20for%20an%20accelerated%20transition.pdf"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s://www.ricoh.com/sustainability/environment/management/policy/comet"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eur-lex.europa.eu/legal-content/ES/TXT/?uri=COM:2020:98:FIN" TargetMode="External"/><Relationship Id="rId5" Type="http://schemas.openxmlformats.org/officeDocument/2006/relationships/image" Target="../media/image27.png"/><Relationship Id="rId4" Type="http://schemas.openxmlformats.org/officeDocument/2006/relationships/hyperlink" Target="https://commission.europa.eu/strategy-and-policy/priorities-2019-2024/european-green-deal_es"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youtube.com/watch?v=aB2mK5QKyvY&amp;t=93s" TargetMode="External"/><Relationship Id="rId5" Type="http://schemas.openxmlformats.org/officeDocument/2006/relationships/image" Target="../media/image29.png"/><Relationship Id="rId4" Type="http://schemas.openxmlformats.org/officeDocument/2006/relationships/hyperlink" Target="https://www.miteco.gob.es/es/calidad-y-evaluacion-ambiental/temas/economia-circular/estrategia.html"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hyperlink" Target="https://www.youtube.com/watch?v=gKB_7MUPxT4" TargetMode="Externa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hyperlink" Target="https://biomimicry.org/chapterone/" TargetMode="Externa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hyperlink" Target="https://www.youtube.com/watch?v=J2Luc9LMamY"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hyperlink" Target="https://biomimicry.org/" TargetMode="External"/><Relationship Id="rId4" Type="http://schemas.openxmlformats.org/officeDocument/2006/relationships/image" Target="../media/image44.jpg"/></Relationships>
</file>

<file path=ppt/slides/_rels/slide4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g"/><Relationship Id="rId7" Type="http://schemas.openxmlformats.org/officeDocument/2006/relationships/diagramColors" Target="../diagrams/colors2.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QuickStyle" Target="../diagrams/quickStyle2.xml"/><Relationship Id="rId11" Type="http://schemas.openxmlformats.org/officeDocument/2006/relationships/hyperlink" Target="https://www.youtube.com/watch?v=r1CpzEGhs3c&amp;t=96s" TargetMode="External"/><Relationship Id="rId5" Type="http://schemas.openxmlformats.org/officeDocument/2006/relationships/diagramLayout" Target="../diagrams/layout2.xml"/><Relationship Id="rId10" Type="http://schemas.openxmlformats.org/officeDocument/2006/relationships/image" Target="../media/image46.png"/><Relationship Id="rId4" Type="http://schemas.openxmlformats.org/officeDocument/2006/relationships/diagramData" Target="../diagrams/data2.xml"/><Relationship Id="rId9" Type="http://schemas.openxmlformats.org/officeDocument/2006/relationships/hyperlink" Target="https://asknature.org/"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9.jpe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hyperlink" Target="https://www.youtube.com/watch?v=QMsF1P-_vWc" TargetMode="External"/></Relationships>
</file>

<file path=ppt/slides/_rels/slide4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g"/><Relationship Id="rId7" Type="http://schemas.openxmlformats.org/officeDocument/2006/relationships/diagramColors" Target="../diagrams/colors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jpg"/><Relationship Id="rId7" Type="http://schemas.openxmlformats.org/officeDocument/2006/relationships/diagramColors" Target="../diagrams/colors4.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4.xml"/><Relationship Id="rId11" Type="http://schemas.openxmlformats.org/officeDocument/2006/relationships/image" Target="../media/image54.png"/><Relationship Id="rId5" Type="http://schemas.openxmlformats.org/officeDocument/2006/relationships/diagramLayout" Target="../diagrams/layout4.xml"/><Relationship Id="rId10" Type="http://schemas.openxmlformats.org/officeDocument/2006/relationships/image" Target="../media/image53.png"/><Relationship Id="rId4" Type="http://schemas.openxmlformats.org/officeDocument/2006/relationships/diagramData" Target="../diagrams/data4.xml"/><Relationship Id="rId9"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hyperlink" Target="https://www.gloop.site/"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hyperlink" Target="https://bureo.co/"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s://www.youtube.com/watch?v=4VReody58_0"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9.jpg"/></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0.jpg"/></Relationships>
</file>

<file path=ppt/slides/_rels/slide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jpg"/><Relationship Id="rId7" Type="http://schemas.openxmlformats.org/officeDocument/2006/relationships/diagramColors" Target="../diagrams/colors5.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5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Imagen 5" descr="Imagen que contiene Logotipo&#10;&#10;Descripción generada automáticamente">
            <a:extLst>
              <a:ext uri="{FF2B5EF4-FFF2-40B4-BE49-F238E27FC236}">
                <a16:creationId xmlns:a16="http://schemas.microsoft.com/office/drawing/2014/main" id="{07A242A6-60AE-89F6-4C75-571B64511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6951" y="5398576"/>
            <a:ext cx="1536228" cy="853380"/>
          </a:xfrm>
          <a:prstGeom prst="rect">
            <a:avLst/>
          </a:prstGeom>
        </p:spPr>
      </p:pic>
      <p:sp>
        <p:nvSpPr>
          <p:cNvPr id="17" name="Título 1">
            <a:extLst>
              <a:ext uri="{FF2B5EF4-FFF2-40B4-BE49-F238E27FC236}">
                <a16:creationId xmlns:a16="http://schemas.microsoft.com/office/drawing/2014/main" id="{43AE97C8-277C-A719-BE23-BBA3D40B1D51}"/>
              </a:ext>
            </a:extLst>
          </p:cNvPr>
          <p:cNvSpPr>
            <a:spLocks noGrp="1"/>
          </p:cNvSpPr>
          <p:nvPr>
            <p:ph type="ctrTitle"/>
          </p:nvPr>
        </p:nvSpPr>
        <p:spPr>
          <a:xfrm>
            <a:off x="6810060" y="2400250"/>
            <a:ext cx="4805996" cy="1297115"/>
          </a:xfrm>
        </p:spPr>
        <p:txBody>
          <a:bodyPr anchor="t">
            <a:normAutofit/>
          </a:bodyPr>
          <a:lstStyle/>
          <a:p>
            <a:pPr algn="l"/>
            <a:r>
              <a:rPr lang="es-ES" sz="2400" b="1" dirty="0">
                <a:solidFill>
                  <a:schemeClr val="tx2"/>
                </a:solidFill>
              </a:rPr>
              <a:t>SOSTENIBILIDAD APLICADA AL SISTEMA PRODUCTIVO</a:t>
            </a:r>
          </a:p>
        </p:txBody>
      </p:sp>
      <p:sp>
        <p:nvSpPr>
          <p:cNvPr id="18" name="Subtítulo 2">
            <a:extLst>
              <a:ext uri="{FF2B5EF4-FFF2-40B4-BE49-F238E27FC236}">
                <a16:creationId xmlns:a16="http://schemas.microsoft.com/office/drawing/2014/main" id="{12410059-5DFF-1142-DC92-E66564B95D90}"/>
              </a:ext>
            </a:extLst>
          </p:cNvPr>
          <p:cNvSpPr>
            <a:spLocks noGrp="1"/>
          </p:cNvSpPr>
          <p:nvPr>
            <p:ph type="subTitle" idx="1"/>
          </p:nvPr>
        </p:nvSpPr>
        <p:spPr>
          <a:xfrm>
            <a:off x="6909295" y="2861389"/>
            <a:ext cx="4706760" cy="838831"/>
          </a:xfrm>
        </p:spPr>
        <p:txBody>
          <a:bodyPr anchor="b">
            <a:normAutofit/>
          </a:bodyPr>
          <a:lstStyle/>
          <a:p>
            <a:pPr marL="0" indent="0" algn="l">
              <a:buNone/>
            </a:pPr>
            <a:r>
              <a:rPr lang="es-ES" sz="2000" b="1" kern="0" dirty="0">
                <a:solidFill>
                  <a:srgbClr val="9CB026"/>
                </a:solidFill>
                <a:effectLst/>
                <a:latin typeface="Calibri" panose="020F0502020204030204" pitchFamily="34" charset="0"/>
                <a:ea typeface="Times New Roman" panose="02020603050405020304" pitchFamily="18" charset="0"/>
                <a:cs typeface="Times New Roman" panose="02020603050405020304" pitchFamily="18" charset="0"/>
              </a:rPr>
              <a:t>Asunción León Blasco</a:t>
            </a:r>
            <a:endParaRPr lang="es-ES" sz="20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cxnSp>
        <p:nvCxnSpPr>
          <p:cNvPr id="19" name="Conector recto 18">
            <a:extLst>
              <a:ext uri="{FF2B5EF4-FFF2-40B4-BE49-F238E27FC236}">
                <a16:creationId xmlns:a16="http://schemas.microsoft.com/office/drawing/2014/main" id="{0F18D2B9-98DE-3FD1-9770-ACCDEA142980}"/>
              </a:ext>
            </a:extLst>
          </p:cNvPr>
          <p:cNvCxnSpPr>
            <a:cxnSpLocks/>
          </p:cNvCxnSpPr>
          <p:nvPr/>
        </p:nvCxnSpPr>
        <p:spPr>
          <a:xfrm>
            <a:off x="6909295" y="3038378"/>
            <a:ext cx="5289753"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21" name="Imagen 20" descr="Calendario&#10;&#10;Descripción generada automáticamente">
            <a:extLst>
              <a:ext uri="{FF2B5EF4-FFF2-40B4-BE49-F238E27FC236}">
                <a16:creationId xmlns:a16="http://schemas.microsoft.com/office/drawing/2014/main" id="{824D0508-F8B2-4511-C04C-EA1EB7F92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387" y="2056087"/>
            <a:ext cx="2555955" cy="3391140"/>
          </a:xfrm>
          <a:prstGeom prst="rect">
            <a:avLst/>
          </a:prstGeom>
        </p:spPr>
      </p:pic>
      <p:sp>
        <p:nvSpPr>
          <p:cNvPr id="22" name="CuadroTexto 21">
            <a:extLst>
              <a:ext uri="{FF2B5EF4-FFF2-40B4-BE49-F238E27FC236}">
                <a16:creationId xmlns:a16="http://schemas.microsoft.com/office/drawing/2014/main" id="{99277388-1129-13DB-2F96-F4534E3CBC0F}"/>
              </a:ext>
            </a:extLst>
          </p:cNvPr>
          <p:cNvSpPr txBox="1"/>
          <p:nvPr/>
        </p:nvSpPr>
        <p:spPr>
          <a:xfrm>
            <a:off x="6909295" y="4391203"/>
            <a:ext cx="5036899" cy="400110"/>
          </a:xfrm>
          <a:prstGeom prst="rect">
            <a:avLst/>
          </a:prstGeom>
          <a:noFill/>
        </p:spPr>
        <p:txBody>
          <a:bodyPr wrap="square" rtlCol="0">
            <a:spAutoFit/>
          </a:bodyPr>
          <a:lstStyle/>
          <a:p>
            <a:r>
              <a:rPr lang="es-ES" sz="2000" b="1" u="sng" dirty="0"/>
              <a:t>Unidad 3</a:t>
            </a:r>
            <a:r>
              <a:rPr lang="es-ES" sz="2000" b="1" dirty="0"/>
              <a:t>: La sostenibilidad de los productos</a:t>
            </a:r>
          </a:p>
        </p:txBody>
      </p:sp>
    </p:spTree>
    <p:extLst>
      <p:ext uri="{BB962C8B-B14F-4D97-AF65-F5344CB8AC3E}">
        <p14:creationId xmlns:p14="http://schemas.microsoft.com/office/powerpoint/2010/main" val="4057633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200" b="1" kern="0" dirty="0">
                <a:latin typeface="Calibri" panose="020F0502020204030204" pitchFamily="34" charset="0"/>
                <a:ea typeface="Times New Roman" panose="02020603050405020304" pitchFamily="18" charset="0"/>
                <a:cs typeface="Times New Roman" panose="02020603050405020304" pitchFamily="18" charset="0"/>
              </a:rPr>
              <a:t>3.1. INTRODUCCIÓN </a:t>
            </a:r>
            <a:endParaRPr lang="es-ES" sz="4200"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3433971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MODELOS MACROECONÓMICOS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F9C02FA2-2471-F624-3209-CE6E89E34106}"/>
              </a:ext>
            </a:extLst>
          </p:cNvPr>
          <p:cNvPicPr>
            <a:picLocks noChangeAspect="1"/>
          </p:cNvPicPr>
          <p:nvPr/>
        </p:nvPicPr>
        <p:blipFill>
          <a:blip r:embed="rId3"/>
          <a:stretch>
            <a:fillRect/>
          </a:stretch>
        </p:blipFill>
        <p:spPr>
          <a:xfrm>
            <a:off x="1071201" y="1495154"/>
            <a:ext cx="10108076" cy="4891394"/>
          </a:xfrm>
          <a:prstGeom prst="rect">
            <a:avLst/>
          </a:prstGeom>
        </p:spPr>
      </p:pic>
    </p:spTree>
    <p:extLst>
      <p:ext uri="{BB962C8B-B14F-4D97-AF65-F5344CB8AC3E}">
        <p14:creationId xmlns:p14="http://schemas.microsoft.com/office/powerpoint/2010/main" val="1895338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EL SISTEMA MACROECONÓMICO GLOBAL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5" name="Rectángulo: esquinas superiores redondeadas 14">
            <a:extLst>
              <a:ext uri="{FF2B5EF4-FFF2-40B4-BE49-F238E27FC236}">
                <a16:creationId xmlns:a16="http://schemas.microsoft.com/office/drawing/2014/main" id="{CE5E9AE3-1E11-B614-0869-36C2BE8B6DA3}"/>
              </a:ext>
            </a:extLst>
          </p:cNvPr>
          <p:cNvSpPr/>
          <p:nvPr/>
        </p:nvSpPr>
        <p:spPr>
          <a:xfrm>
            <a:off x="2388964" y="2025498"/>
            <a:ext cx="1313155" cy="470875"/>
          </a:xfrm>
          <a:prstGeom prst="round2SameRect">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PIB</a:t>
            </a:r>
          </a:p>
        </p:txBody>
      </p:sp>
      <p:sp>
        <p:nvSpPr>
          <p:cNvPr id="16" name="Rectángulo: esquinas redondeadas 15">
            <a:extLst>
              <a:ext uri="{FF2B5EF4-FFF2-40B4-BE49-F238E27FC236}">
                <a16:creationId xmlns:a16="http://schemas.microsoft.com/office/drawing/2014/main" id="{3F8A49B8-66F8-69D9-C036-4FB6B31477AF}"/>
              </a:ext>
            </a:extLst>
          </p:cNvPr>
          <p:cNvSpPr/>
          <p:nvPr/>
        </p:nvSpPr>
        <p:spPr>
          <a:xfrm>
            <a:off x="914399" y="3030786"/>
            <a:ext cx="4262284" cy="1871962"/>
          </a:xfrm>
          <a:prstGeom prst="roundRect">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u="sng" dirty="0"/>
              <a:t>PODUCTO INTERIOR BRUTO</a:t>
            </a:r>
          </a:p>
          <a:p>
            <a:pPr algn="ctr"/>
            <a:r>
              <a:rPr lang="es-ES" sz="2000" b="1" dirty="0"/>
              <a:t>Es un indicador macroeconómico que mide la riqueza generada dentro de las fronteras de un país</a:t>
            </a:r>
          </a:p>
        </p:txBody>
      </p:sp>
      <p:cxnSp>
        <p:nvCxnSpPr>
          <p:cNvPr id="18" name="Conector recto 17">
            <a:extLst>
              <a:ext uri="{FF2B5EF4-FFF2-40B4-BE49-F238E27FC236}">
                <a16:creationId xmlns:a16="http://schemas.microsoft.com/office/drawing/2014/main" id="{AA9027A8-1B8F-C6D9-E5A1-77E08CD9F4AD}"/>
              </a:ext>
            </a:extLst>
          </p:cNvPr>
          <p:cNvCxnSpPr>
            <a:stCxn id="16" idx="0"/>
            <a:endCxn id="15" idx="1"/>
          </p:cNvCxnSpPr>
          <p:nvPr/>
        </p:nvCxnSpPr>
        <p:spPr>
          <a:xfrm flipV="1">
            <a:off x="3045541" y="2496373"/>
            <a:ext cx="1" cy="534413"/>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0" name="Rectángulo: esquinas redondeadas 19">
            <a:extLst>
              <a:ext uri="{FF2B5EF4-FFF2-40B4-BE49-F238E27FC236}">
                <a16:creationId xmlns:a16="http://schemas.microsoft.com/office/drawing/2014/main" id="{CDB148D2-1F7C-1953-7B7B-6395665297D2}"/>
              </a:ext>
            </a:extLst>
          </p:cNvPr>
          <p:cNvSpPr/>
          <p:nvPr/>
        </p:nvSpPr>
        <p:spPr>
          <a:xfrm>
            <a:off x="6968661" y="1649959"/>
            <a:ext cx="4018887" cy="1941270"/>
          </a:xfrm>
          <a:prstGeom prst="roundRect">
            <a:avLst/>
          </a:prstGeom>
          <a:solidFill>
            <a:schemeClr val="tx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Lo emplea la OCDE (Organización para la Cooperación y el Desarrollo Económico) como mediada del estado de la economía de los países</a:t>
            </a:r>
          </a:p>
        </p:txBody>
      </p:sp>
      <p:sp>
        <p:nvSpPr>
          <p:cNvPr id="21" name="Rectángulo: esquinas redondeadas 20">
            <a:extLst>
              <a:ext uri="{FF2B5EF4-FFF2-40B4-BE49-F238E27FC236}">
                <a16:creationId xmlns:a16="http://schemas.microsoft.com/office/drawing/2014/main" id="{9E80A708-31AE-8C43-22B4-D680EB3CFF9A}"/>
              </a:ext>
            </a:extLst>
          </p:cNvPr>
          <p:cNvSpPr/>
          <p:nvPr/>
        </p:nvSpPr>
        <p:spPr>
          <a:xfrm>
            <a:off x="6958837" y="5208040"/>
            <a:ext cx="4018887" cy="1146051"/>
          </a:xfrm>
          <a:prstGeom prst="roundRect">
            <a:avLst/>
          </a:prstGeom>
          <a:solidFill>
            <a:schemeClr val="tx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Los gobiernos de los países se marcan como objetivo su aumento porcentual anual</a:t>
            </a:r>
          </a:p>
        </p:txBody>
      </p:sp>
      <p:cxnSp>
        <p:nvCxnSpPr>
          <p:cNvPr id="23" name="Conector recto de flecha 22">
            <a:extLst>
              <a:ext uri="{FF2B5EF4-FFF2-40B4-BE49-F238E27FC236}">
                <a16:creationId xmlns:a16="http://schemas.microsoft.com/office/drawing/2014/main" id="{4B6139FC-6969-0E04-013C-A32F916F0490}"/>
              </a:ext>
            </a:extLst>
          </p:cNvPr>
          <p:cNvCxnSpPr>
            <a:stCxn id="16" idx="3"/>
            <a:endCxn id="20" idx="1"/>
          </p:cNvCxnSpPr>
          <p:nvPr/>
        </p:nvCxnSpPr>
        <p:spPr>
          <a:xfrm flipV="1">
            <a:off x="5176683" y="2620594"/>
            <a:ext cx="1791978" cy="1346173"/>
          </a:xfrm>
          <a:prstGeom prst="straightConnector1">
            <a:avLst/>
          </a:prstGeom>
          <a:ln w="508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8F0ED3A2-CD8E-1830-6FEC-8D306AC7D644}"/>
              </a:ext>
            </a:extLst>
          </p:cNvPr>
          <p:cNvCxnSpPr>
            <a:cxnSpLocks/>
            <a:stCxn id="16" idx="3"/>
            <a:endCxn id="21" idx="1"/>
          </p:cNvCxnSpPr>
          <p:nvPr/>
        </p:nvCxnSpPr>
        <p:spPr>
          <a:xfrm>
            <a:off x="5176683" y="3966767"/>
            <a:ext cx="1782154" cy="1814299"/>
          </a:xfrm>
          <a:prstGeom prst="straightConnector1">
            <a:avLst/>
          </a:prstGeom>
          <a:ln w="508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CD622B48-7B34-1477-A291-187EAE0460A0}"/>
              </a:ext>
            </a:extLst>
          </p:cNvPr>
          <p:cNvSpPr txBox="1"/>
          <p:nvPr/>
        </p:nvSpPr>
        <p:spPr>
          <a:xfrm>
            <a:off x="838200" y="5073453"/>
            <a:ext cx="4328659" cy="369332"/>
          </a:xfrm>
          <a:prstGeom prst="rect">
            <a:avLst/>
          </a:prstGeom>
          <a:noFill/>
        </p:spPr>
        <p:txBody>
          <a:bodyPr wrap="square" rtlCol="0">
            <a:spAutoFit/>
          </a:bodyPr>
          <a:lstStyle/>
          <a:p>
            <a:pPr algn="ctr"/>
            <a:r>
              <a:rPr lang="es-ES" b="1" i="0" dirty="0" err="1">
                <a:solidFill>
                  <a:srgbClr val="141414"/>
                </a:solidFill>
                <a:effectLst/>
              </a:rPr>
              <a:t>Simon</a:t>
            </a:r>
            <a:r>
              <a:rPr lang="es-ES" b="1" i="0" dirty="0">
                <a:solidFill>
                  <a:srgbClr val="141414"/>
                </a:solidFill>
                <a:effectLst/>
              </a:rPr>
              <a:t> Kuznets, 1930, EEUU, autor del PIB</a:t>
            </a:r>
            <a:endParaRPr lang="es-ES" b="1" dirty="0"/>
          </a:p>
        </p:txBody>
      </p:sp>
      <p:pic>
        <p:nvPicPr>
          <p:cNvPr id="29" name="Imagen 28">
            <a:extLst>
              <a:ext uri="{FF2B5EF4-FFF2-40B4-BE49-F238E27FC236}">
                <a16:creationId xmlns:a16="http://schemas.microsoft.com/office/drawing/2014/main" id="{9CC30E50-B7A1-2141-55F4-2749D9758541}"/>
              </a:ext>
            </a:extLst>
          </p:cNvPr>
          <p:cNvPicPr>
            <a:picLocks noChangeAspect="1"/>
          </p:cNvPicPr>
          <p:nvPr/>
        </p:nvPicPr>
        <p:blipFill>
          <a:blip r:embed="rId3"/>
          <a:stretch>
            <a:fillRect/>
          </a:stretch>
        </p:blipFill>
        <p:spPr>
          <a:xfrm>
            <a:off x="2563910" y="5481780"/>
            <a:ext cx="963262" cy="1346174"/>
          </a:xfrm>
          <a:prstGeom prst="rect">
            <a:avLst/>
          </a:prstGeom>
        </p:spPr>
      </p:pic>
      <p:sp>
        <p:nvSpPr>
          <p:cNvPr id="30" name="CuadroTexto 29">
            <a:extLst>
              <a:ext uri="{FF2B5EF4-FFF2-40B4-BE49-F238E27FC236}">
                <a16:creationId xmlns:a16="http://schemas.microsoft.com/office/drawing/2014/main" id="{F7AB0185-6B29-7874-1054-96468E97D883}"/>
              </a:ext>
            </a:extLst>
          </p:cNvPr>
          <p:cNvSpPr txBox="1"/>
          <p:nvPr/>
        </p:nvSpPr>
        <p:spPr>
          <a:xfrm>
            <a:off x="4440928" y="6458622"/>
            <a:ext cx="2521974" cy="369332"/>
          </a:xfrm>
          <a:prstGeom prst="rect">
            <a:avLst/>
          </a:prstGeom>
          <a:noFill/>
        </p:spPr>
        <p:txBody>
          <a:bodyPr wrap="square" rtlCol="0">
            <a:spAutoFit/>
          </a:bodyPr>
          <a:lstStyle/>
          <a:p>
            <a:pPr algn="ctr"/>
            <a:r>
              <a:rPr lang="es-ES" dirty="0">
                <a:hlinkClick r:id="rId4"/>
              </a:rPr>
              <a:t>Vídeo Explicativo PIB</a:t>
            </a:r>
            <a:endParaRPr lang="es-ES" dirty="0"/>
          </a:p>
        </p:txBody>
      </p:sp>
    </p:spTree>
    <p:extLst>
      <p:ext uri="{BB962C8B-B14F-4D97-AF65-F5344CB8AC3E}">
        <p14:creationId xmlns:p14="http://schemas.microsoft.com/office/powerpoint/2010/main" val="3201145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CRECIMIENTO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9" name="Imagen 8">
            <a:extLst>
              <a:ext uri="{FF2B5EF4-FFF2-40B4-BE49-F238E27FC236}">
                <a16:creationId xmlns:a16="http://schemas.microsoft.com/office/drawing/2014/main" id="{C1B17624-C42C-3C84-86F7-BFF5370CD884}"/>
              </a:ext>
            </a:extLst>
          </p:cNvPr>
          <p:cNvPicPr>
            <a:picLocks noChangeAspect="1"/>
          </p:cNvPicPr>
          <p:nvPr/>
        </p:nvPicPr>
        <p:blipFill>
          <a:blip r:embed="rId3"/>
          <a:stretch>
            <a:fillRect/>
          </a:stretch>
        </p:blipFill>
        <p:spPr>
          <a:xfrm>
            <a:off x="462715" y="1652339"/>
            <a:ext cx="4629796" cy="3553321"/>
          </a:xfrm>
          <a:prstGeom prst="rect">
            <a:avLst/>
          </a:prstGeom>
        </p:spPr>
      </p:pic>
      <p:sp>
        <p:nvSpPr>
          <p:cNvPr id="10" name="CuadroTexto 9">
            <a:extLst>
              <a:ext uri="{FF2B5EF4-FFF2-40B4-BE49-F238E27FC236}">
                <a16:creationId xmlns:a16="http://schemas.microsoft.com/office/drawing/2014/main" id="{1D56E943-866D-DEAB-806D-333B6172FE05}"/>
              </a:ext>
            </a:extLst>
          </p:cNvPr>
          <p:cNvSpPr txBox="1"/>
          <p:nvPr/>
        </p:nvSpPr>
        <p:spPr>
          <a:xfrm>
            <a:off x="462715" y="2115645"/>
            <a:ext cx="707923" cy="461665"/>
          </a:xfrm>
          <a:prstGeom prst="rect">
            <a:avLst/>
          </a:prstGeom>
          <a:noFill/>
        </p:spPr>
        <p:txBody>
          <a:bodyPr wrap="square" rtlCol="0">
            <a:spAutoFit/>
          </a:bodyPr>
          <a:lstStyle/>
          <a:p>
            <a:r>
              <a:rPr lang="es-ES" sz="2400" b="1" dirty="0"/>
              <a:t>PIB</a:t>
            </a:r>
          </a:p>
        </p:txBody>
      </p:sp>
      <p:sp>
        <p:nvSpPr>
          <p:cNvPr id="11" name="CuadroTexto 10">
            <a:extLst>
              <a:ext uri="{FF2B5EF4-FFF2-40B4-BE49-F238E27FC236}">
                <a16:creationId xmlns:a16="http://schemas.microsoft.com/office/drawing/2014/main" id="{549CF13E-4555-7B06-3302-E8618346D899}"/>
              </a:ext>
            </a:extLst>
          </p:cNvPr>
          <p:cNvSpPr txBox="1"/>
          <p:nvPr/>
        </p:nvSpPr>
        <p:spPr>
          <a:xfrm>
            <a:off x="2961590" y="4743995"/>
            <a:ext cx="1366274" cy="461665"/>
          </a:xfrm>
          <a:prstGeom prst="rect">
            <a:avLst/>
          </a:prstGeom>
          <a:noFill/>
        </p:spPr>
        <p:txBody>
          <a:bodyPr wrap="square" rtlCol="0">
            <a:spAutoFit/>
          </a:bodyPr>
          <a:lstStyle/>
          <a:p>
            <a:r>
              <a:rPr lang="es-ES" sz="2400" b="1" dirty="0"/>
              <a:t>Tiempo</a:t>
            </a:r>
          </a:p>
        </p:txBody>
      </p:sp>
      <p:sp>
        <p:nvSpPr>
          <p:cNvPr id="12" name="Rectángulo 11">
            <a:extLst>
              <a:ext uri="{FF2B5EF4-FFF2-40B4-BE49-F238E27FC236}">
                <a16:creationId xmlns:a16="http://schemas.microsoft.com/office/drawing/2014/main" id="{F5001442-CC26-A23F-209A-BD9687E4FA7F}"/>
              </a:ext>
            </a:extLst>
          </p:cNvPr>
          <p:cNvSpPr/>
          <p:nvPr/>
        </p:nvSpPr>
        <p:spPr>
          <a:xfrm>
            <a:off x="462715" y="5442155"/>
            <a:ext cx="4629796" cy="1238864"/>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Las políticas económicas de la mayoría de los países se orientan a conseguir un </a:t>
            </a:r>
            <a:r>
              <a:rPr lang="es-ES" sz="2000" b="1" dirty="0">
                <a:solidFill>
                  <a:schemeClr val="tx1"/>
                </a:solidFill>
              </a:rPr>
              <a:t>aumento constante de su PIB </a:t>
            </a:r>
            <a:r>
              <a:rPr lang="es-ES" sz="2000" dirty="0">
                <a:solidFill>
                  <a:schemeClr val="tx1"/>
                </a:solidFill>
              </a:rPr>
              <a:t>como indicador de bonanza</a:t>
            </a:r>
          </a:p>
        </p:txBody>
      </p:sp>
      <p:sp>
        <p:nvSpPr>
          <p:cNvPr id="13" name="Flecha: a la derecha 12">
            <a:extLst>
              <a:ext uri="{FF2B5EF4-FFF2-40B4-BE49-F238E27FC236}">
                <a16:creationId xmlns:a16="http://schemas.microsoft.com/office/drawing/2014/main" id="{EC2A5EFE-A5C6-B8B2-952A-82F252E376F6}"/>
              </a:ext>
            </a:extLst>
          </p:cNvPr>
          <p:cNvSpPr/>
          <p:nvPr/>
        </p:nvSpPr>
        <p:spPr>
          <a:xfrm>
            <a:off x="5043955" y="3111909"/>
            <a:ext cx="2286000" cy="1032387"/>
          </a:xfrm>
          <a:prstGeom prst="rightArrow">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D9E4711E-6EBC-A8F0-14DC-3F5453D712DA}"/>
              </a:ext>
            </a:extLst>
          </p:cNvPr>
          <p:cNvSpPr txBox="1"/>
          <p:nvPr/>
        </p:nvSpPr>
        <p:spPr>
          <a:xfrm>
            <a:off x="5457561" y="3412659"/>
            <a:ext cx="1356851" cy="430887"/>
          </a:xfrm>
          <a:prstGeom prst="rect">
            <a:avLst/>
          </a:prstGeom>
          <a:noFill/>
        </p:spPr>
        <p:txBody>
          <a:bodyPr wrap="square" rtlCol="0">
            <a:spAutoFit/>
          </a:bodyPr>
          <a:lstStyle/>
          <a:p>
            <a:pPr algn="ctr"/>
            <a:r>
              <a:rPr lang="es-ES" sz="2200" b="1" dirty="0">
                <a:solidFill>
                  <a:schemeClr val="bg1"/>
                </a:solidFill>
              </a:rPr>
              <a:t>CRÍTICAS</a:t>
            </a:r>
          </a:p>
        </p:txBody>
      </p:sp>
      <p:sp>
        <p:nvSpPr>
          <p:cNvPr id="17" name="Rectángulo 16">
            <a:extLst>
              <a:ext uri="{FF2B5EF4-FFF2-40B4-BE49-F238E27FC236}">
                <a16:creationId xmlns:a16="http://schemas.microsoft.com/office/drawing/2014/main" id="{95550DBD-9754-8009-AFD1-1341C1DE5BC1}"/>
              </a:ext>
            </a:extLst>
          </p:cNvPr>
          <p:cNvSpPr/>
          <p:nvPr/>
        </p:nvSpPr>
        <p:spPr>
          <a:xfrm>
            <a:off x="7892578" y="1953689"/>
            <a:ext cx="3684906" cy="471391"/>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Recursos planetarios limitados</a:t>
            </a:r>
          </a:p>
        </p:txBody>
      </p:sp>
      <p:sp>
        <p:nvSpPr>
          <p:cNvPr id="19" name="Rectángulo 18">
            <a:extLst>
              <a:ext uri="{FF2B5EF4-FFF2-40B4-BE49-F238E27FC236}">
                <a16:creationId xmlns:a16="http://schemas.microsoft.com/office/drawing/2014/main" id="{E38A0133-7534-9E36-24B3-F6084AD5692E}"/>
              </a:ext>
            </a:extLst>
          </p:cNvPr>
          <p:cNvSpPr/>
          <p:nvPr/>
        </p:nvSpPr>
        <p:spPr>
          <a:xfrm>
            <a:off x="7892578" y="3366071"/>
            <a:ext cx="3684906" cy="471391"/>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Produce desigualdades sociales</a:t>
            </a:r>
          </a:p>
        </p:txBody>
      </p:sp>
      <p:sp>
        <p:nvSpPr>
          <p:cNvPr id="22" name="Rectángulo 21">
            <a:extLst>
              <a:ext uri="{FF2B5EF4-FFF2-40B4-BE49-F238E27FC236}">
                <a16:creationId xmlns:a16="http://schemas.microsoft.com/office/drawing/2014/main" id="{70D6FDFA-5315-6160-2397-9260CAC60049}"/>
              </a:ext>
            </a:extLst>
          </p:cNvPr>
          <p:cNvSpPr/>
          <p:nvPr/>
        </p:nvSpPr>
        <p:spPr>
          <a:xfrm>
            <a:off x="7892578" y="4778453"/>
            <a:ext cx="3684906" cy="471391"/>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No previsión de crisis financiera</a:t>
            </a:r>
          </a:p>
        </p:txBody>
      </p:sp>
      <p:sp>
        <p:nvSpPr>
          <p:cNvPr id="25" name="Abrir llave 24">
            <a:extLst>
              <a:ext uri="{FF2B5EF4-FFF2-40B4-BE49-F238E27FC236}">
                <a16:creationId xmlns:a16="http://schemas.microsoft.com/office/drawing/2014/main" id="{19439614-9CFD-8487-650C-514583BED5F8}"/>
              </a:ext>
            </a:extLst>
          </p:cNvPr>
          <p:cNvSpPr/>
          <p:nvPr/>
        </p:nvSpPr>
        <p:spPr>
          <a:xfrm>
            <a:off x="7462159" y="1699005"/>
            <a:ext cx="460443" cy="3863003"/>
          </a:xfrm>
          <a:prstGeom prst="leftBrace">
            <a:avLst>
              <a:gd name="adj1" fmla="val 40364"/>
              <a:gd name="adj2"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3488487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CRECIMIENTO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hlinkClick r:id="rId3"/>
            <a:extLst>
              <a:ext uri="{FF2B5EF4-FFF2-40B4-BE49-F238E27FC236}">
                <a16:creationId xmlns:a16="http://schemas.microsoft.com/office/drawing/2014/main" id="{7F669537-2EB7-2979-1248-EA7620E75E16}"/>
              </a:ext>
            </a:extLst>
          </p:cNvPr>
          <p:cNvPicPr>
            <a:picLocks noChangeAspect="1"/>
          </p:cNvPicPr>
          <p:nvPr/>
        </p:nvPicPr>
        <p:blipFill>
          <a:blip r:embed="rId4"/>
          <a:stretch>
            <a:fillRect/>
          </a:stretch>
        </p:blipFill>
        <p:spPr>
          <a:xfrm>
            <a:off x="1813687" y="1964474"/>
            <a:ext cx="9831172" cy="4458322"/>
          </a:xfrm>
          <a:prstGeom prst="rect">
            <a:avLst/>
          </a:prstGeom>
        </p:spPr>
      </p:pic>
      <p:sp>
        <p:nvSpPr>
          <p:cNvPr id="8" name="Rectángulo: esquinas diagonales redondeadas 7">
            <a:extLst>
              <a:ext uri="{FF2B5EF4-FFF2-40B4-BE49-F238E27FC236}">
                <a16:creationId xmlns:a16="http://schemas.microsoft.com/office/drawing/2014/main" id="{D8E6E8CF-8622-A970-D687-1C52EBED6A14}"/>
              </a:ext>
            </a:extLst>
          </p:cNvPr>
          <p:cNvSpPr/>
          <p:nvPr/>
        </p:nvSpPr>
        <p:spPr>
          <a:xfrm>
            <a:off x="4093034" y="1362963"/>
            <a:ext cx="5272477" cy="443927"/>
          </a:xfrm>
          <a:prstGeom prst="round2DiagRect">
            <a:avLst/>
          </a:prstGeom>
          <a:solidFill>
            <a:schemeClr val="tx1">
              <a:lumMod val="65000"/>
              <a:lumOff val="3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Previsión de extracción de recursos naturales</a:t>
            </a:r>
          </a:p>
        </p:txBody>
      </p:sp>
      <p:sp>
        <p:nvSpPr>
          <p:cNvPr id="15" name="CuadroTexto 14">
            <a:extLst>
              <a:ext uri="{FF2B5EF4-FFF2-40B4-BE49-F238E27FC236}">
                <a16:creationId xmlns:a16="http://schemas.microsoft.com/office/drawing/2014/main" id="{BA072103-94D2-6E10-26F7-B43283432816}"/>
              </a:ext>
            </a:extLst>
          </p:cNvPr>
          <p:cNvSpPr txBox="1"/>
          <p:nvPr/>
        </p:nvSpPr>
        <p:spPr>
          <a:xfrm>
            <a:off x="176981" y="3067665"/>
            <a:ext cx="1769806" cy="1200329"/>
          </a:xfrm>
          <a:prstGeom prst="rect">
            <a:avLst/>
          </a:prstGeom>
          <a:solidFill>
            <a:schemeClr val="bg2">
              <a:lumMod val="90000"/>
            </a:schemeClr>
          </a:solidFill>
          <a:effectLst>
            <a:outerShdw blurRad="50800" dist="38100" dir="16200000" rotWithShape="0">
              <a:prstClr val="black">
                <a:alpha val="40000"/>
              </a:prstClr>
            </a:outerShdw>
          </a:effectLst>
        </p:spPr>
        <p:txBody>
          <a:bodyPr wrap="square" rtlCol="0">
            <a:spAutoFit/>
          </a:bodyPr>
          <a:lstStyle/>
          <a:p>
            <a:pPr algn="ctr"/>
            <a:r>
              <a:rPr lang="es-ES" dirty="0"/>
              <a:t>La necesidad de recursos naturales cada vez es mayor</a:t>
            </a:r>
          </a:p>
        </p:txBody>
      </p:sp>
    </p:spTree>
    <p:extLst>
      <p:ext uri="{BB962C8B-B14F-4D97-AF65-F5344CB8AC3E}">
        <p14:creationId xmlns:p14="http://schemas.microsoft.com/office/powerpoint/2010/main" val="1405891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CRECIMIENTO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Rectángulo: esquinas diagonales redondeadas 7">
            <a:extLst>
              <a:ext uri="{FF2B5EF4-FFF2-40B4-BE49-F238E27FC236}">
                <a16:creationId xmlns:a16="http://schemas.microsoft.com/office/drawing/2014/main" id="{D8E6E8CF-8622-A970-D687-1C52EBED6A14}"/>
              </a:ext>
            </a:extLst>
          </p:cNvPr>
          <p:cNvSpPr/>
          <p:nvPr/>
        </p:nvSpPr>
        <p:spPr>
          <a:xfrm>
            <a:off x="4042465" y="1519080"/>
            <a:ext cx="4070555" cy="443927"/>
          </a:xfrm>
          <a:prstGeom prst="round2DiagRect">
            <a:avLst/>
          </a:prstGeom>
          <a:solidFill>
            <a:schemeClr val="tx1">
              <a:lumMod val="65000"/>
              <a:lumOff val="3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Reparto desigual de la riqueza</a:t>
            </a:r>
          </a:p>
        </p:txBody>
      </p:sp>
      <p:pic>
        <p:nvPicPr>
          <p:cNvPr id="9" name="Imagen 8">
            <a:extLst>
              <a:ext uri="{FF2B5EF4-FFF2-40B4-BE49-F238E27FC236}">
                <a16:creationId xmlns:a16="http://schemas.microsoft.com/office/drawing/2014/main" id="{280EA455-055E-7226-FD04-A59EAA6B62B0}"/>
              </a:ext>
            </a:extLst>
          </p:cNvPr>
          <p:cNvPicPr>
            <a:picLocks noChangeAspect="1"/>
          </p:cNvPicPr>
          <p:nvPr/>
        </p:nvPicPr>
        <p:blipFill>
          <a:blip r:embed="rId3"/>
          <a:stretch>
            <a:fillRect/>
          </a:stretch>
        </p:blipFill>
        <p:spPr>
          <a:xfrm>
            <a:off x="3262209" y="2145255"/>
            <a:ext cx="5631067" cy="4010616"/>
          </a:xfrm>
          <a:prstGeom prst="rect">
            <a:avLst/>
          </a:prstGeom>
        </p:spPr>
      </p:pic>
      <p:sp>
        <p:nvSpPr>
          <p:cNvPr id="10" name="CuadroTexto 9">
            <a:extLst>
              <a:ext uri="{FF2B5EF4-FFF2-40B4-BE49-F238E27FC236}">
                <a16:creationId xmlns:a16="http://schemas.microsoft.com/office/drawing/2014/main" id="{B9946E5E-BE5D-5158-AC4E-5B1DEE645B94}"/>
              </a:ext>
            </a:extLst>
          </p:cNvPr>
          <p:cNvSpPr txBox="1"/>
          <p:nvPr/>
        </p:nvSpPr>
        <p:spPr>
          <a:xfrm>
            <a:off x="176981" y="3067665"/>
            <a:ext cx="2462980" cy="2308324"/>
          </a:xfrm>
          <a:prstGeom prst="rect">
            <a:avLst/>
          </a:prstGeom>
          <a:solidFill>
            <a:schemeClr val="bg2">
              <a:lumMod val="90000"/>
            </a:schemeClr>
          </a:solidFill>
          <a:effectLst>
            <a:outerShdw blurRad="50800" dist="38100" dir="16200000" rotWithShape="0">
              <a:prstClr val="black">
                <a:alpha val="40000"/>
              </a:prstClr>
            </a:outerShdw>
          </a:effectLst>
        </p:spPr>
        <p:txBody>
          <a:bodyPr wrap="square" rtlCol="0">
            <a:spAutoFit/>
          </a:bodyPr>
          <a:lstStyle/>
          <a:p>
            <a:pPr algn="ctr"/>
            <a:r>
              <a:rPr lang="es-ES" dirty="0"/>
              <a:t>En 2023, el 1,5% de la población adulta mundial controlaba el 47,5 % de la riqueza total, mientras que el 39,5% de la población poseía únicamente el 0,5% de la riqueza</a:t>
            </a:r>
          </a:p>
        </p:txBody>
      </p:sp>
      <p:sp>
        <p:nvSpPr>
          <p:cNvPr id="11" name="CuadroTexto 10">
            <a:extLst>
              <a:ext uri="{FF2B5EF4-FFF2-40B4-BE49-F238E27FC236}">
                <a16:creationId xmlns:a16="http://schemas.microsoft.com/office/drawing/2014/main" id="{7B0F3705-3DEA-7567-7C2D-B827636BF1BD}"/>
              </a:ext>
            </a:extLst>
          </p:cNvPr>
          <p:cNvSpPr txBox="1"/>
          <p:nvPr/>
        </p:nvSpPr>
        <p:spPr>
          <a:xfrm>
            <a:off x="4197323" y="6259107"/>
            <a:ext cx="3760838" cy="369332"/>
          </a:xfrm>
          <a:prstGeom prst="rect">
            <a:avLst/>
          </a:prstGeom>
          <a:noFill/>
        </p:spPr>
        <p:txBody>
          <a:bodyPr wrap="square" rtlCol="0">
            <a:spAutoFit/>
          </a:bodyPr>
          <a:lstStyle/>
          <a:p>
            <a:pPr algn="ctr"/>
            <a:r>
              <a:rPr lang="es-ES" dirty="0">
                <a:hlinkClick r:id="rId4"/>
              </a:rPr>
              <a:t>Fuente: </a:t>
            </a:r>
            <a:r>
              <a:rPr lang="es-ES" dirty="0" err="1">
                <a:hlinkClick r:id="rId4"/>
              </a:rPr>
              <a:t>World</a:t>
            </a:r>
            <a:r>
              <a:rPr lang="es-ES" dirty="0">
                <a:hlinkClick r:id="rId4"/>
              </a:rPr>
              <a:t> </a:t>
            </a:r>
            <a:r>
              <a:rPr lang="es-ES" dirty="0" err="1">
                <a:hlinkClick r:id="rId4"/>
              </a:rPr>
              <a:t>Wealth</a:t>
            </a:r>
            <a:r>
              <a:rPr lang="es-ES" dirty="0">
                <a:hlinkClick r:id="rId4"/>
              </a:rPr>
              <a:t> </a:t>
            </a:r>
            <a:r>
              <a:rPr lang="es-ES" dirty="0" err="1">
                <a:hlinkClick r:id="rId4"/>
              </a:rPr>
              <a:t>Report</a:t>
            </a:r>
            <a:r>
              <a:rPr lang="es-ES" dirty="0">
                <a:hlinkClick r:id="rId4"/>
              </a:rPr>
              <a:t> 2024</a:t>
            </a:r>
            <a:endParaRPr lang="es-ES" dirty="0"/>
          </a:p>
        </p:txBody>
      </p:sp>
    </p:spTree>
    <p:extLst>
      <p:ext uri="{BB962C8B-B14F-4D97-AF65-F5344CB8AC3E}">
        <p14:creationId xmlns:p14="http://schemas.microsoft.com/office/powerpoint/2010/main" val="4212769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CRECIMIENTO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Rectángulo: esquinas diagonales redondeadas 7">
            <a:extLst>
              <a:ext uri="{FF2B5EF4-FFF2-40B4-BE49-F238E27FC236}">
                <a16:creationId xmlns:a16="http://schemas.microsoft.com/office/drawing/2014/main" id="{D8E6E8CF-8622-A970-D687-1C52EBED6A14}"/>
              </a:ext>
            </a:extLst>
          </p:cNvPr>
          <p:cNvSpPr/>
          <p:nvPr/>
        </p:nvSpPr>
        <p:spPr>
          <a:xfrm>
            <a:off x="4962699" y="1519080"/>
            <a:ext cx="4070555" cy="443927"/>
          </a:xfrm>
          <a:prstGeom prst="round2DiagRect">
            <a:avLst/>
          </a:prstGeom>
          <a:solidFill>
            <a:schemeClr val="tx1">
              <a:lumMod val="65000"/>
              <a:lumOff val="3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Posibilidad de crisis económicas</a:t>
            </a:r>
          </a:p>
        </p:txBody>
      </p:sp>
      <p:pic>
        <p:nvPicPr>
          <p:cNvPr id="6" name="Imagen 5">
            <a:hlinkClick r:id="rId3"/>
            <a:extLst>
              <a:ext uri="{FF2B5EF4-FFF2-40B4-BE49-F238E27FC236}">
                <a16:creationId xmlns:a16="http://schemas.microsoft.com/office/drawing/2014/main" id="{CE0F63C5-0D6B-D818-AC4A-B9FA10147637}"/>
              </a:ext>
            </a:extLst>
          </p:cNvPr>
          <p:cNvPicPr>
            <a:picLocks noChangeAspect="1"/>
          </p:cNvPicPr>
          <p:nvPr/>
        </p:nvPicPr>
        <p:blipFill>
          <a:blip r:embed="rId4"/>
          <a:stretch>
            <a:fillRect/>
          </a:stretch>
        </p:blipFill>
        <p:spPr>
          <a:xfrm>
            <a:off x="3273876" y="2126702"/>
            <a:ext cx="7448200" cy="4171265"/>
          </a:xfrm>
          <a:prstGeom prst="rect">
            <a:avLst/>
          </a:prstGeom>
        </p:spPr>
      </p:pic>
      <p:sp>
        <p:nvSpPr>
          <p:cNvPr id="12" name="CuadroTexto 11">
            <a:extLst>
              <a:ext uri="{FF2B5EF4-FFF2-40B4-BE49-F238E27FC236}">
                <a16:creationId xmlns:a16="http://schemas.microsoft.com/office/drawing/2014/main" id="{38C46AD7-93D3-FF72-26A3-4C7DFE644432}"/>
              </a:ext>
            </a:extLst>
          </p:cNvPr>
          <p:cNvSpPr txBox="1"/>
          <p:nvPr/>
        </p:nvSpPr>
        <p:spPr>
          <a:xfrm>
            <a:off x="176981" y="3067665"/>
            <a:ext cx="2462980" cy="1200329"/>
          </a:xfrm>
          <a:prstGeom prst="rect">
            <a:avLst/>
          </a:prstGeom>
          <a:solidFill>
            <a:schemeClr val="bg2">
              <a:lumMod val="90000"/>
            </a:schemeClr>
          </a:solidFill>
          <a:effectLst>
            <a:outerShdw blurRad="50800" dist="38100" dir="16200000" rotWithShape="0">
              <a:prstClr val="black">
                <a:alpha val="40000"/>
              </a:prstClr>
            </a:outerShdw>
          </a:effectLst>
        </p:spPr>
        <p:txBody>
          <a:bodyPr wrap="square" rtlCol="0">
            <a:spAutoFit/>
          </a:bodyPr>
          <a:lstStyle/>
          <a:p>
            <a:pPr algn="ctr"/>
            <a:r>
              <a:rPr lang="es-ES" dirty="0"/>
              <a:t>Este modelo macroeconómico no predijo la crisis financiera del 2008</a:t>
            </a:r>
          </a:p>
        </p:txBody>
      </p:sp>
    </p:spTree>
    <p:extLst>
      <p:ext uri="{BB962C8B-B14F-4D97-AF65-F5344CB8AC3E}">
        <p14:creationId xmlns:p14="http://schemas.microsoft.com/office/powerpoint/2010/main" val="1735165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CRECIMIENTO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hlinkClick r:id="rId3"/>
            <a:extLst>
              <a:ext uri="{FF2B5EF4-FFF2-40B4-BE49-F238E27FC236}">
                <a16:creationId xmlns:a16="http://schemas.microsoft.com/office/drawing/2014/main" id="{496AC91A-1A1D-AE36-F34A-7CB4194FAC63}"/>
              </a:ext>
            </a:extLst>
          </p:cNvPr>
          <p:cNvPicPr>
            <a:picLocks noChangeAspect="1"/>
          </p:cNvPicPr>
          <p:nvPr/>
        </p:nvPicPr>
        <p:blipFill>
          <a:blip r:embed="rId4"/>
          <a:stretch>
            <a:fillRect/>
          </a:stretch>
        </p:blipFill>
        <p:spPr>
          <a:xfrm>
            <a:off x="2572545" y="1473904"/>
            <a:ext cx="7544343" cy="4631926"/>
          </a:xfrm>
          <a:prstGeom prst="rect">
            <a:avLst/>
          </a:prstGeom>
        </p:spPr>
      </p:pic>
    </p:spTree>
    <p:extLst>
      <p:ext uri="{BB962C8B-B14F-4D97-AF65-F5344CB8AC3E}">
        <p14:creationId xmlns:p14="http://schemas.microsoft.com/office/powerpoint/2010/main" val="628457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EL SISTEMA MACROECONÓMICO GLOBAL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6" name="CuadroTexto 5">
            <a:extLst>
              <a:ext uri="{FF2B5EF4-FFF2-40B4-BE49-F238E27FC236}">
                <a16:creationId xmlns:a16="http://schemas.microsoft.com/office/drawing/2014/main" id="{5EEAFAC8-882E-8D47-DFE3-7588677B97B3}"/>
              </a:ext>
            </a:extLst>
          </p:cNvPr>
          <p:cNvSpPr txBox="1"/>
          <p:nvPr/>
        </p:nvSpPr>
        <p:spPr>
          <a:xfrm>
            <a:off x="208134" y="1546720"/>
            <a:ext cx="2992266" cy="1938992"/>
          </a:xfrm>
          <a:prstGeom prst="rect">
            <a:avLst/>
          </a:prstGeom>
          <a:solidFill>
            <a:schemeClr val="accent6">
              <a:lumMod val="20000"/>
              <a:lumOff val="80000"/>
            </a:schemeClr>
          </a:solidFill>
        </p:spPr>
        <p:txBody>
          <a:bodyPr wrap="square" rtlCol="0">
            <a:spAutoFit/>
          </a:bodyPr>
          <a:lstStyle/>
          <a:p>
            <a:pPr algn="ctr"/>
            <a:r>
              <a:rPr lang="es-ES" sz="2000" dirty="0"/>
              <a:t>Frente al modelo macroeconómico actual, cuestionado, cuyo objetivo es el aumento continuado del PIB, surgen nuevas tendencias </a:t>
            </a:r>
          </a:p>
        </p:txBody>
      </p:sp>
      <p:sp>
        <p:nvSpPr>
          <p:cNvPr id="14" name="Rectángulo: esquinas redondeadas 13">
            <a:extLst>
              <a:ext uri="{FF2B5EF4-FFF2-40B4-BE49-F238E27FC236}">
                <a16:creationId xmlns:a16="http://schemas.microsoft.com/office/drawing/2014/main" id="{4CE035FF-3B7D-1453-12C0-DE983FA985CF}"/>
              </a:ext>
            </a:extLst>
          </p:cNvPr>
          <p:cNvSpPr/>
          <p:nvPr/>
        </p:nvSpPr>
        <p:spPr>
          <a:xfrm>
            <a:off x="1010554" y="4944703"/>
            <a:ext cx="2834768" cy="1078067"/>
          </a:xfrm>
          <a:prstGeom prst="roundRect">
            <a:avLst>
              <a:gd name="adj" fmla="val 31048"/>
            </a:avLst>
          </a:prstGeom>
          <a:solidFill>
            <a:srgbClr val="E5CB0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Decrecimiento sostenible</a:t>
            </a:r>
          </a:p>
        </p:txBody>
      </p:sp>
      <p:sp>
        <p:nvSpPr>
          <p:cNvPr id="15" name="Rectángulo: esquinas redondeadas 14">
            <a:extLst>
              <a:ext uri="{FF2B5EF4-FFF2-40B4-BE49-F238E27FC236}">
                <a16:creationId xmlns:a16="http://schemas.microsoft.com/office/drawing/2014/main" id="{6F26AFA3-10EE-AB7A-562F-5DDA2DAAFAAB}"/>
              </a:ext>
            </a:extLst>
          </p:cNvPr>
          <p:cNvSpPr/>
          <p:nvPr/>
        </p:nvSpPr>
        <p:spPr>
          <a:xfrm>
            <a:off x="4678615" y="4944702"/>
            <a:ext cx="2881933" cy="1078067"/>
          </a:xfrm>
          <a:prstGeom prst="roundRect">
            <a:avLst>
              <a:gd name="adj" fmla="val 31048"/>
            </a:avLst>
          </a:prstGeom>
          <a:solidFill>
            <a:srgbClr val="E5CB0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err="1"/>
              <a:t>Postcrecimiento</a:t>
            </a:r>
            <a:endParaRPr lang="es-ES" sz="2200" b="1" dirty="0"/>
          </a:p>
        </p:txBody>
      </p:sp>
      <p:sp>
        <p:nvSpPr>
          <p:cNvPr id="16" name="Rectángulo: esquinas redondeadas 15">
            <a:extLst>
              <a:ext uri="{FF2B5EF4-FFF2-40B4-BE49-F238E27FC236}">
                <a16:creationId xmlns:a16="http://schemas.microsoft.com/office/drawing/2014/main" id="{C4AF8000-98A1-3375-F143-AB94374A1EA5}"/>
              </a:ext>
            </a:extLst>
          </p:cNvPr>
          <p:cNvSpPr/>
          <p:nvPr/>
        </p:nvSpPr>
        <p:spPr>
          <a:xfrm>
            <a:off x="8346679" y="4944702"/>
            <a:ext cx="2881933" cy="1078067"/>
          </a:xfrm>
          <a:prstGeom prst="roundRect">
            <a:avLst>
              <a:gd name="adj" fmla="val 31048"/>
            </a:avLst>
          </a:prstGeom>
          <a:solidFill>
            <a:srgbClr val="E5CB0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Economía Rosquilla</a:t>
            </a:r>
          </a:p>
        </p:txBody>
      </p:sp>
      <p:sp>
        <p:nvSpPr>
          <p:cNvPr id="17" name="Cerrar llave 16">
            <a:extLst>
              <a:ext uri="{FF2B5EF4-FFF2-40B4-BE49-F238E27FC236}">
                <a16:creationId xmlns:a16="http://schemas.microsoft.com/office/drawing/2014/main" id="{61039516-8C39-A14A-9716-5B35FA4869BA}"/>
              </a:ext>
            </a:extLst>
          </p:cNvPr>
          <p:cNvSpPr/>
          <p:nvPr/>
        </p:nvSpPr>
        <p:spPr>
          <a:xfrm rot="16200000">
            <a:off x="5649685" y="-1045771"/>
            <a:ext cx="892630" cy="10468431"/>
          </a:xfrm>
          <a:prstGeom prst="rightBrace">
            <a:avLst>
              <a:gd name="adj1" fmla="val 20662"/>
              <a:gd name="adj2" fmla="val 50000"/>
            </a:avLst>
          </a:prstGeom>
          <a:ln w="444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 name="Rectángulo 2">
            <a:extLst>
              <a:ext uri="{FF2B5EF4-FFF2-40B4-BE49-F238E27FC236}">
                <a16:creationId xmlns:a16="http://schemas.microsoft.com/office/drawing/2014/main" id="{4EB3BC0C-F30A-742B-92FD-1A8E6DEBD3DF}"/>
              </a:ext>
            </a:extLst>
          </p:cNvPr>
          <p:cNvSpPr/>
          <p:nvPr/>
        </p:nvSpPr>
        <p:spPr>
          <a:xfrm>
            <a:off x="4306529" y="2172042"/>
            <a:ext cx="3583858" cy="1216123"/>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Nuevas corrientes económicas</a:t>
            </a:r>
          </a:p>
        </p:txBody>
      </p:sp>
    </p:spTree>
    <p:extLst>
      <p:ext uri="{BB962C8B-B14F-4D97-AF65-F5344CB8AC3E}">
        <p14:creationId xmlns:p14="http://schemas.microsoft.com/office/powerpoint/2010/main" val="221105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DECRECIMIENTO SOSTENIBLE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6" name="CuadroTexto 5">
            <a:extLst>
              <a:ext uri="{FF2B5EF4-FFF2-40B4-BE49-F238E27FC236}">
                <a16:creationId xmlns:a16="http://schemas.microsoft.com/office/drawing/2014/main" id="{75294008-B461-676F-E446-F9B854A8C866}"/>
              </a:ext>
            </a:extLst>
          </p:cNvPr>
          <p:cNvSpPr txBox="1"/>
          <p:nvPr/>
        </p:nvSpPr>
        <p:spPr>
          <a:xfrm>
            <a:off x="3038168" y="6468173"/>
            <a:ext cx="4424516" cy="369332"/>
          </a:xfrm>
          <a:prstGeom prst="rect">
            <a:avLst/>
          </a:prstGeom>
          <a:noFill/>
        </p:spPr>
        <p:txBody>
          <a:bodyPr wrap="square" rtlCol="0">
            <a:spAutoFit/>
          </a:bodyPr>
          <a:lstStyle/>
          <a:p>
            <a:r>
              <a:rPr lang="es-ES" dirty="0">
                <a:hlinkClick r:id="rId3"/>
              </a:rPr>
              <a:t>Vídeo Explicativo Decrecimiento Sostenible</a:t>
            </a:r>
            <a:endParaRPr lang="es-ES" dirty="0"/>
          </a:p>
        </p:txBody>
      </p:sp>
      <p:pic>
        <p:nvPicPr>
          <p:cNvPr id="11" name="Imagen 10">
            <a:extLst>
              <a:ext uri="{FF2B5EF4-FFF2-40B4-BE49-F238E27FC236}">
                <a16:creationId xmlns:a16="http://schemas.microsoft.com/office/drawing/2014/main" id="{400D4F6F-2CB8-7E0A-8F13-41C7C23A66C8}"/>
              </a:ext>
            </a:extLst>
          </p:cNvPr>
          <p:cNvPicPr>
            <a:picLocks noChangeAspect="1"/>
          </p:cNvPicPr>
          <p:nvPr/>
        </p:nvPicPr>
        <p:blipFill>
          <a:blip r:embed="rId4"/>
          <a:stretch>
            <a:fillRect/>
          </a:stretch>
        </p:blipFill>
        <p:spPr>
          <a:xfrm>
            <a:off x="432805" y="1483246"/>
            <a:ext cx="4601217" cy="3400900"/>
          </a:xfrm>
          <a:prstGeom prst="rect">
            <a:avLst/>
          </a:prstGeom>
        </p:spPr>
      </p:pic>
      <p:sp>
        <p:nvSpPr>
          <p:cNvPr id="12" name="CuadroTexto 11">
            <a:extLst>
              <a:ext uri="{FF2B5EF4-FFF2-40B4-BE49-F238E27FC236}">
                <a16:creationId xmlns:a16="http://schemas.microsoft.com/office/drawing/2014/main" id="{73D0C46F-354C-0D68-CCF7-9578CA479D91}"/>
              </a:ext>
            </a:extLst>
          </p:cNvPr>
          <p:cNvSpPr txBox="1"/>
          <p:nvPr/>
        </p:nvSpPr>
        <p:spPr>
          <a:xfrm>
            <a:off x="462715" y="1879672"/>
            <a:ext cx="707923" cy="461665"/>
          </a:xfrm>
          <a:prstGeom prst="rect">
            <a:avLst/>
          </a:prstGeom>
          <a:noFill/>
        </p:spPr>
        <p:txBody>
          <a:bodyPr wrap="square" rtlCol="0">
            <a:spAutoFit/>
          </a:bodyPr>
          <a:lstStyle/>
          <a:p>
            <a:r>
              <a:rPr lang="es-ES" sz="2400" b="1" dirty="0"/>
              <a:t>PIB</a:t>
            </a:r>
          </a:p>
        </p:txBody>
      </p:sp>
      <p:sp>
        <p:nvSpPr>
          <p:cNvPr id="13" name="CuadroTexto 12">
            <a:extLst>
              <a:ext uri="{FF2B5EF4-FFF2-40B4-BE49-F238E27FC236}">
                <a16:creationId xmlns:a16="http://schemas.microsoft.com/office/drawing/2014/main" id="{3661C1D6-72F3-FF04-6B66-934FEEAE1DD0}"/>
              </a:ext>
            </a:extLst>
          </p:cNvPr>
          <p:cNvSpPr txBox="1"/>
          <p:nvPr/>
        </p:nvSpPr>
        <p:spPr>
          <a:xfrm>
            <a:off x="2961590" y="4508022"/>
            <a:ext cx="1366274" cy="461665"/>
          </a:xfrm>
          <a:prstGeom prst="rect">
            <a:avLst/>
          </a:prstGeom>
          <a:noFill/>
        </p:spPr>
        <p:txBody>
          <a:bodyPr wrap="square" rtlCol="0">
            <a:spAutoFit/>
          </a:bodyPr>
          <a:lstStyle/>
          <a:p>
            <a:r>
              <a:rPr lang="es-ES" sz="2400" b="1" dirty="0"/>
              <a:t>Tiempo</a:t>
            </a:r>
          </a:p>
        </p:txBody>
      </p:sp>
      <p:sp>
        <p:nvSpPr>
          <p:cNvPr id="15" name="Rectángulo 14">
            <a:extLst>
              <a:ext uri="{FF2B5EF4-FFF2-40B4-BE49-F238E27FC236}">
                <a16:creationId xmlns:a16="http://schemas.microsoft.com/office/drawing/2014/main" id="{593D9080-4920-9571-CB34-50089B968D0D}"/>
              </a:ext>
            </a:extLst>
          </p:cNvPr>
          <p:cNvSpPr/>
          <p:nvPr/>
        </p:nvSpPr>
        <p:spPr>
          <a:xfrm>
            <a:off x="310002" y="5117699"/>
            <a:ext cx="6428037" cy="1238864"/>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El </a:t>
            </a:r>
            <a:r>
              <a:rPr lang="es-ES" sz="2000" b="1" dirty="0">
                <a:solidFill>
                  <a:schemeClr val="tx1"/>
                </a:solidFill>
              </a:rPr>
              <a:t>Decrecimiento Sostenible</a:t>
            </a:r>
            <a:r>
              <a:rPr lang="es-ES" sz="2000" dirty="0">
                <a:solidFill>
                  <a:schemeClr val="tx1"/>
                </a:solidFill>
              </a:rPr>
              <a:t> es una corriente de pensamiento económico, político y social que defiende la </a:t>
            </a:r>
            <a:r>
              <a:rPr lang="es-ES" sz="2000" b="1" dirty="0">
                <a:solidFill>
                  <a:schemeClr val="tx1"/>
                </a:solidFill>
              </a:rPr>
              <a:t>reducción de la producción y el consumo actual</a:t>
            </a:r>
            <a:r>
              <a:rPr lang="es-ES" sz="2000" dirty="0">
                <a:solidFill>
                  <a:schemeClr val="tx1"/>
                </a:solidFill>
              </a:rPr>
              <a:t> para buscar un equilibrio con la naturaleza y mayor justicia social</a:t>
            </a:r>
            <a:r>
              <a:rPr lang="es-ES" sz="2000" b="1" dirty="0">
                <a:solidFill>
                  <a:schemeClr val="tx1"/>
                </a:solidFill>
              </a:rPr>
              <a:t> </a:t>
            </a:r>
          </a:p>
        </p:txBody>
      </p:sp>
      <p:sp>
        <p:nvSpPr>
          <p:cNvPr id="16" name="Flecha: a la derecha 15">
            <a:extLst>
              <a:ext uri="{FF2B5EF4-FFF2-40B4-BE49-F238E27FC236}">
                <a16:creationId xmlns:a16="http://schemas.microsoft.com/office/drawing/2014/main" id="{638FC14B-1AD6-A19E-9048-2E3601FC1961}"/>
              </a:ext>
            </a:extLst>
          </p:cNvPr>
          <p:cNvSpPr/>
          <p:nvPr/>
        </p:nvSpPr>
        <p:spPr>
          <a:xfrm>
            <a:off x="5251077" y="3111909"/>
            <a:ext cx="1670509" cy="1032387"/>
          </a:xfrm>
          <a:prstGeom prst="rightArrow">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01B7C741-D4BD-D8DB-1776-BE5E4141747D}"/>
              </a:ext>
            </a:extLst>
          </p:cNvPr>
          <p:cNvSpPr txBox="1"/>
          <p:nvPr/>
        </p:nvSpPr>
        <p:spPr>
          <a:xfrm>
            <a:off x="5251077" y="3412659"/>
            <a:ext cx="1356851" cy="430887"/>
          </a:xfrm>
          <a:prstGeom prst="rect">
            <a:avLst/>
          </a:prstGeom>
          <a:noFill/>
        </p:spPr>
        <p:txBody>
          <a:bodyPr wrap="square" rtlCol="0">
            <a:spAutoFit/>
          </a:bodyPr>
          <a:lstStyle/>
          <a:p>
            <a:pPr algn="ctr"/>
            <a:r>
              <a:rPr lang="es-ES" sz="2200" b="1" dirty="0">
                <a:solidFill>
                  <a:schemeClr val="bg1"/>
                </a:solidFill>
              </a:rPr>
              <a:t>IMPLICA</a:t>
            </a:r>
          </a:p>
        </p:txBody>
      </p:sp>
      <p:sp>
        <p:nvSpPr>
          <p:cNvPr id="18" name="Abrir llave 17">
            <a:extLst>
              <a:ext uri="{FF2B5EF4-FFF2-40B4-BE49-F238E27FC236}">
                <a16:creationId xmlns:a16="http://schemas.microsoft.com/office/drawing/2014/main" id="{7CAF2571-CC64-5C96-1421-912133F21895}"/>
              </a:ext>
            </a:extLst>
          </p:cNvPr>
          <p:cNvSpPr/>
          <p:nvPr/>
        </p:nvSpPr>
        <p:spPr>
          <a:xfrm>
            <a:off x="8999917" y="1791760"/>
            <a:ext cx="460443" cy="1412904"/>
          </a:xfrm>
          <a:prstGeom prst="leftBrace">
            <a:avLst>
              <a:gd name="adj1" fmla="val 40364"/>
              <a:gd name="adj2"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9" name="Rectángulo: esquinas diagonales redondeadas 18">
            <a:extLst>
              <a:ext uri="{FF2B5EF4-FFF2-40B4-BE49-F238E27FC236}">
                <a16:creationId xmlns:a16="http://schemas.microsoft.com/office/drawing/2014/main" id="{A2666D3D-6FAD-8198-94F5-21A82D124D6F}"/>
              </a:ext>
            </a:extLst>
          </p:cNvPr>
          <p:cNvSpPr/>
          <p:nvPr/>
        </p:nvSpPr>
        <p:spPr>
          <a:xfrm>
            <a:off x="7533417" y="2276246"/>
            <a:ext cx="1367001" cy="443933"/>
          </a:xfrm>
          <a:prstGeom prst="round2DiagRect">
            <a:avLst/>
          </a:prstGeom>
          <a:solidFill>
            <a:schemeClr val="accent5">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Reducir</a:t>
            </a:r>
          </a:p>
        </p:txBody>
      </p:sp>
      <p:sp>
        <p:nvSpPr>
          <p:cNvPr id="20" name="Abrir llave 19">
            <a:extLst>
              <a:ext uri="{FF2B5EF4-FFF2-40B4-BE49-F238E27FC236}">
                <a16:creationId xmlns:a16="http://schemas.microsoft.com/office/drawing/2014/main" id="{75F016DB-9581-4BA5-CB30-93A40E8552CC}"/>
              </a:ext>
            </a:extLst>
          </p:cNvPr>
          <p:cNvSpPr/>
          <p:nvPr/>
        </p:nvSpPr>
        <p:spPr>
          <a:xfrm>
            <a:off x="7066421" y="1679270"/>
            <a:ext cx="460443" cy="3863003"/>
          </a:xfrm>
          <a:prstGeom prst="leftBrace">
            <a:avLst>
              <a:gd name="adj1" fmla="val 40364"/>
              <a:gd name="adj2"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1" name="Rectángulo: esquinas diagonales redondeadas 20">
            <a:extLst>
              <a:ext uri="{FF2B5EF4-FFF2-40B4-BE49-F238E27FC236}">
                <a16:creationId xmlns:a16="http://schemas.microsoft.com/office/drawing/2014/main" id="{A64A74B7-0555-95F7-EF6E-1248D29AD412}"/>
              </a:ext>
            </a:extLst>
          </p:cNvPr>
          <p:cNvSpPr/>
          <p:nvPr/>
        </p:nvSpPr>
        <p:spPr>
          <a:xfrm>
            <a:off x="7526864" y="4357559"/>
            <a:ext cx="1367001" cy="443933"/>
          </a:xfrm>
          <a:prstGeom prst="round2DiagRect">
            <a:avLst/>
          </a:prstGeom>
          <a:solidFill>
            <a:schemeClr val="accent5">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Mejorar</a:t>
            </a:r>
          </a:p>
        </p:txBody>
      </p:sp>
      <p:sp>
        <p:nvSpPr>
          <p:cNvPr id="22" name="CuadroTexto 21">
            <a:extLst>
              <a:ext uri="{FF2B5EF4-FFF2-40B4-BE49-F238E27FC236}">
                <a16:creationId xmlns:a16="http://schemas.microsoft.com/office/drawing/2014/main" id="{6F40ECD5-1184-2976-7129-49BB3A8162A0}"/>
              </a:ext>
            </a:extLst>
          </p:cNvPr>
          <p:cNvSpPr txBox="1"/>
          <p:nvPr/>
        </p:nvSpPr>
        <p:spPr>
          <a:xfrm>
            <a:off x="9622588" y="1800796"/>
            <a:ext cx="1689410" cy="400110"/>
          </a:xfrm>
          <a:prstGeom prst="rect">
            <a:avLst/>
          </a:prstGeom>
          <a:noFill/>
        </p:spPr>
        <p:txBody>
          <a:bodyPr wrap="square" rtlCol="0">
            <a:spAutoFit/>
          </a:bodyPr>
          <a:lstStyle/>
          <a:p>
            <a:r>
              <a:rPr lang="es-ES" sz="2000" dirty="0"/>
              <a:t>Producción</a:t>
            </a:r>
          </a:p>
        </p:txBody>
      </p:sp>
      <p:sp>
        <p:nvSpPr>
          <p:cNvPr id="23" name="CuadroTexto 22">
            <a:extLst>
              <a:ext uri="{FF2B5EF4-FFF2-40B4-BE49-F238E27FC236}">
                <a16:creationId xmlns:a16="http://schemas.microsoft.com/office/drawing/2014/main" id="{41EC34AF-CBFE-E075-7107-AB107ABB1D89}"/>
              </a:ext>
            </a:extLst>
          </p:cNvPr>
          <p:cNvSpPr txBox="1"/>
          <p:nvPr/>
        </p:nvSpPr>
        <p:spPr>
          <a:xfrm>
            <a:off x="9627508" y="2793846"/>
            <a:ext cx="1689410" cy="400110"/>
          </a:xfrm>
          <a:prstGeom prst="rect">
            <a:avLst/>
          </a:prstGeom>
          <a:noFill/>
        </p:spPr>
        <p:txBody>
          <a:bodyPr wrap="square" rtlCol="0">
            <a:spAutoFit/>
          </a:bodyPr>
          <a:lstStyle/>
          <a:p>
            <a:r>
              <a:rPr lang="es-ES" sz="2000" dirty="0"/>
              <a:t>Consumo</a:t>
            </a:r>
          </a:p>
        </p:txBody>
      </p:sp>
      <p:sp>
        <p:nvSpPr>
          <p:cNvPr id="24" name="Abrir llave 23">
            <a:extLst>
              <a:ext uri="{FF2B5EF4-FFF2-40B4-BE49-F238E27FC236}">
                <a16:creationId xmlns:a16="http://schemas.microsoft.com/office/drawing/2014/main" id="{3F47542E-3483-7F13-DFF5-6C22032199A3}"/>
              </a:ext>
            </a:extLst>
          </p:cNvPr>
          <p:cNvSpPr/>
          <p:nvPr/>
        </p:nvSpPr>
        <p:spPr>
          <a:xfrm>
            <a:off x="9004837" y="3861445"/>
            <a:ext cx="460443" cy="1412904"/>
          </a:xfrm>
          <a:prstGeom prst="leftBrace">
            <a:avLst>
              <a:gd name="adj1" fmla="val 40364"/>
              <a:gd name="adj2"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5" name="CuadroTexto 24">
            <a:extLst>
              <a:ext uri="{FF2B5EF4-FFF2-40B4-BE49-F238E27FC236}">
                <a16:creationId xmlns:a16="http://schemas.microsoft.com/office/drawing/2014/main" id="{2101930C-6008-E1FC-7D29-842AEEC11C8D}"/>
              </a:ext>
            </a:extLst>
          </p:cNvPr>
          <p:cNvSpPr txBox="1"/>
          <p:nvPr/>
        </p:nvSpPr>
        <p:spPr>
          <a:xfrm>
            <a:off x="9627508" y="3870481"/>
            <a:ext cx="2171342" cy="400110"/>
          </a:xfrm>
          <a:prstGeom prst="rect">
            <a:avLst/>
          </a:prstGeom>
          <a:noFill/>
        </p:spPr>
        <p:txBody>
          <a:bodyPr wrap="square" rtlCol="0">
            <a:spAutoFit/>
          </a:bodyPr>
          <a:lstStyle/>
          <a:p>
            <a:r>
              <a:rPr lang="es-ES" sz="2000" dirty="0"/>
              <a:t>Bienestar humano</a:t>
            </a:r>
          </a:p>
        </p:txBody>
      </p:sp>
      <p:sp>
        <p:nvSpPr>
          <p:cNvPr id="26" name="CuadroTexto 25">
            <a:extLst>
              <a:ext uri="{FF2B5EF4-FFF2-40B4-BE49-F238E27FC236}">
                <a16:creationId xmlns:a16="http://schemas.microsoft.com/office/drawing/2014/main" id="{80E7BA1F-8A43-0BEB-749B-86CEA69EE277}"/>
              </a:ext>
            </a:extLst>
          </p:cNvPr>
          <p:cNvSpPr txBox="1"/>
          <p:nvPr/>
        </p:nvSpPr>
        <p:spPr>
          <a:xfrm>
            <a:off x="9632428" y="4863531"/>
            <a:ext cx="1689410" cy="400110"/>
          </a:xfrm>
          <a:prstGeom prst="rect">
            <a:avLst/>
          </a:prstGeom>
          <a:noFill/>
        </p:spPr>
        <p:txBody>
          <a:bodyPr wrap="square" rtlCol="0">
            <a:spAutoFit/>
          </a:bodyPr>
          <a:lstStyle/>
          <a:p>
            <a:r>
              <a:rPr lang="es-ES" sz="2000" dirty="0"/>
              <a:t>Medio natural</a:t>
            </a:r>
          </a:p>
        </p:txBody>
      </p:sp>
      <p:sp>
        <p:nvSpPr>
          <p:cNvPr id="27" name="Rectángulo 26">
            <a:extLst>
              <a:ext uri="{FF2B5EF4-FFF2-40B4-BE49-F238E27FC236}">
                <a16:creationId xmlns:a16="http://schemas.microsoft.com/office/drawing/2014/main" id="{F60CE40F-C787-1FE7-210A-E40EA4BBBC53}"/>
              </a:ext>
            </a:extLst>
          </p:cNvPr>
          <p:cNvSpPr/>
          <p:nvPr/>
        </p:nvSpPr>
        <p:spPr>
          <a:xfrm>
            <a:off x="9409979" y="5655280"/>
            <a:ext cx="2374490" cy="551700"/>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Nuevos indicadores de prosperidad </a:t>
            </a:r>
          </a:p>
        </p:txBody>
      </p:sp>
      <p:sp>
        <p:nvSpPr>
          <p:cNvPr id="28" name="Rectángulo 27">
            <a:extLst>
              <a:ext uri="{FF2B5EF4-FFF2-40B4-BE49-F238E27FC236}">
                <a16:creationId xmlns:a16="http://schemas.microsoft.com/office/drawing/2014/main" id="{73D5F0E8-0649-3F3A-3793-C350ECC25465}"/>
              </a:ext>
            </a:extLst>
          </p:cNvPr>
          <p:cNvSpPr/>
          <p:nvPr/>
        </p:nvSpPr>
        <p:spPr>
          <a:xfrm>
            <a:off x="9559264" y="3843546"/>
            <a:ext cx="2090670" cy="1430803"/>
          </a:xfrm>
          <a:prstGeom prst="rect">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0" name="Conector recto 29">
            <a:extLst>
              <a:ext uri="{FF2B5EF4-FFF2-40B4-BE49-F238E27FC236}">
                <a16:creationId xmlns:a16="http://schemas.microsoft.com/office/drawing/2014/main" id="{1A447885-15B3-05D1-3530-546BB94C0E9D}"/>
              </a:ext>
            </a:extLst>
          </p:cNvPr>
          <p:cNvCxnSpPr>
            <a:cxnSpLocks/>
            <a:stCxn id="27" idx="0"/>
            <a:endCxn id="28" idx="2"/>
          </p:cNvCxnSpPr>
          <p:nvPr/>
        </p:nvCxnSpPr>
        <p:spPr>
          <a:xfrm flipV="1">
            <a:off x="10597224" y="5274349"/>
            <a:ext cx="7375" cy="38093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7C485BA8-8112-544E-E4D0-7C21DF7BA747}"/>
              </a:ext>
            </a:extLst>
          </p:cNvPr>
          <p:cNvSpPr txBox="1"/>
          <p:nvPr/>
        </p:nvSpPr>
        <p:spPr>
          <a:xfrm>
            <a:off x="2964430" y="1483246"/>
            <a:ext cx="3367225" cy="461665"/>
          </a:xfrm>
          <a:prstGeom prst="rect">
            <a:avLst/>
          </a:prstGeom>
          <a:noFill/>
        </p:spPr>
        <p:txBody>
          <a:bodyPr wrap="square" rtlCol="0">
            <a:spAutoFit/>
          </a:bodyPr>
          <a:lstStyle/>
          <a:p>
            <a:pPr algn="ctr"/>
            <a:r>
              <a:rPr lang="es-ES" sz="2400" b="1" dirty="0">
                <a:solidFill>
                  <a:schemeClr val="accent1">
                    <a:lumMod val="75000"/>
                  </a:schemeClr>
                </a:solidFill>
              </a:rPr>
              <a:t>Decrecimiento ≠ Crisis</a:t>
            </a:r>
          </a:p>
        </p:txBody>
      </p:sp>
    </p:spTree>
    <p:extLst>
      <p:ext uri="{BB962C8B-B14F-4D97-AF65-F5344CB8AC3E}">
        <p14:creationId xmlns:p14="http://schemas.microsoft.com/office/powerpoint/2010/main" val="72680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4BA358F-9BFB-CEE0-FAA6-71C49023432D}"/>
              </a:ext>
            </a:extLst>
          </p:cNvPr>
          <p:cNvPicPr>
            <a:picLocks noChangeAspect="1"/>
          </p:cNvPicPr>
          <p:nvPr/>
        </p:nvPicPr>
        <p:blipFill>
          <a:blip r:embed="rId2"/>
          <a:stretch>
            <a:fillRect/>
          </a:stretch>
        </p:blipFill>
        <p:spPr>
          <a:xfrm>
            <a:off x="649598" y="1385020"/>
            <a:ext cx="4048690" cy="3343742"/>
          </a:xfrm>
          <a:prstGeom prst="rect">
            <a:avLst/>
          </a:prstGeom>
        </p:spPr>
      </p:pic>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POSTCRECIMIENTO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2" name="CuadroTexto 11">
            <a:extLst>
              <a:ext uri="{FF2B5EF4-FFF2-40B4-BE49-F238E27FC236}">
                <a16:creationId xmlns:a16="http://schemas.microsoft.com/office/drawing/2014/main" id="{73D0C46F-354C-0D68-CCF7-9578CA479D91}"/>
              </a:ext>
            </a:extLst>
          </p:cNvPr>
          <p:cNvSpPr txBox="1"/>
          <p:nvPr/>
        </p:nvSpPr>
        <p:spPr>
          <a:xfrm>
            <a:off x="462715" y="1879672"/>
            <a:ext cx="707923" cy="461665"/>
          </a:xfrm>
          <a:prstGeom prst="rect">
            <a:avLst/>
          </a:prstGeom>
          <a:noFill/>
        </p:spPr>
        <p:txBody>
          <a:bodyPr wrap="square" rtlCol="0">
            <a:spAutoFit/>
          </a:bodyPr>
          <a:lstStyle/>
          <a:p>
            <a:r>
              <a:rPr lang="es-ES" sz="2400" b="1" dirty="0"/>
              <a:t>PIB</a:t>
            </a:r>
          </a:p>
        </p:txBody>
      </p:sp>
      <p:sp>
        <p:nvSpPr>
          <p:cNvPr id="13" name="CuadroTexto 12">
            <a:extLst>
              <a:ext uri="{FF2B5EF4-FFF2-40B4-BE49-F238E27FC236}">
                <a16:creationId xmlns:a16="http://schemas.microsoft.com/office/drawing/2014/main" id="{3661C1D6-72F3-FF04-6B66-934FEEAE1DD0}"/>
              </a:ext>
            </a:extLst>
          </p:cNvPr>
          <p:cNvSpPr txBox="1"/>
          <p:nvPr/>
        </p:nvSpPr>
        <p:spPr>
          <a:xfrm>
            <a:off x="2961590" y="4508022"/>
            <a:ext cx="1366274" cy="461665"/>
          </a:xfrm>
          <a:prstGeom prst="rect">
            <a:avLst/>
          </a:prstGeom>
          <a:noFill/>
        </p:spPr>
        <p:txBody>
          <a:bodyPr wrap="square" rtlCol="0">
            <a:spAutoFit/>
          </a:bodyPr>
          <a:lstStyle/>
          <a:p>
            <a:r>
              <a:rPr lang="es-ES" sz="2400" b="1" dirty="0"/>
              <a:t>Tiempo</a:t>
            </a:r>
          </a:p>
        </p:txBody>
      </p:sp>
      <p:sp>
        <p:nvSpPr>
          <p:cNvPr id="15" name="Rectángulo 14">
            <a:extLst>
              <a:ext uri="{FF2B5EF4-FFF2-40B4-BE49-F238E27FC236}">
                <a16:creationId xmlns:a16="http://schemas.microsoft.com/office/drawing/2014/main" id="{593D9080-4920-9571-CB34-50089B968D0D}"/>
              </a:ext>
            </a:extLst>
          </p:cNvPr>
          <p:cNvSpPr/>
          <p:nvPr/>
        </p:nvSpPr>
        <p:spPr>
          <a:xfrm>
            <a:off x="310002" y="5117699"/>
            <a:ext cx="5785709" cy="1238864"/>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El </a:t>
            </a:r>
            <a:r>
              <a:rPr lang="es-ES" sz="2000" b="1" dirty="0" err="1">
                <a:solidFill>
                  <a:schemeClr val="tx1"/>
                </a:solidFill>
              </a:rPr>
              <a:t>Postcrecimiento</a:t>
            </a:r>
            <a:r>
              <a:rPr lang="es-ES" sz="2000" dirty="0">
                <a:solidFill>
                  <a:schemeClr val="tx1"/>
                </a:solidFill>
              </a:rPr>
              <a:t> es una corriente de pensamiento económico, político y social que prescinde de cualquier objetivo relativo al PIB y apuesta por políticas sociales y medioambientales</a:t>
            </a:r>
            <a:endParaRPr lang="es-ES" sz="2000" b="1" dirty="0">
              <a:solidFill>
                <a:schemeClr val="tx1"/>
              </a:solidFill>
            </a:endParaRPr>
          </a:p>
        </p:txBody>
      </p:sp>
      <p:sp>
        <p:nvSpPr>
          <p:cNvPr id="16" name="Flecha: a la derecha 15">
            <a:extLst>
              <a:ext uri="{FF2B5EF4-FFF2-40B4-BE49-F238E27FC236}">
                <a16:creationId xmlns:a16="http://schemas.microsoft.com/office/drawing/2014/main" id="{638FC14B-1AD6-A19E-9048-2E3601FC1961}"/>
              </a:ext>
            </a:extLst>
          </p:cNvPr>
          <p:cNvSpPr/>
          <p:nvPr/>
        </p:nvSpPr>
        <p:spPr>
          <a:xfrm>
            <a:off x="5251077" y="3111909"/>
            <a:ext cx="1670509" cy="1032387"/>
          </a:xfrm>
          <a:prstGeom prst="rightArrow">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01B7C741-D4BD-D8DB-1776-BE5E4141747D}"/>
              </a:ext>
            </a:extLst>
          </p:cNvPr>
          <p:cNvSpPr txBox="1"/>
          <p:nvPr/>
        </p:nvSpPr>
        <p:spPr>
          <a:xfrm>
            <a:off x="5251077" y="3412659"/>
            <a:ext cx="1356851" cy="430887"/>
          </a:xfrm>
          <a:prstGeom prst="rect">
            <a:avLst/>
          </a:prstGeom>
          <a:noFill/>
        </p:spPr>
        <p:txBody>
          <a:bodyPr wrap="square" rtlCol="0">
            <a:spAutoFit/>
          </a:bodyPr>
          <a:lstStyle/>
          <a:p>
            <a:pPr algn="ctr"/>
            <a:r>
              <a:rPr lang="es-ES" sz="2200" b="1" dirty="0">
                <a:solidFill>
                  <a:schemeClr val="bg1"/>
                </a:solidFill>
              </a:rPr>
              <a:t>IMPLICA</a:t>
            </a:r>
          </a:p>
        </p:txBody>
      </p:sp>
      <p:sp>
        <p:nvSpPr>
          <p:cNvPr id="20" name="Abrir llave 19">
            <a:extLst>
              <a:ext uri="{FF2B5EF4-FFF2-40B4-BE49-F238E27FC236}">
                <a16:creationId xmlns:a16="http://schemas.microsoft.com/office/drawing/2014/main" id="{75F016DB-9581-4BA5-CB30-93A40E8552CC}"/>
              </a:ext>
            </a:extLst>
          </p:cNvPr>
          <p:cNvSpPr/>
          <p:nvPr/>
        </p:nvSpPr>
        <p:spPr>
          <a:xfrm>
            <a:off x="7066421" y="1679270"/>
            <a:ext cx="460443" cy="3863003"/>
          </a:xfrm>
          <a:prstGeom prst="leftBrace">
            <a:avLst>
              <a:gd name="adj1" fmla="val 40364"/>
              <a:gd name="adj2"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9" name="Rectángulo 8">
            <a:extLst>
              <a:ext uri="{FF2B5EF4-FFF2-40B4-BE49-F238E27FC236}">
                <a16:creationId xmlns:a16="http://schemas.microsoft.com/office/drawing/2014/main" id="{1CA3F3DF-13E7-D82B-D86D-F996D60DA261}"/>
              </a:ext>
            </a:extLst>
          </p:cNvPr>
          <p:cNvSpPr/>
          <p:nvPr/>
        </p:nvSpPr>
        <p:spPr>
          <a:xfrm>
            <a:off x="7802799" y="1953689"/>
            <a:ext cx="3684906" cy="471391"/>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Mejorar el bienestar humano</a:t>
            </a:r>
          </a:p>
        </p:txBody>
      </p:sp>
      <p:sp>
        <p:nvSpPr>
          <p:cNvPr id="10" name="Rectángulo 9">
            <a:extLst>
              <a:ext uri="{FF2B5EF4-FFF2-40B4-BE49-F238E27FC236}">
                <a16:creationId xmlns:a16="http://schemas.microsoft.com/office/drawing/2014/main" id="{96C9635F-131B-5CF4-E4E6-DA8FEA15DEB1}"/>
              </a:ext>
            </a:extLst>
          </p:cNvPr>
          <p:cNvSpPr/>
          <p:nvPr/>
        </p:nvSpPr>
        <p:spPr>
          <a:xfrm>
            <a:off x="7802799" y="3364618"/>
            <a:ext cx="3684906" cy="471391"/>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Protección del medioambiente</a:t>
            </a:r>
          </a:p>
        </p:txBody>
      </p:sp>
      <p:sp>
        <p:nvSpPr>
          <p:cNvPr id="14" name="Rectángulo 13">
            <a:extLst>
              <a:ext uri="{FF2B5EF4-FFF2-40B4-BE49-F238E27FC236}">
                <a16:creationId xmlns:a16="http://schemas.microsoft.com/office/drawing/2014/main" id="{0365B6DA-2684-EA49-F426-EE9373F527D8}"/>
              </a:ext>
            </a:extLst>
          </p:cNvPr>
          <p:cNvSpPr/>
          <p:nvPr/>
        </p:nvSpPr>
        <p:spPr>
          <a:xfrm>
            <a:off x="7802799" y="4775546"/>
            <a:ext cx="3684906" cy="471391"/>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Búsqueda de nuevas estrategias</a:t>
            </a:r>
          </a:p>
        </p:txBody>
      </p:sp>
      <p:sp>
        <p:nvSpPr>
          <p:cNvPr id="29" name="CuadroTexto 28">
            <a:extLst>
              <a:ext uri="{FF2B5EF4-FFF2-40B4-BE49-F238E27FC236}">
                <a16:creationId xmlns:a16="http://schemas.microsoft.com/office/drawing/2014/main" id="{D203BBD7-9601-6BE5-AFAD-8D520C182D19}"/>
              </a:ext>
            </a:extLst>
          </p:cNvPr>
          <p:cNvSpPr txBox="1"/>
          <p:nvPr/>
        </p:nvSpPr>
        <p:spPr>
          <a:xfrm>
            <a:off x="7922597" y="5737131"/>
            <a:ext cx="3445310" cy="646331"/>
          </a:xfrm>
          <a:prstGeom prst="rect">
            <a:avLst/>
          </a:prstGeom>
          <a:noFill/>
        </p:spPr>
        <p:txBody>
          <a:bodyPr wrap="square" rtlCol="0">
            <a:spAutoFit/>
          </a:bodyPr>
          <a:lstStyle/>
          <a:p>
            <a:pPr algn="ctr"/>
            <a:r>
              <a:rPr lang="es-ES" dirty="0"/>
              <a:t>El término “post” indica el inicio de un nuevo sistema</a:t>
            </a:r>
          </a:p>
        </p:txBody>
      </p:sp>
      <p:cxnSp>
        <p:nvCxnSpPr>
          <p:cNvPr id="32" name="Conector recto 31">
            <a:extLst>
              <a:ext uri="{FF2B5EF4-FFF2-40B4-BE49-F238E27FC236}">
                <a16:creationId xmlns:a16="http://schemas.microsoft.com/office/drawing/2014/main" id="{E726BD26-83DD-68C0-1E39-480DC4E44788}"/>
              </a:ext>
            </a:extLst>
          </p:cNvPr>
          <p:cNvCxnSpPr>
            <a:cxnSpLocks/>
            <a:stCxn id="29" idx="0"/>
            <a:endCxn id="14" idx="2"/>
          </p:cNvCxnSpPr>
          <p:nvPr/>
        </p:nvCxnSpPr>
        <p:spPr>
          <a:xfrm flipV="1">
            <a:off x="9645252" y="5246937"/>
            <a:ext cx="0" cy="490194"/>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689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C732A4A0-89C7-225E-8C56-3F2BF129D948}"/>
              </a:ext>
            </a:extLst>
          </p:cNvPr>
          <p:cNvSpPr/>
          <p:nvPr/>
        </p:nvSpPr>
        <p:spPr>
          <a:xfrm>
            <a:off x="3512574" y="1723104"/>
            <a:ext cx="4419600" cy="4419600"/>
          </a:xfrm>
          <a:prstGeom prst="ellipse">
            <a:avLst/>
          </a:prstGeom>
          <a:solidFill>
            <a:schemeClr val="accent6">
              <a:lumMod val="40000"/>
              <a:lumOff val="60000"/>
            </a:schemeClr>
          </a:solidFill>
          <a:ln w="63500"/>
          <a:effectLst>
            <a:outerShdw blurRad="406400" sx="102000" sy="102000" algn="ctr" rotWithShape="0">
              <a:prstClr val="black">
                <a:alpha val="5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ECONOMÍA ROSQUILLA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44961" y="1209470"/>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11" name="Grupo 10">
            <a:extLst>
              <a:ext uri="{FF2B5EF4-FFF2-40B4-BE49-F238E27FC236}">
                <a16:creationId xmlns:a16="http://schemas.microsoft.com/office/drawing/2014/main" id="{C57B864B-43CD-6F3C-CB8C-5022FBEB75B9}"/>
              </a:ext>
            </a:extLst>
          </p:cNvPr>
          <p:cNvGrpSpPr/>
          <p:nvPr/>
        </p:nvGrpSpPr>
        <p:grpSpPr>
          <a:xfrm>
            <a:off x="4291781" y="2502311"/>
            <a:ext cx="2861187" cy="2861187"/>
            <a:chOff x="3436374" y="3129116"/>
            <a:chExt cx="2861187" cy="2861187"/>
          </a:xfrm>
          <a:solidFill>
            <a:schemeClr val="bg1"/>
          </a:solidFill>
          <a:effectLst>
            <a:glow rad="139700">
              <a:schemeClr val="accent3">
                <a:satMod val="175000"/>
                <a:alpha val="40000"/>
              </a:schemeClr>
            </a:glow>
          </a:effectLst>
        </p:grpSpPr>
        <p:sp>
          <p:nvSpPr>
            <p:cNvPr id="3" name="Elipse 2">
              <a:extLst>
                <a:ext uri="{FF2B5EF4-FFF2-40B4-BE49-F238E27FC236}">
                  <a16:creationId xmlns:a16="http://schemas.microsoft.com/office/drawing/2014/main" id="{896A0D4E-30E7-75B6-556C-BB594ED96190}"/>
                </a:ext>
              </a:extLst>
            </p:cNvPr>
            <p:cNvSpPr/>
            <p:nvPr/>
          </p:nvSpPr>
          <p:spPr>
            <a:xfrm>
              <a:off x="3436374" y="3129116"/>
              <a:ext cx="2861187" cy="2861187"/>
            </a:xfrm>
            <a:prstGeom prst="ellipse">
              <a:avLst/>
            </a:prstGeom>
            <a:grp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Elipse 5">
              <a:extLst>
                <a:ext uri="{FF2B5EF4-FFF2-40B4-BE49-F238E27FC236}">
                  <a16:creationId xmlns:a16="http://schemas.microsoft.com/office/drawing/2014/main" id="{10A2D70D-1A39-D95E-A5D2-D731E496CF8C}"/>
                </a:ext>
              </a:extLst>
            </p:cNvPr>
            <p:cNvSpPr/>
            <p:nvPr/>
          </p:nvSpPr>
          <p:spPr>
            <a:xfrm>
              <a:off x="3613355" y="3306097"/>
              <a:ext cx="2507225" cy="2507225"/>
            </a:xfrm>
            <a:prstGeom prst="ellipse">
              <a:avLst/>
            </a:prstGeom>
            <a:grpFill/>
            <a:ln w="63500">
              <a:solidFill>
                <a:schemeClr val="bg1"/>
              </a:solidFill>
            </a:ln>
            <a:effectLst>
              <a:glow rad="1397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2" name="CuadroTexto 11">
            <a:extLst>
              <a:ext uri="{FF2B5EF4-FFF2-40B4-BE49-F238E27FC236}">
                <a16:creationId xmlns:a16="http://schemas.microsoft.com/office/drawing/2014/main" id="{1711D236-32D2-0B6B-BCFA-B586F6C66CA8}"/>
              </a:ext>
            </a:extLst>
          </p:cNvPr>
          <p:cNvSpPr txBox="1"/>
          <p:nvPr/>
        </p:nvSpPr>
        <p:spPr>
          <a:xfrm>
            <a:off x="5007078" y="3471239"/>
            <a:ext cx="1371600" cy="923330"/>
          </a:xfrm>
          <a:prstGeom prst="rect">
            <a:avLst/>
          </a:prstGeom>
          <a:noFill/>
        </p:spPr>
        <p:txBody>
          <a:bodyPr wrap="square" rtlCol="0">
            <a:spAutoFit/>
          </a:bodyPr>
          <a:lstStyle/>
          <a:p>
            <a:pPr algn="ctr"/>
            <a:r>
              <a:rPr lang="es-ES" b="1" dirty="0">
                <a:solidFill>
                  <a:srgbClr val="C00000"/>
                </a:solidFill>
              </a:rPr>
              <a:t>Privaciones humanas críticas</a:t>
            </a:r>
          </a:p>
        </p:txBody>
      </p:sp>
      <p:sp>
        <p:nvSpPr>
          <p:cNvPr id="13" name="CuadroTexto 12">
            <a:extLst>
              <a:ext uri="{FF2B5EF4-FFF2-40B4-BE49-F238E27FC236}">
                <a16:creationId xmlns:a16="http://schemas.microsoft.com/office/drawing/2014/main" id="{1044352C-63B8-9ECA-CEBB-89A4ED0C599F}"/>
              </a:ext>
            </a:extLst>
          </p:cNvPr>
          <p:cNvSpPr txBox="1"/>
          <p:nvPr/>
        </p:nvSpPr>
        <p:spPr>
          <a:xfrm>
            <a:off x="1404103" y="3471239"/>
            <a:ext cx="1371600" cy="923330"/>
          </a:xfrm>
          <a:prstGeom prst="rect">
            <a:avLst/>
          </a:prstGeom>
          <a:noFill/>
        </p:spPr>
        <p:txBody>
          <a:bodyPr wrap="square" rtlCol="0">
            <a:spAutoFit/>
          </a:bodyPr>
          <a:lstStyle/>
          <a:p>
            <a:pPr algn="ctr"/>
            <a:r>
              <a:rPr lang="es-ES" b="1" dirty="0">
                <a:solidFill>
                  <a:srgbClr val="C00000"/>
                </a:solidFill>
              </a:rPr>
              <a:t>Degradación planetaria crítica</a:t>
            </a:r>
          </a:p>
        </p:txBody>
      </p:sp>
      <p:sp>
        <p:nvSpPr>
          <p:cNvPr id="15" name="CuadroTexto 14">
            <a:extLst>
              <a:ext uri="{FF2B5EF4-FFF2-40B4-BE49-F238E27FC236}">
                <a16:creationId xmlns:a16="http://schemas.microsoft.com/office/drawing/2014/main" id="{EBCEC62C-2CB8-AD90-6B48-2A421201D9FD}"/>
              </a:ext>
            </a:extLst>
          </p:cNvPr>
          <p:cNvSpPr txBox="1"/>
          <p:nvPr/>
        </p:nvSpPr>
        <p:spPr>
          <a:xfrm>
            <a:off x="818810" y="5471652"/>
            <a:ext cx="2450690" cy="369332"/>
          </a:xfrm>
          <a:prstGeom prst="rect">
            <a:avLst/>
          </a:prstGeom>
          <a:noFill/>
        </p:spPr>
        <p:txBody>
          <a:bodyPr wrap="square" rtlCol="0">
            <a:spAutoFit/>
          </a:bodyPr>
          <a:lstStyle/>
          <a:p>
            <a:r>
              <a:rPr lang="es-ES" dirty="0"/>
              <a:t>Fundamento social</a:t>
            </a:r>
          </a:p>
        </p:txBody>
      </p:sp>
      <p:sp>
        <p:nvSpPr>
          <p:cNvPr id="16" name="CuadroTexto 15">
            <a:extLst>
              <a:ext uri="{FF2B5EF4-FFF2-40B4-BE49-F238E27FC236}">
                <a16:creationId xmlns:a16="http://schemas.microsoft.com/office/drawing/2014/main" id="{D1CF2416-342C-FF08-A8B5-C87F88494887}"/>
              </a:ext>
            </a:extLst>
          </p:cNvPr>
          <p:cNvSpPr txBox="1"/>
          <p:nvPr/>
        </p:nvSpPr>
        <p:spPr>
          <a:xfrm>
            <a:off x="801241" y="4929630"/>
            <a:ext cx="2450690" cy="369332"/>
          </a:xfrm>
          <a:prstGeom prst="rect">
            <a:avLst/>
          </a:prstGeom>
          <a:noFill/>
        </p:spPr>
        <p:txBody>
          <a:bodyPr wrap="square" rtlCol="0">
            <a:spAutoFit/>
          </a:bodyPr>
          <a:lstStyle/>
          <a:p>
            <a:r>
              <a:rPr lang="es-ES" dirty="0"/>
              <a:t>Techo ecológico</a:t>
            </a:r>
          </a:p>
        </p:txBody>
      </p:sp>
      <p:cxnSp>
        <p:nvCxnSpPr>
          <p:cNvPr id="18" name="Conector: angular 17">
            <a:extLst>
              <a:ext uri="{FF2B5EF4-FFF2-40B4-BE49-F238E27FC236}">
                <a16:creationId xmlns:a16="http://schemas.microsoft.com/office/drawing/2014/main" id="{A52A5113-A3B6-C87A-618D-1404496F9D01}"/>
              </a:ext>
            </a:extLst>
          </p:cNvPr>
          <p:cNvCxnSpPr>
            <a:cxnSpLocks/>
            <a:endCxn id="3" idx="3"/>
          </p:cNvCxnSpPr>
          <p:nvPr/>
        </p:nvCxnSpPr>
        <p:spPr>
          <a:xfrm flipV="1">
            <a:off x="2724236" y="4944487"/>
            <a:ext cx="1986556" cy="708951"/>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Conector: angular 20">
            <a:extLst>
              <a:ext uri="{FF2B5EF4-FFF2-40B4-BE49-F238E27FC236}">
                <a16:creationId xmlns:a16="http://schemas.microsoft.com/office/drawing/2014/main" id="{335D10A3-2749-0619-6F8F-CE8DFD41C6C4}"/>
              </a:ext>
            </a:extLst>
          </p:cNvPr>
          <p:cNvCxnSpPr>
            <a:cxnSpLocks/>
          </p:cNvCxnSpPr>
          <p:nvPr/>
        </p:nvCxnSpPr>
        <p:spPr>
          <a:xfrm flipV="1">
            <a:off x="2527165" y="4742084"/>
            <a:ext cx="1085827" cy="372212"/>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A641150C-6E28-717B-56E8-8F83EFE0AF16}"/>
              </a:ext>
            </a:extLst>
          </p:cNvPr>
          <p:cNvSpPr txBox="1"/>
          <p:nvPr/>
        </p:nvSpPr>
        <p:spPr>
          <a:xfrm>
            <a:off x="596766" y="1633383"/>
            <a:ext cx="2794271" cy="923330"/>
          </a:xfrm>
          <a:prstGeom prst="rect">
            <a:avLst/>
          </a:prstGeom>
          <a:noFill/>
        </p:spPr>
        <p:txBody>
          <a:bodyPr wrap="square" rtlCol="0">
            <a:spAutoFit/>
          </a:bodyPr>
          <a:lstStyle/>
          <a:p>
            <a:pPr algn="ctr"/>
            <a:r>
              <a:rPr lang="es-ES" dirty="0"/>
              <a:t>Espacio seguro para la Naturaleza y justo para la humanidad</a:t>
            </a:r>
          </a:p>
        </p:txBody>
      </p:sp>
      <p:cxnSp>
        <p:nvCxnSpPr>
          <p:cNvPr id="28" name="Conector: angular 27">
            <a:extLst>
              <a:ext uri="{FF2B5EF4-FFF2-40B4-BE49-F238E27FC236}">
                <a16:creationId xmlns:a16="http://schemas.microsoft.com/office/drawing/2014/main" id="{164512D0-48EA-AAF1-0C92-A7392CC27C3E}"/>
              </a:ext>
            </a:extLst>
          </p:cNvPr>
          <p:cNvCxnSpPr>
            <a:cxnSpLocks/>
          </p:cNvCxnSpPr>
          <p:nvPr/>
        </p:nvCxnSpPr>
        <p:spPr>
          <a:xfrm>
            <a:off x="3251932" y="2111139"/>
            <a:ext cx="1216830" cy="662757"/>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CC024DD7-B9CA-0519-42B6-E73E0C3B475D}"/>
              </a:ext>
            </a:extLst>
          </p:cNvPr>
          <p:cNvSpPr txBox="1"/>
          <p:nvPr/>
        </p:nvSpPr>
        <p:spPr>
          <a:xfrm>
            <a:off x="8756835" y="1807412"/>
            <a:ext cx="2767193" cy="4154984"/>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s-ES" sz="2200" b="1" dirty="0">
                <a:solidFill>
                  <a:schemeClr val="bg1"/>
                </a:solidFill>
              </a:rPr>
              <a:t>Esta teoría económica defiende que la actividad humana debe desarrollarse entre dos límites: el social para garantizar el bienestar de la humanidad y el ecológico para no degradar el planeta más allá de lo que es capaz de regenerarse</a:t>
            </a:r>
          </a:p>
        </p:txBody>
      </p:sp>
      <p:sp>
        <p:nvSpPr>
          <p:cNvPr id="8" name="CuadroTexto 7">
            <a:extLst>
              <a:ext uri="{FF2B5EF4-FFF2-40B4-BE49-F238E27FC236}">
                <a16:creationId xmlns:a16="http://schemas.microsoft.com/office/drawing/2014/main" id="{A6938477-B007-D97C-FCBE-F36EF54E601C}"/>
              </a:ext>
            </a:extLst>
          </p:cNvPr>
          <p:cNvSpPr txBox="1"/>
          <p:nvPr/>
        </p:nvSpPr>
        <p:spPr>
          <a:xfrm>
            <a:off x="3512574" y="6468173"/>
            <a:ext cx="3905865" cy="369332"/>
          </a:xfrm>
          <a:prstGeom prst="rect">
            <a:avLst/>
          </a:prstGeom>
          <a:noFill/>
        </p:spPr>
        <p:txBody>
          <a:bodyPr wrap="square" rtlCol="0">
            <a:spAutoFit/>
          </a:bodyPr>
          <a:lstStyle/>
          <a:p>
            <a:pPr algn="ctr"/>
            <a:r>
              <a:rPr lang="es-ES" dirty="0">
                <a:hlinkClick r:id="rId3"/>
              </a:rPr>
              <a:t>Vídeo Explicativo</a:t>
            </a:r>
            <a:endParaRPr lang="es-ES" dirty="0"/>
          </a:p>
        </p:txBody>
      </p:sp>
    </p:spTree>
    <p:extLst>
      <p:ext uri="{BB962C8B-B14F-4D97-AF65-F5344CB8AC3E}">
        <p14:creationId xmlns:p14="http://schemas.microsoft.com/office/powerpoint/2010/main" val="753571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ECONOMÍA ROSQUILLA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44961" y="1209470"/>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4" name="Imagen 13">
            <a:extLst>
              <a:ext uri="{FF2B5EF4-FFF2-40B4-BE49-F238E27FC236}">
                <a16:creationId xmlns:a16="http://schemas.microsoft.com/office/drawing/2014/main" id="{DEA9186C-8FEF-041C-BC6F-6D60CF83EAF9}"/>
              </a:ext>
            </a:extLst>
          </p:cNvPr>
          <p:cNvPicPr>
            <a:picLocks noChangeAspect="1"/>
          </p:cNvPicPr>
          <p:nvPr/>
        </p:nvPicPr>
        <p:blipFill>
          <a:blip r:embed="rId3"/>
          <a:stretch>
            <a:fillRect/>
          </a:stretch>
        </p:blipFill>
        <p:spPr>
          <a:xfrm>
            <a:off x="508558" y="1513397"/>
            <a:ext cx="5953956" cy="4810796"/>
          </a:xfrm>
          <a:prstGeom prst="rect">
            <a:avLst/>
          </a:prstGeom>
        </p:spPr>
      </p:pic>
      <p:sp>
        <p:nvSpPr>
          <p:cNvPr id="17" name="CuadroTexto 16">
            <a:extLst>
              <a:ext uri="{FF2B5EF4-FFF2-40B4-BE49-F238E27FC236}">
                <a16:creationId xmlns:a16="http://schemas.microsoft.com/office/drawing/2014/main" id="{020FF0B0-A919-6DD3-DEB7-6B817777D9FA}"/>
              </a:ext>
            </a:extLst>
          </p:cNvPr>
          <p:cNvSpPr txBox="1"/>
          <p:nvPr/>
        </p:nvSpPr>
        <p:spPr>
          <a:xfrm>
            <a:off x="8245709" y="5648530"/>
            <a:ext cx="3023419" cy="369332"/>
          </a:xfrm>
          <a:prstGeom prst="rect">
            <a:avLst/>
          </a:prstGeom>
          <a:noFill/>
        </p:spPr>
        <p:txBody>
          <a:bodyPr wrap="square" rtlCol="0">
            <a:spAutoFit/>
          </a:bodyPr>
          <a:lstStyle/>
          <a:p>
            <a:pPr algn="ctr"/>
            <a:r>
              <a:rPr lang="es-ES" dirty="0">
                <a:hlinkClick r:id="rId4"/>
              </a:rPr>
              <a:t>Para profundizar</a:t>
            </a:r>
            <a:endParaRPr lang="es-ES" dirty="0"/>
          </a:p>
        </p:txBody>
      </p:sp>
      <p:sp>
        <p:nvSpPr>
          <p:cNvPr id="3" name="CuadroTexto 2">
            <a:extLst>
              <a:ext uri="{FF2B5EF4-FFF2-40B4-BE49-F238E27FC236}">
                <a16:creationId xmlns:a16="http://schemas.microsoft.com/office/drawing/2014/main" id="{96DB8BEE-D56B-70C3-8B23-D1F918244520}"/>
              </a:ext>
            </a:extLst>
          </p:cNvPr>
          <p:cNvSpPr txBox="1"/>
          <p:nvPr/>
        </p:nvSpPr>
        <p:spPr>
          <a:xfrm>
            <a:off x="7831394" y="2743200"/>
            <a:ext cx="3852048" cy="1631216"/>
          </a:xfrm>
          <a:prstGeom prst="rect">
            <a:avLst/>
          </a:prstGeom>
          <a:gradFill flip="none" rotWithShape="1">
            <a:gsLst>
              <a:gs pos="0">
                <a:schemeClr val="accent6">
                  <a:lumMod val="40000"/>
                  <a:lumOff val="60000"/>
                  <a:tint val="66000"/>
                  <a:satMod val="160000"/>
                </a:schemeClr>
              </a:gs>
              <a:gs pos="50000">
                <a:schemeClr val="accent6">
                  <a:lumMod val="40000"/>
                  <a:lumOff val="60000"/>
                  <a:tint val="44500"/>
                  <a:satMod val="160000"/>
                </a:schemeClr>
              </a:gs>
              <a:gs pos="100000">
                <a:schemeClr val="accent6">
                  <a:lumMod val="40000"/>
                  <a:lumOff val="60000"/>
                  <a:tint val="23500"/>
                  <a:satMod val="160000"/>
                </a:schemeClr>
              </a:gs>
            </a:gsLst>
            <a:lin ang="16200000" scaled="1"/>
            <a:tileRect/>
          </a:gradFill>
        </p:spPr>
        <p:txBody>
          <a:bodyPr wrap="square" rtlCol="0">
            <a:spAutoFit/>
          </a:bodyPr>
          <a:lstStyle/>
          <a:p>
            <a:pPr algn="ctr"/>
            <a:r>
              <a:rPr lang="es-ES" sz="2000" i="1" dirty="0"/>
              <a:t>La economía de hoy es divisiva y degenerativa por defecto. La economía del mañana debe ser distributiva y regenerativa por diseño</a:t>
            </a:r>
          </a:p>
        </p:txBody>
      </p:sp>
    </p:spTree>
    <p:extLst>
      <p:ext uri="{BB962C8B-B14F-4D97-AF65-F5344CB8AC3E}">
        <p14:creationId xmlns:p14="http://schemas.microsoft.com/office/powerpoint/2010/main" val="1470034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CRECIMIENTO VERDE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44961" y="1209470"/>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9F9636FB-1734-5443-AD64-FBE5C8836DA2}"/>
              </a:ext>
            </a:extLst>
          </p:cNvPr>
          <p:cNvPicPr>
            <a:picLocks noChangeAspect="1"/>
          </p:cNvPicPr>
          <p:nvPr/>
        </p:nvPicPr>
        <p:blipFill>
          <a:blip r:embed="rId3"/>
          <a:stretch>
            <a:fillRect/>
          </a:stretch>
        </p:blipFill>
        <p:spPr>
          <a:xfrm>
            <a:off x="20267" y="1652339"/>
            <a:ext cx="4629796" cy="3553321"/>
          </a:xfrm>
          <a:prstGeom prst="rect">
            <a:avLst/>
          </a:prstGeom>
        </p:spPr>
      </p:pic>
      <p:sp>
        <p:nvSpPr>
          <p:cNvPr id="8" name="CuadroTexto 7">
            <a:extLst>
              <a:ext uri="{FF2B5EF4-FFF2-40B4-BE49-F238E27FC236}">
                <a16:creationId xmlns:a16="http://schemas.microsoft.com/office/drawing/2014/main" id="{D3916AA0-8EC3-E99F-8723-EB3540D6ECDE}"/>
              </a:ext>
            </a:extLst>
          </p:cNvPr>
          <p:cNvSpPr txBox="1"/>
          <p:nvPr/>
        </p:nvSpPr>
        <p:spPr>
          <a:xfrm>
            <a:off x="20267" y="2115645"/>
            <a:ext cx="707923" cy="461665"/>
          </a:xfrm>
          <a:prstGeom prst="rect">
            <a:avLst/>
          </a:prstGeom>
          <a:noFill/>
        </p:spPr>
        <p:txBody>
          <a:bodyPr wrap="square" rtlCol="0">
            <a:spAutoFit/>
          </a:bodyPr>
          <a:lstStyle/>
          <a:p>
            <a:r>
              <a:rPr lang="es-ES" sz="2400" b="1" dirty="0"/>
              <a:t>PIB</a:t>
            </a:r>
          </a:p>
        </p:txBody>
      </p:sp>
      <p:sp>
        <p:nvSpPr>
          <p:cNvPr id="9" name="CuadroTexto 8">
            <a:extLst>
              <a:ext uri="{FF2B5EF4-FFF2-40B4-BE49-F238E27FC236}">
                <a16:creationId xmlns:a16="http://schemas.microsoft.com/office/drawing/2014/main" id="{A100721F-9B88-7265-9115-81287B0C1D6B}"/>
              </a:ext>
            </a:extLst>
          </p:cNvPr>
          <p:cNvSpPr txBox="1"/>
          <p:nvPr/>
        </p:nvSpPr>
        <p:spPr>
          <a:xfrm>
            <a:off x="2519142" y="4743995"/>
            <a:ext cx="1366274" cy="461665"/>
          </a:xfrm>
          <a:prstGeom prst="rect">
            <a:avLst/>
          </a:prstGeom>
          <a:noFill/>
        </p:spPr>
        <p:txBody>
          <a:bodyPr wrap="square" rtlCol="0">
            <a:spAutoFit/>
          </a:bodyPr>
          <a:lstStyle/>
          <a:p>
            <a:r>
              <a:rPr lang="es-ES" sz="2400" b="1" dirty="0"/>
              <a:t>Tiempo</a:t>
            </a:r>
          </a:p>
        </p:txBody>
      </p:sp>
      <p:sp>
        <p:nvSpPr>
          <p:cNvPr id="10" name="Rectángulo 9">
            <a:extLst>
              <a:ext uri="{FF2B5EF4-FFF2-40B4-BE49-F238E27FC236}">
                <a16:creationId xmlns:a16="http://schemas.microsoft.com/office/drawing/2014/main" id="{AFC6869B-EE77-F211-8ABA-40B735AB248D}"/>
              </a:ext>
            </a:extLst>
          </p:cNvPr>
          <p:cNvSpPr/>
          <p:nvPr/>
        </p:nvSpPr>
        <p:spPr>
          <a:xfrm>
            <a:off x="462715" y="5442155"/>
            <a:ext cx="6441478" cy="1238864"/>
          </a:xfrm>
          <a:prstGeom prst="rect">
            <a:avLst/>
          </a:prstGeom>
          <a:solidFill>
            <a:schemeClr val="accent1">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El </a:t>
            </a:r>
            <a:r>
              <a:rPr lang="es-ES" sz="2000" b="1" dirty="0">
                <a:solidFill>
                  <a:schemeClr val="tx1"/>
                </a:solidFill>
              </a:rPr>
              <a:t>Crecimiento Verde</a:t>
            </a:r>
            <a:r>
              <a:rPr lang="es-ES" sz="2000" dirty="0">
                <a:solidFill>
                  <a:schemeClr val="tx1"/>
                </a:solidFill>
              </a:rPr>
              <a:t> consiste en mantener el objetivo de aumento constante del PIB como indicador de bonanza pero que este aumento no esté ligado a un mayor consumo de recursos naturales mediante el </a:t>
            </a:r>
            <a:r>
              <a:rPr lang="es-ES" sz="2000" b="1" dirty="0">
                <a:solidFill>
                  <a:schemeClr val="tx1"/>
                </a:solidFill>
              </a:rPr>
              <a:t>desacoplamiento</a:t>
            </a:r>
          </a:p>
        </p:txBody>
      </p:sp>
      <p:sp>
        <p:nvSpPr>
          <p:cNvPr id="11" name="Flecha: a la derecha 10">
            <a:extLst>
              <a:ext uri="{FF2B5EF4-FFF2-40B4-BE49-F238E27FC236}">
                <a16:creationId xmlns:a16="http://schemas.microsoft.com/office/drawing/2014/main" id="{DC3D175A-9AEA-3582-7170-A652BBB623C9}"/>
              </a:ext>
            </a:extLst>
          </p:cNvPr>
          <p:cNvSpPr/>
          <p:nvPr/>
        </p:nvSpPr>
        <p:spPr>
          <a:xfrm>
            <a:off x="4055809" y="3141405"/>
            <a:ext cx="2954270" cy="1032387"/>
          </a:xfrm>
          <a:prstGeom prst="rightArrow">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985CACF6-8B6A-752D-36F1-2FF24094E7F8}"/>
              </a:ext>
            </a:extLst>
          </p:cNvPr>
          <p:cNvSpPr txBox="1"/>
          <p:nvPr/>
        </p:nvSpPr>
        <p:spPr>
          <a:xfrm>
            <a:off x="4085305" y="3442155"/>
            <a:ext cx="2640612" cy="430887"/>
          </a:xfrm>
          <a:prstGeom prst="rect">
            <a:avLst/>
          </a:prstGeom>
          <a:noFill/>
        </p:spPr>
        <p:txBody>
          <a:bodyPr wrap="square" rtlCol="0">
            <a:spAutoFit/>
          </a:bodyPr>
          <a:lstStyle/>
          <a:p>
            <a:pPr algn="ctr"/>
            <a:r>
              <a:rPr lang="es-ES" sz="2200" b="1" dirty="0">
                <a:solidFill>
                  <a:schemeClr val="bg1"/>
                </a:solidFill>
              </a:rPr>
              <a:t>DESACOPLAMIENTO</a:t>
            </a:r>
          </a:p>
        </p:txBody>
      </p:sp>
      <p:sp>
        <p:nvSpPr>
          <p:cNvPr id="16" name="Rectángulo: esquinas diagonales redondeadas 15">
            <a:extLst>
              <a:ext uri="{FF2B5EF4-FFF2-40B4-BE49-F238E27FC236}">
                <a16:creationId xmlns:a16="http://schemas.microsoft.com/office/drawing/2014/main" id="{D96D3B60-A18D-FC2B-0F99-0DE119B2E718}"/>
              </a:ext>
            </a:extLst>
          </p:cNvPr>
          <p:cNvSpPr/>
          <p:nvPr/>
        </p:nvSpPr>
        <p:spPr>
          <a:xfrm>
            <a:off x="7695645" y="1479845"/>
            <a:ext cx="3882575" cy="443933"/>
          </a:xfrm>
          <a:prstGeom prst="round2DiagRect">
            <a:avLst/>
          </a:prstGeom>
          <a:solidFill>
            <a:schemeClr val="accent5">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Desacoplamiento de recursos</a:t>
            </a:r>
          </a:p>
        </p:txBody>
      </p:sp>
      <p:sp>
        <p:nvSpPr>
          <p:cNvPr id="18" name="Abrir llave 17">
            <a:extLst>
              <a:ext uri="{FF2B5EF4-FFF2-40B4-BE49-F238E27FC236}">
                <a16:creationId xmlns:a16="http://schemas.microsoft.com/office/drawing/2014/main" id="{19D367A7-3F49-56D9-4307-89F206651122}"/>
              </a:ext>
            </a:extLst>
          </p:cNvPr>
          <p:cNvSpPr/>
          <p:nvPr/>
        </p:nvSpPr>
        <p:spPr>
          <a:xfrm>
            <a:off x="7066421" y="1479845"/>
            <a:ext cx="460443" cy="4338427"/>
          </a:xfrm>
          <a:prstGeom prst="leftBrace">
            <a:avLst>
              <a:gd name="adj1" fmla="val 40364"/>
              <a:gd name="adj2"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9" name="Rectángulo: esquinas diagonales redondeadas 18">
            <a:extLst>
              <a:ext uri="{FF2B5EF4-FFF2-40B4-BE49-F238E27FC236}">
                <a16:creationId xmlns:a16="http://schemas.microsoft.com/office/drawing/2014/main" id="{90978B18-D087-C1C2-08C8-6F52B7CE1286}"/>
              </a:ext>
            </a:extLst>
          </p:cNvPr>
          <p:cNvSpPr/>
          <p:nvPr/>
        </p:nvSpPr>
        <p:spPr>
          <a:xfrm>
            <a:off x="7689092" y="3944611"/>
            <a:ext cx="3882575" cy="443933"/>
          </a:xfrm>
          <a:prstGeom prst="round2DiagRect">
            <a:avLst/>
          </a:prstGeom>
          <a:solidFill>
            <a:schemeClr val="accent5">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Desacoplamiento del impacto</a:t>
            </a:r>
          </a:p>
        </p:txBody>
      </p:sp>
      <p:sp>
        <p:nvSpPr>
          <p:cNvPr id="20" name="CuadroTexto 19">
            <a:extLst>
              <a:ext uri="{FF2B5EF4-FFF2-40B4-BE49-F238E27FC236}">
                <a16:creationId xmlns:a16="http://schemas.microsoft.com/office/drawing/2014/main" id="{BA34D47E-F191-68B2-F765-B40A6EB15926}"/>
              </a:ext>
            </a:extLst>
          </p:cNvPr>
          <p:cNvSpPr txBox="1"/>
          <p:nvPr/>
        </p:nvSpPr>
        <p:spPr>
          <a:xfrm>
            <a:off x="7689092" y="2286007"/>
            <a:ext cx="3882575" cy="1200329"/>
          </a:xfrm>
          <a:prstGeom prst="rect">
            <a:avLst/>
          </a:prstGeom>
          <a:solidFill>
            <a:schemeClr val="accent3">
              <a:lumMod val="20000"/>
              <a:lumOff val="80000"/>
            </a:schemeClr>
          </a:solidFill>
        </p:spPr>
        <p:txBody>
          <a:bodyPr wrap="square" rtlCol="0">
            <a:spAutoFit/>
          </a:bodyPr>
          <a:lstStyle/>
          <a:p>
            <a:pPr algn="just"/>
            <a:r>
              <a:rPr lang="es-ES" dirty="0"/>
              <a:t>Aplicar medidas de eficiencia para utilizar menos recursos materiales para mantener el nivel de producción y consumo crecientes actuales.</a:t>
            </a:r>
          </a:p>
        </p:txBody>
      </p:sp>
      <p:cxnSp>
        <p:nvCxnSpPr>
          <p:cNvPr id="21" name="Conector recto 20">
            <a:extLst>
              <a:ext uri="{FF2B5EF4-FFF2-40B4-BE49-F238E27FC236}">
                <a16:creationId xmlns:a16="http://schemas.microsoft.com/office/drawing/2014/main" id="{9F215FA4-B543-54FB-DF31-D24DFFCD0CC8}"/>
              </a:ext>
            </a:extLst>
          </p:cNvPr>
          <p:cNvCxnSpPr>
            <a:cxnSpLocks/>
            <a:stCxn id="20" idx="0"/>
            <a:endCxn id="16" idx="1"/>
          </p:cNvCxnSpPr>
          <p:nvPr/>
        </p:nvCxnSpPr>
        <p:spPr>
          <a:xfrm flipV="1">
            <a:off x="9630380" y="1923778"/>
            <a:ext cx="6553" cy="362229"/>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F59E50FB-7640-1D11-E88C-458E172B17A4}"/>
              </a:ext>
            </a:extLst>
          </p:cNvPr>
          <p:cNvSpPr txBox="1"/>
          <p:nvPr/>
        </p:nvSpPr>
        <p:spPr>
          <a:xfrm>
            <a:off x="7695644" y="4791225"/>
            <a:ext cx="3882575" cy="1200329"/>
          </a:xfrm>
          <a:prstGeom prst="rect">
            <a:avLst/>
          </a:prstGeom>
          <a:solidFill>
            <a:schemeClr val="accent3">
              <a:lumMod val="20000"/>
              <a:lumOff val="80000"/>
            </a:schemeClr>
          </a:solidFill>
        </p:spPr>
        <p:txBody>
          <a:bodyPr wrap="square" rtlCol="0">
            <a:spAutoFit/>
          </a:bodyPr>
          <a:lstStyle/>
          <a:p>
            <a:pPr algn="just"/>
            <a:r>
              <a:rPr lang="es-ES" dirty="0"/>
              <a:t>Cambiar de estrategias de producción para que el impacto medioambiental de la actividad económica sea mucho menor.</a:t>
            </a:r>
          </a:p>
        </p:txBody>
      </p:sp>
      <p:cxnSp>
        <p:nvCxnSpPr>
          <p:cNvPr id="25" name="Conector recto 24">
            <a:extLst>
              <a:ext uri="{FF2B5EF4-FFF2-40B4-BE49-F238E27FC236}">
                <a16:creationId xmlns:a16="http://schemas.microsoft.com/office/drawing/2014/main" id="{E2F3CE25-DE44-399C-2152-D7ABBD8FD5AF}"/>
              </a:ext>
            </a:extLst>
          </p:cNvPr>
          <p:cNvCxnSpPr>
            <a:cxnSpLocks/>
          </p:cNvCxnSpPr>
          <p:nvPr/>
        </p:nvCxnSpPr>
        <p:spPr>
          <a:xfrm flipV="1">
            <a:off x="9633656" y="4455509"/>
            <a:ext cx="6553" cy="362229"/>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3886C62E-A796-AB61-F12B-B22629224D49}"/>
              </a:ext>
            </a:extLst>
          </p:cNvPr>
          <p:cNvSpPr txBox="1"/>
          <p:nvPr/>
        </p:nvSpPr>
        <p:spPr>
          <a:xfrm>
            <a:off x="7856364" y="6075723"/>
            <a:ext cx="3578045" cy="369332"/>
          </a:xfrm>
          <a:prstGeom prst="rect">
            <a:avLst/>
          </a:prstGeom>
          <a:noFill/>
        </p:spPr>
        <p:txBody>
          <a:bodyPr wrap="square" rtlCol="0">
            <a:spAutoFit/>
          </a:bodyPr>
          <a:lstStyle/>
          <a:p>
            <a:pPr algn="ctr"/>
            <a:r>
              <a:rPr lang="es-ES" dirty="0">
                <a:hlinkClick r:id="rId4"/>
              </a:rPr>
              <a:t>Vídeo Explicativo Crítico</a:t>
            </a:r>
            <a:endParaRPr lang="es-ES" dirty="0"/>
          </a:p>
        </p:txBody>
      </p:sp>
    </p:spTree>
    <p:extLst>
      <p:ext uri="{BB962C8B-B14F-4D97-AF65-F5344CB8AC3E}">
        <p14:creationId xmlns:p14="http://schemas.microsoft.com/office/powerpoint/2010/main" val="489830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descr="Diagrama&#10;&#10;Descripción generada automáticamente">
            <a:extLst>
              <a:ext uri="{FF2B5EF4-FFF2-40B4-BE49-F238E27FC236}">
                <a16:creationId xmlns:a16="http://schemas.microsoft.com/office/drawing/2014/main" id="{9BCD699D-03C5-CB02-0AED-1743611FBA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461" y="1084742"/>
            <a:ext cx="11279236" cy="5730678"/>
          </a:xfrm>
          <a:prstGeom prst="rect">
            <a:avLst/>
          </a:prstGeom>
        </p:spPr>
      </p:pic>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CRECIMIENTO VERDE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44961" y="1209470"/>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CuadroTexto 2">
            <a:extLst>
              <a:ext uri="{FF2B5EF4-FFF2-40B4-BE49-F238E27FC236}">
                <a16:creationId xmlns:a16="http://schemas.microsoft.com/office/drawing/2014/main" id="{8A77A763-DA0E-B314-E32D-38D7ECAADB36}"/>
              </a:ext>
            </a:extLst>
          </p:cNvPr>
          <p:cNvSpPr txBox="1"/>
          <p:nvPr/>
        </p:nvSpPr>
        <p:spPr>
          <a:xfrm>
            <a:off x="1710813" y="6297561"/>
            <a:ext cx="3141406" cy="369332"/>
          </a:xfrm>
          <a:prstGeom prst="rect">
            <a:avLst/>
          </a:prstGeom>
          <a:noFill/>
        </p:spPr>
        <p:txBody>
          <a:bodyPr wrap="square" rtlCol="0">
            <a:spAutoFit/>
          </a:bodyPr>
          <a:lstStyle/>
          <a:p>
            <a:pPr algn="ctr"/>
            <a:r>
              <a:rPr lang="es-ES" dirty="0">
                <a:hlinkClick r:id="rId4"/>
              </a:rPr>
              <a:t>Vídeo Explicativo</a:t>
            </a:r>
            <a:endParaRPr lang="es-ES" dirty="0"/>
          </a:p>
        </p:txBody>
      </p:sp>
      <p:sp>
        <p:nvSpPr>
          <p:cNvPr id="6" name="Rectángulo: esquinas superiores cortadas 5">
            <a:extLst>
              <a:ext uri="{FF2B5EF4-FFF2-40B4-BE49-F238E27FC236}">
                <a16:creationId xmlns:a16="http://schemas.microsoft.com/office/drawing/2014/main" id="{D8EBD179-C7BC-DF6E-AC1A-47209516181B}"/>
              </a:ext>
            </a:extLst>
          </p:cNvPr>
          <p:cNvSpPr/>
          <p:nvPr/>
        </p:nvSpPr>
        <p:spPr>
          <a:xfrm>
            <a:off x="2035275" y="1533832"/>
            <a:ext cx="2920181" cy="369330"/>
          </a:xfrm>
          <a:prstGeom prst="snip2Same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DESACOPLAMIENTO</a:t>
            </a:r>
          </a:p>
        </p:txBody>
      </p:sp>
    </p:spTree>
    <p:extLst>
      <p:ext uri="{BB962C8B-B14F-4D97-AF65-F5344CB8AC3E}">
        <p14:creationId xmlns:p14="http://schemas.microsoft.com/office/powerpoint/2010/main" val="235617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3.2. FORMAS DE PRODUCCIÓN</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570945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FORMAS DE PRODUCCIÓN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33" name="Imagen 32">
            <a:extLst>
              <a:ext uri="{FF2B5EF4-FFF2-40B4-BE49-F238E27FC236}">
                <a16:creationId xmlns:a16="http://schemas.microsoft.com/office/drawing/2014/main" id="{B7EA23F6-79A8-8BDB-0C7E-011752788CF0}"/>
              </a:ext>
            </a:extLst>
          </p:cNvPr>
          <p:cNvPicPr>
            <a:picLocks noChangeAspect="1"/>
          </p:cNvPicPr>
          <p:nvPr/>
        </p:nvPicPr>
        <p:blipFill>
          <a:blip r:embed="rId4"/>
          <a:stretch>
            <a:fillRect/>
          </a:stretch>
        </p:blipFill>
        <p:spPr>
          <a:xfrm>
            <a:off x="285762" y="1548585"/>
            <a:ext cx="11590350" cy="4775605"/>
          </a:xfrm>
          <a:prstGeom prst="rect">
            <a:avLst/>
          </a:prstGeom>
        </p:spPr>
      </p:pic>
    </p:spTree>
    <p:extLst>
      <p:ext uri="{BB962C8B-B14F-4D97-AF65-F5344CB8AC3E}">
        <p14:creationId xmlns:p14="http://schemas.microsoft.com/office/powerpoint/2010/main" val="821364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LINEAL</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7" name="Imagen 16">
            <a:extLst>
              <a:ext uri="{FF2B5EF4-FFF2-40B4-BE49-F238E27FC236}">
                <a16:creationId xmlns:a16="http://schemas.microsoft.com/office/drawing/2014/main" id="{5E461064-E99A-D06D-7E2B-5FB39E16CABB}"/>
              </a:ext>
            </a:extLst>
          </p:cNvPr>
          <p:cNvPicPr>
            <a:picLocks noChangeAspect="1"/>
          </p:cNvPicPr>
          <p:nvPr/>
        </p:nvPicPr>
        <p:blipFill>
          <a:blip r:embed="rId4"/>
          <a:srcRect t="34095"/>
          <a:stretch/>
        </p:blipFill>
        <p:spPr>
          <a:xfrm>
            <a:off x="1803313" y="1554315"/>
            <a:ext cx="8517453" cy="3087779"/>
          </a:xfrm>
          <a:prstGeom prst="rect">
            <a:avLst/>
          </a:prstGeom>
        </p:spPr>
      </p:pic>
      <p:sp>
        <p:nvSpPr>
          <p:cNvPr id="18" name="Rectángulo 17">
            <a:extLst>
              <a:ext uri="{FF2B5EF4-FFF2-40B4-BE49-F238E27FC236}">
                <a16:creationId xmlns:a16="http://schemas.microsoft.com/office/drawing/2014/main" id="{3E032DBC-78BA-5715-8B4A-43B581F27C37}"/>
              </a:ext>
            </a:extLst>
          </p:cNvPr>
          <p:cNvSpPr/>
          <p:nvPr/>
        </p:nvSpPr>
        <p:spPr>
          <a:xfrm>
            <a:off x="929140" y="5317731"/>
            <a:ext cx="1862308" cy="855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Materias primas de la naturaleza</a:t>
            </a:r>
          </a:p>
        </p:txBody>
      </p:sp>
      <p:sp>
        <p:nvSpPr>
          <p:cNvPr id="19" name="Rectángulo 18">
            <a:extLst>
              <a:ext uri="{FF2B5EF4-FFF2-40B4-BE49-F238E27FC236}">
                <a16:creationId xmlns:a16="http://schemas.microsoft.com/office/drawing/2014/main" id="{69D4B30A-E14E-0618-CDF9-6D70A8BF2AEB}"/>
              </a:ext>
            </a:extLst>
          </p:cNvPr>
          <p:cNvSpPr/>
          <p:nvPr/>
        </p:nvSpPr>
        <p:spPr>
          <a:xfrm>
            <a:off x="3698209" y="5317731"/>
            <a:ext cx="1862308" cy="855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Productos elaborados con consumo </a:t>
            </a:r>
            <a:r>
              <a:rPr lang="es-ES" b="1" dirty="0" err="1"/>
              <a:t>Ener</a:t>
            </a:r>
            <a:r>
              <a:rPr lang="es-ES" b="1" dirty="0"/>
              <a:t>.</a:t>
            </a:r>
          </a:p>
        </p:txBody>
      </p:sp>
      <p:sp>
        <p:nvSpPr>
          <p:cNvPr id="20" name="Rectángulo 19">
            <a:extLst>
              <a:ext uri="{FF2B5EF4-FFF2-40B4-BE49-F238E27FC236}">
                <a16:creationId xmlns:a16="http://schemas.microsoft.com/office/drawing/2014/main" id="{5EC146FA-BE5F-FC37-E355-EB0FF46E1EC5}"/>
              </a:ext>
            </a:extLst>
          </p:cNvPr>
          <p:cNvSpPr/>
          <p:nvPr/>
        </p:nvSpPr>
        <p:spPr>
          <a:xfrm>
            <a:off x="6467278" y="5317731"/>
            <a:ext cx="1862308" cy="855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Después de adquirirlos </a:t>
            </a:r>
          </a:p>
        </p:txBody>
      </p:sp>
      <p:sp>
        <p:nvSpPr>
          <p:cNvPr id="21" name="Rectángulo 20">
            <a:extLst>
              <a:ext uri="{FF2B5EF4-FFF2-40B4-BE49-F238E27FC236}">
                <a16:creationId xmlns:a16="http://schemas.microsoft.com/office/drawing/2014/main" id="{A64B9BE4-82F1-1E03-E8C5-A0FAB6ED0A65}"/>
              </a:ext>
            </a:extLst>
          </p:cNvPr>
          <p:cNvSpPr/>
          <p:nvPr/>
        </p:nvSpPr>
        <p:spPr>
          <a:xfrm>
            <a:off x="9236346" y="5317731"/>
            <a:ext cx="1862308" cy="855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En vertederos, incinerados o enterrados</a:t>
            </a:r>
          </a:p>
        </p:txBody>
      </p:sp>
      <p:cxnSp>
        <p:nvCxnSpPr>
          <p:cNvPr id="24" name="Conector recto de flecha 23">
            <a:extLst>
              <a:ext uri="{FF2B5EF4-FFF2-40B4-BE49-F238E27FC236}">
                <a16:creationId xmlns:a16="http://schemas.microsoft.com/office/drawing/2014/main" id="{26278F4E-99C0-8392-2E73-86F1985B6C24}"/>
              </a:ext>
            </a:extLst>
          </p:cNvPr>
          <p:cNvCxnSpPr>
            <a:stCxn id="18" idx="0"/>
          </p:cNvCxnSpPr>
          <p:nvPr/>
        </p:nvCxnSpPr>
        <p:spPr>
          <a:xfrm flipV="1">
            <a:off x="1860294" y="4085306"/>
            <a:ext cx="1694058" cy="1232425"/>
          </a:xfrm>
          <a:prstGeom prst="straightConnector1">
            <a:avLst/>
          </a:prstGeom>
          <a:ln w="381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3C94729C-7A26-429C-32A6-33B8A0719564}"/>
              </a:ext>
            </a:extLst>
          </p:cNvPr>
          <p:cNvCxnSpPr>
            <a:cxnSpLocks/>
            <a:stCxn id="19" idx="0"/>
          </p:cNvCxnSpPr>
          <p:nvPr/>
        </p:nvCxnSpPr>
        <p:spPr>
          <a:xfrm flipV="1">
            <a:off x="4629363" y="4085306"/>
            <a:ext cx="473579" cy="1232425"/>
          </a:xfrm>
          <a:prstGeom prst="straightConnector1">
            <a:avLst/>
          </a:prstGeom>
          <a:ln w="381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B1E23F25-AC0D-CB9E-BA4E-D6988D8BBEFE}"/>
              </a:ext>
            </a:extLst>
          </p:cNvPr>
          <p:cNvCxnSpPr>
            <a:cxnSpLocks/>
            <a:stCxn id="20" idx="0"/>
          </p:cNvCxnSpPr>
          <p:nvPr/>
        </p:nvCxnSpPr>
        <p:spPr>
          <a:xfrm flipH="1" flipV="1">
            <a:off x="6970689" y="4085306"/>
            <a:ext cx="427743" cy="1232425"/>
          </a:xfrm>
          <a:prstGeom prst="straightConnector1">
            <a:avLst/>
          </a:prstGeom>
          <a:ln w="381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F04E20DC-478F-4243-5508-7B24F1CD70DF}"/>
              </a:ext>
            </a:extLst>
          </p:cNvPr>
          <p:cNvCxnSpPr>
            <a:cxnSpLocks/>
            <a:stCxn id="21" idx="0"/>
          </p:cNvCxnSpPr>
          <p:nvPr/>
        </p:nvCxnSpPr>
        <p:spPr>
          <a:xfrm flipH="1" flipV="1">
            <a:off x="8774122" y="4085306"/>
            <a:ext cx="1393378" cy="1232425"/>
          </a:xfrm>
          <a:prstGeom prst="straightConnector1">
            <a:avLst/>
          </a:prstGeom>
          <a:ln w="381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592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LINEAL</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32" name="Grupo 31">
            <a:extLst>
              <a:ext uri="{FF2B5EF4-FFF2-40B4-BE49-F238E27FC236}">
                <a16:creationId xmlns:a16="http://schemas.microsoft.com/office/drawing/2014/main" id="{C2ACD433-DDF0-709F-0E62-7947710741BC}"/>
              </a:ext>
            </a:extLst>
          </p:cNvPr>
          <p:cNvGrpSpPr/>
          <p:nvPr/>
        </p:nvGrpSpPr>
        <p:grpSpPr>
          <a:xfrm>
            <a:off x="239488" y="2025498"/>
            <a:ext cx="3497944" cy="1970998"/>
            <a:chOff x="239488" y="2025498"/>
            <a:chExt cx="3497944" cy="1970998"/>
          </a:xfrm>
        </p:grpSpPr>
        <p:sp>
          <p:nvSpPr>
            <p:cNvPr id="3" name="Rectángulo: esquinas superiores redondeadas 2">
              <a:extLst>
                <a:ext uri="{FF2B5EF4-FFF2-40B4-BE49-F238E27FC236}">
                  <a16:creationId xmlns:a16="http://schemas.microsoft.com/office/drawing/2014/main" id="{F31E9969-BE25-4E66-9507-AABA15561894}"/>
                </a:ext>
              </a:extLst>
            </p:cNvPr>
            <p:cNvSpPr/>
            <p:nvPr/>
          </p:nvSpPr>
          <p:spPr>
            <a:xfrm>
              <a:off x="1030517" y="2025498"/>
              <a:ext cx="1915885" cy="470875"/>
            </a:xfrm>
            <a:prstGeom prst="round2Same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Características</a:t>
              </a:r>
            </a:p>
          </p:txBody>
        </p:sp>
        <p:sp>
          <p:nvSpPr>
            <p:cNvPr id="4" name="Rectángulo: esquinas redondeadas 3">
              <a:extLst>
                <a:ext uri="{FF2B5EF4-FFF2-40B4-BE49-F238E27FC236}">
                  <a16:creationId xmlns:a16="http://schemas.microsoft.com/office/drawing/2014/main" id="{D08D2338-1BB0-DE0C-79C5-1C6CFF0BE4E6}"/>
                </a:ext>
              </a:extLst>
            </p:cNvPr>
            <p:cNvSpPr/>
            <p:nvPr/>
          </p:nvSpPr>
          <p:spPr>
            <a:xfrm>
              <a:off x="239488" y="3006825"/>
              <a:ext cx="3497944" cy="989671"/>
            </a:xfrm>
            <a:prstGeom prst="roundRect">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Se centra constantemente en el aumento de los beneficios de las empresas</a:t>
              </a:r>
            </a:p>
          </p:txBody>
        </p:sp>
        <p:cxnSp>
          <p:nvCxnSpPr>
            <p:cNvPr id="6" name="Conector recto 5">
              <a:extLst>
                <a:ext uri="{FF2B5EF4-FFF2-40B4-BE49-F238E27FC236}">
                  <a16:creationId xmlns:a16="http://schemas.microsoft.com/office/drawing/2014/main" id="{DD15594C-74C9-A085-4CE1-13C9AE0F74A1}"/>
                </a:ext>
              </a:extLst>
            </p:cNvPr>
            <p:cNvCxnSpPr>
              <a:cxnSpLocks/>
              <a:stCxn id="4" idx="0"/>
              <a:endCxn id="3" idx="1"/>
            </p:cNvCxnSpPr>
            <p:nvPr/>
          </p:nvCxnSpPr>
          <p:spPr>
            <a:xfrm flipV="1">
              <a:off x="1988460" y="2496373"/>
              <a:ext cx="0" cy="510452"/>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upo 32">
            <a:extLst>
              <a:ext uri="{FF2B5EF4-FFF2-40B4-BE49-F238E27FC236}">
                <a16:creationId xmlns:a16="http://schemas.microsoft.com/office/drawing/2014/main" id="{C053BCBD-2BC7-686C-7E79-08D614E4A972}"/>
              </a:ext>
            </a:extLst>
          </p:cNvPr>
          <p:cNvGrpSpPr/>
          <p:nvPr/>
        </p:nvGrpSpPr>
        <p:grpSpPr>
          <a:xfrm>
            <a:off x="4299535" y="2025498"/>
            <a:ext cx="3497944" cy="3580755"/>
            <a:chOff x="4593768" y="2025498"/>
            <a:chExt cx="3497944" cy="3580755"/>
          </a:xfrm>
        </p:grpSpPr>
        <p:sp>
          <p:nvSpPr>
            <p:cNvPr id="16" name="Rectángulo: esquinas superiores redondeadas 15">
              <a:extLst>
                <a:ext uri="{FF2B5EF4-FFF2-40B4-BE49-F238E27FC236}">
                  <a16:creationId xmlns:a16="http://schemas.microsoft.com/office/drawing/2014/main" id="{8879CE1C-CDAC-4C36-0480-43E6ECC406E6}"/>
                </a:ext>
              </a:extLst>
            </p:cNvPr>
            <p:cNvSpPr/>
            <p:nvPr/>
          </p:nvSpPr>
          <p:spPr>
            <a:xfrm>
              <a:off x="5384797" y="2025498"/>
              <a:ext cx="1915885" cy="470875"/>
            </a:xfrm>
            <a:prstGeom prst="round2Same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Ventajas</a:t>
              </a:r>
            </a:p>
          </p:txBody>
        </p:sp>
        <p:sp>
          <p:nvSpPr>
            <p:cNvPr id="22" name="Rectángulo: esquinas redondeadas 21">
              <a:extLst>
                <a:ext uri="{FF2B5EF4-FFF2-40B4-BE49-F238E27FC236}">
                  <a16:creationId xmlns:a16="http://schemas.microsoft.com/office/drawing/2014/main" id="{D4CF0054-0857-3D70-E0EE-F9E4FB1DC48E}"/>
                </a:ext>
              </a:extLst>
            </p:cNvPr>
            <p:cNvSpPr/>
            <p:nvPr/>
          </p:nvSpPr>
          <p:spPr>
            <a:xfrm>
              <a:off x="4593768" y="3006825"/>
              <a:ext cx="3497944" cy="2599428"/>
            </a:xfrm>
            <a:prstGeom prst="roundRect">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sz="2000" b="1" dirty="0"/>
                <a:t>Ha posibilitado beneficios importantes a pequeñas y medianas empresas durante dos siglos.</a:t>
              </a:r>
            </a:p>
            <a:p>
              <a:pPr marL="342900" indent="-342900">
                <a:buFont typeface="Arial" panose="020B0604020202020204" pitchFamily="34" charset="0"/>
                <a:buChar char="•"/>
              </a:pPr>
              <a:r>
                <a:rPr lang="es-ES" sz="2000" b="1" dirty="0"/>
                <a:t>Ha logrado mejorar el estado material de mucha gente.</a:t>
              </a:r>
            </a:p>
          </p:txBody>
        </p:sp>
        <p:cxnSp>
          <p:nvCxnSpPr>
            <p:cNvPr id="23" name="Conector recto 22">
              <a:extLst>
                <a:ext uri="{FF2B5EF4-FFF2-40B4-BE49-F238E27FC236}">
                  <a16:creationId xmlns:a16="http://schemas.microsoft.com/office/drawing/2014/main" id="{42A4F791-33DA-EB08-FC4A-A808F66ADBCA}"/>
                </a:ext>
              </a:extLst>
            </p:cNvPr>
            <p:cNvCxnSpPr>
              <a:cxnSpLocks/>
              <a:stCxn id="22" idx="0"/>
              <a:endCxn id="16" idx="1"/>
            </p:cNvCxnSpPr>
            <p:nvPr/>
          </p:nvCxnSpPr>
          <p:spPr>
            <a:xfrm flipV="1">
              <a:off x="6342740" y="2496373"/>
              <a:ext cx="0" cy="510452"/>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34" name="Grupo 33">
            <a:extLst>
              <a:ext uri="{FF2B5EF4-FFF2-40B4-BE49-F238E27FC236}">
                <a16:creationId xmlns:a16="http://schemas.microsoft.com/office/drawing/2014/main" id="{9A6D6271-C7CC-A1CC-9D85-0A64E740601B}"/>
              </a:ext>
            </a:extLst>
          </p:cNvPr>
          <p:cNvGrpSpPr/>
          <p:nvPr/>
        </p:nvGrpSpPr>
        <p:grpSpPr>
          <a:xfrm>
            <a:off x="8359583" y="2025498"/>
            <a:ext cx="3497944" cy="3580755"/>
            <a:chOff x="8359583" y="2025498"/>
            <a:chExt cx="3497944" cy="3580755"/>
          </a:xfrm>
        </p:grpSpPr>
        <p:sp>
          <p:nvSpPr>
            <p:cNvPr id="28" name="Rectángulo: esquinas superiores redondeadas 27">
              <a:extLst>
                <a:ext uri="{FF2B5EF4-FFF2-40B4-BE49-F238E27FC236}">
                  <a16:creationId xmlns:a16="http://schemas.microsoft.com/office/drawing/2014/main" id="{D67F575A-8092-4286-D1B9-13CCECE00E18}"/>
                </a:ext>
              </a:extLst>
            </p:cNvPr>
            <p:cNvSpPr/>
            <p:nvPr/>
          </p:nvSpPr>
          <p:spPr>
            <a:xfrm>
              <a:off x="9150612" y="2025498"/>
              <a:ext cx="1915885" cy="470875"/>
            </a:xfrm>
            <a:prstGeom prst="round2Same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Inconvenientes</a:t>
              </a:r>
            </a:p>
          </p:txBody>
        </p:sp>
        <p:sp>
          <p:nvSpPr>
            <p:cNvPr id="30" name="Rectángulo: esquinas redondeadas 29">
              <a:extLst>
                <a:ext uri="{FF2B5EF4-FFF2-40B4-BE49-F238E27FC236}">
                  <a16:creationId xmlns:a16="http://schemas.microsoft.com/office/drawing/2014/main" id="{EB180C4F-E934-07D7-414C-2B9C90B5B174}"/>
                </a:ext>
              </a:extLst>
            </p:cNvPr>
            <p:cNvSpPr/>
            <p:nvPr/>
          </p:nvSpPr>
          <p:spPr>
            <a:xfrm>
              <a:off x="8359583" y="3006825"/>
              <a:ext cx="3497944" cy="2599428"/>
            </a:xfrm>
            <a:prstGeom prst="roundRect">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sz="2000" b="1" dirty="0"/>
                <a:t>Ha agotado recursos materiales.</a:t>
              </a:r>
            </a:p>
            <a:p>
              <a:pPr marL="342900" indent="-342900">
                <a:buFont typeface="Arial" panose="020B0604020202020204" pitchFamily="34" charset="0"/>
                <a:buChar char="•"/>
              </a:pPr>
              <a:r>
                <a:rPr lang="es-ES" sz="2000" b="1" dirty="0"/>
                <a:t>Ha deforestado.</a:t>
              </a:r>
            </a:p>
            <a:p>
              <a:pPr marL="342900" indent="-342900">
                <a:buFont typeface="Arial" panose="020B0604020202020204" pitchFamily="34" charset="0"/>
                <a:buChar char="•"/>
              </a:pPr>
              <a:r>
                <a:rPr lang="es-ES" sz="2000" b="1" dirty="0"/>
                <a:t>Ha reducido la biodiversidad.</a:t>
              </a:r>
            </a:p>
            <a:p>
              <a:pPr marL="342900" indent="-342900">
                <a:buFont typeface="Arial" panose="020B0604020202020204" pitchFamily="34" charset="0"/>
                <a:buChar char="•"/>
              </a:pPr>
              <a:r>
                <a:rPr lang="es-ES" sz="2000" b="1" dirty="0"/>
                <a:t>Ha emitido gran cantidad de GEI.</a:t>
              </a:r>
            </a:p>
            <a:p>
              <a:pPr marL="342900" indent="-342900">
                <a:buFont typeface="Arial" panose="020B0604020202020204" pitchFamily="34" charset="0"/>
                <a:buChar char="•"/>
              </a:pPr>
              <a:r>
                <a:rPr lang="es-ES" sz="2000" b="1" dirty="0"/>
                <a:t>Ha contaminado.</a:t>
              </a:r>
            </a:p>
          </p:txBody>
        </p:sp>
        <p:cxnSp>
          <p:nvCxnSpPr>
            <p:cNvPr id="31" name="Conector recto 30">
              <a:extLst>
                <a:ext uri="{FF2B5EF4-FFF2-40B4-BE49-F238E27FC236}">
                  <a16:creationId xmlns:a16="http://schemas.microsoft.com/office/drawing/2014/main" id="{8C8F852A-845B-50CE-1C78-4D7681ED042C}"/>
                </a:ext>
              </a:extLst>
            </p:cNvPr>
            <p:cNvCxnSpPr>
              <a:cxnSpLocks/>
              <a:stCxn id="30" idx="0"/>
              <a:endCxn id="28" idx="1"/>
            </p:cNvCxnSpPr>
            <p:nvPr/>
          </p:nvCxnSpPr>
          <p:spPr>
            <a:xfrm flipV="1">
              <a:off x="10108555" y="2496373"/>
              <a:ext cx="0" cy="510452"/>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sp>
        <p:nvSpPr>
          <p:cNvPr id="35" name="Rectángulo: esquinas redondeadas 34">
            <a:extLst>
              <a:ext uri="{FF2B5EF4-FFF2-40B4-BE49-F238E27FC236}">
                <a16:creationId xmlns:a16="http://schemas.microsoft.com/office/drawing/2014/main" id="{EDCF0CB0-0089-EC53-56E0-989C94500998}"/>
              </a:ext>
            </a:extLst>
          </p:cNvPr>
          <p:cNvSpPr/>
          <p:nvPr/>
        </p:nvSpPr>
        <p:spPr>
          <a:xfrm>
            <a:off x="362857" y="4949370"/>
            <a:ext cx="3120572" cy="1485835"/>
          </a:xfrm>
          <a:prstGeom prst="roundRect">
            <a:avLst>
              <a:gd name="adj" fmla="val 50000"/>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Su diseño es contrario a los ciclos de la naturaleza</a:t>
            </a:r>
          </a:p>
        </p:txBody>
      </p:sp>
      <p:sp>
        <p:nvSpPr>
          <p:cNvPr id="36" name="CuadroTexto 35">
            <a:extLst>
              <a:ext uri="{FF2B5EF4-FFF2-40B4-BE49-F238E27FC236}">
                <a16:creationId xmlns:a16="http://schemas.microsoft.com/office/drawing/2014/main" id="{AEA5E7A7-2BF4-8669-5E10-ED6E884AE1D5}"/>
              </a:ext>
            </a:extLst>
          </p:cNvPr>
          <p:cNvSpPr txBox="1"/>
          <p:nvPr/>
        </p:nvSpPr>
        <p:spPr>
          <a:xfrm>
            <a:off x="4586514" y="6435205"/>
            <a:ext cx="2656115" cy="369332"/>
          </a:xfrm>
          <a:prstGeom prst="rect">
            <a:avLst/>
          </a:prstGeom>
          <a:noFill/>
        </p:spPr>
        <p:txBody>
          <a:bodyPr wrap="square" rtlCol="0">
            <a:spAutoFit/>
          </a:bodyPr>
          <a:lstStyle/>
          <a:p>
            <a:pPr algn="ctr"/>
            <a:r>
              <a:rPr lang="es-ES" dirty="0">
                <a:hlinkClick r:id="rId4"/>
              </a:rPr>
              <a:t>Vídeo Explicativo</a:t>
            </a:r>
            <a:endParaRPr lang="es-ES" dirty="0"/>
          </a:p>
        </p:txBody>
      </p:sp>
    </p:spTree>
    <p:extLst>
      <p:ext uri="{BB962C8B-B14F-4D97-AF65-F5344CB8AC3E}">
        <p14:creationId xmlns:p14="http://schemas.microsoft.com/office/powerpoint/2010/main" val="620208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OBSOLESCENCIA PROGRAMADA</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6" name="CuadroTexto 35">
            <a:extLst>
              <a:ext uri="{FF2B5EF4-FFF2-40B4-BE49-F238E27FC236}">
                <a16:creationId xmlns:a16="http://schemas.microsoft.com/office/drawing/2014/main" id="{AEA5E7A7-2BF4-8669-5E10-ED6E884AE1D5}"/>
              </a:ext>
            </a:extLst>
          </p:cNvPr>
          <p:cNvSpPr txBox="1"/>
          <p:nvPr/>
        </p:nvSpPr>
        <p:spPr>
          <a:xfrm>
            <a:off x="4586514" y="6435205"/>
            <a:ext cx="2656115" cy="369332"/>
          </a:xfrm>
          <a:prstGeom prst="rect">
            <a:avLst/>
          </a:prstGeom>
          <a:noFill/>
        </p:spPr>
        <p:txBody>
          <a:bodyPr wrap="square" rtlCol="0">
            <a:spAutoFit/>
          </a:bodyPr>
          <a:lstStyle/>
          <a:p>
            <a:pPr algn="ctr"/>
            <a:r>
              <a:rPr lang="es-ES" dirty="0">
                <a:hlinkClick r:id="rId4"/>
              </a:rPr>
              <a:t>Vídeo Explicativo</a:t>
            </a:r>
            <a:endParaRPr lang="es-ES" dirty="0"/>
          </a:p>
        </p:txBody>
      </p:sp>
      <p:sp>
        <p:nvSpPr>
          <p:cNvPr id="8" name="Rectángulo: esquinas redondeadas 7">
            <a:extLst>
              <a:ext uri="{FF2B5EF4-FFF2-40B4-BE49-F238E27FC236}">
                <a16:creationId xmlns:a16="http://schemas.microsoft.com/office/drawing/2014/main" id="{C2DC3629-8E28-3A4E-9195-4A1979912A35}"/>
              </a:ext>
            </a:extLst>
          </p:cNvPr>
          <p:cNvSpPr/>
          <p:nvPr/>
        </p:nvSpPr>
        <p:spPr>
          <a:xfrm>
            <a:off x="1407555" y="1847798"/>
            <a:ext cx="3061206" cy="1325563"/>
          </a:xfrm>
          <a:prstGeom prst="roundRect">
            <a:avLst>
              <a:gd name="adj" fmla="val 23343"/>
            </a:avLst>
          </a:prstGeom>
          <a:solidFill>
            <a:schemeClr val="accent1">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Los productos se vuelven inservibles transcurrido un tiempo determinado desde su fabricación</a:t>
            </a:r>
          </a:p>
        </p:txBody>
      </p:sp>
      <p:sp>
        <p:nvSpPr>
          <p:cNvPr id="10" name="Flecha: hacia abajo 9">
            <a:extLst>
              <a:ext uri="{FF2B5EF4-FFF2-40B4-BE49-F238E27FC236}">
                <a16:creationId xmlns:a16="http://schemas.microsoft.com/office/drawing/2014/main" id="{EAEABC89-8B8F-A1C9-AB70-D45E297F6D5E}"/>
              </a:ext>
            </a:extLst>
          </p:cNvPr>
          <p:cNvSpPr/>
          <p:nvPr/>
        </p:nvSpPr>
        <p:spPr>
          <a:xfrm>
            <a:off x="2635816" y="3684640"/>
            <a:ext cx="604684" cy="1047135"/>
          </a:xfrm>
          <a:prstGeom prst="downArrow">
            <a:avLst>
              <a:gd name="adj1" fmla="val 50000"/>
              <a:gd name="adj2" fmla="val 76829"/>
            </a:avLst>
          </a:prstGeom>
          <a:solidFill>
            <a:schemeClr val="tx1">
              <a:lumMod val="85000"/>
              <a:lumOff val="1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789EE8A0-9169-DD1A-A1FB-2E5074D30FF4}"/>
              </a:ext>
            </a:extLst>
          </p:cNvPr>
          <p:cNvSpPr txBox="1"/>
          <p:nvPr/>
        </p:nvSpPr>
        <p:spPr>
          <a:xfrm>
            <a:off x="3465871" y="3920614"/>
            <a:ext cx="1548580" cy="369332"/>
          </a:xfrm>
          <a:prstGeom prst="rect">
            <a:avLst/>
          </a:prstGeom>
          <a:noFill/>
        </p:spPr>
        <p:txBody>
          <a:bodyPr wrap="square" rtlCol="0">
            <a:spAutoFit/>
          </a:bodyPr>
          <a:lstStyle/>
          <a:p>
            <a:r>
              <a:rPr lang="es-ES" dirty="0"/>
              <a:t>Causa</a:t>
            </a:r>
          </a:p>
        </p:txBody>
      </p:sp>
      <p:sp>
        <p:nvSpPr>
          <p:cNvPr id="12" name="Rectángulo 11">
            <a:extLst>
              <a:ext uri="{FF2B5EF4-FFF2-40B4-BE49-F238E27FC236}">
                <a16:creationId xmlns:a16="http://schemas.microsoft.com/office/drawing/2014/main" id="{06F0DA88-A1C7-45F9-4EF3-01B23BAA242A}"/>
              </a:ext>
            </a:extLst>
          </p:cNvPr>
          <p:cNvSpPr/>
          <p:nvPr/>
        </p:nvSpPr>
        <p:spPr>
          <a:xfrm>
            <a:off x="1510794" y="5037199"/>
            <a:ext cx="2854728" cy="1047135"/>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Falla un componente y no hay repuestos o el coste de reparación es muy elevado</a:t>
            </a:r>
          </a:p>
        </p:txBody>
      </p:sp>
      <p:sp>
        <p:nvSpPr>
          <p:cNvPr id="13" name="Flecha: hacia abajo 12">
            <a:extLst>
              <a:ext uri="{FF2B5EF4-FFF2-40B4-BE49-F238E27FC236}">
                <a16:creationId xmlns:a16="http://schemas.microsoft.com/office/drawing/2014/main" id="{1B2E4025-E380-E0D7-2E29-7AB4CF57A7C5}"/>
              </a:ext>
            </a:extLst>
          </p:cNvPr>
          <p:cNvSpPr/>
          <p:nvPr/>
        </p:nvSpPr>
        <p:spPr>
          <a:xfrm rot="16200000">
            <a:off x="5643715" y="1987012"/>
            <a:ext cx="604684" cy="1047135"/>
          </a:xfrm>
          <a:prstGeom prst="downArrow">
            <a:avLst>
              <a:gd name="adj1" fmla="val 50000"/>
              <a:gd name="adj2" fmla="val 76829"/>
            </a:avLst>
          </a:prstGeom>
          <a:solidFill>
            <a:schemeClr val="tx1">
              <a:lumMod val="85000"/>
              <a:lumOff val="1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46BBB6E3-609A-12BC-ABFD-6C8831B4D645}"/>
              </a:ext>
            </a:extLst>
          </p:cNvPr>
          <p:cNvSpPr txBox="1"/>
          <p:nvPr/>
        </p:nvSpPr>
        <p:spPr>
          <a:xfrm>
            <a:off x="5321710" y="2889774"/>
            <a:ext cx="1548580" cy="369332"/>
          </a:xfrm>
          <a:prstGeom prst="rect">
            <a:avLst/>
          </a:prstGeom>
          <a:noFill/>
        </p:spPr>
        <p:txBody>
          <a:bodyPr wrap="square" rtlCol="0">
            <a:spAutoFit/>
          </a:bodyPr>
          <a:lstStyle/>
          <a:p>
            <a:r>
              <a:rPr lang="es-ES" dirty="0"/>
              <a:t>Objetivo</a:t>
            </a:r>
          </a:p>
        </p:txBody>
      </p:sp>
      <p:sp>
        <p:nvSpPr>
          <p:cNvPr id="15" name="Rectángulo 14">
            <a:extLst>
              <a:ext uri="{FF2B5EF4-FFF2-40B4-BE49-F238E27FC236}">
                <a16:creationId xmlns:a16="http://schemas.microsoft.com/office/drawing/2014/main" id="{12EBC5BB-5C1E-A15C-E465-2B448CC431C5}"/>
              </a:ext>
            </a:extLst>
          </p:cNvPr>
          <p:cNvSpPr/>
          <p:nvPr/>
        </p:nvSpPr>
        <p:spPr>
          <a:xfrm>
            <a:off x="7379108" y="1987012"/>
            <a:ext cx="2854728" cy="1047135"/>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Inducir a un consumo de productos mayor</a:t>
            </a:r>
          </a:p>
        </p:txBody>
      </p:sp>
      <p:pic>
        <p:nvPicPr>
          <p:cNvPr id="18" name="Imagen 17">
            <a:extLst>
              <a:ext uri="{FF2B5EF4-FFF2-40B4-BE49-F238E27FC236}">
                <a16:creationId xmlns:a16="http://schemas.microsoft.com/office/drawing/2014/main" id="{D4C6452F-97B0-3A0C-E6C0-E24B3768A8F1}"/>
              </a:ext>
            </a:extLst>
          </p:cNvPr>
          <p:cNvPicPr>
            <a:picLocks noChangeAspect="1"/>
          </p:cNvPicPr>
          <p:nvPr/>
        </p:nvPicPr>
        <p:blipFill>
          <a:blip r:embed="rId5"/>
          <a:stretch>
            <a:fillRect/>
          </a:stretch>
        </p:blipFill>
        <p:spPr>
          <a:xfrm>
            <a:off x="6729273" y="3658180"/>
            <a:ext cx="4438466" cy="2479513"/>
          </a:xfrm>
          <a:prstGeom prst="rect">
            <a:avLst/>
          </a:prstGeom>
        </p:spPr>
      </p:pic>
    </p:spTree>
    <p:extLst>
      <p:ext uri="{BB962C8B-B14F-4D97-AF65-F5344CB8AC3E}">
        <p14:creationId xmlns:p14="http://schemas.microsoft.com/office/powerpoint/2010/main" val="1837725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VERDE</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CuadroTexto 7">
            <a:extLst>
              <a:ext uri="{FF2B5EF4-FFF2-40B4-BE49-F238E27FC236}">
                <a16:creationId xmlns:a16="http://schemas.microsoft.com/office/drawing/2014/main" id="{006C3254-F1A3-E9A9-5EFB-8AD80BAC16ED}"/>
              </a:ext>
            </a:extLst>
          </p:cNvPr>
          <p:cNvSpPr txBox="1"/>
          <p:nvPr/>
        </p:nvSpPr>
        <p:spPr>
          <a:xfrm>
            <a:off x="4410583" y="6468173"/>
            <a:ext cx="2844800" cy="369332"/>
          </a:xfrm>
          <a:prstGeom prst="rect">
            <a:avLst/>
          </a:prstGeom>
          <a:noFill/>
        </p:spPr>
        <p:txBody>
          <a:bodyPr wrap="square" rtlCol="0">
            <a:spAutoFit/>
          </a:bodyPr>
          <a:lstStyle/>
          <a:p>
            <a:pPr algn="ctr"/>
            <a:r>
              <a:rPr lang="es-ES" dirty="0">
                <a:hlinkClick r:id="rId4"/>
              </a:rPr>
              <a:t>Vídeo explicativo</a:t>
            </a:r>
            <a:endParaRPr lang="es-ES" dirty="0"/>
          </a:p>
        </p:txBody>
      </p:sp>
      <p:pic>
        <p:nvPicPr>
          <p:cNvPr id="4" name="Imagen 3">
            <a:hlinkClick r:id="rId5"/>
            <a:extLst>
              <a:ext uri="{FF2B5EF4-FFF2-40B4-BE49-F238E27FC236}">
                <a16:creationId xmlns:a16="http://schemas.microsoft.com/office/drawing/2014/main" id="{8EEA416B-F97D-CB57-7362-450170FC6F50}"/>
              </a:ext>
            </a:extLst>
          </p:cNvPr>
          <p:cNvPicPr>
            <a:picLocks noChangeAspect="1"/>
          </p:cNvPicPr>
          <p:nvPr/>
        </p:nvPicPr>
        <p:blipFill>
          <a:blip r:embed="rId6"/>
          <a:stretch>
            <a:fillRect/>
          </a:stretch>
        </p:blipFill>
        <p:spPr>
          <a:xfrm>
            <a:off x="462186" y="2132077"/>
            <a:ext cx="5515745" cy="1333686"/>
          </a:xfrm>
          <a:prstGeom prst="rect">
            <a:avLst/>
          </a:prstGeom>
        </p:spPr>
      </p:pic>
      <p:sp>
        <p:nvSpPr>
          <p:cNvPr id="6" name="Rectángulo: esquinas superiores redondeadas 5">
            <a:extLst>
              <a:ext uri="{FF2B5EF4-FFF2-40B4-BE49-F238E27FC236}">
                <a16:creationId xmlns:a16="http://schemas.microsoft.com/office/drawing/2014/main" id="{FD644DA5-F3BD-AD4B-E10A-DE98033597C1}"/>
              </a:ext>
            </a:extLst>
          </p:cNvPr>
          <p:cNvSpPr/>
          <p:nvPr/>
        </p:nvSpPr>
        <p:spPr>
          <a:xfrm>
            <a:off x="2632446" y="1446223"/>
            <a:ext cx="1194894" cy="378489"/>
          </a:xfrm>
          <a:prstGeom prst="round2SameRect">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2012</a:t>
            </a:r>
          </a:p>
        </p:txBody>
      </p:sp>
      <p:sp>
        <p:nvSpPr>
          <p:cNvPr id="10" name="Flecha: a la derecha 9">
            <a:extLst>
              <a:ext uri="{FF2B5EF4-FFF2-40B4-BE49-F238E27FC236}">
                <a16:creationId xmlns:a16="http://schemas.microsoft.com/office/drawing/2014/main" id="{7C2BE040-7734-064E-2191-D6E79F13433A}"/>
              </a:ext>
            </a:extLst>
          </p:cNvPr>
          <p:cNvSpPr/>
          <p:nvPr/>
        </p:nvSpPr>
        <p:spPr>
          <a:xfrm>
            <a:off x="6438484" y="2430210"/>
            <a:ext cx="780027" cy="737421"/>
          </a:xfrm>
          <a:prstGeom prst="rightArrow">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esquinas redondeadas 10">
            <a:extLst>
              <a:ext uri="{FF2B5EF4-FFF2-40B4-BE49-F238E27FC236}">
                <a16:creationId xmlns:a16="http://schemas.microsoft.com/office/drawing/2014/main" id="{B9BC5028-3DBA-51AF-E28A-050DC22DD7E3}"/>
              </a:ext>
            </a:extLst>
          </p:cNvPr>
          <p:cNvSpPr/>
          <p:nvPr/>
        </p:nvSpPr>
        <p:spPr>
          <a:xfrm>
            <a:off x="8008297" y="2493558"/>
            <a:ext cx="2890756" cy="610725"/>
          </a:xfrm>
          <a:prstGeom prst="roundRect">
            <a:avLst/>
          </a:prstGeom>
          <a:solidFill>
            <a:schemeClr val="accent6">
              <a:lumMod val="75000"/>
            </a:schemeClr>
          </a:solidFill>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ECONOMÍA VERDE</a:t>
            </a:r>
          </a:p>
        </p:txBody>
      </p:sp>
      <p:sp>
        <p:nvSpPr>
          <p:cNvPr id="12" name="CuadroTexto 11">
            <a:extLst>
              <a:ext uri="{FF2B5EF4-FFF2-40B4-BE49-F238E27FC236}">
                <a16:creationId xmlns:a16="http://schemas.microsoft.com/office/drawing/2014/main" id="{8DFA92BF-58E0-7D55-C1AC-DD2E91203E20}"/>
              </a:ext>
            </a:extLst>
          </p:cNvPr>
          <p:cNvSpPr txBox="1"/>
          <p:nvPr/>
        </p:nvSpPr>
        <p:spPr>
          <a:xfrm>
            <a:off x="1224249" y="4155758"/>
            <a:ext cx="5206181" cy="1938992"/>
          </a:xfrm>
          <a:prstGeom prst="rect">
            <a:avLst/>
          </a:prstGeom>
          <a:solidFill>
            <a:srgbClr val="FFFFE1"/>
          </a:solidFill>
          <a:effectLst>
            <a:glow rad="228600">
              <a:schemeClr val="accent6">
                <a:satMod val="175000"/>
                <a:alpha val="40000"/>
              </a:schemeClr>
            </a:glow>
          </a:effectLst>
        </p:spPr>
        <p:txBody>
          <a:bodyPr wrap="square" rtlCol="0">
            <a:spAutoFit/>
          </a:bodyPr>
          <a:lstStyle/>
          <a:p>
            <a:pPr algn="ctr"/>
            <a:r>
              <a:rPr lang="es-ES" sz="2400" b="1" dirty="0">
                <a:solidFill>
                  <a:schemeClr val="accent6">
                    <a:lumMod val="50000"/>
                  </a:schemeClr>
                </a:solidFill>
                <a:effectLst/>
                <a:latin typeface="Calibri" panose="020F0502020204030204" pitchFamily="34" charset="0"/>
                <a:ea typeface="Times New Roman" panose="02020603050405020304" pitchFamily="18" charset="0"/>
              </a:rPr>
              <a:t>Economía Verde </a:t>
            </a:r>
            <a:r>
              <a:rPr lang="es-ES" sz="2400" dirty="0">
                <a:solidFill>
                  <a:srgbClr val="000000"/>
                </a:solidFill>
                <a:effectLst/>
                <a:latin typeface="Calibri" panose="020F0502020204030204" pitchFamily="34" charset="0"/>
                <a:ea typeface="Times New Roman" panose="02020603050405020304" pitchFamily="18" charset="0"/>
              </a:rPr>
              <a:t>es aquella que logra mejores bienestar humano y equidad social, reduciendo significativamente los riesgos ambientales y las escaseces ecológicas.</a:t>
            </a:r>
            <a:endParaRPr lang="es-ES" sz="2400" dirty="0"/>
          </a:p>
        </p:txBody>
      </p:sp>
      <p:pic>
        <p:nvPicPr>
          <p:cNvPr id="14" name="Imagen 13">
            <a:hlinkClick r:id="rId7"/>
            <a:extLst>
              <a:ext uri="{FF2B5EF4-FFF2-40B4-BE49-F238E27FC236}">
                <a16:creationId xmlns:a16="http://schemas.microsoft.com/office/drawing/2014/main" id="{7B25F9B6-1E7C-499F-2F09-808F9EDF16C0}"/>
              </a:ext>
            </a:extLst>
          </p:cNvPr>
          <p:cNvPicPr>
            <a:picLocks noChangeAspect="1"/>
          </p:cNvPicPr>
          <p:nvPr/>
        </p:nvPicPr>
        <p:blipFill>
          <a:blip r:embed="rId8"/>
          <a:stretch>
            <a:fillRect/>
          </a:stretch>
        </p:blipFill>
        <p:spPr>
          <a:xfrm>
            <a:off x="7592470" y="3370422"/>
            <a:ext cx="3660549" cy="2897721"/>
          </a:xfrm>
          <a:prstGeom prst="rect">
            <a:avLst/>
          </a:prstGeom>
        </p:spPr>
      </p:pic>
    </p:spTree>
    <p:extLst>
      <p:ext uri="{BB962C8B-B14F-4D97-AF65-F5344CB8AC3E}">
        <p14:creationId xmlns:p14="http://schemas.microsoft.com/office/powerpoint/2010/main" val="3880605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VERDE</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CuadroTexto 7">
            <a:extLst>
              <a:ext uri="{FF2B5EF4-FFF2-40B4-BE49-F238E27FC236}">
                <a16:creationId xmlns:a16="http://schemas.microsoft.com/office/drawing/2014/main" id="{006C3254-F1A3-E9A9-5EFB-8AD80BAC16ED}"/>
              </a:ext>
            </a:extLst>
          </p:cNvPr>
          <p:cNvSpPr txBox="1"/>
          <p:nvPr/>
        </p:nvSpPr>
        <p:spPr>
          <a:xfrm>
            <a:off x="4410583" y="6468173"/>
            <a:ext cx="2844800" cy="369332"/>
          </a:xfrm>
          <a:prstGeom prst="rect">
            <a:avLst/>
          </a:prstGeom>
          <a:noFill/>
        </p:spPr>
        <p:txBody>
          <a:bodyPr wrap="square" rtlCol="0">
            <a:spAutoFit/>
          </a:bodyPr>
          <a:lstStyle/>
          <a:p>
            <a:pPr algn="ctr"/>
            <a:r>
              <a:rPr lang="es-ES" dirty="0">
                <a:hlinkClick r:id="rId4"/>
              </a:rPr>
              <a:t>Vídeo explicativo</a:t>
            </a:r>
            <a:endParaRPr lang="es-ES" dirty="0"/>
          </a:p>
        </p:txBody>
      </p:sp>
      <p:sp>
        <p:nvSpPr>
          <p:cNvPr id="3" name="Rectángulo: esquinas redondeadas 2">
            <a:extLst>
              <a:ext uri="{FF2B5EF4-FFF2-40B4-BE49-F238E27FC236}">
                <a16:creationId xmlns:a16="http://schemas.microsoft.com/office/drawing/2014/main" id="{35875E5A-2038-EF78-05B7-6A5E0BD75C62}"/>
              </a:ext>
            </a:extLst>
          </p:cNvPr>
          <p:cNvSpPr/>
          <p:nvPr/>
        </p:nvSpPr>
        <p:spPr>
          <a:xfrm>
            <a:off x="377788" y="3481888"/>
            <a:ext cx="2890756" cy="610725"/>
          </a:xfrm>
          <a:prstGeom prst="roundRect">
            <a:avLst/>
          </a:prstGeom>
          <a:solidFill>
            <a:schemeClr val="accent6">
              <a:lumMod val="75000"/>
            </a:schemeClr>
          </a:solidFill>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CARACTERÍSTICAS</a:t>
            </a:r>
          </a:p>
        </p:txBody>
      </p:sp>
      <p:sp>
        <p:nvSpPr>
          <p:cNvPr id="13" name="Abrir llave 12">
            <a:extLst>
              <a:ext uri="{FF2B5EF4-FFF2-40B4-BE49-F238E27FC236}">
                <a16:creationId xmlns:a16="http://schemas.microsoft.com/office/drawing/2014/main" id="{C9C8BA01-8FE6-2AF5-3CF3-D307AD17248A}"/>
              </a:ext>
            </a:extLst>
          </p:cNvPr>
          <p:cNvSpPr/>
          <p:nvPr/>
        </p:nvSpPr>
        <p:spPr>
          <a:xfrm>
            <a:off x="3402302" y="1568385"/>
            <a:ext cx="1386349" cy="4437730"/>
          </a:xfrm>
          <a:prstGeom prst="leftBrace">
            <a:avLst>
              <a:gd name="adj1" fmla="val 22163"/>
              <a:gd name="adj2" fmla="val 50000"/>
            </a:avLst>
          </a:prstGeom>
          <a:ln w="41275">
            <a:solidFill>
              <a:schemeClr val="accent6">
                <a:lumMod val="50000"/>
              </a:schemeClr>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s-ES"/>
          </a:p>
        </p:txBody>
      </p:sp>
      <p:sp>
        <p:nvSpPr>
          <p:cNvPr id="14" name="CuadroTexto 13">
            <a:extLst>
              <a:ext uri="{FF2B5EF4-FFF2-40B4-BE49-F238E27FC236}">
                <a16:creationId xmlns:a16="http://schemas.microsoft.com/office/drawing/2014/main" id="{EBC92041-4477-900E-41B1-D5FC832EA883}"/>
              </a:ext>
            </a:extLst>
          </p:cNvPr>
          <p:cNvSpPr txBox="1"/>
          <p:nvPr/>
        </p:nvSpPr>
        <p:spPr>
          <a:xfrm>
            <a:off x="4524208" y="1740313"/>
            <a:ext cx="6394987" cy="923330"/>
          </a:xfrm>
          <a:prstGeom prst="rect">
            <a:avLst/>
          </a:prstGeom>
          <a:solidFill>
            <a:srgbClr val="F5FEC2"/>
          </a:solidFill>
          <a:effectLst>
            <a:glow rad="101600">
              <a:schemeClr val="accent6">
                <a:satMod val="175000"/>
                <a:alpha val="40000"/>
              </a:schemeClr>
            </a:glow>
          </a:effectLst>
        </p:spPr>
        <p:txBody>
          <a:bodyPr wrap="square" rtlCol="0">
            <a:spAutoFit/>
          </a:bodyPr>
          <a:lstStyle/>
          <a:p>
            <a:r>
              <a:rPr lang="es-ES" sz="1800" dirty="0">
                <a:solidFill>
                  <a:srgbClr val="000000"/>
                </a:solidFill>
                <a:effectLst/>
                <a:latin typeface="Calibri" panose="020F0502020204030204" pitchFamily="34" charset="0"/>
                <a:ea typeface="Times New Roman" panose="02020603050405020304" pitchFamily="18" charset="0"/>
              </a:rPr>
              <a:t>Una baja emisión de gases de efecto invernadero y de residuos nocivos para el medio ambiente, apostando por la protección de los ecosistemas</a:t>
            </a:r>
            <a:endParaRPr lang="es-ES" dirty="0"/>
          </a:p>
        </p:txBody>
      </p:sp>
      <p:sp>
        <p:nvSpPr>
          <p:cNvPr id="15" name="CuadroTexto 14">
            <a:extLst>
              <a:ext uri="{FF2B5EF4-FFF2-40B4-BE49-F238E27FC236}">
                <a16:creationId xmlns:a16="http://schemas.microsoft.com/office/drawing/2014/main" id="{AD295A0A-FA19-EAEF-1BD6-753FE7F59247}"/>
              </a:ext>
            </a:extLst>
          </p:cNvPr>
          <p:cNvSpPr txBox="1"/>
          <p:nvPr/>
        </p:nvSpPr>
        <p:spPr>
          <a:xfrm>
            <a:off x="4524208" y="3201739"/>
            <a:ext cx="6394987" cy="1200329"/>
          </a:xfrm>
          <a:prstGeom prst="rect">
            <a:avLst/>
          </a:prstGeom>
          <a:solidFill>
            <a:srgbClr val="F5FEC2"/>
          </a:solidFill>
          <a:effectLst>
            <a:glow rad="101600">
              <a:schemeClr val="accent6">
                <a:satMod val="175000"/>
                <a:alpha val="40000"/>
              </a:schemeClr>
            </a:glow>
          </a:effectLst>
        </p:spPr>
        <p:txBody>
          <a:bodyPr wrap="square" rtlCol="0">
            <a:spAutoFit/>
          </a:bodyPr>
          <a:lstStyle/>
          <a:p>
            <a:r>
              <a:rPr lang="es-ES" sz="1800" dirty="0">
                <a:solidFill>
                  <a:srgbClr val="000000"/>
                </a:solidFill>
                <a:effectLst/>
                <a:latin typeface="Calibri" panose="020F0502020204030204" pitchFamily="34" charset="0"/>
                <a:ea typeface="Times New Roman" panose="02020603050405020304" pitchFamily="18" charset="0"/>
              </a:rPr>
              <a:t>Un uso eficiente de los recursos naturales, extrayendo el mayor partido posible de cada uno de ellos, como lucha contra la sobreexplotación. Para ello, se debe fomentar la innovación y el reciclaje</a:t>
            </a:r>
            <a:endParaRPr lang="es-ES" dirty="0"/>
          </a:p>
        </p:txBody>
      </p:sp>
      <p:sp>
        <p:nvSpPr>
          <p:cNvPr id="18" name="CuadroTexto 17">
            <a:extLst>
              <a:ext uri="{FF2B5EF4-FFF2-40B4-BE49-F238E27FC236}">
                <a16:creationId xmlns:a16="http://schemas.microsoft.com/office/drawing/2014/main" id="{183FB769-9BB0-D3A6-0CE5-FA6993EDBD87}"/>
              </a:ext>
            </a:extLst>
          </p:cNvPr>
          <p:cNvSpPr txBox="1"/>
          <p:nvPr/>
        </p:nvSpPr>
        <p:spPr>
          <a:xfrm>
            <a:off x="4524208" y="4940165"/>
            <a:ext cx="6394987" cy="923330"/>
          </a:xfrm>
          <a:prstGeom prst="rect">
            <a:avLst/>
          </a:prstGeom>
          <a:solidFill>
            <a:srgbClr val="F5FEC2"/>
          </a:solidFill>
          <a:effectLst>
            <a:glow rad="101600">
              <a:schemeClr val="accent6">
                <a:satMod val="175000"/>
                <a:alpha val="40000"/>
              </a:schemeClr>
            </a:glow>
          </a:effectLst>
        </p:spPr>
        <p:txBody>
          <a:bodyPr wrap="square" rtlCol="0">
            <a:spAutoFit/>
          </a:bodyPr>
          <a:lstStyle/>
          <a:p>
            <a:r>
              <a:rPr lang="es-ES" sz="1800" dirty="0">
                <a:solidFill>
                  <a:srgbClr val="000000"/>
                </a:solidFill>
                <a:effectLst/>
                <a:latin typeface="Calibri" panose="020F0502020204030204" pitchFamily="34" charset="0"/>
                <a:ea typeface="Times New Roman" panose="02020603050405020304" pitchFamily="18" charset="0"/>
              </a:rPr>
              <a:t>La justicia y la inclusión social, sin dejar a nadie atrás, para que la actividad económica beneficie a todas y cada una de las personas, incluyendo a los grupos más vulnerables</a:t>
            </a:r>
            <a:endParaRPr lang="es-ES" dirty="0"/>
          </a:p>
        </p:txBody>
      </p:sp>
      <p:pic>
        <p:nvPicPr>
          <p:cNvPr id="20" name="Imagen 19">
            <a:extLst>
              <a:ext uri="{FF2B5EF4-FFF2-40B4-BE49-F238E27FC236}">
                <a16:creationId xmlns:a16="http://schemas.microsoft.com/office/drawing/2014/main" id="{07B9C650-BD1A-5C10-C98A-107778AA1DBF}"/>
              </a:ext>
            </a:extLst>
          </p:cNvPr>
          <p:cNvPicPr>
            <a:picLocks noChangeAspect="1"/>
          </p:cNvPicPr>
          <p:nvPr/>
        </p:nvPicPr>
        <p:blipFill>
          <a:blip r:embed="rId5"/>
          <a:stretch>
            <a:fillRect/>
          </a:stretch>
        </p:blipFill>
        <p:spPr>
          <a:xfrm>
            <a:off x="11205168" y="5039012"/>
            <a:ext cx="835933" cy="725636"/>
          </a:xfrm>
          <a:prstGeom prst="rect">
            <a:avLst/>
          </a:prstGeom>
        </p:spPr>
      </p:pic>
      <p:pic>
        <p:nvPicPr>
          <p:cNvPr id="22" name="Imagen 21">
            <a:extLst>
              <a:ext uri="{FF2B5EF4-FFF2-40B4-BE49-F238E27FC236}">
                <a16:creationId xmlns:a16="http://schemas.microsoft.com/office/drawing/2014/main" id="{E9573261-3AE3-BF74-C52F-E88691C785CE}"/>
              </a:ext>
            </a:extLst>
          </p:cNvPr>
          <p:cNvPicPr>
            <a:picLocks noChangeAspect="1"/>
          </p:cNvPicPr>
          <p:nvPr/>
        </p:nvPicPr>
        <p:blipFill>
          <a:blip r:embed="rId6"/>
          <a:stretch>
            <a:fillRect/>
          </a:stretch>
        </p:blipFill>
        <p:spPr>
          <a:xfrm>
            <a:off x="11205168" y="3429000"/>
            <a:ext cx="812977" cy="722646"/>
          </a:xfrm>
          <a:prstGeom prst="rect">
            <a:avLst/>
          </a:prstGeom>
        </p:spPr>
      </p:pic>
      <p:pic>
        <p:nvPicPr>
          <p:cNvPr id="24" name="Imagen 23">
            <a:extLst>
              <a:ext uri="{FF2B5EF4-FFF2-40B4-BE49-F238E27FC236}">
                <a16:creationId xmlns:a16="http://schemas.microsoft.com/office/drawing/2014/main" id="{5261A89A-9424-50DC-D11C-F24179313A8C}"/>
              </a:ext>
            </a:extLst>
          </p:cNvPr>
          <p:cNvPicPr>
            <a:picLocks noChangeAspect="1"/>
          </p:cNvPicPr>
          <p:nvPr/>
        </p:nvPicPr>
        <p:blipFill>
          <a:blip r:embed="rId7"/>
          <a:stretch>
            <a:fillRect/>
          </a:stretch>
        </p:blipFill>
        <p:spPr>
          <a:xfrm>
            <a:off x="11260615" y="1828069"/>
            <a:ext cx="690659" cy="747817"/>
          </a:xfrm>
          <a:prstGeom prst="rect">
            <a:avLst/>
          </a:prstGeom>
        </p:spPr>
      </p:pic>
    </p:spTree>
    <p:extLst>
      <p:ext uri="{BB962C8B-B14F-4D97-AF65-F5344CB8AC3E}">
        <p14:creationId xmlns:p14="http://schemas.microsoft.com/office/powerpoint/2010/main" val="775926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CIRCULAR</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CuadroTexto 7">
            <a:extLst>
              <a:ext uri="{FF2B5EF4-FFF2-40B4-BE49-F238E27FC236}">
                <a16:creationId xmlns:a16="http://schemas.microsoft.com/office/drawing/2014/main" id="{006C3254-F1A3-E9A9-5EFB-8AD80BAC16ED}"/>
              </a:ext>
            </a:extLst>
          </p:cNvPr>
          <p:cNvSpPr txBox="1"/>
          <p:nvPr/>
        </p:nvSpPr>
        <p:spPr>
          <a:xfrm>
            <a:off x="4470400" y="6468173"/>
            <a:ext cx="2844800" cy="369332"/>
          </a:xfrm>
          <a:prstGeom prst="rect">
            <a:avLst/>
          </a:prstGeom>
          <a:noFill/>
        </p:spPr>
        <p:txBody>
          <a:bodyPr wrap="square" rtlCol="0">
            <a:spAutoFit/>
          </a:bodyPr>
          <a:lstStyle/>
          <a:p>
            <a:pPr algn="ctr"/>
            <a:r>
              <a:rPr lang="es-ES" dirty="0">
                <a:hlinkClick r:id="rId4"/>
              </a:rPr>
              <a:t>Vídeo explicativo</a:t>
            </a:r>
            <a:endParaRPr lang="es-ES" dirty="0"/>
          </a:p>
        </p:txBody>
      </p:sp>
      <p:pic>
        <p:nvPicPr>
          <p:cNvPr id="4" name="Imagen 3">
            <a:extLst>
              <a:ext uri="{FF2B5EF4-FFF2-40B4-BE49-F238E27FC236}">
                <a16:creationId xmlns:a16="http://schemas.microsoft.com/office/drawing/2014/main" id="{004367AB-6AEE-95A4-97A9-1DDA327E5F8B}"/>
              </a:ext>
            </a:extLst>
          </p:cNvPr>
          <p:cNvPicPr>
            <a:picLocks noChangeAspect="1"/>
          </p:cNvPicPr>
          <p:nvPr/>
        </p:nvPicPr>
        <p:blipFill>
          <a:blip r:embed="rId5"/>
          <a:stretch>
            <a:fillRect/>
          </a:stretch>
        </p:blipFill>
        <p:spPr>
          <a:xfrm>
            <a:off x="958650" y="1334677"/>
            <a:ext cx="7206660" cy="5101857"/>
          </a:xfrm>
          <a:prstGeom prst="rect">
            <a:avLst/>
          </a:prstGeom>
        </p:spPr>
      </p:pic>
      <p:sp>
        <p:nvSpPr>
          <p:cNvPr id="3" name="CuadroTexto 2">
            <a:extLst>
              <a:ext uri="{FF2B5EF4-FFF2-40B4-BE49-F238E27FC236}">
                <a16:creationId xmlns:a16="http://schemas.microsoft.com/office/drawing/2014/main" id="{DF9B008C-95D4-D686-1F66-F1AAAF1096BC}"/>
              </a:ext>
            </a:extLst>
          </p:cNvPr>
          <p:cNvSpPr txBox="1"/>
          <p:nvPr/>
        </p:nvSpPr>
        <p:spPr>
          <a:xfrm>
            <a:off x="8810763" y="2109169"/>
            <a:ext cx="2595583" cy="3816429"/>
          </a:xfrm>
          <a:prstGeom prst="rect">
            <a:avLst/>
          </a:prstGeom>
          <a:solidFill>
            <a:srgbClr val="F9DDB5"/>
          </a:solidFill>
          <a:effectLst>
            <a:glow rad="101600">
              <a:schemeClr val="accent1">
                <a:satMod val="175000"/>
                <a:alpha val="40000"/>
              </a:schemeClr>
            </a:glow>
          </a:effectLst>
        </p:spPr>
        <p:txBody>
          <a:bodyPr wrap="square" rtlCol="0">
            <a:spAutoFit/>
          </a:bodyPr>
          <a:lstStyle/>
          <a:p>
            <a:pPr algn="ctr"/>
            <a:r>
              <a:rPr lang="es-ES" sz="2200" dirty="0">
                <a:solidFill>
                  <a:srgbClr val="000000"/>
                </a:solidFill>
                <a:effectLst/>
                <a:latin typeface="Calibri" panose="020F0502020204030204" pitchFamily="34" charset="0"/>
                <a:ea typeface="Times New Roman" panose="02020603050405020304" pitchFamily="18" charset="0"/>
              </a:rPr>
              <a:t>La mayoría de los materiales empleados en el ciclo productivo se recuperan y reutilizan o se emplean para regenerar la naturaleza, en lugar de convertirse en desperdicios.</a:t>
            </a:r>
            <a:endParaRPr lang="es-ES" sz="2200" dirty="0"/>
          </a:p>
        </p:txBody>
      </p:sp>
    </p:spTree>
    <p:extLst>
      <p:ext uri="{BB962C8B-B14F-4D97-AF65-F5344CB8AC3E}">
        <p14:creationId xmlns:p14="http://schemas.microsoft.com/office/powerpoint/2010/main" val="1426159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CIRCULAR</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extLst>
              <a:ext uri="{FF2B5EF4-FFF2-40B4-BE49-F238E27FC236}">
                <a16:creationId xmlns:a16="http://schemas.microsoft.com/office/drawing/2014/main" id="{EA295E43-799C-612C-1159-73BA38292225}"/>
              </a:ext>
            </a:extLst>
          </p:cNvPr>
          <p:cNvPicPr>
            <a:picLocks noChangeAspect="1"/>
          </p:cNvPicPr>
          <p:nvPr/>
        </p:nvPicPr>
        <p:blipFill>
          <a:blip r:embed="rId4"/>
          <a:stretch>
            <a:fillRect/>
          </a:stretch>
        </p:blipFill>
        <p:spPr>
          <a:xfrm>
            <a:off x="2418989" y="1709289"/>
            <a:ext cx="3168451" cy="1832804"/>
          </a:xfrm>
          <a:prstGeom prst="rect">
            <a:avLst/>
          </a:prstGeom>
        </p:spPr>
      </p:pic>
      <p:sp>
        <p:nvSpPr>
          <p:cNvPr id="6" name="CuadroTexto 5">
            <a:extLst>
              <a:ext uri="{FF2B5EF4-FFF2-40B4-BE49-F238E27FC236}">
                <a16:creationId xmlns:a16="http://schemas.microsoft.com/office/drawing/2014/main" id="{59CA9883-D11D-EBC5-945D-9B8F32F96C2A}"/>
              </a:ext>
            </a:extLst>
          </p:cNvPr>
          <p:cNvSpPr txBox="1"/>
          <p:nvPr/>
        </p:nvSpPr>
        <p:spPr>
          <a:xfrm>
            <a:off x="2418989" y="3582340"/>
            <a:ext cx="3168451" cy="369332"/>
          </a:xfrm>
          <a:prstGeom prst="rect">
            <a:avLst/>
          </a:prstGeom>
          <a:noFill/>
        </p:spPr>
        <p:txBody>
          <a:bodyPr wrap="square" rtlCol="0">
            <a:spAutoFit/>
          </a:bodyPr>
          <a:lstStyle/>
          <a:p>
            <a:pPr algn="ctr"/>
            <a:r>
              <a:rPr lang="es-ES" b="1" dirty="0"/>
              <a:t>DESPERDICIOS</a:t>
            </a:r>
          </a:p>
        </p:txBody>
      </p:sp>
      <p:sp>
        <p:nvSpPr>
          <p:cNvPr id="10" name="Flecha: hacia abajo 9">
            <a:extLst>
              <a:ext uri="{FF2B5EF4-FFF2-40B4-BE49-F238E27FC236}">
                <a16:creationId xmlns:a16="http://schemas.microsoft.com/office/drawing/2014/main" id="{4D58BD73-C255-6D68-DCE2-1E3349909727}"/>
              </a:ext>
            </a:extLst>
          </p:cNvPr>
          <p:cNvSpPr/>
          <p:nvPr/>
        </p:nvSpPr>
        <p:spPr>
          <a:xfrm>
            <a:off x="3722995" y="4179713"/>
            <a:ext cx="560439" cy="864860"/>
          </a:xfrm>
          <a:prstGeom prst="downArrow">
            <a:avLst/>
          </a:prstGeom>
          <a:solidFill>
            <a:schemeClr val="accent1">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esquinas diagonales redondeadas 10">
            <a:extLst>
              <a:ext uri="{FF2B5EF4-FFF2-40B4-BE49-F238E27FC236}">
                <a16:creationId xmlns:a16="http://schemas.microsoft.com/office/drawing/2014/main" id="{3D69A628-92BD-7F8E-03AF-8E06C573806F}"/>
              </a:ext>
            </a:extLst>
          </p:cNvPr>
          <p:cNvSpPr/>
          <p:nvPr/>
        </p:nvSpPr>
        <p:spPr>
          <a:xfrm>
            <a:off x="1005200" y="5591165"/>
            <a:ext cx="1566044" cy="560440"/>
          </a:xfrm>
          <a:prstGeom prst="round2DiagRect">
            <a:avLst/>
          </a:prstGeom>
          <a:solidFill>
            <a:srgbClr val="FFC305"/>
          </a:solidFill>
          <a:effectLst>
            <a:glow rad="1397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Recuperar</a:t>
            </a:r>
          </a:p>
        </p:txBody>
      </p:sp>
      <p:sp>
        <p:nvSpPr>
          <p:cNvPr id="12" name="Rectángulo: esquinas diagonales redondeadas 11">
            <a:extLst>
              <a:ext uri="{FF2B5EF4-FFF2-40B4-BE49-F238E27FC236}">
                <a16:creationId xmlns:a16="http://schemas.microsoft.com/office/drawing/2014/main" id="{18D4C958-5CEC-2825-2EF2-13BE254469C3}"/>
              </a:ext>
            </a:extLst>
          </p:cNvPr>
          <p:cNvSpPr/>
          <p:nvPr/>
        </p:nvSpPr>
        <p:spPr>
          <a:xfrm>
            <a:off x="3220192" y="5591165"/>
            <a:ext cx="1566044" cy="560440"/>
          </a:xfrm>
          <a:prstGeom prst="round2DiagRect">
            <a:avLst/>
          </a:prstGeom>
          <a:solidFill>
            <a:srgbClr val="FFC305"/>
          </a:solidFill>
          <a:effectLst>
            <a:glow rad="1397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Reutilizar</a:t>
            </a:r>
          </a:p>
        </p:txBody>
      </p:sp>
      <p:sp>
        <p:nvSpPr>
          <p:cNvPr id="13" name="Rectángulo: esquinas diagonales redondeadas 12">
            <a:extLst>
              <a:ext uri="{FF2B5EF4-FFF2-40B4-BE49-F238E27FC236}">
                <a16:creationId xmlns:a16="http://schemas.microsoft.com/office/drawing/2014/main" id="{E479FF84-CD04-A97B-A07E-A732F14B0B36}"/>
              </a:ext>
            </a:extLst>
          </p:cNvPr>
          <p:cNvSpPr/>
          <p:nvPr/>
        </p:nvSpPr>
        <p:spPr>
          <a:xfrm>
            <a:off x="5457170" y="5576921"/>
            <a:ext cx="1566044" cy="560440"/>
          </a:xfrm>
          <a:prstGeom prst="round2DiagRect">
            <a:avLst/>
          </a:prstGeom>
          <a:solidFill>
            <a:srgbClr val="FFC305"/>
          </a:solidFill>
          <a:effectLst>
            <a:glow rad="1397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Regenerar</a:t>
            </a:r>
          </a:p>
        </p:txBody>
      </p:sp>
      <p:sp>
        <p:nvSpPr>
          <p:cNvPr id="14" name="Abrir llave 13">
            <a:extLst>
              <a:ext uri="{FF2B5EF4-FFF2-40B4-BE49-F238E27FC236}">
                <a16:creationId xmlns:a16="http://schemas.microsoft.com/office/drawing/2014/main" id="{534AB3DC-3645-6BED-A656-462E01908F24}"/>
              </a:ext>
            </a:extLst>
          </p:cNvPr>
          <p:cNvSpPr/>
          <p:nvPr/>
        </p:nvSpPr>
        <p:spPr>
          <a:xfrm rot="5400000">
            <a:off x="3781247" y="2137943"/>
            <a:ext cx="443934" cy="6312309"/>
          </a:xfrm>
          <a:prstGeom prst="leftBrace">
            <a:avLst/>
          </a:prstGeom>
          <a:ln w="44450">
            <a:solidFill>
              <a:schemeClr val="accent1">
                <a:lumMod val="50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sp>
        <p:nvSpPr>
          <p:cNvPr id="15" name="CuadroTexto 14">
            <a:extLst>
              <a:ext uri="{FF2B5EF4-FFF2-40B4-BE49-F238E27FC236}">
                <a16:creationId xmlns:a16="http://schemas.microsoft.com/office/drawing/2014/main" id="{0366E54B-F4BF-EDAC-DE4A-1872C049BD74}"/>
              </a:ext>
            </a:extLst>
          </p:cNvPr>
          <p:cNvSpPr txBox="1"/>
          <p:nvPr/>
        </p:nvSpPr>
        <p:spPr>
          <a:xfrm>
            <a:off x="7683910" y="2934929"/>
            <a:ext cx="3923071" cy="1061829"/>
          </a:xfrm>
          <a:prstGeom prst="rect">
            <a:avLst/>
          </a:prstGeom>
          <a:solidFill>
            <a:schemeClr val="accent5">
              <a:lumMod val="20000"/>
              <a:lumOff val="80000"/>
            </a:schemeClr>
          </a:solidFill>
          <a:effectLst>
            <a:glow rad="63500">
              <a:schemeClr val="accent1">
                <a:satMod val="175000"/>
                <a:alpha val="40000"/>
              </a:schemeClr>
            </a:glow>
          </a:effectLst>
        </p:spPr>
        <p:txBody>
          <a:bodyPr wrap="square" rtlCol="0">
            <a:spAutoFit/>
          </a:bodyPr>
          <a:lstStyle/>
          <a:p>
            <a:pPr algn="just"/>
            <a:r>
              <a:rPr lang="es-ES" sz="2100" dirty="0"/>
              <a:t>Imita los procesos biológicos regenerativos de los ecosistemas, presentes en la naturaleza</a:t>
            </a:r>
          </a:p>
        </p:txBody>
      </p:sp>
    </p:spTree>
    <p:extLst>
      <p:ext uri="{BB962C8B-B14F-4D97-AF65-F5344CB8AC3E}">
        <p14:creationId xmlns:p14="http://schemas.microsoft.com/office/powerpoint/2010/main" val="4085846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CIRCULAR</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aphicFrame>
        <p:nvGraphicFramePr>
          <p:cNvPr id="3" name="Diagrama 2">
            <a:extLst>
              <a:ext uri="{FF2B5EF4-FFF2-40B4-BE49-F238E27FC236}">
                <a16:creationId xmlns:a16="http://schemas.microsoft.com/office/drawing/2014/main" id="{528F3776-68ED-2546-E94B-2344D4955D4F}"/>
              </a:ext>
            </a:extLst>
          </p:cNvPr>
          <p:cNvGraphicFramePr/>
          <p:nvPr>
            <p:extLst>
              <p:ext uri="{D42A27DB-BD31-4B8C-83A1-F6EECF244321}">
                <p14:modId xmlns:p14="http://schemas.microsoft.com/office/powerpoint/2010/main" val="1193941072"/>
              </p:ext>
            </p:extLst>
          </p:nvPr>
        </p:nvGraphicFramePr>
        <p:xfrm>
          <a:off x="2828412" y="1292148"/>
          <a:ext cx="8985046" cy="55658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uadroTexto 7">
            <a:extLst>
              <a:ext uri="{FF2B5EF4-FFF2-40B4-BE49-F238E27FC236}">
                <a16:creationId xmlns:a16="http://schemas.microsoft.com/office/drawing/2014/main" id="{A714A504-EECD-6F8A-FCB0-E3BA53B4C2C9}"/>
              </a:ext>
            </a:extLst>
          </p:cNvPr>
          <p:cNvSpPr txBox="1"/>
          <p:nvPr/>
        </p:nvSpPr>
        <p:spPr>
          <a:xfrm>
            <a:off x="523106" y="1618650"/>
            <a:ext cx="3429464" cy="1708160"/>
          </a:xfrm>
          <a:prstGeom prst="rect">
            <a:avLst/>
          </a:prstGeom>
          <a:solidFill>
            <a:schemeClr val="accent4">
              <a:lumMod val="40000"/>
              <a:lumOff val="6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marL="342900" indent="-342900" algn="just">
              <a:buFont typeface="Arial" panose="020B0604020202020204" pitchFamily="34" charset="0"/>
              <a:buChar char="•"/>
            </a:pPr>
            <a:r>
              <a:rPr lang="es-ES" sz="2100" dirty="0"/>
              <a:t>Reduce sobreexplotación de recursos.</a:t>
            </a:r>
          </a:p>
          <a:p>
            <a:pPr marL="342900" indent="-342900" algn="just">
              <a:buFont typeface="Arial" panose="020B0604020202020204" pitchFamily="34" charset="0"/>
              <a:buChar char="•"/>
            </a:pPr>
            <a:r>
              <a:rPr lang="es-ES" sz="2100" dirty="0"/>
              <a:t>Contribuye a mejora de biodiversidad.</a:t>
            </a:r>
          </a:p>
          <a:p>
            <a:pPr marL="342900" indent="-342900" algn="just">
              <a:buFont typeface="Arial" panose="020B0604020202020204" pitchFamily="34" charset="0"/>
              <a:buChar char="•"/>
            </a:pPr>
            <a:r>
              <a:rPr lang="es-ES" sz="2100" dirty="0"/>
              <a:t>Mitiga el cambio climático.</a:t>
            </a:r>
          </a:p>
        </p:txBody>
      </p:sp>
      <p:pic>
        <p:nvPicPr>
          <p:cNvPr id="16" name="Imagen15">
            <a:extLst>
              <a:ext uri="{FF2B5EF4-FFF2-40B4-BE49-F238E27FC236}">
                <a16:creationId xmlns:a16="http://schemas.microsoft.com/office/drawing/2014/main" id="{4E2683EF-761B-EA68-F158-83CA71320069}"/>
              </a:ext>
            </a:extLst>
          </p:cNvPr>
          <p:cNvPicPr>
            <a:picLocks noChangeAspect="1"/>
          </p:cNvPicPr>
          <p:nvPr/>
        </p:nvPicPr>
        <p:blipFill>
          <a:blip r:embed="rId9"/>
          <a:stretch>
            <a:fillRect/>
          </a:stretch>
        </p:blipFill>
        <p:spPr bwMode="auto">
          <a:xfrm>
            <a:off x="1652368" y="3576480"/>
            <a:ext cx="1170940" cy="1178245"/>
          </a:xfrm>
          <a:prstGeom prst="rect">
            <a:avLst/>
          </a:prstGeom>
        </p:spPr>
      </p:pic>
      <p:sp>
        <p:nvSpPr>
          <p:cNvPr id="17" name="Rectángulo: esquinas redondeadas 16">
            <a:extLst>
              <a:ext uri="{FF2B5EF4-FFF2-40B4-BE49-F238E27FC236}">
                <a16:creationId xmlns:a16="http://schemas.microsoft.com/office/drawing/2014/main" id="{D752E368-F030-464E-5C61-FE89E887DD81}"/>
              </a:ext>
            </a:extLst>
          </p:cNvPr>
          <p:cNvSpPr/>
          <p:nvPr/>
        </p:nvSpPr>
        <p:spPr>
          <a:xfrm>
            <a:off x="464115" y="5161932"/>
            <a:ext cx="3547446" cy="1420754"/>
          </a:xfrm>
          <a:prstGeom prst="roundRect">
            <a:avLst/>
          </a:prstGeom>
          <a:solidFill>
            <a:srgbClr val="C68D1C"/>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Meta 12.2: De aquí al 2030, lograr la gestión sostenible y el uso eficiente de los recursos naturales</a:t>
            </a:r>
          </a:p>
        </p:txBody>
      </p:sp>
      <p:cxnSp>
        <p:nvCxnSpPr>
          <p:cNvPr id="19" name="Conector recto 18">
            <a:extLst>
              <a:ext uri="{FF2B5EF4-FFF2-40B4-BE49-F238E27FC236}">
                <a16:creationId xmlns:a16="http://schemas.microsoft.com/office/drawing/2014/main" id="{5EAF0D12-78FF-86BC-115D-8B14E40586C3}"/>
              </a:ext>
            </a:extLst>
          </p:cNvPr>
          <p:cNvCxnSpPr>
            <a:stCxn id="17" idx="0"/>
            <a:endCxn id="16" idx="2"/>
          </p:cNvCxnSpPr>
          <p:nvPr/>
        </p:nvCxnSpPr>
        <p:spPr>
          <a:xfrm flipV="1">
            <a:off x="2237838" y="4754725"/>
            <a:ext cx="0" cy="407207"/>
          </a:xfrm>
          <a:prstGeom prst="line">
            <a:avLst/>
          </a:prstGeom>
          <a:ln w="31750">
            <a:solidFill>
              <a:schemeClr val="accent4">
                <a:lumMod val="50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27456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ECONOMÍA CIRCULAR</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1" name="Imagen 10">
            <a:hlinkClick r:id="rId4"/>
            <a:extLst>
              <a:ext uri="{FF2B5EF4-FFF2-40B4-BE49-F238E27FC236}">
                <a16:creationId xmlns:a16="http://schemas.microsoft.com/office/drawing/2014/main" id="{D515ACE1-9232-EFCD-B370-3F19E3FEB3EF}"/>
              </a:ext>
            </a:extLst>
          </p:cNvPr>
          <p:cNvPicPr>
            <a:picLocks noChangeAspect="1"/>
          </p:cNvPicPr>
          <p:nvPr/>
        </p:nvPicPr>
        <p:blipFill>
          <a:blip r:embed="rId5"/>
          <a:stretch>
            <a:fillRect/>
          </a:stretch>
        </p:blipFill>
        <p:spPr>
          <a:xfrm>
            <a:off x="825144" y="1374093"/>
            <a:ext cx="5345502" cy="5466441"/>
          </a:xfrm>
          <a:prstGeom prst="rect">
            <a:avLst/>
          </a:prstGeom>
        </p:spPr>
      </p:pic>
      <p:sp>
        <p:nvSpPr>
          <p:cNvPr id="12" name="Rectángulo: esquinas redondeadas 11">
            <a:extLst>
              <a:ext uri="{FF2B5EF4-FFF2-40B4-BE49-F238E27FC236}">
                <a16:creationId xmlns:a16="http://schemas.microsoft.com/office/drawing/2014/main" id="{44879874-A2F5-09F2-92EB-A0AE16BD232B}"/>
              </a:ext>
            </a:extLst>
          </p:cNvPr>
          <p:cNvSpPr/>
          <p:nvPr/>
        </p:nvSpPr>
        <p:spPr>
          <a:xfrm>
            <a:off x="7182467" y="1748357"/>
            <a:ext cx="4125398" cy="4431215"/>
          </a:xfrm>
          <a:prstGeom prst="roundRect">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La </a:t>
            </a:r>
            <a:r>
              <a:rPr lang="es-ES" sz="2000" b="1" u="sng" dirty="0">
                <a:solidFill>
                  <a:schemeClr val="accent2">
                    <a:lumMod val="40000"/>
                    <a:lumOff val="60000"/>
                  </a:schemeClr>
                </a:solidFill>
              </a:rPr>
              <a:t>economía circular</a:t>
            </a:r>
            <a:r>
              <a:rPr lang="es-ES" sz="2000" b="1" dirty="0">
                <a:solidFill>
                  <a:schemeClr val="accent2">
                    <a:lumMod val="40000"/>
                    <a:lumOff val="60000"/>
                  </a:schemeClr>
                </a:solidFill>
              </a:rPr>
              <a:t> </a:t>
            </a:r>
            <a:r>
              <a:rPr lang="es-ES" sz="2000" b="1" dirty="0"/>
              <a:t>es el instrumento para lograr un </a:t>
            </a:r>
            <a:r>
              <a:rPr lang="es-ES" sz="2000" b="1" u="sng" dirty="0">
                <a:solidFill>
                  <a:schemeClr val="accent6">
                    <a:lumMod val="40000"/>
                    <a:lumOff val="60000"/>
                  </a:schemeClr>
                </a:solidFill>
              </a:rPr>
              <a:t>crecimiento verde</a:t>
            </a:r>
            <a:r>
              <a:rPr lang="es-ES" sz="2000" b="1" dirty="0"/>
              <a:t> ya que produce desacoplamiento entre nivel de producción y el consumo de recursos naturales.</a:t>
            </a:r>
          </a:p>
          <a:p>
            <a:pPr algn="ctr"/>
            <a:r>
              <a:rPr lang="es-ES" sz="2000" b="1" dirty="0"/>
              <a:t>La gráfica superior muestra previsiones de la demanda de materias primas con una economía tradicional (BAU) y una circular. La inferior la cantidad de materiales en stock y en los vertederos, en ambos sistemas.</a:t>
            </a:r>
          </a:p>
        </p:txBody>
      </p:sp>
    </p:spTree>
    <p:extLst>
      <p:ext uri="{BB962C8B-B14F-4D97-AF65-F5344CB8AC3E}">
        <p14:creationId xmlns:p14="http://schemas.microsoft.com/office/powerpoint/2010/main" val="1458417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EJEMPLO ECONOMÍA CIRCULAR: RICOH</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C2C74111-49C8-35F0-79E8-F51E71797147}"/>
              </a:ext>
            </a:extLst>
          </p:cNvPr>
          <p:cNvPicPr>
            <a:picLocks noChangeAspect="1"/>
          </p:cNvPicPr>
          <p:nvPr/>
        </p:nvPicPr>
        <p:blipFill>
          <a:blip r:embed="rId5"/>
          <a:stretch>
            <a:fillRect/>
          </a:stretch>
        </p:blipFill>
        <p:spPr>
          <a:xfrm>
            <a:off x="1385230" y="1316052"/>
            <a:ext cx="9421540" cy="3934374"/>
          </a:xfrm>
          <a:prstGeom prst="rect">
            <a:avLst/>
          </a:prstGeom>
        </p:spPr>
      </p:pic>
      <p:sp>
        <p:nvSpPr>
          <p:cNvPr id="3" name="CuadroTexto 2">
            <a:extLst>
              <a:ext uri="{FF2B5EF4-FFF2-40B4-BE49-F238E27FC236}">
                <a16:creationId xmlns:a16="http://schemas.microsoft.com/office/drawing/2014/main" id="{1E63858D-85F3-9DEC-7529-BC7AD4FCAE5B}"/>
              </a:ext>
            </a:extLst>
          </p:cNvPr>
          <p:cNvSpPr txBox="1"/>
          <p:nvPr/>
        </p:nvSpPr>
        <p:spPr>
          <a:xfrm>
            <a:off x="162232" y="1607574"/>
            <a:ext cx="2212258" cy="923330"/>
          </a:xfrm>
          <a:prstGeom prst="rect">
            <a:avLst/>
          </a:prstGeom>
          <a:noFill/>
        </p:spPr>
        <p:txBody>
          <a:bodyPr wrap="square" rtlCol="0">
            <a:spAutoFit/>
          </a:bodyPr>
          <a:lstStyle/>
          <a:p>
            <a:r>
              <a:rPr lang="es-ES" dirty="0"/>
              <a:t>Las líneas naranjas representan el flujo del producto</a:t>
            </a:r>
          </a:p>
        </p:txBody>
      </p:sp>
      <p:cxnSp>
        <p:nvCxnSpPr>
          <p:cNvPr id="8" name="Conector recto de flecha 7">
            <a:extLst>
              <a:ext uri="{FF2B5EF4-FFF2-40B4-BE49-F238E27FC236}">
                <a16:creationId xmlns:a16="http://schemas.microsoft.com/office/drawing/2014/main" id="{74F70357-2D97-89D5-6B16-0AB1CE69AA51}"/>
              </a:ext>
            </a:extLst>
          </p:cNvPr>
          <p:cNvCxnSpPr>
            <a:cxnSpLocks/>
          </p:cNvCxnSpPr>
          <p:nvPr/>
        </p:nvCxnSpPr>
        <p:spPr>
          <a:xfrm>
            <a:off x="2064774" y="2215196"/>
            <a:ext cx="412955" cy="214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CuadroTexto 10">
            <a:extLst>
              <a:ext uri="{FF2B5EF4-FFF2-40B4-BE49-F238E27FC236}">
                <a16:creationId xmlns:a16="http://schemas.microsoft.com/office/drawing/2014/main" id="{D49C03D4-1AFF-84EA-865E-7B2A32150FD3}"/>
              </a:ext>
            </a:extLst>
          </p:cNvPr>
          <p:cNvSpPr txBox="1"/>
          <p:nvPr/>
        </p:nvSpPr>
        <p:spPr>
          <a:xfrm>
            <a:off x="10108555" y="1196588"/>
            <a:ext cx="1921213" cy="1754326"/>
          </a:xfrm>
          <a:prstGeom prst="rect">
            <a:avLst/>
          </a:prstGeom>
          <a:noFill/>
        </p:spPr>
        <p:txBody>
          <a:bodyPr wrap="square" rtlCol="0">
            <a:spAutoFit/>
          </a:bodyPr>
          <a:lstStyle/>
          <a:p>
            <a:r>
              <a:rPr lang="es-ES" dirty="0"/>
              <a:t>Esta línea superior es la que se seguiría exclusivamente en un modelo de producción lineal</a:t>
            </a:r>
          </a:p>
        </p:txBody>
      </p:sp>
      <p:cxnSp>
        <p:nvCxnSpPr>
          <p:cNvPr id="13" name="Conector recto de flecha 12">
            <a:extLst>
              <a:ext uri="{FF2B5EF4-FFF2-40B4-BE49-F238E27FC236}">
                <a16:creationId xmlns:a16="http://schemas.microsoft.com/office/drawing/2014/main" id="{6D6D235E-4AAE-B288-1C9A-9A87DC5CE178}"/>
              </a:ext>
            </a:extLst>
          </p:cNvPr>
          <p:cNvCxnSpPr>
            <a:cxnSpLocks/>
          </p:cNvCxnSpPr>
          <p:nvPr/>
        </p:nvCxnSpPr>
        <p:spPr>
          <a:xfrm flipH="1">
            <a:off x="9719187" y="1393569"/>
            <a:ext cx="398284" cy="214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CuadroTexto 14">
            <a:extLst>
              <a:ext uri="{FF2B5EF4-FFF2-40B4-BE49-F238E27FC236}">
                <a16:creationId xmlns:a16="http://schemas.microsoft.com/office/drawing/2014/main" id="{1D080AA4-CCF5-F143-206A-2C2AE851ECE4}"/>
              </a:ext>
            </a:extLst>
          </p:cNvPr>
          <p:cNvSpPr txBox="1"/>
          <p:nvPr/>
        </p:nvSpPr>
        <p:spPr>
          <a:xfrm>
            <a:off x="0" y="3687097"/>
            <a:ext cx="1769806" cy="1200329"/>
          </a:xfrm>
          <a:prstGeom prst="rect">
            <a:avLst/>
          </a:prstGeom>
          <a:noFill/>
        </p:spPr>
        <p:txBody>
          <a:bodyPr wrap="square" rtlCol="0">
            <a:spAutoFit/>
          </a:bodyPr>
          <a:lstStyle/>
          <a:p>
            <a:r>
              <a:rPr lang="es-ES" dirty="0"/>
              <a:t>La empresa de mantenimiento prolonga la vida útil del producto</a:t>
            </a:r>
          </a:p>
        </p:txBody>
      </p:sp>
      <p:cxnSp>
        <p:nvCxnSpPr>
          <p:cNvPr id="16" name="Conector recto de flecha 15">
            <a:extLst>
              <a:ext uri="{FF2B5EF4-FFF2-40B4-BE49-F238E27FC236}">
                <a16:creationId xmlns:a16="http://schemas.microsoft.com/office/drawing/2014/main" id="{5906F4D2-3844-2243-4104-DD7B7543B5F5}"/>
              </a:ext>
            </a:extLst>
          </p:cNvPr>
          <p:cNvCxnSpPr>
            <a:cxnSpLocks/>
          </p:cNvCxnSpPr>
          <p:nvPr/>
        </p:nvCxnSpPr>
        <p:spPr>
          <a:xfrm flipV="1">
            <a:off x="1637070" y="3248704"/>
            <a:ext cx="1651820" cy="9315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CuadroTexto 17">
            <a:extLst>
              <a:ext uri="{FF2B5EF4-FFF2-40B4-BE49-F238E27FC236}">
                <a16:creationId xmlns:a16="http://schemas.microsoft.com/office/drawing/2014/main" id="{B4D24332-2110-010C-728F-A4413042C5B0}"/>
              </a:ext>
            </a:extLst>
          </p:cNvPr>
          <p:cNvSpPr txBox="1"/>
          <p:nvPr/>
        </p:nvSpPr>
        <p:spPr>
          <a:xfrm>
            <a:off x="162231" y="5486788"/>
            <a:ext cx="6445045" cy="1200329"/>
          </a:xfrm>
          <a:prstGeom prst="rect">
            <a:avLst/>
          </a:prstGeom>
          <a:noFill/>
        </p:spPr>
        <p:txBody>
          <a:bodyPr wrap="square" rtlCol="0">
            <a:spAutoFit/>
          </a:bodyPr>
          <a:lstStyle/>
          <a:p>
            <a:r>
              <a:rPr lang="es-ES" dirty="0"/>
              <a:t>El centro de recolección recoge todos los aparatos que se retiran de uso. Parte los envía al centro de recuperación, y volverán al ciclo como productos acabados,  y otra parte al de reciclaje que extraerá elementos que volverán al ciclo como materiales</a:t>
            </a:r>
          </a:p>
        </p:txBody>
      </p:sp>
      <p:cxnSp>
        <p:nvCxnSpPr>
          <p:cNvPr id="19" name="Conector recto de flecha 18">
            <a:extLst>
              <a:ext uri="{FF2B5EF4-FFF2-40B4-BE49-F238E27FC236}">
                <a16:creationId xmlns:a16="http://schemas.microsoft.com/office/drawing/2014/main" id="{8DCE5B6D-8E45-5BFB-371A-38C944FEBF51}"/>
              </a:ext>
            </a:extLst>
          </p:cNvPr>
          <p:cNvCxnSpPr>
            <a:cxnSpLocks/>
            <a:stCxn id="18" idx="0"/>
          </p:cNvCxnSpPr>
          <p:nvPr/>
        </p:nvCxnSpPr>
        <p:spPr>
          <a:xfrm flipH="1" flipV="1">
            <a:off x="2992804" y="4409768"/>
            <a:ext cx="391950" cy="10770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CuadroTexto 23">
            <a:extLst>
              <a:ext uri="{FF2B5EF4-FFF2-40B4-BE49-F238E27FC236}">
                <a16:creationId xmlns:a16="http://schemas.microsoft.com/office/drawing/2014/main" id="{41C47826-01CC-8A4F-3EA1-2AC1EB07BCDB}"/>
              </a:ext>
            </a:extLst>
          </p:cNvPr>
          <p:cNvSpPr txBox="1"/>
          <p:nvPr/>
        </p:nvSpPr>
        <p:spPr>
          <a:xfrm>
            <a:off x="6969110" y="5426856"/>
            <a:ext cx="4100051" cy="923330"/>
          </a:xfrm>
          <a:prstGeom prst="rect">
            <a:avLst/>
          </a:prstGeom>
          <a:noFill/>
        </p:spPr>
        <p:txBody>
          <a:bodyPr wrap="square" rtlCol="0">
            <a:spAutoFit/>
          </a:bodyPr>
          <a:lstStyle/>
          <a:p>
            <a:r>
              <a:rPr lang="es-ES" dirty="0"/>
              <a:t>Las piezas que no se han recuperado se llevan a la empresa trituradora que extraerá los elementos de ellas</a:t>
            </a:r>
          </a:p>
        </p:txBody>
      </p:sp>
      <p:cxnSp>
        <p:nvCxnSpPr>
          <p:cNvPr id="25" name="Conector recto de flecha 24">
            <a:extLst>
              <a:ext uri="{FF2B5EF4-FFF2-40B4-BE49-F238E27FC236}">
                <a16:creationId xmlns:a16="http://schemas.microsoft.com/office/drawing/2014/main" id="{5669E384-FCA4-E3D0-91EE-47F3DB314C5B}"/>
              </a:ext>
            </a:extLst>
          </p:cNvPr>
          <p:cNvCxnSpPr>
            <a:cxnSpLocks/>
          </p:cNvCxnSpPr>
          <p:nvPr/>
        </p:nvCxnSpPr>
        <p:spPr>
          <a:xfrm flipH="1" flipV="1">
            <a:off x="5914103" y="4800131"/>
            <a:ext cx="2533283" cy="7418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CuadroTexto 26">
            <a:extLst>
              <a:ext uri="{FF2B5EF4-FFF2-40B4-BE49-F238E27FC236}">
                <a16:creationId xmlns:a16="http://schemas.microsoft.com/office/drawing/2014/main" id="{BF46863E-7FAB-1E9C-41C8-F7D0AB7F4C5C}"/>
              </a:ext>
            </a:extLst>
          </p:cNvPr>
          <p:cNvSpPr txBox="1"/>
          <p:nvPr/>
        </p:nvSpPr>
        <p:spPr>
          <a:xfrm>
            <a:off x="10758997" y="3336537"/>
            <a:ext cx="1270771" cy="2031325"/>
          </a:xfrm>
          <a:prstGeom prst="rect">
            <a:avLst/>
          </a:prstGeom>
          <a:noFill/>
        </p:spPr>
        <p:txBody>
          <a:bodyPr wrap="square" rtlCol="0">
            <a:spAutoFit/>
          </a:bodyPr>
          <a:lstStyle/>
          <a:p>
            <a:r>
              <a:rPr lang="es-ES" dirty="0"/>
              <a:t>Los aceites que se han extraído se emplean para generar energía</a:t>
            </a:r>
          </a:p>
        </p:txBody>
      </p:sp>
      <p:cxnSp>
        <p:nvCxnSpPr>
          <p:cNvPr id="28" name="Conector recto de flecha 27">
            <a:extLst>
              <a:ext uri="{FF2B5EF4-FFF2-40B4-BE49-F238E27FC236}">
                <a16:creationId xmlns:a16="http://schemas.microsoft.com/office/drawing/2014/main" id="{5C895C22-CF2B-AC27-77B1-A89ECEE5B21B}"/>
              </a:ext>
            </a:extLst>
          </p:cNvPr>
          <p:cNvCxnSpPr>
            <a:cxnSpLocks/>
          </p:cNvCxnSpPr>
          <p:nvPr/>
        </p:nvCxnSpPr>
        <p:spPr>
          <a:xfrm flipH="1">
            <a:off x="9719187" y="3541206"/>
            <a:ext cx="943946" cy="1732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04685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3200" b="1" kern="0" dirty="0">
                <a:latin typeface="Calibri" panose="020F0502020204030204" pitchFamily="34" charset="0"/>
                <a:cs typeface="Times New Roman" panose="02020603050405020304" pitchFamily="18" charset="0"/>
              </a:rPr>
              <a:t>ESTRATEGIA EUROPEA DE ECONOMÍA CIRCULAR</a:t>
            </a:r>
            <a:endParaRPr lang="es-ES" sz="32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1B33AF8B-5817-91B7-43C8-60817DE69A44}"/>
              </a:ext>
            </a:extLst>
          </p:cNvPr>
          <p:cNvPicPr>
            <a:picLocks noChangeAspect="1"/>
          </p:cNvPicPr>
          <p:nvPr/>
        </p:nvPicPr>
        <p:blipFill>
          <a:blip r:embed="rId5"/>
          <a:stretch>
            <a:fillRect/>
          </a:stretch>
        </p:blipFill>
        <p:spPr>
          <a:xfrm>
            <a:off x="211305" y="3425759"/>
            <a:ext cx="3446296" cy="1095458"/>
          </a:xfrm>
          <a:prstGeom prst="rect">
            <a:avLst/>
          </a:prstGeom>
        </p:spPr>
      </p:pic>
      <p:pic>
        <p:nvPicPr>
          <p:cNvPr id="8" name="Imagen 7">
            <a:hlinkClick r:id="rId6"/>
            <a:extLst>
              <a:ext uri="{FF2B5EF4-FFF2-40B4-BE49-F238E27FC236}">
                <a16:creationId xmlns:a16="http://schemas.microsoft.com/office/drawing/2014/main" id="{A3D9356A-B093-F8E3-F36C-204D25E2ABC1}"/>
              </a:ext>
            </a:extLst>
          </p:cNvPr>
          <p:cNvPicPr>
            <a:picLocks noChangeAspect="1"/>
          </p:cNvPicPr>
          <p:nvPr/>
        </p:nvPicPr>
        <p:blipFill>
          <a:blip r:embed="rId7"/>
          <a:stretch>
            <a:fillRect/>
          </a:stretch>
        </p:blipFill>
        <p:spPr>
          <a:xfrm>
            <a:off x="4528345" y="1826066"/>
            <a:ext cx="3296110" cy="4296375"/>
          </a:xfrm>
          <a:prstGeom prst="rect">
            <a:avLst/>
          </a:prstGeom>
          <a:ln w="31750">
            <a:solidFill>
              <a:schemeClr val="accent6">
                <a:lumMod val="75000"/>
              </a:schemeClr>
            </a:solidFill>
          </a:ln>
        </p:spPr>
      </p:pic>
      <p:sp>
        <p:nvSpPr>
          <p:cNvPr id="10" name="Flecha: a la derecha 9">
            <a:extLst>
              <a:ext uri="{FF2B5EF4-FFF2-40B4-BE49-F238E27FC236}">
                <a16:creationId xmlns:a16="http://schemas.microsoft.com/office/drawing/2014/main" id="{84222BD1-736A-6623-9946-2AA4E45736BF}"/>
              </a:ext>
            </a:extLst>
          </p:cNvPr>
          <p:cNvSpPr/>
          <p:nvPr/>
        </p:nvSpPr>
        <p:spPr>
          <a:xfrm>
            <a:off x="3827827" y="3634275"/>
            <a:ext cx="574536" cy="678426"/>
          </a:xfrm>
          <a:prstGeom prst="rightArrow">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172471B6-4FE9-729B-C674-0F695D9A929C}"/>
              </a:ext>
            </a:extLst>
          </p:cNvPr>
          <p:cNvSpPr txBox="1"/>
          <p:nvPr/>
        </p:nvSpPr>
        <p:spPr>
          <a:xfrm>
            <a:off x="8491525" y="1588819"/>
            <a:ext cx="2917914" cy="369332"/>
          </a:xfrm>
          <a:prstGeom prst="rect">
            <a:avLst/>
          </a:prstGeom>
          <a:solidFill>
            <a:srgbClr val="D2F3CD"/>
          </a:solidFill>
          <a:effectLst>
            <a:softEdge rad="12700"/>
          </a:effectLst>
        </p:spPr>
        <p:txBody>
          <a:bodyPr wrap="square" rtlCol="0">
            <a:spAutoFit/>
          </a:bodyPr>
          <a:lstStyle/>
          <a:p>
            <a:r>
              <a:rPr lang="es-ES" dirty="0"/>
              <a:t>Electrónica y TIC</a:t>
            </a:r>
          </a:p>
        </p:txBody>
      </p:sp>
      <p:sp>
        <p:nvSpPr>
          <p:cNvPr id="12" name="CuadroTexto 11">
            <a:extLst>
              <a:ext uri="{FF2B5EF4-FFF2-40B4-BE49-F238E27FC236}">
                <a16:creationId xmlns:a16="http://schemas.microsoft.com/office/drawing/2014/main" id="{7ED5800A-E820-1C76-5868-4FD9C2C6A3AC}"/>
              </a:ext>
            </a:extLst>
          </p:cNvPr>
          <p:cNvSpPr txBox="1"/>
          <p:nvPr/>
        </p:nvSpPr>
        <p:spPr>
          <a:xfrm>
            <a:off x="8491525" y="2320247"/>
            <a:ext cx="2917914" cy="369332"/>
          </a:xfrm>
          <a:prstGeom prst="rect">
            <a:avLst/>
          </a:prstGeom>
          <a:solidFill>
            <a:srgbClr val="D2F3CD"/>
          </a:solidFill>
          <a:effectLst>
            <a:softEdge rad="12700"/>
          </a:effectLst>
        </p:spPr>
        <p:txBody>
          <a:bodyPr wrap="square" rtlCol="0">
            <a:spAutoFit/>
          </a:bodyPr>
          <a:lstStyle/>
          <a:p>
            <a:r>
              <a:rPr lang="es-ES" dirty="0"/>
              <a:t>Baterías y vehículos</a:t>
            </a:r>
          </a:p>
        </p:txBody>
      </p:sp>
      <p:sp>
        <p:nvSpPr>
          <p:cNvPr id="13" name="CuadroTexto 12">
            <a:extLst>
              <a:ext uri="{FF2B5EF4-FFF2-40B4-BE49-F238E27FC236}">
                <a16:creationId xmlns:a16="http://schemas.microsoft.com/office/drawing/2014/main" id="{EAF66D94-94D8-3D96-FD46-BC763245F2BB}"/>
              </a:ext>
            </a:extLst>
          </p:cNvPr>
          <p:cNvSpPr txBox="1"/>
          <p:nvPr/>
        </p:nvSpPr>
        <p:spPr>
          <a:xfrm>
            <a:off x="8491525" y="3051675"/>
            <a:ext cx="2917914" cy="369332"/>
          </a:xfrm>
          <a:prstGeom prst="rect">
            <a:avLst/>
          </a:prstGeom>
          <a:solidFill>
            <a:srgbClr val="D2F3CD"/>
          </a:solidFill>
          <a:effectLst>
            <a:softEdge rad="12700"/>
          </a:effectLst>
        </p:spPr>
        <p:txBody>
          <a:bodyPr wrap="square" rtlCol="0">
            <a:spAutoFit/>
          </a:bodyPr>
          <a:lstStyle/>
          <a:p>
            <a:r>
              <a:rPr lang="es-ES" dirty="0"/>
              <a:t>Envases y embalajes</a:t>
            </a:r>
          </a:p>
        </p:txBody>
      </p:sp>
      <p:sp>
        <p:nvSpPr>
          <p:cNvPr id="14" name="CuadroTexto 13">
            <a:extLst>
              <a:ext uri="{FF2B5EF4-FFF2-40B4-BE49-F238E27FC236}">
                <a16:creationId xmlns:a16="http://schemas.microsoft.com/office/drawing/2014/main" id="{AE8C6F45-76AF-4154-F8AF-F342139C54D3}"/>
              </a:ext>
            </a:extLst>
          </p:cNvPr>
          <p:cNvSpPr txBox="1"/>
          <p:nvPr/>
        </p:nvSpPr>
        <p:spPr>
          <a:xfrm>
            <a:off x="8491525" y="3783103"/>
            <a:ext cx="2917914" cy="369332"/>
          </a:xfrm>
          <a:prstGeom prst="rect">
            <a:avLst/>
          </a:prstGeom>
          <a:solidFill>
            <a:srgbClr val="D2F3CD"/>
          </a:solidFill>
          <a:effectLst>
            <a:softEdge rad="12700"/>
          </a:effectLst>
        </p:spPr>
        <p:txBody>
          <a:bodyPr wrap="square" rtlCol="0">
            <a:spAutoFit/>
          </a:bodyPr>
          <a:lstStyle/>
          <a:p>
            <a:r>
              <a:rPr lang="es-ES" dirty="0"/>
              <a:t>Plásticos</a:t>
            </a:r>
          </a:p>
        </p:txBody>
      </p:sp>
      <p:sp>
        <p:nvSpPr>
          <p:cNvPr id="15" name="CuadroTexto 14">
            <a:extLst>
              <a:ext uri="{FF2B5EF4-FFF2-40B4-BE49-F238E27FC236}">
                <a16:creationId xmlns:a16="http://schemas.microsoft.com/office/drawing/2014/main" id="{09424ADF-E9FB-FD85-3AFC-1840BDB1F1F6}"/>
              </a:ext>
            </a:extLst>
          </p:cNvPr>
          <p:cNvSpPr txBox="1"/>
          <p:nvPr/>
        </p:nvSpPr>
        <p:spPr>
          <a:xfrm>
            <a:off x="8491525" y="4514531"/>
            <a:ext cx="2917914" cy="369332"/>
          </a:xfrm>
          <a:prstGeom prst="rect">
            <a:avLst/>
          </a:prstGeom>
          <a:solidFill>
            <a:srgbClr val="D2F3CD"/>
          </a:solidFill>
          <a:effectLst>
            <a:softEdge rad="12700"/>
          </a:effectLst>
        </p:spPr>
        <p:txBody>
          <a:bodyPr wrap="square" rtlCol="0">
            <a:spAutoFit/>
          </a:bodyPr>
          <a:lstStyle/>
          <a:p>
            <a:r>
              <a:rPr lang="es-ES" dirty="0"/>
              <a:t>Productos textiles</a:t>
            </a:r>
          </a:p>
        </p:txBody>
      </p:sp>
      <p:sp>
        <p:nvSpPr>
          <p:cNvPr id="16" name="CuadroTexto 15">
            <a:extLst>
              <a:ext uri="{FF2B5EF4-FFF2-40B4-BE49-F238E27FC236}">
                <a16:creationId xmlns:a16="http://schemas.microsoft.com/office/drawing/2014/main" id="{6B198C5A-048D-4B62-6592-66D95C183D66}"/>
              </a:ext>
            </a:extLst>
          </p:cNvPr>
          <p:cNvSpPr txBox="1"/>
          <p:nvPr/>
        </p:nvSpPr>
        <p:spPr>
          <a:xfrm>
            <a:off x="8491525" y="5245959"/>
            <a:ext cx="2917914" cy="369332"/>
          </a:xfrm>
          <a:prstGeom prst="rect">
            <a:avLst/>
          </a:prstGeom>
          <a:solidFill>
            <a:srgbClr val="D2F3CD"/>
          </a:solidFill>
          <a:effectLst>
            <a:softEdge rad="12700"/>
          </a:effectLst>
        </p:spPr>
        <p:txBody>
          <a:bodyPr wrap="square" rtlCol="0">
            <a:spAutoFit/>
          </a:bodyPr>
          <a:lstStyle/>
          <a:p>
            <a:r>
              <a:rPr lang="es-ES" dirty="0"/>
              <a:t>Construcción y edificios</a:t>
            </a:r>
          </a:p>
        </p:txBody>
      </p:sp>
      <p:sp>
        <p:nvSpPr>
          <p:cNvPr id="17" name="CuadroTexto 16">
            <a:extLst>
              <a:ext uri="{FF2B5EF4-FFF2-40B4-BE49-F238E27FC236}">
                <a16:creationId xmlns:a16="http://schemas.microsoft.com/office/drawing/2014/main" id="{92BCA67B-F518-5498-19F1-679AD6D2E539}"/>
              </a:ext>
            </a:extLst>
          </p:cNvPr>
          <p:cNvSpPr txBox="1"/>
          <p:nvPr/>
        </p:nvSpPr>
        <p:spPr>
          <a:xfrm>
            <a:off x="8491525" y="5977386"/>
            <a:ext cx="2917914" cy="369332"/>
          </a:xfrm>
          <a:prstGeom prst="rect">
            <a:avLst/>
          </a:prstGeom>
          <a:solidFill>
            <a:srgbClr val="D2F3CD"/>
          </a:solidFill>
          <a:effectLst>
            <a:softEdge rad="12700"/>
          </a:effectLst>
        </p:spPr>
        <p:txBody>
          <a:bodyPr wrap="square" rtlCol="0">
            <a:spAutoFit/>
          </a:bodyPr>
          <a:lstStyle/>
          <a:p>
            <a:r>
              <a:rPr lang="es-ES" dirty="0"/>
              <a:t>Alimentos, agua y nutrientes</a:t>
            </a:r>
          </a:p>
        </p:txBody>
      </p:sp>
      <p:sp>
        <p:nvSpPr>
          <p:cNvPr id="18" name="Abrir llave 17">
            <a:extLst>
              <a:ext uri="{FF2B5EF4-FFF2-40B4-BE49-F238E27FC236}">
                <a16:creationId xmlns:a16="http://schemas.microsoft.com/office/drawing/2014/main" id="{5F0876FB-A3BE-54DF-D863-DD58137C3735}"/>
              </a:ext>
            </a:extLst>
          </p:cNvPr>
          <p:cNvSpPr/>
          <p:nvPr/>
        </p:nvSpPr>
        <p:spPr>
          <a:xfrm>
            <a:off x="8038926" y="1430594"/>
            <a:ext cx="323410" cy="5037571"/>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9" name="CuadroTexto 18">
            <a:extLst>
              <a:ext uri="{FF2B5EF4-FFF2-40B4-BE49-F238E27FC236}">
                <a16:creationId xmlns:a16="http://schemas.microsoft.com/office/drawing/2014/main" id="{64C74689-976A-0C72-0ED7-FD810AEE90DA}"/>
              </a:ext>
            </a:extLst>
          </p:cNvPr>
          <p:cNvSpPr txBox="1"/>
          <p:nvPr/>
        </p:nvSpPr>
        <p:spPr>
          <a:xfrm>
            <a:off x="4911213" y="6346718"/>
            <a:ext cx="2418735" cy="400110"/>
          </a:xfrm>
          <a:prstGeom prst="rect">
            <a:avLst/>
          </a:prstGeom>
          <a:noFill/>
        </p:spPr>
        <p:txBody>
          <a:bodyPr wrap="square" rtlCol="0">
            <a:spAutoFit/>
          </a:bodyPr>
          <a:lstStyle/>
          <a:p>
            <a:pPr algn="ctr"/>
            <a:r>
              <a:rPr lang="es-ES" sz="2000" b="1" dirty="0">
                <a:solidFill>
                  <a:schemeClr val="accent6">
                    <a:lumMod val="50000"/>
                  </a:schemeClr>
                </a:solidFill>
              </a:rPr>
              <a:t>DESACOPLAMIENTO</a:t>
            </a:r>
          </a:p>
        </p:txBody>
      </p:sp>
      <p:sp>
        <p:nvSpPr>
          <p:cNvPr id="20" name="Rectángulo: esquinas superiores redondeadas 19">
            <a:extLst>
              <a:ext uri="{FF2B5EF4-FFF2-40B4-BE49-F238E27FC236}">
                <a16:creationId xmlns:a16="http://schemas.microsoft.com/office/drawing/2014/main" id="{383F0EE5-DEA5-5F43-F16E-8BD60F030A47}"/>
              </a:ext>
            </a:extLst>
          </p:cNvPr>
          <p:cNvSpPr/>
          <p:nvPr/>
        </p:nvSpPr>
        <p:spPr>
          <a:xfrm>
            <a:off x="5663822" y="1400626"/>
            <a:ext cx="1025155" cy="302134"/>
          </a:xfrm>
          <a:prstGeom prst="round2Same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2020</a:t>
            </a:r>
          </a:p>
        </p:txBody>
      </p:sp>
    </p:spTree>
    <p:extLst>
      <p:ext uri="{BB962C8B-B14F-4D97-AF65-F5344CB8AC3E}">
        <p14:creationId xmlns:p14="http://schemas.microsoft.com/office/powerpoint/2010/main" val="3408094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906110" y="422794"/>
            <a:ext cx="9202445" cy="1325563"/>
          </a:xfrm>
        </p:spPr>
        <p:txBody>
          <a:bodyPr>
            <a:normAutofit/>
          </a:bodyPr>
          <a:lstStyle/>
          <a:p>
            <a:r>
              <a:rPr lang="es-ES" sz="4000" b="1" kern="0" dirty="0">
                <a:latin typeface="Calibri" panose="020F0502020204030204" pitchFamily="34" charset="0"/>
                <a:cs typeface="Times New Roman" panose="02020603050405020304" pitchFamily="18" charset="0"/>
              </a:rPr>
              <a:t>ESPAÑA CIRCULAR 2030</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hlinkClick r:id="rId4"/>
            <a:extLst>
              <a:ext uri="{FF2B5EF4-FFF2-40B4-BE49-F238E27FC236}">
                <a16:creationId xmlns:a16="http://schemas.microsoft.com/office/drawing/2014/main" id="{3BA3709C-2E46-752E-1B38-27E0F845AB9E}"/>
              </a:ext>
            </a:extLst>
          </p:cNvPr>
          <p:cNvPicPr>
            <a:picLocks noChangeAspect="1"/>
          </p:cNvPicPr>
          <p:nvPr/>
        </p:nvPicPr>
        <p:blipFill>
          <a:blip r:embed="rId5"/>
          <a:stretch>
            <a:fillRect/>
          </a:stretch>
        </p:blipFill>
        <p:spPr>
          <a:xfrm>
            <a:off x="1490844" y="1725568"/>
            <a:ext cx="3664969" cy="2539019"/>
          </a:xfrm>
          <a:prstGeom prst="rect">
            <a:avLst/>
          </a:prstGeom>
        </p:spPr>
      </p:pic>
      <p:sp>
        <p:nvSpPr>
          <p:cNvPr id="10" name="Rectángulo: esquinas diagonales redondeadas 9">
            <a:extLst>
              <a:ext uri="{FF2B5EF4-FFF2-40B4-BE49-F238E27FC236}">
                <a16:creationId xmlns:a16="http://schemas.microsoft.com/office/drawing/2014/main" id="{0FF14482-3173-AD21-75FD-5E5BDE421261}"/>
              </a:ext>
            </a:extLst>
          </p:cNvPr>
          <p:cNvSpPr/>
          <p:nvPr/>
        </p:nvSpPr>
        <p:spPr>
          <a:xfrm>
            <a:off x="703821" y="5242450"/>
            <a:ext cx="1566044" cy="560440"/>
          </a:xfrm>
          <a:prstGeom prst="round2DiagRect">
            <a:avLst/>
          </a:prstGeom>
          <a:solidFill>
            <a:srgbClr val="92D050"/>
          </a:solidFill>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Sostenible</a:t>
            </a:r>
          </a:p>
        </p:txBody>
      </p:sp>
      <p:sp>
        <p:nvSpPr>
          <p:cNvPr id="11" name="Rectángulo: esquinas diagonales redondeadas 10">
            <a:extLst>
              <a:ext uri="{FF2B5EF4-FFF2-40B4-BE49-F238E27FC236}">
                <a16:creationId xmlns:a16="http://schemas.microsoft.com/office/drawing/2014/main" id="{24510CAF-BDBF-57DE-320B-CB99A484FDE1}"/>
              </a:ext>
            </a:extLst>
          </p:cNvPr>
          <p:cNvSpPr/>
          <p:nvPr/>
        </p:nvSpPr>
        <p:spPr>
          <a:xfrm>
            <a:off x="1426985" y="6220321"/>
            <a:ext cx="2299491" cy="560440"/>
          </a:xfrm>
          <a:prstGeom prst="round2DiagRect">
            <a:avLst/>
          </a:prstGeom>
          <a:solidFill>
            <a:srgbClr val="92D050"/>
          </a:solidFill>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Descarbonizada</a:t>
            </a:r>
          </a:p>
        </p:txBody>
      </p:sp>
      <p:sp>
        <p:nvSpPr>
          <p:cNvPr id="12" name="Rectángulo: esquinas diagonales redondeadas 11">
            <a:extLst>
              <a:ext uri="{FF2B5EF4-FFF2-40B4-BE49-F238E27FC236}">
                <a16:creationId xmlns:a16="http://schemas.microsoft.com/office/drawing/2014/main" id="{C99481A3-DA74-1DE4-51A3-C6C016C97522}"/>
              </a:ext>
            </a:extLst>
          </p:cNvPr>
          <p:cNvSpPr/>
          <p:nvPr/>
        </p:nvSpPr>
        <p:spPr>
          <a:xfrm>
            <a:off x="4372791" y="6187953"/>
            <a:ext cx="1566044" cy="560440"/>
          </a:xfrm>
          <a:prstGeom prst="round2DiagRect">
            <a:avLst/>
          </a:prstGeom>
          <a:solidFill>
            <a:srgbClr val="92D050"/>
          </a:solidFill>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Eficiente</a:t>
            </a:r>
          </a:p>
        </p:txBody>
      </p:sp>
      <p:sp>
        <p:nvSpPr>
          <p:cNvPr id="13" name="Rectángulo: esquinas diagonales redondeadas 12">
            <a:extLst>
              <a:ext uri="{FF2B5EF4-FFF2-40B4-BE49-F238E27FC236}">
                <a16:creationId xmlns:a16="http://schemas.microsoft.com/office/drawing/2014/main" id="{FFB4453B-2340-E5C3-6F1D-255C8847AC34}"/>
              </a:ext>
            </a:extLst>
          </p:cNvPr>
          <p:cNvSpPr/>
          <p:nvPr/>
        </p:nvSpPr>
        <p:spPr>
          <a:xfrm>
            <a:off x="2856322" y="5242450"/>
            <a:ext cx="2299491" cy="560440"/>
          </a:xfrm>
          <a:prstGeom prst="round2DiagRect">
            <a:avLst/>
          </a:prstGeom>
          <a:solidFill>
            <a:srgbClr val="92D050"/>
          </a:solidFill>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Competitiva</a:t>
            </a:r>
          </a:p>
        </p:txBody>
      </p:sp>
      <p:sp>
        <p:nvSpPr>
          <p:cNvPr id="14" name="CuadroTexto 13">
            <a:extLst>
              <a:ext uri="{FF2B5EF4-FFF2-40B4-BE49-F238E27FC236}">
                <a16:creationId xmlns:a16="http://schemas.microsoft.com/office/drawing/2014/main" id="{F48B5D7F-9D83-9C0E-23B7-8CD558E201B2}"/>
              </a:ext>
            </a:extLst>
          </p:cNvPr>
          <p:cNvSpPr txBox="1"/>
          <p:nvPr/>
        </p:nvSpPr>
        <p:spPr>
          <a:xfrm>
            <a:off x="1490844" y="4557252"/>
            <a:ext cx="3664969" cy="400110"/>
          </a:xfrm>
          <a:prstGeom prst="rect">
            <a:avLst/>
          </a:prstGeom>
          <a:noFill/>
        </p:spPr>
        <p:txBody>
          <a:bodyPr wrap="square" rtlCol="0">
            <a:spAutoFit/>
          </a:bodyPr>
          <a:lstStyle/>
          <a:p>
            <a:pPr algn="ctr"/>
            <a:r>
              <a:rPr lang="es-ES" sz="2000" b="1" u="sng" dirty="0">
                <a:solidFill>
                  <a:schemeClr val="accent6">
                    <a:lumMod val="50000"/>
                  </a:schemeClr>
                </a:solidFill>
              </a:rPr>
              <a:t>LOGRAR UNA ECONOMÍA</a:t>
            </a:r>
          </a:p>
        </p:txBody>
      </p:sp>
      <p:sp>
        <p:nvSpPr>
          <p:cNvPr id="15" name="CuadroTexto 14">
            <a:extLst>
              <a:ext uri="{FF2B5EF4-FFF2-40B4-BE49-F238E27FC236}">
                <a16:creationId xmlns:a16="http://schemas.microsoft.com/office/drawing/2014/main" id="{38823EB5-C8FA-7EFF-088B-7E84E447316E}"/>
              </a:ext>
            </a:extLst>
          </p:cNvPr>
          <p:cNvSpPr txBox="1"/>
          <p:nvPr/>
        </p:nvSpPr>
        <p:spPr>
          <a:xfrm>
            <a:off x="8500941" y="5554778"/>
            <a:ext cx="1970413" cy="369332"/>
          </a:xfrm>
          <a:prstGeom prst="rect">
            <a:avLst/>
          </a:prstGeom>
          <a:noFill/>
        </p:spPr>
        <p:txBody>
          <a:bodyPr wrap="square" rtlCol="0">
            <a:spAutoFit/>
          </a:bodyPr>
          <a:lstStyle/>
          <a:p>
            <a:pPr algn="ctr"/>
            <a:r>
              <a:rPr lang="es-ES" dirty="0">
                <a:hlinkClick r:id="rId6"/>
              </a:rPr>
              <a:t>Vídeo Explicativo</a:t>
            </a:r>
            <a:endParaRPr lang="es-ES" dirty="0"/>
          </a:p>
        </p:txBody>
      </p:sp>
      <p:pic>
        <p:nvPicPr>
          <p:cNvPr id="20" name="Imagen 19">
            <a:extLst>
              <a:ext uri="{FF2B5EF4-FFF2-40B4-BE49-F238E27FC236}">
                <a16:creationId xmlns:a16="http://schemas.microsoft.com/office/drawing/2014/main" id="{0662F421-8C20-5F6A-76CF-BD585C4E8F1F}"/>
              </a:ext>
            </a:extLst>
          </p:cNvPr>
          <p:cNvPicPr>
            <a:picLocks noChangeAspect="1"/>
          </p:cNvPicPr>
          <p:nvPr/>
        </p:nvPicPr>
        <p:blipFill>
          <a:blip r:embed="rId7"/>
          <a:stretch>
            <a:fillRect/>
          </a:stretch>
        </p:blipFill>
        <p:spPr>
          <a:xfrm>
            <a:off x="5578075" y="1880509"/>
            <a:ext cx="6173061" cy="2495898"/>
          </a:xfrm>
          <a:prstGeom prst="rect">
            <a:avLst/>
          </a:prstGeom>
        </p:spPr>
      </p:pic>
      <p:sp>
        <p:nvSpPr>
          <p:cNvPr id="21" name="CuadroTexto 20">
            <a:extLst>
              <a:ext uri="{FF2B5EF4-FFF2-40B4-BE49-F238E27FC236}">
                <a16:creationId xmlns:a16="http://schemas.microsoft.com/office/drawing/2014/main" id="{EB4DEA13-B3B9-EE5B-7961-F98AF9A5F7B3}"/>
              </a:ext>
            </a:extLst>
          </p:cNvPr>
          <p:cNvSpPr txBox="1"/>
          <p:nvPr/>
        </p:nvSpPr>
        <p:spPr>
          <a:xfrm>
            <a:off x="7388942" y="1500052"/>
            <a:ext cx="3304347" cy="400110"/>
          </a:xfrm>
          <a:prstGeom prst="rect">
            <a:avLst/>
          </a:prstGeom>
          <a:noFill/>
        </p:spPr>
        <p:txBody>
          <a:bodyPr wrap="square" rtlCol="0">
            <a:spAutoFit/>
          </a:bodyPr>
          <a:lstStyle/>
          <a:p>
            <a:pPr algn="ctr"/>
            <a:r>
              <a:rPr lang="es-ES" sz="2000" b="1" u="sng" dirty="0"/>
              <a:t>Para 2030</a:t>
            </a:r>
          </a:p>
        </p:txBody>
      </p:sp>
    </p:spTree>
    <p:extLst>
      <p:ext uri="{BB962C8B-B14F-4D97-AF65-F5344CB8AC3E}">
        <p14:creationId xmlns:p14="http://schemas.microsoft.com/office/powerpoint/2010/main" val="439950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3.3. HACIA UN NUEVO SISTEMA PRODUCTIVO</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248436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4400" b="1" kern="0" dirty="0">
                <a:latin typeface="Calibri" panose="020F0502020204030204" pitchFamily="34" charset="0"/>
                <a:ea typeface="Times New Roman" panose="02020603050405020304" pitchFamily="18" charset="0"/>
                <a:cs typeface="Times New Roman" panose="02020603050405020304" pitchFamily="18" charset="0"/>
              </a:rPr>
              <a:t>HACIA UN NUEVO SISTEMA PRODUCTIVO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extLst>
              <a:ext uri="{FF2B5EF4-FFF2-40B4-BE49-F238E27FC236}">
                <a16:creationId xmlns:a16="http://schemas.microsoft.com/office/drawing/2014/main" id="{3306891B-E346-3F35-3C43-62B76F7CCD74}"/>
              </a:ext>
            </a:extLst>
          </p:cNvPr>
          <p:cNvPicPr>
            <a:picLocks noChangeAspect="1"/>
          </p:cNvPicPr>
          <p:nvPr/>
        </p:nvPicPr>
        <p:blipFill>
          <a:blip r:embed="rId4"/>
          <a:stretch>
            <a:fillRect/>
          </a:stretch>
        </p:blipFill>
        <p:spPr>
          <a:xfrm>
            <a:off x="1281010" y="1281014"/>
            <a:ext cx="8363436" cy="5187159"/>
          </a:xfrm>
          <a:prstGeom prst="rect">
            <a:avLst/>
          </a:prstGeom>
        </p:spPr>
      </p:pic>
    </p:spTree>
    <p:extLst>
      <p:ext uri="{BB962C8B-B14F-4D97-AF65-F5344CB8AC3E}">
        <p14:creationId xmlns:p14="http://schemas.microsoft.com/office/powerpoint/2010/main" val="1578642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ECOEFICIENCIA O 3R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8" name="Imagen 7">
            <a:extLst>
              <a:ext uri="{FF2B5EF4-FFF2-40B4-BE49-F238E27FC236}">
                <a16:creationId xmlns:a16="http://schemas.microsoft.com/office/drawing/2014/main" id="{CB76CC72-C799-2294-3DF3-5EEE8BA5B484}"/>
              </a:ext>
            </a:extLst>
          </p:cNvPr>
          <p:cNvPicPr>
            <a:picLocks noChangeAspect="1"/>
          </p:cNvPicPr>
          <p:nvPr/>
        </p:nvPicPr>
        <p:blipFill>
          <a:blip r:embed="rId4"/>
          <a:stretch>
            <a:fillRect/>
          </a:stretch>
        </p:blipFill>
        <p:spPr>
          <a:xfrm>
            <a:off x="329718" y="1599418"/>
            <a:ext cx="7933870" cy="4784197"/>
          </a:xfrm>
          <a:prstGeom prst="rect">
            <a:avLst/>
          </a:prstGeom>
        </p:spPr>
      </p:pic>
      <p:sp>
        <p:nvSpPr>
          <p:cNvPr id="17" name="CuadroTexto 16">
            <a:extLst>
              <a:ext uri="{FF2B5EF4-FFF2-40B4-BE49-F238E27FC236}">
                <a16:creationId xmlns:a16="http://schemas.microsoft.com/office/drawing/2014/main" id="{64EF4B79-2327-81FD-DEC8-70E0737DB3B7}"/>
              </a:ext>
            </a:extLst>
          </p:cNvPr>
          <p:cNvSpPr txBox="1"/>
          <p:nvPr/>
        </p:nvSpPr>
        <p:spPr>
          <a:xfrm>
            <a:off x="2286000" y="6468173"/>
            <a:ext cx="3362632" cy="369332"/>
          </a:xfrm>
          <a:prstGeom prst="rect">
            <a:avLst/>
          </a:prstGeom>
          <a:noFill/>
        </p:spPr>
        <p:txBody>
          <a:bodyPr wrap="square" rtlCol="0">
            <a:spAutoFit/>
          </a:bodyPr>
          <a:lstStyle/>
          <a:p>
            <a:pPr algn="ctr"/>
            <a:r>
              <a:rPr lang="es-ES" dirty="0">
                <a:hlinkClick r:id="rId5"/>
              </a:rPr>
              <a:t>Canción sobre las 3R</a:t>
            </a:r>
            <a:endParaRPr lang="es-ES" dirty="0"/>
          </a:p>
        </p:txBody>
      </p:sp>
      <p:pic>
        <p:nvPicPr>
          <p:cNvPr id="19" name="Imagen 18">
            <a:extLst>
              <a:ext uri="{FF2B5EF4-FFF2-40B4-BE49-F238E27FC236}">
                <a16:creationId xmlns:a16="http://schemas.microsoft.com/office/drawing/2014/main" id="{7F5029EF-652C-F9DD-BE13-16036C7D8106}"/>
              </a:ext>
            </a:extLst>
          </p:cNvPr>
          <p:cNvPicPr>
            <a:picLocks noChangeAspect="1"/>
          </p:cNvPicPr>
          <p:nvPr/>
        </p:nvPicPr>
        <p:blipFill>
          <a:blip r:embed="rId6"/>
          <a:stretch>
            <a:fillRect/>
          </a:stretch>
        </p:blipFill>
        <p:spPr>
          <a:xfrm>
            <a:off x="9412743" y="1712039"/>
            <a:ext cx="1136384" cy="1580780"/>
          </a:xfrm>
          <a:prstGeom prst="rect">
            <a:avLst/>
          </a:prstGeom>
        </p:spPr>
      </p:pic>
      <p:sp>
        <p:nvSpPr>
          <p:cNvPr id="20" name="CuadroTexto 19">
            <a:extLst>
              <a:ext uri="{FF2B5EF4-FFF2-40B4-BE49-F238E27FC236}">
                <a16:creationId xmlns:a16="http://schemas.microsoft.com/office/drawing/2014/main" id="{C48D7CEE-A09A-B821-6E5E-F0B4F0CE03F9}"/>
              </a:ext>
            </a:extLst>
          </p:cNvPr>
          <p:cNvSpPr txBox="1"/>
          <p:nvPr/>
        </p:nvSpPr>
        <p:spPr>
          <a:xfrm>
            <a:off x="8664606" y="3465863"/>
            <a:ext cx="2632659" cy="369332"/>
          </a:xfrm>
          <a:prstGeom prst="rect">
            <a:avLst/>
          </a:prstGeom>
          <a:noFill/>
        </p:spPr>
        <p:txBody>
          <a:bodyPr wrap="square" rtlCol="0">
            <a:spAutoFit/>
          </a:bodyPr>
          <a:lstStyle/>
          <a:p>
            <a:pPr algn="ctr"/>
            <a:r>
              <a:rPr lang="es-ES" dirty="0" err="1"/>
              <a:t>Koizumi</a:t>
            </a:r>
            <a:r>
              <a:rPr lang="es-ES" dirty="0"/>
              <a:t> </a:t>
            </a:r>
            <a:r>
              <a:rPr lang="es-ES" dirty="0" err="1"/>
              <a:t>Junichiro</a:t>
            </a:r>
            <a:endParaRPr lang="es-ES" dirty="0"/>
          </a:p>
        </p:txBody>
      </p:sp>
      <p:sp>
        <p:nvSpPr>
          <p:cNvPr id="21" name="Flecha: hacia abajo 20">
            <a:extLst>
              <a:ext uri="{FF2B5EF4-FFF2-40B4-BE49-F238E27FC236}">
                <a16:creationId xmlns:a16="http://schemas.microsoft.com/office/drawing/2014/main" id="{27F73789-4CBD-2455-333B-DA444ADA17A1}"/>
              </a:ext>
            </a:extLst>
          </p:cNvPr>
          <p:cNvSpPr/>
          <p:nvPr/>
        </p:nvSpPr>
        <p:spPr>
          <a:xfrm>
            <a:off x="9700716" y="4068240"/>
            <a:ext cx="560439" cy="636486"/>
          </a:xfrm>
          <a:prstGeom prst="downArrow">
            <a:avLst/>
          </a:prstGeom>
          <a:solidFill>
            <a:srgbClr val="92D05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B1B2E7FE-5A43-2323-82BF-1BB78A3F7557}"/>
              </a:ext>
            </a:extLst>
          </p:cNvPr>
          <p:cNvSpPr txBox="1"/>
          <p:nvPr/>
        </p:nvSpPr>
        <p:spPr>
          <a:xfrm>
            <a:off x="10444456" y="3986850"/>
            <a:ext cx="1300884" cy="646331"/>
          </a:xfrm>
          <a:prstGeom prst="rect">
            <a:avLst/>
          </a:prstGeom>
          <a:noFill/>
        </p:spPr>
        <p:txBody>
          <a:bodyPr wrap="square" rtlCol="0">
            <a:spAutoFit/>
          </a:bodyPr>
          <a:lstStyle/>
          <a:p>
            <a:pPr algn="ctr"/>
            <a:r>
              <a:rPr lang="es-ES" dirty="0"/>
              <a:t>Cumbre G8</a:t>
            </a:r>
          </a:p>
          <a:p>
            <a:pPr algn="ctr"/>
            <a:r>
              <a:rPr lang="es-ES" dirty="0"/>
              <a:t>2004</a:t>
            </a:r>
          </a:p>
        </p:txBody>
      </p:sp>
      <p:sp>
        <p:nvSpPr>
          <p:cNvPr id="23" name="Rectángulo: esquinas diagonales redondeadas 22">
            <a:extLst>
              <a:ext uri="{FF2B5EF4-FFF2-40B4-BE49-F238E27FC236}">
                <a16:creationId xmlns:a16="http://schemas.microsoft.com/office/drawing/2014/main" id="{8ADCAA96-B7AC-230D-FA7E-17DEA00C1450}"/>
              </a:ext>
            </a:extLst>
          </p:cNvPr>
          <p:cNvSpPr/>
          <p:nvPr/>
        </p:nvSpPr>
        <p:spPr>
          <a:xfrm>
            <a:off x="9100399" y="4852210"/>
            <a:ext cx="1761072" cy="338762"/>
          </a:xfrm>
          <a:prstGeom prst="round2Diag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err="1"/>
              <a:t>Mottanai</a:t>
            </a:r>
            <a:endParaRPr lang="es-ES" sz="2000" b="1" dirty="0"/>
          </a:p>
        </p:txBody>
      </p:sp>
      <p:sp>
        <p:nvSpPr>
          <p:cNvPr id="24" name="CuadroTexto 23">
            <a:extLst>
              <a:ext uri="{FF2B5EF4-FFF2-40B4-BE49-F238E27FC236}">
                <a16:creationId xmlns:a16="http://schemas.microsoft.com/office/drawing/2014/main" id="{09DE226B-D172-A9E9-0962-97C83EE15FA3}"/>
              </a:ext>
            </a:extLst>
          </p:cNvPr>
          <p:cNvSpPr txBox="1"/>
          <p:nvPr/>
        </p:nvSpPr>
        <p:spPr>
          <a:xfrm>
            <a:off x="9100399" y="5486398"/>
            <a:ext cx="1761072" cy="646331"/>
          </a:xfrm>
          <a:prstGeom prst="rect">
            <a:avLst/>
          </a:prstGeom>
          <a:noFill/>
        </p:spPr>
        <p:txBody>
          <a:bodyPr wrap="square" rtlCol="0">
            <a:spAutoFit/>
          </a:bodyPr>
          <a:lstStyle/>
          <a:p>
            <a:pPr algn="ctr"/>
            <a:r>
              <a:rPr lang="es-ES" dirty="0"/>
              <a:t>Malestar por desperdiciar</a:t>
            </a:r>
          </a:p>
        </p:txBody>
      </p:sp>
    </p:spTree>
    <p:extLst>
      <p:ext uri="{BB962C8B-B14F-4D97-AF65-F5344CB8AC3E}">
        <p14:creationId xmlns:p14="http://schemas.microsoft.com/office/powerpoint/2010/main" val="31451212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ECOEFICIENCIA O 3R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diagonales redondeadas 2">
            <a:extLst>
              <a:ext uri="{FF2B5EF4-FFF2-40B4-BE49-F238E27FC236}">
                <a16:creationId xmlns:a16="http://schemas.microsoft.com/office/drawing/2014/main" id="{6E166F38-0AD3-BFA9-1A16-8E153DDCC5DF}"/>
              </a:ext>
            </a:extLst>
          </p:cNvPr>
          <p:cNvSpPr/>
          <p:nvPr/>
        </p:nvSpPr>
        <p:spPr>
          <a:xfrm>
            <a:off x="1017907" y="2407929"/>
            <a:ext cx="1761072" cy="338762"/>
          </a:xfrm>
          <a:prstGeom prst="round2DiagRect">
            <a:avLst/>
          </a:prstGeom>
          <a:solidFill>
            <a:schemeClr val="accent6">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Reducir</a:t>
            </a:r>
          </a:p>
        </p:txBody>
      </p:sp>
      <p:sp>
        <p:nvSpPr>
          <p:cNvPr id="4" name="Abrir llave 3">
            <a:extLst>
              <a:ext uri="{FF2B5EF4-FFF2-40B4-BE49-F238E27FC236}">
                <a16:creationId xmlns:a16="http://schemas.microsoft.com/office/drawing/2014/main" id="{A69E6B15-26D6-7540-9910-4E623354D382}"/>
              </a:ext>
            </a:extLst>
          </p:cNvPr>
          <p:cNvSpPr/>
          <p:nvPr/>
        </p:nvSpPr>
        <p:spPr>
          <a:xfrm>
            <a:off x="2895188" y="1445260"/>
            <a:ext cx="412955" cy="2247828"/>
          </a:xfrm>
          <a:prstGeom prst="leftBrace">
            <a:avLst>
              <a:gd name="adj1" fmla="val 44047"/>
              <a:gd name="adj2" fmla="val 50000"/>
            </a:avLst>
          </a:prstGeom>
          <a:ln w="317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6" name="CuadroTexto 5">
            <a:extLst>
              <a:ext uri="{FF2B5EF4-FFF2-40B4-BE49-F238E27FC236}">
                <a16:creationId xmlns:a16="http://schemas.microsoft.com/office/drawing/2014/main" id="{436D41C6-68F3-1EFF-40D7-0BDD85010B62}"/>
              </a:ext>
            </a:extLst>
          </p:cNvPr>
          <p:cNvSpPr txBox="1"/>
          <p:nvPr/>
        </p:nvSpPr>
        <p:spPr>
          <a:xfrm>
            <a:off x="3308143" y="1520576"/>
            <a:ext cx="2359742" cy="646331"/>
          </a:xfrm>
          <a:prstGeom prst="rect">
            <a:avLst/>
          </a:prstGeom>
          <a:solidFill>
            <a:srgbClr val="D2F3CD"/>
          </a:solidFill>
          <a:effectLst>
            <a:softEdge rad="12700"/>
          </a:effectLst>
        </p:spPr>
        <p:txBody>
          <a:bodyPr wrap="square" rtlCol="0">
            <a:spAutoFit/>
          </a:bodyPr>
          <a:lstStyle/>
          <a:p>
            <a:r>
              <a:rPr lang="es-ES" dirty="0"/>
              <a:t>Cantidad de materiales en la fabricación</a:t>
            </a:r>
          </a:p>
        </p:txBody>
      </p:sp>
      <p:sp>
        <p:nvSpPr>
          <p:cNvPr id="10" name="CuadroTexto 9">
            <a:extLst>
              <a:ext uri="{FF2B5EF4-FFF2-40B4-BE49-F238E27FC236}">
                <a16:creationId xmlns:a16="http://schemas.microsoft.com/office/drawing/2014/main" id="{E7BFE629-CDEF-7B9A-B1B7-208A593FE5B5}"/>
              </a:ext>
            </a:extLst>
          </p:cNvPr>
          <p:cNvSpPr txBox="1"/>
          <p:nvPr/>
        </p:nvSpPr>
        <p:spPr>
          <a:xfrm>
            <a:off x="3308143" y="2317249"/>
            <a:ext cx="2359742" cy="646331"/>
          </a:xfrm>
          <a:prstGeom prst="rect">
            <a:avLst/>
          </a:prstGeom>
          <a:solidFill>
            <a:srgbClr val="D2F3CD"/>
          </a:solidFill>
          <a:effectLst>
            <a:softEdge rad="12700"/>
          </a:effectLst>
        </p:spPr>
        <p:txBody>
          <a:bodyPr wrap="square" rtlCol="0">
            <a:spAutoFit/>
          </a:bodyPr>
          <a:lstStyle/>
          <a:p>
            <a:r>
              <a:rPr lang="es-ES" dirty="0"/>
              <a:t>Consumo de energía en la producción</a:t>
            </a:r>
          </a:p>
        </p:txBody>
      </p:sp>
      <p:sp>
        <p:nvSpPr>
          <p:cNvPr id="11" name="CuadroTexto 10">
            <a:extLst>
              <a:ext uri="{FF2B5EF4-FFF2-40B4-BE49-F238E27FC236}">
                <a16:creationId xmlns:a16="http://schemas.microsoft.com/office/drawing/2014/main" id="{63EA11D2-D296-00AF-2623-F9E19092D850}"/>
              </a:ext>
            </a:extLst>
          </p:cNvPr>
          <p:cNvSpPr txBox="1"/>
          <p:nvPr/>
        </p:nvSpPr>
        <p:spPr>
          <a:xfrm>
            <a:off x="3308143" y="3046759"/>
            <a:ext cx="2359742" cy="646331"/>
          </a:xfrm>
          <a:prstGeom prst="rect">
            <a:avLst/>
          </a:prstGeom>
          <a:solidFill>
            <a:srgbClr val="D2F3CD"/>
          </a:solidFill>
          <a:effectLst>
            <a:softEdge rad="12700"/>
          </a:effectLst>
        </p:spPr>
        <p:txBody>
          <a:bodyPr wrap="square" rtlCol="0">
            <a:spAutoFit/>
          </a:bodyPr>
          <a:lstStyle/>
          <a:p>
            <a:r>
              <a:rPr lang="es-ES" dirty="0"/>
              <a:t>Reducción del consumo de productos</a:t>
            </a:r>
          </a:p>
        </p:txBody>
      </p:sp>
      <p:sp>
        <p:nvSpPr>
          <p:cNvPr id="12" name="Rectángulo: esquinas diagonales redondeadas 11">
            <a:extLst>
              <a:ext uri="{FF2B5EF4-FFF2-40B4-BE49-F238E27FC236}">
                <a16:creationId xmlns:a16="http://schemas.microsoft.com/office/drawing/2014/main" id="{9C1CDEAA-41D4-EB07-B0FA-06FE3E913F68}"/>
              </a:ext>
            </a:extLst>
          </p:cNvPr>
          <p:cNvSpPr/>
          <p:nvPr/>
        </p:nvSpPr>
        <p:spPr>
          <a:xfrm>
            <a:off x="1017907" y="5182166"/>
            <a:ext cx="1761072" cy="338762"/>
          </a:xfrm>
          <a:prstGeom prst="round2DiagRect">
            <a:avLst/>
          </a:prstGeom>
          <a:solidFill>
            <a:schemeClr val="accent6">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Reutilizar</a:t>
            </a:r>
          </a:p>
        </p:txBody>
      </p:sp>
      <p:sp>
        <p:nvSpPr>
          <p:cNvPr id="13" name="Abrir llave 12">
            <a:extLst>
              <a:ext uri="{FF2B5EF4-FFF2-40B4-BE49-F238E27FC236}">
                <a16:creationId xmlns:a16="http://schemas.microsoft.com/office/drawing/2014/main" id="{4562C90F-64B6-858E-020B-9206C87EC62A}"/>
              </a:ext>
            </a:extLst>
          </p:cNvPr>
          <p:cNvSpPr/>
          <p:nvPr/>
        </p:nvSpPr>
        <p:spPr>
          <a:xfrm>
            <a:off x="2895188" y="4219497"/>
            <a:ext cx="412955" cy="2247828"/>
          </a:xfrm>
          <a:prstGeom prst="leftBrace">
            <a:avLst>
              <a:gd name="adj1" fmla="val 44047"/>
              <a:gd name="adj2" fmla="val 50000"/>
            </a:avLst>
          </a:prstGeom>
          <a:ln w="317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4" name="CuadroTexto 13">
            <a:extLst>
              <a:ext uri="{FF2B5EF4-FFF2-40B4-BE49-F238E27FC236}">
                <a16:creationId xmlns:a16="http://schemas.microsoft.com/office/drawing/2014/main" id="{3C67D09C-A464-6422-77F7-344AFAED5110}"/>
              </a:ext>
            </a:extLst>
          </p:cNvPr>
          <p:cNvSpPr txBox="1"/>
          <p:nvPr/>
        </p:nvSpPr>
        <p:spPr>
          <a:xfrm>
            <a:off x="3308143" y="4294813"/>
            <a:ext cx="2359742" cy="646331"/>
          </a:xfrm>
          <a:prstGeom prst="rect">
            <a:avLst/>
          </a:prstGeom>
          <a:solidFill>
            <a:srgbClr val="D2F3CD"/>
          </a:solidFill>
          <a:effectLst>
            <a:softEdge rad="12700"/>
          </a:effectLst>
        </p:spPr>
        <p:txBody>
          <a:bodyPr wrap="square" rtlCol="0">
            <a:spAutoFit/>
          </a:bodyPr>
          <a:lstStyle/>
          <a:p>
            <a:r>
              <a:rPr lang="es-ES" dirty="0"/>
              <a:t>Darles nuevos usos a los productos</a:t>
            </a:r>
          </a:p>
        </p:txBody>
      </p:sp>
      <p:sp>
        <p:nvSpPr>
          <p:cNvPr id="15" name="CuadroTexto 14">
            <a:extLst>
              <a:ext uri="{FF2B5EF4-FFF2-40B4-BE49-F238E27FC236}">
                <a16:creationId xmlns:a16="http://schemas.microsoft.com/office/drawing/2014/main" id="{2FDD263B-3F98-1D5D-B361-7630A847D8BB}"/>
              </a:ext>
            </a:extLst>
          </p:cNvPr>
          <p:cNvSpPr txBox="1"/>
          <p:nvPr/>
        </p:nvSpPr>
        <p:spPr>
          <a:xfrm>
            <a:off x="3308143" y="5143331"/>
            <a:ext cx="2359742" cy="1200329"/>
          </a:xfrm>
          <a:prstGeom prst="rect">
            <a:avLst/>
          </a:prstGeom>
          <a:solidFill>
            <a:srgbClr val="D2F3CD"/>
          </a:solidFill>
          <a:effectLst>
            <a:softEdge rad="12700"/>
          </a:effectLst>
        </p:spPr>
        <p:txBody>
          <a:bodyPr wrap="square" rtlCol="0">
            <a:spAutoFit/>
          </a:bodyPr>
          <a:lstStyle/>
          <a:p>
            <a:r>
              <a:rPr lang="es-ES" dirty="0"/>
              <a:t>Recuperar piezas para nuevos productos mediante procesos mecánicos</a:t>
            </a:r>
          </a:p>
        </p:txBody>
      </p:sp>
      <p:sp>
        <p:nvSpPr>
          <p:cNvPr id="18" name="Rectángulo: esquinas diagonales redondeadas 17">
            <a:extLst>
              <a:ext uri="{FF2B5EF4-FFF2-40B4-BE49-F238E27FC236}">
                <a16:creationId xmlns:a16="http://schemas.microsoft.com/office/drawing/2014/main" id="{A33F06AD-8E75-2D49-C962-2CE52F26CD24}"/>
              </a:ext>
            </a:extLst>
          </p:cNvPr>
          <p:cNvSpPr/>
          <p:nvPr/>
        </p:nvSpPr>
        <p:spPr>
          <a:xfrm>
            <a:off x="6517964" y="3752163"/>
            <a:ext cx="1761072" cy="338762"/>
          </a:xfrm>
          <a:prstGeom prst="round2DiagRect">
            <a:avLst/>
          </a:prstGeom>
          <a:solidFill>
            <a:schemeClr val="accent6">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Reciclar</a:t>
            </a:r>
          </a:p>
        </p:txBody>
      </p:sp>
      <p:sp>
        <p:nvSpPr>
          <p:cNvPr id="25" name="Abrir llave 24">
            <a:extLst>
              <a:ext uri="{FF2B5EF4-FFF2-40B4-BE49-F238E27FC236}">
                <a16:creationId xmlns:a16="http://schemas.microsoft.com/office/drawing/2014/main" id="{7779FB43-452A-2696-E310-3DB081FD1B1A}"/>
              </a:ext>
            </a:extLst>
          </p:cNvPr>
          <p:cNvSpPr/>
          <p:nvPr/>
        </p:nvSpPr>
        <p:spPr>
          <a:xfrm>
            <a:off x="8395245" y="2789494"/>
            <a:ext cx="412955" cy="2247828"/>
          </a:xfrm>
          <a:prstGeom prst="leftBrace">
            <a:avLst>
              <a:gd name="adj1" fmla="val 44047"/>
              <a:gd name="adj2" fmla="val 50000"/>
            </a:avLst>
          </a:prstGeom>
          <a:ln w="317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6" name="CuadroTexto 25">
            <a:extLst>
              <a:ext uri="{FF2B5EF4-FFF2-40B4-BE49-F238E27FC236}">
                <a16:creationId xmlns:a16="http://schemas.microsoft.com/office/drawing/2014/main" id="{BF19E0FA-87F0-375F-820E-E654101CB831}"/>
              </a:ext>
            </a:extLst>
          </p:cNvPr>
          <p:cNvSpPr txBox="1"/>
          <p:nvPr/>
        </p:nvSpPr>
        <p:spPr>
          <a:xfrm>
            <a:off x="8808200" y="2864810"/>
            <a:ext cx="2359742" cy="646331"/>
          </a:xfrm>
          <a:prstGeom prst="rect">
            <a:avLst/>
          </a:prstGeom>
          <a:solidFill>
            <a:srgbClr val="D2F3CD"/>
          </a:solidFill>
          <a:effectLst>
            <a:softEdge rad="12700"/>
          </a:effectLst>
        </p:spPr>
        <p:txBody>
          <a:bodyPr wrap="square" rtlCol="0">
            <a:spAutoFit/>
          </a:bodyPr>
          <a:lstStyle/>
          <a:p>
            <a:r>
              <a:rPr lang="es-ES" dirty="0"/>
              <a:t>Transformar los productos en nuevos</a:t>
            </a:r>
          </a:p>
        </p:txBody>
      </p:sp>
      <p:sp>
        <p:nvSpPr>
          <p:cNvPr id="28" name="CuadroTexto 27">
            <a:extLst>
              <a:ext uri="{FF2B5EF4-FFF2-40B4-BE49-F238E27FC236}">
                <a16:creationId xmlns:a16="http://schemas.microsoft.com/office/drawing/2014/main" id="{EFD4F266-80CD-70DF-3533-6485746FF263}"/>
              </a:ext>
            </a:extLst>
          </p:cNvPr>
          <p:cNvSpPr txBox="1"/>
          <p:nvPr/>
        </p:nvSpPr>
        <p:spPr>
          <a:xfrm>
            <a:off x="8808200" y="3727329"/>
            <a:ext cx="2359742" cy="1200329"/>
          </a:xfrm>
          <a:prstGeom prst="rect">
            <a:avLst/>
          </a:prstGeom>
          <a:solidFill>
            <a:srgbClr val="D2F3CD"/>
          </a:solidFill>
          <a:effectLst>
            <a:softEdge rad="12700"/>
          </a:effectLst>
        </p:spPr>
        <p:txBody>
          <a:bodyPr wrap="square" rtlCol="0">
            <a:spAutoFit/>
          </a:bodyPr>
          <a:lstStyle/>
          <a:p>
            <a:r>
              <a:rPr lang="es-ES" dirty="0"/>
              <a:t>Recuperar materias primas para otros usos mediante procesos químicos</a:t>
            </a:r>
          </a:p>
        </p:txBody>
      </p:sp>
      <p:pic>
        <p:nvPicPr>
          <p:cNvPr id="30" name="Imagen 29">
            <a:extLst>
              <a:ext uri="{FF2B5EF4-FFF2-40B4-BE49-F238E27FC236}">
                <a16:creationId xmlns:a16="http://schemas.microsoft.com/office/drawing/2014/main" id="{F44AF867-38E2-CA9B-34EA-5B1B81FEC979}"/>
              </a:ext>
            </a:extLst>
          </p:cNvPr>
          <p:cNvPicPr>
            <a:picLocks noChangeAspect="1"/>
          </p:cNvPicPr>
          <p:nvPr/>
        </p:nvPicPr>
        <p:blipFill>
          <a:blip r:embed="rId4"/>
          <a:stretch>
            <a:fillRect/>
          </a:stretch>
        </p:blipFill>
        <p:spPr>
          <a:xfrm>
            <a:off x="1550566" y="2806890"/>
            <a:ext cx="661753" cy="704251"/>
          </a:xfrm>
          <a:prstGeom prst="rect">
            <a:avLst/>
          </a:prstGeom>
        </p:spPr>
      </p:pic>
      <p:pic>
        <p:nvPicPr>
          <p:cNvPr id="32" name="Imagen 31">
            <a:extLst>
              <a:ext uri="{FF2B5EF4-FFF2-40B4-BE49-F238E27FC236}">
                <a16:creationId xmlns:a16="http://schemas.microsoft.com/office/drawing/2014/main" id="{2286D0E8-27C2-EDAA-D8B9-412911E882C0}"/>
              </a:ext>
            </a:extLst>
          </p:cNvPr>
          <p:cNvPicPr>
            <a:picLocks noChangeAspect="1"/>
          </p:cNvPicPr>
          <p:nvPr/>
        </p:nvPicPr>
        <p:blipFill>
          <a:blip r:embed="rId5"/>
          <a:stretch>
            <a:fillRect/>
          </a:stretch>
        </p:blipFill>
        <p:spPr>
          <a:xfrm>
            <a:off x="1440121" y="5736632"/>
            <a:ext cx="849352" cy="730693"/>
          </a:xfrm>
          <a:prstGeom prst="rect">
            <a:avLst/>
          </a:prstGeom>
        </p:spPr>
      </p:pic>
      <p:pic>
        <p:nvPicPr>
          <p:cNvPr id="34" name="Imagen 33">
            <a:extLst>
              <a:ext uri="{FF2B5EF4-FFF2-40B4-BE49-F238E27FC236}">
                <a16:creationId xmlns:a16="http://schemas.microsoft.com/office/drawing/2014/main" id="{3F5160CB-8FF3-3E1D-5081-36F0B904321D}"/>
              </a:ext>
            </a:extLst>
          </p:cNvPr>
          <p:cNvPicPr>
            <a:picLocks noChangeAspect="1"/>
          </p:cNvPicPr>
          <p:nvPr/>
        </p:nvPicPr>
        <p:blipFill>
          <a:blip r:embed="rId6"/>
          <a:stretch>
            <a:fillRect/>
          </a:stretch>
        </p:blipFill>
        <p:spPr>
          <a:xfrm>
            <a:off x="7010806" y="4204767"/>
            <a:ext cx="835062" cy="684374"/>
          </a:xfrm>
          <a:prstGeom prst="rect">
            <a:avLst/>
          </a:prstGeom>
        </p:spPr>
      </p:pic>
    </p:spTree>
    <p:extLst>
      <p:ext uri="{BB962C8B-B14F-4D97-AF65-F5344CB8AC3E}">
        <p14:creationId xmlns:p14="http://schemas.microsoft.com/office/powerpoint/2010/main" val="543286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TIPOS DE RECICLAJE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Rectángulo: esquinas diagonales redondeadas 7">
            <a:extLst>
              <a:ext uri="{FF2B5EF4-FFF2-40B4-BE49-F238E27FC236}">
                <a16:creationId xmlns:a16="http://schemas.microsoft.com/office/drawing/2014/main" id="{B7D0AB44-6B8F-47B8-64FD-B37C907B441F}"/>
              </a:ext>
            </a:extLst>
          </p:cNvPr>
          <p:cNvSpPr/>
          <p:nvPr/>
        </p:nvSpPr>
        <p:spPr>
          <a:xfrm>
            <a:off x="2744376" y="1697111"/>
            <a:ext cx="1761072" cy="541748"/>
          </a:xfrm>
          <a:prstGeom prst="round2DiagRect">
            <a:avLst/>
          </a:prstGeom>
          <a:solidFill>
            <a:schemeClr val="accent6">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UPCYCLING</a:t>
            </a:r>
          </a:p>
        </p:txBody>
      </p:sp>
      <p:sp>
        <p:nvSpPr>
          <p:cNvPr id="16" name="Flecha: a la derecha 15">
            <a:extLst>
              <a:ext uri="{FF2B5EF4-FFF2-40B4-BE49-F238E27FC236}">
                <a16:creationId xmlns:a16="http://schemas.microsoft.com/office/drawing/2014/main" id="{5290950F-6352-300B-D811-FBFA7BDC9E88}"/>
              </a:ext>
            </a:extLst>
          </p:cNvPr>
          <p:cNvSpPr/>
          <p:nvPr/>
        </p:nvSpPr>
        <p:spPr>
          <a:xfrm>
            <a:off x="5023354" y="1766180"/>
            <a:ext cx="574536" cy="403610"/>
          </a:xfrm>
          <a:prstGeom prst="rightArrow">
            <a:avLst/>
          </a:prstGeom>
          <a:solidFill>
            <a:schemeClr val="tx1">
              <a:lumMod val="65000"/>
              <a:lumOff val="3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6370BC19-9BB3-CE1F-1DD4-8EC9DCDE8BC4}"/>
              </a:ext>
            </a:extLst>
          </p:cNvPr>
          <p:cNvSpPr txBox="1"/>
          <p:nvPr/>
        </p:nvSpPr>
        <p:spPr>
          <a:xfrm>
            <a:off x="6095999" y="1614042"/>
            <a:ext cx="4168877" cy="707886"/>
          </a:xfrm>
          <a:prstGeom prst="rect">
            <a:avLst/>
          </a:prstGeom>
          <a:solidFill>
            <a:srgbClr val="D2F3CD"/>
          </a:solidFill>
          <a:effectLst>
            <a:softEdge rad="12700"/>
          </a:effectLst>
        </p:spPr>
        <p:txBody>
          <a:bodyPr wrap="square" rtlCol="0">
            <a:spAutoFit/>
          </a:bodyPr>
          <a:lstStyle/>
          <a:p>
            <a:r>
              <a:rPr lang="es-ES" sz="2000" dirty="0"/>
              <a:t>La calidad del producto final es </a:t>
            </a:r>
            <a:r>
              <a:rPr lang="es-ES" sz="2000" b="1" dirty="0"/>
              <a:t>superior</a:t>
            </a:r>
            <a:r>
              <a:rPr lang="es-ES" sz="2000" dirty="0"/>
              <a:t> a la del producto de partida</a:t>
            </a:r>
          </a:p>
        </p:txBody>
      </p:sp>
      <p:pic>
        <p:nvPicPr>
          <p:cNvPr id="20" name="Imagen 19">
            <a:extLst>
              <a:ext uri="{FF2B5EF4-FFF2-40B4-BE49-F238E27FC236}">
                <a16:creationId xmlns:a16="http://schemas.microsoft.com/office/drawing/2014/main" id="{9C062ED2-2A22-66E9-1B7C-64BB3BFB407E}"/>
              </a:ext>
            </a:extLst>
          </p:cNvPr>
          <p:cNvPicPr>
            <a:picLocks noChangeAspect="1"/>
          </p:cNvPicPr>
          <p:nvPr/>
        </p:nvPicPr>
        <p:blipFill>
          <a:blip r:embed="rId4"/>
          <a:stretch>
            <a:fillRect/>
          </a:stretch>
        </p:blipFill>
        <p:spPr>
          <a:xfrm>
            <a:off x="351904" y="2691735"/>
            <a:ext cx="5688436" cy="3774570"/>
          </a:xfrm>
          <a:prstGeom prst="rect">
            <a:avLst/>
          </a:prstGeom>
        </p:spPr>
      </p:pic>
      <p:pic>
        <p:nvPicPr>
          <p:cNvPr id="22" name="Imagen 21">
            <a:extLst>
              <a:ext uri="{FF2B5EF4-FFF2-40B4-BE49-F238E27FC236}">
                <a16:creationId xmlns:a16="http://schemas.microsoft.com/office/drawing/2014/main" id="{BE92A6B2-2B3E-5595-0D12-F7D67785A684}"/>
              </a:ext>
            </a:extLst>
          </p:cNvPr>
          <p:cNvPicPr>
            <a:picLocks noChangeAspect="1"/>
          </p:cNvPicPr>
          <p:nvPr/>
        </p:nvPicPr>
        <p:blipFill>
          <a:blip r:embed="rId5"/>
          <a:stretch>
            <a:fillRect/>
          </a:stretch>
        </p:blipFill>
        <p:spPr>
          <a:xfrm>
            <a:off x="6538449" y="2691734"/>
            <a:ext cx="5313439" cy="3774574"/>
          </a:xfrm>
          <a:prstGeom prst="rect">
            <a:avLst/>
          </a:prstGeom>
        </p:spPr>
      </p:pic>
    </p:spTree>
    <p:extLst>
      <p:ext uri="{BB962C8B-B14F-4D97-AF65-F5344CB8AC3E}">
        <p14:creationId xmlns:p14="http://schemas.microsoft.com/office/powerpoint/2010/main" val="1401129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TIPOS DE RECICLAJE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Rectángulo: esquinas diagonales redondeadas 7">
            <a:extLst>
              <a:ext uri="{FF2B5EF4-FFF2-40B4-BE49-F238E27FC236}">
                <a16:creationId xmlns:a16="http://schemas.microsoft.com/office/drawing/2014/main" id="{B7D0AB44-6B8F-47B8-64FD-B37C907B441F}"/>
              </a:ext>
            </a:extLst>
          </p:cNvPr>
          <p:cNvSpPr/>
          <p:nvPr/>
        </p:nvSpPr>
        <p:spPr>
          <a:xfrm>
            <a:off x="2610465" y="1697111"/>
            <a:ext cx="1894983" cy="541748"/>
          </a:xfrm>
          <a:prstGeom prst="round2DiagRect">
            <a:avLst/>
          </a:prstGeom>
          <a:solidFill>
            <a:schemeClr val="accent6">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DOWNCYCLING</a:t>
            </a:r>
          </a:p>
        </p:txBody>
      </p:sp>
      <p:sp>
        <p:nvSpPr>
          <p:cNvPr id="16" name="Flecha: a la derecha 15">
            <a:extLst>
              <a:ext uri="{FF2B5EF4-FFF2-40B4-BE49-F238E27FC236}">
                <a16:creationId xmlns:a16="http://schemas.microsoft.com/office/drawing/2014/main" id="{5290950F-6352-300B-D811-FBFA7BDC9E88}"/>
              </a:ext>
            </a:extLst>
          </p:cNvPr>
          <p:cNvSpPr/>
          <p:nvPr/>
        </p:nvSpPr>
        <p:spPr>
          <a:xfrm>
            <a:off x="5023354" y="1766180"/>
            <a:ext cx="574536" cy="403610"/>
          </a:xfrm>
          <a:prstGeom prst="rightArrow">
            <a:avLst/>
          </a:prstGeom>
          <a:solidFill>
            <a:schemeClr val="tx1">
              <a:lumMod val="65000"/>
              <a:lumOff val="3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6370BC19-9BB3-CE1F-1DD4-8EC9DCDE8BC4}"/>
              </a:ext>
            </a:extLst>
          </p:cNvPr>
          <p:cNvSpPr txBox="1"/>
          <p:nvPr/>
        </p:nvSpPr>
        <p:spPr>
          <a:xfrm>
            <a:off x="6095999" y="1614042"/>
            <a:ext cx="4168877" cy="707886"/>
          </a:xfrm>
          <a:prstGeom prst="rect">
            <a:avLst/>
          </a:prstGeom>
          <a:solidFill>
            <a:srgbClr val="D2F3CD"/>
          </a:solidFill>
          <a:effectLst>
            <a:softEdge rad="12700"/>
          </a:effectLst>
        </p:spPr>
        <p:txBody>
          <a:bodyPr wrap="square" rtlCol="0">
            <a:spAutoFit/>
          </a:bodyPr>
          <a:lstStyle/>
          <a:p>
            <a:r>
              <a:rPr lang="es-ES" sz="2000" dirty="0"/>
              <a:t>La calidad del producto final es </a:t>
            </a:r>
            <a:r>
              <a:rPr lang="es-ES" sz="2000" b="1" dirty="0"/>
              <a:t>inferior</a:t>
            </a:r>
            <a:r>
              <a:rPr lang="es-ES" sz="2000" dirty="0"/>
              <a:t> a la del producto de partida</a:t>
            </a:r>
          </a:p>
        </p:txBody>
      </p:sp>
      <p:pic>
        <p:nvPicPr>
          <p:cNvPr id="4" name="Imagen 3">
            <a:extLst>
              <a:ext uri="{FF2B5EF4-FFF2-40B4-BE49-F238E27FC236}">
                <a16:creationId xmlns:a16="http://schemas.microsoft.com/office/drawing/2014/main" id="{24B06154-B71B-69B3-1751-BA6C39504A6C}"/>
              </a:ext>
            </a:extLst>
          </p:cNvPr>
          <p:cNvPicPr>
            <a:picLocks noChangeAspect="1"/>
          </p:cNvPicPr>
          <p:nvPr/>
        </p:nvPicPr>
        <p:blipFill>
          <a:blip r:embed="rId4"/>
          <a:stretch>
            <a:fillRect/>
          </a:stretch>
        </p:blipFill>
        <p:spPr>
          <a:xfrm>
            <a:off x="3029783" y="2706380"/>
            <a:ext cx="5634823" cy="3617813"/>
          </a:xfrm>
          <a:prstGeom prst="rect">
            <a:avLst/>
          </a:prstGeom>
        </p:spPr>
      </p:pic>
    </p:spTree>
    <p:extLst>
      <p:ext uri="{BB962C8B-B14F-4D97-AF65-F5344CB8AC3E}">
        <p14:creationId xmlns:p14="http://schemas.microsoft.com/office/powerpoint/2010/main" val="2339697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TIPOS DE RECICLAJE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Rectángulo: esquinas diagonales redondeadas 7">
            <a:extLst>
              <a:ext uri="{FF2B5EF4-FFF2-40B4-BE49-F238E27FC236}">
                <a16:creationId xmlns:a16="http://schemas.microsoft.com/office/drawing/2014/main" id="{B7D0AB44-6B8F-47B8-64FD-B37C907B441F}"/>
              </a:ext>
            </a:extLst>
          </p:cNvPr>
          <p:cNvSpPr/>
          <p:nvPr/>
        </p:nvSpPr>
        <p:spPr>
          <a:xfrm>
            <a:off x="2610465" y="1697111"/>
            <a:ext cx="1894983" cy="541748"/>
          </a:xfrm>
          <a:prstGeom prst="round2DiagRect">
            <a:avLst/>
          </a:prstGeom>
          <a:solidFill>
            <a:schemeClr val="accent6">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RECYCLING</a:t>
            </a:r>
          </a:p>
        </p:txBody>
      </p:sp>
      <p:sp>
        <p:nvSpPr>
          <p:cNvPr id="16" name="Flecha: a la derecha 15">
            <a:extLst>
              <a:ext uri="{FF2B5EF4-FFF2-40B4-BE49-F238E27FC236}">
                <a16:creationId xmlns:a16="http://schemas.microsoft.com/office/drawing/2014/main" id="{5290950F-6352-300B-D811-FBFA7BDC9E88}"/>
              </a:ext>
            </a:extLst>
          </p:cNvPr>
          <p:cNvSpPr/>
          <p:nvPr/>
        </p:nvSpPr>
        <p:spPr>
          <a:xfrm>
            <a:off x="5023354" y="1766180"/>
            <a:ext cx="574536" cy="403610"/>
          </a:xfrm>
          <a:prstGeom prst="rightArrow">
            <a:avLst/>
          </a:prstGeom>
          <a:solidFill>
            <a:schemeClr val="tx1">
              <a:lumMod val="65000"/>
              <a:lumOff val="3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6370BC19-9BB3-CE1F-1DD4-8EC9DCDE8BC4}"/>
              </a:ext>
            </a:extLst>
          </p:cNvPr>
          <p:cNvSpPr txBox="1"/>
          <p:nvPr/>
        </p:nvSpPr>
        <p:spPr>
          <a:xfrm>
            <a:off x="6096000" y="1614042"/>
            <a:ext cx="4012556" cy="707886"/>
          </a:xfrm>
          <a:prstGeom prst="rect">
            <a:avLst/>
          </a:prstGeom>
          <a:solidFill>
            <a:srgbClr val="D2F3CD"/>
          </a:solidFill>
          <a:effectLst>
            <a:softEdge rad="12700"/>
          </a:effectLst>
        </p:spPr>
        <p:txBody>
          <a:bodyPr wrap="square" rtlCol="0">
            <a:spAutoFit/>
          </a:bodyPr>
          <a:lstStyle/>
          <a:p>
            <a:r>
              <a:rPr lang="es-ES" sz="2000" dirty="0"/>
              <a:t>La calidad del producto final es </a:t>
            </a:r>
            <a:r>
              <a:rPr lang="es-ES" sz="2000" b="1" dirty="0"/>
              <a:t>igual</a:t>
            </a:r>
            <a:r>
              <a:rPr lang="es-ES" sz="2000" dirty="0"/>
              <a:t> a la del producto de partida</a:t>
            </a:r>
          </a:p>
        </p:txBody>
      </p:sp>
      <p:pic>
        <p:nvPicPr>
          <p:cNvPr id="6" name="Imagen 5">
            <a:extLst>
              <a:ext uri="{FF2B5EF4-FFF2-40B4-BE49-F238E27FC236}">
                <a16:creationId xmlns:a16="http://schemas.microsoft.com/office/drawing/2014/main" id="{757ECE14-3912-BFCA-CB37-B6F2C9817C90}"/>
              </a:ext>
            </a:extLst>
          </p:cNvPr>
          <p:cNvPicPr>
            <a:picLocks noChangeAspect="1"/>
          </p:cNvPicPr>
          <p:nvPr/>
        </p:nvPicPr>
        <p:blipFill>
          <a:blip r:embed="rId4"/>
          <a:stretch>
            <a:fillRect/>
          </a:stretch>
        </p:blipFill>
        <p:spPr>
          <a:xfrm>
            <a:off x="3327678" y="2684305"/>
            <a:ext cx="5536643" cy="3665463"/>
          </a:xfrm>
          <a:prstGeom prst="rect">
            <a:avLst/>
          </a:prstGeom>
        </p:spPr>
      </p:pic>
    </p:spTree>
    <p:extLst>
      <p:ext uri="{BB962C8B-B14F-4D97-AF65-F5344CB8AC3E}">
        <p14:creationId xmlns:p14="http://schemas.microsoft.com/office/powerpoint/2010/main" val="4011865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ECOEFICIENCIA O 3R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una sola esquina cortada 2">
            <a:extLst>
              <a:ext uri="{FF2B5EF4-FFF2-40B4-BE49-F238E27FC236}">
                <a16:creationId xmlns:a16="http://schemas.microsoft.com/office/drawing/2014/main" id="{776F6F8A-2CE5-EB37-82D3-916600483DE5}"/>
              </a:ext>
            </a:extLst>
          </p:cNvPr>
          <p:cNvSpPr/>
          <p:nvPr/>
        </p:nvSpPr>
        <p:spPr>
          <a:xfrm>
            <a:off x="1710813" y="2094271"/>
            <a:ext cx="2477729" cy="483039"/>
          </a:xfrm>
          <a:prstGeom prst="snip1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VENTAJAS</a:t>
            </a:r>
          </a:p>
        </p:txBody>
      </p:sp>
      <p:sp>
        <p:nvSpPr>
          <p:cNvPr id="4" name="Rectángulo: una sola esquina cortada 3">
            <a:extLst>
              <a:ext uri="{FF2B5EF4-FFF2-40B4-BE49-F238E27FC236}">
                <a16:creationId xmlns:a16="http://schemas.microsoft.com/office/drawing/2014/main" id="{E7AA4FE5-0AAF-5FFD-614E-1BBCF22B5070}"/>
              </a:ext>
            </a:extLst>
          </p:cNvPr>
          <p:cNvSpPr/>
          <p:nvPr/>
        </p:nvSpPr>
        <p:spPr>
          <a:xfrm>
            <a:off x="7143135" y="2094270"/>
            <a:ext cx="2477729" cy="483039"/>
          </a:xfrm>
          <a:prstGeom prst="snip1Rect">
            <a:avLst/>
          </a:prstGeom>
          <a:solidFill>
            <a:srgbClr val="C00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INCONVENIENTES</a:t>
            </a:r>
          </a:p>
        </p:txBody>
      </p:sp>
      <p:sp>
        <p:nvSpPr>
          <p:cNvPr id="6" name="CuadroTexto 5">
            <a:extLst>
              <a:ext uri="{FF2B5EF4-FFF2-40B4-BE49-F238E27FC236}">
                <a16:creationId xmlns:a16="http://schemas.microsoft.com/office/drawing/2014/main" id="{3A57470A-DF61-3794-A897-D6071E494588}"/>
              </a:ext>
            </a:extLst>
          </p:cNvPr>
          <p:cNvSpPr txBox="1"/>
          <p:nvPr/>
        </p:nvSpPr>
        <p:spPr>
          <a:xfrm>
            <a:off x="1297858" y="3429000"/>
            <a:ext cx="3333136" cy="1754326"/>
          </a:xfrm>
          <a:prstGeom prst="rect">
            <a:avLst/>
          </a:prstGeom>
          <a:solidFill>
            <a:schemeClr val="accent6">
              <a:lumMod val="20000"/>
              <a:lumOff val="80000"/>
            </a:schemeClr>
          </a:solidFill>
          <a:effectLst>
            <a:outerShdw blurRad="50800" dist="38100" dir="8100000" algn="tr" rotWithShape="0">
              <a:prstClr val="black">
                <a:alpha val="40000"/>
              </a:prstClr>
            </a:outerShdw>
          </a:effectLst>
        </p:spPr>
        <p:txBody>
          <a:bodyPr wrap="square" rtlCol="0">
            <a:spAutoFit/>
          </a:bodyPr>
          <a:lstStyle/>
          <a:p>
            <a:pPr marL="285750" indent="-285750">
              <a:spcBef>
                <a:spcPts val="600"/>
              </a:spcBef>
              <a:spcAft>
                <a:spcPts val="600"/>
              </a:spcAft>
              <a:buFont typeface="Arial" panose="020B0604020202020204" pitchFamily="34" charset="0"/>
              <a:buChar char="•"/>
            </a:pPr>
            <a:r>
              <a:rPr lang="es-ES" sz="2200" dirty="0"/>
              <a:t>Menos necesidad de recursos naturales</a:t>
            </a:r>
          </a:p>
          <a:p>
            <a:pPr marL="285750" indent="-285750">
              <a:spcBef>
                <a:spcPts val="600"/>
              </a:spcBef>
              <a:spcAft>
                <a:spcPts val="600"/>
              </a:spcAft>
              <a:buFont typeface="Arial" panose="020B0604020202020204" pitchFamily="34" charset="0"/>
              <a:buChar char="•"/>
            </a:pPr>
            <a:r>
              <a:rPr lang="es-ES" sz="2200" dirty="0"/>
              <a:t>Menos residuos</a:t>
            </a:r>
          </a:p>
          <a:p>
            <a:pPr marL="285750" indent="-285750">
              <a:spcBef>
                <a:spcPts val="600"/>
              </a:spcBef>
              <a:spcAft>
                <a:spcPts val="600"/>
              </a:spcAft>
              <a:buFont typeface="Arial" panose="020B0604020202020204" pitchFamily="34" charset="0"/>
              <a:buChar char="•"/>
            </a:pPr>
            <a:r>
              <a:rPr lang="es-ES" sz="2200" dirty="0"/>
              <a:t>Menos contaminación</a:t>
            </a:r>
          </a:p>
        </p:txBody>
      </p:sp>
      <p:sp>
        <p:nvSpPr>
          <p:cNvPr id="8" name="CuadroTexto 7">
            <a:extLst>
              <a:ext uri="{FF2B5EF4-FFF2-40B4-BE49-F238E27FC236}">
                <a16:creationId xmlns:a16="http://schemas.microsoft.com/office/drawing/2014/main" id="{45EAC461-28D7-D6EF-9058-47BBFDE191DB}"/>
              </a:ext>
            </a:extLst>
          </p:cNvPr>
          <p:cNvSpPr txBox="1"/>
          <p:nvPr/>
        </p:nvSpPr>
        <p:spPr>
          <a:xfrm>
            <a:off x="6775419" y="3429000"/>
            <a:ext cx="3333136" cy="1938992"/>
          </a:xfrm>
          <a:prstGeom prst="rect">
            <a:avLst/>
          </a:prstGeom>
          <a:solidFill>
            <a:schemeClr val="accent2">
              <a:lumMod val="20000"/>
              <a:lumOff val="80000"/>
            </a:schemeClr>
          </a:solidFill>
          <a:effectLst>
            <a:outerShdw blurRad="50800" dist="38100" dir="8100000" algn="tr" rotWithShape="0">
              <a:prstClr val="black">
                <a:alpha val="40000"/>
              </a:prstClr>
            </a:outerShdw>
          </a:effectLst>
        </p:spPr>
        <p:txBody>
          <a:bodyPr wrap="square" rtlCol="0">
            <a:spAutoFit/>
          </a:bodyPr>
          <a:lstStyle/>
          <a:p>
            <a:pPr marL="285750" indent="-285750">
              <a:spcBef>
                <a:spcPts val="600"/>
              </a:spcBef>
              <a:spcAft>
                <a:spcPts val="600"/>
              </a:spcAft>
              <a:buFont typeface="Arial" panose="020B0604020202020204" pitchFamily="34" charset="0"/>
              <a:buChar char="•"/>
            </a:pPr>
            <a:r>
              <a:rPr lang="es-ES" sz="2200" dirty="0"/>
              <a:t>Insuficiente para lograr los ODS</a:t>
            </a:r>
          </a:p>
          <a:p>
            <a:pPr marL="285750" indent="-285750">
              <a:spcBef>
                <a:spcPts val="600"/>
              </a:spcBef>
              <a:spcAft>
                <a:spcPts val="600"/>
              </a:spcAft>
              <a:buFont typeface="Arial" panose="020B0604020202020204" pitchFamily="34" charset="0"/>
              <a:buChar char="•"/>
            </a:pPr>
            <a:r>
              <a:rPr lang="es-ES" sz="2200" dirty="0"/>
              <a:t>Retrasa la llegada de materiales al vertedero pero no la evita</a:t>
            </a:r>
          </a:p>
        </p:txBody>
      </p:sp>
    </p:spTree>
    <p:extLst>
      <p:ext uri="{BB962C8B-B14F-4D97-AF65-F5344CB8AC3E}">
        <p14:creationId xmlns:p14="http://schemas.microsoft.com/office/powerpoint/2010/main" val="1586738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BIOMÍMESIS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CB5F6E61-B38E-F042-C61A-E881C89214AC}"/>
              </a:ext>
            </a:extLst>
          </p:cNvPr>
          <p:cNvPicPr>
            <a:picLocks noChangeAspect="1"/>
          </p:cNvPicPr>
          <p:nvPr/>
        </p:nvPicPr>
        <p:blipFill>
          <a:blip r:embed="rId4"/>
          <a:stretch>
            <a:fillRect/>
          </a:stretch>
        </p:blipFill>
        <p:spPr>
          <a:xfrm>
            <a:off x="658246" y="1859370"/>
            <a:ext cx="2228380" cy="2417582"/>
          </a:xfrm>
          <a:prstGeom prst="rect">
            <a:avLst/>
          </a:prstGeom>
        </p:spPr>
      </p:pic>
      <p:sp>
        <p:nvSpPr>
          <p:cNvPr id="8" name="CuadroTexto 7">
            <a:extLst>
              <a:ext uri="{FF2B5EF4-FFF2-40B4-BE49-F238E27FC236}">
                <a16:creationId xmlns:a16="http://schemas.microsoft.com/office/drawing/2014/main" id="{1E9F1E45-EA5A-E101-A80E-8D0E264624CD}"/>
              </a:ext>
            </a:extLst>
          </p:cNvPr>
          <p:cNvSpPr txBox="1"/>
          <p:nvPr/>
        </p:nvSpPr>
        <p:spPr>
          <a:xfrm>
            <a:off x="233519" y="4505321"/>
            <a:ext cx="3070123" cy="369332"/>
          </a:xfrm>
          <a:prstGeom prst="rect">
            <a:avLst/>
          </a:prstGeom>
          <a:noFill/>
        </p:spPr>
        <p:txBody>
          <a:bodyPr wrap="square" rtlCol="0">
            <a:spAutoFit/>
          </a:bodyPr>
          <a:lstStyle/>
          <a:p>
            <a:pPr algn="ctr"/>
            <a:r>
              <a:rPr lang="es-ES" dirty="0"/>
              <a:t>Janine </a:t>
            </a:r>
            <a:r>
              <a:rPr lang="es-ES" dirty="0" err="1"/>
              <a:t>Benyus</a:t>
            </a:r>
            <a:endParaRPr lang="es-ES" dirty="0"/>
          </a:p>
        </p:txBody>
      </p:sp>
      <p:sp>
        <p:nvSpPr>
          <p:cNvPr id="10" name="Rectángulo: esquinas diagonales redondeadas 9">
            <a:extLst>
              <a:ext uri="{FF2B5EF4-FFF2-40B4-BE49-F238E27FC236}">
                <a16:creationId xmlns:a16="http://schemas.microsoft.com/office/drawing/2014/main" id="{01AE3C16-29B4-C75C-4DE4-05F9696A6AD2}"/>
              </a:ext>
            </a:extLst>
          </p:cNvPr>
          <p:cNvSpPr/>
          <p:nvPr/>
        </p:nvSpPr>
        <p:spPr>
          <a:xfrm>
            <a:off x="3672351" y="1917293"/>
            <a:ext cx="5427407" cy="2241675"/>
          </a:xfrm>
          <a:prstGeom prst="round2Diag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100000" b="100000"/>
            </a:path>
            <a:tileRect t="-100000" r="-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“Ahora estamos despiertos y la pregunta es ¿cómo nos mantenemos despiertos ante el mundo viviente? ¿Cómo hacemos que el acto de pedir consejo a la naturaleza sea una parte normal de la invención cotidiana?”</a:t>
            </a:r>
          </a:p>
        </p:txBody>
      </p:sp>
      <p:pic>
        <p:nvPicPr>
          <p:cNvPr id="12" name="Imagen 11">
            <a:hlinkClick r:id="rId5"/>
            <a:extLst>
              <a:ext uri="{FF2B5EF4-FFF2-40B4-BE49-F238E27FC236}">
                <a16:creationId xmlns:a16="http://schemas.microsoft.com/office/drawing/2014/main" id="{681EDF20-4FEF-F55D-3428-5D8AC458AD98}"/>
              </a:ext>
            </a:extLst>
          </p:cNvPr>
          <p:cNvPicPr>
            <a:picLocks noChangeAspect="1"/>
          </p:cNvPicPr>
          <p:nvPr/>
        </p:nvPicPr>
        <p:blipFill>
          <a:blip r:embed="rId6"/>
          <a:stretch>
            <a:fillRect/>
          </a:stretch>
        </p:blipFill>
        <p:spPr>
          <a:xfrm>
            <a:off x="9598194" y="1987324"/>
            <a:ext cx="1979803" cy="2051019"/>
          </a:xfrm>
          <a:prstGeom prst="rect">
            <a:avLst/>
          </a:prstGeom>
        </p:spPr>
      </p:pic>
      <p:sp>
        <p:nvSpPr>
          <p:cNvPr id="15" name="CuadroTexto 14">
            <a:extLst>
              <a:ext uri="{FF2B5EF4-FFF2-40B4-BE49-F238E27FC236}">
                <a16:creationId xmlns:a16="http://schemas.microsoft.com/office/drawing/2014/main" id="{29B91B2A-13C4-86CF-145C-AC7775709670}"/>
              </a:ext>
            </a:extLst>
          </p:cNvPr>
          <p:cNvSpPr txBox="1"/>
          <p:nvPr/>
        </p:nvSpPr>
        <p:spPr>
          <a:xfrm>
            <a:off x="1418303" y="5339030"/>
            <a:ext cx="9355393" cy="646331"/>
          </a:xfrm>
          <a:prstGeom prst="rect">
            <a:avLst/>
          </a:prstGeom>
          <a:solidFill>
            <a:schemeClr val="accent6">
              <a:lumMod val="20000"/>
              <a:lumOff val="80000"/>
            </a:schemeClr>
          </a:solidFill>
          <a:effectLst>
            <a:glow rad="139700">
              <a:schemeClr val="accent3">
                <a:satMod val="175000"/>
                <a:alpha val="40000"/>
              </a:schemeClr>
            </a:glow>
          </a:effectLst>
        </p:spPr>
        <p:txBody>
          <a:bodyPr wrap="square" rtlCol="0">
            <a:spAutoFit/>
          </a:bodyPr>
          <a:lstStyle/>
          <a:p>
            <a:r>
              <a:rPr lang="es-ES" dirty="0"/>
              <a:t>Janine </a:t>
            </a:r>
            <a:r>
              <a:rPr lang="es-ES" dirty="0" err="1"/>
              <a:t>Benyus</a:t>
            </a:r>
            <a:r>
              <a:rPr lang="es-ES" dirty="0"/>
              <a:t> es bióloga, escritora, consultora y fundadora del “</a:t>
            </a:r>
            <a:r>
              <a:rPr lang="es-ES" i="1" dirty="0" err="1"/>
              <a:t>Biomimicry</a:t>
            </a:r>
            <a:r>
              <a:rPr lang="es-ES" i="1" dirty="0"/>
              <a:t> </a:t>
            </a:r>
            <a:r>
              <a:rPr lang="es-ES" i="1" dirty="0" err="1"/>
              <a:t>Institute</a:t>
            </a:r>
            <a:r>
              <a:rPr lang="es-ES" dirty="0"/>
              <a:t>” e inventora del término </a:t>
            </a:r>
            <a:r>
              <a:rPr lang="es-ES" dirty="0" err="1"/>
              <a:t>Biomímesis</a:t>
            </a:r>
            <a:r>
              <a:rPr lang="es-ES" dirty="0"/>
              <a:t> como la aplicación al diseño de estrategias imitadas de la naturaleza.</a:t>
            </a:r>
          </a:p>
        </p:txBody>
      </p:sp>
    </p:spTree>
    <p:extLst>
      <p:ext uri="{BB962C8B-B14F-4D97-AF65-F5344CB8AC3E}">
        <p14:creationId xmlns:p14="http://schemas.microsoft.com/office/powerpoint/2010/main" val="2971653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BIOMÍMESIS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0" name="Rectángulo: esquinas redondeadas 9">
            <a:extLst>
              <a:ext uri="{FF2B5EF4-FFF2-40B4-BE49-F238E27FC236}">
                <a16:creationId xmlns:a16="http://schemas.microsoft.com/office/drawing/2014/main" id="{8130AAA7-D517-868E-9DF1-B1AF2014D38E}"/>
              </a:ext>
            </a:extLst>
          </p:cNvPr>
          <p:cNvSpPr/>
          <p:nvPr/>
        </p:nvSpPr>
        <p:spPr>
          <a:xfrm>
            <a:off x="3995693" y="2025003"/>
            <a:ext cx="3967316" cy="1194619"/>
          </a:xfrm>
          <a:prstGeom prst="roundRect">
            <a:avLst/>
          </a:prstGeom>
          <a:solidFill>
            <a:srgbClr val="AA281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Es la ciencia que trata de emular a la naturaleza para diseñar productos y procesos sostenibles</a:t>
            </a:r>
          </a:p>
        </p:txBody>
      </p:sp>
      <p:sp>
        <p:nvSpPr>
          <p:cNvPr id="13" name="Rectángulo: esquinas redondeadas 12">
            <a:extLst>
              <a:ext uri="{FF2B5EF4-FFF2-40B4-BE49-F238E27FC236}">
                <a16:creationId xmlns:a16="http://schemas.microsoft.com/office/drawing/2014/main" id="{AE8ECE3C-17AF-239C-03EE-8A25CEE84238}"/>
              </a:ext>
            </a:extLst>
          </p:cNvPr>
          <p:cNvSpPr/>
          <p:nvPr/>
        </p:nvSpPr>
        <p:spPr>
          <a:xfrm>
            <a:off x="789255" y="4932022"/>
            <a:ext cx="2779856" cy="1325564"/>
          </a:xfrm>
          <a:prstGeom prst="roundRect">
            <a:avLst/>
          </a:prstGeom>
          <a:solidFill>
            <a:srgbClr val="E4863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u="sng" dirty="0">
                <a:solidFill>
                  <a:schemeClr val="tx1"/>
                </a:solidFill>
              </a:rPr>
              <a:t>Ethos o rasgos distintivos</a:t>
            </a:r>
            <a:r>
              <a:rPr lang="es-ES" b="1" dirty="0">
                <a:solidFill>
                  <a:schemeClr val="tx1"/>
                </a:solidFill>
              </a:rPr>
              <a:t>: </a:t>
            </a:r>
            <a:r>
              <a:rPr lang="es-ES" dirty="0">
                <a:solidFill>
                  <a:schemeClr val="tx1"/>
                </a:solidFill>
              </a:rPr>
              <a:t>observar con admiración para crear diseños respetuosos con la vida</a:t>
            </a:r>
          </a:p>
        </p:txBody>
      </p:sp>
      <p:sp>
        <p:nvSpPr>
          <p:cNvPr id="15" name="Rectángulo: esquinas redondeadas 14">
            <a:extLst>
              <a:ext uri="{FF2B5EF4-FFF2-40B4-BE49-F238E27FC236}">
                <a16:creationId xmlns:a16="http://schemas.microsoft.com/office/drawing/2014/main" id="{F65110EF-AD10-F184-5D2E-B8ED358DFBAE}"/>
              </a:ext>
            </a:extLst>
          </p:cNvPr>
          <p:cNvSpPr/>
          <p:nvPr/>
        </p:nvSpPr>
        <p:spPr>
          <a:xfrm>
            <a:off x="4519929" y="4932022"/>
            <a:ext cx="2918844" cy="1325564"/>
          </a:xfrm>
          <a:prstGeom prst="roundRect">
            <a:avLst/>
          </a:prstGeom>
          <a:solidFill>
            <a:srgbClr val="E4863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u="sng" dirty="0">
                <a:solidFill>
                  <a:schemeClr val="tx1"/>
                </a:solidFill>
              </a:rPr>
              <a:t>Emular</a:t>
            </a:r>
            <a:r>
              <a:rPr lang="es-ES" b="1" dirty="0">
                <a:solidFill>
                  <a:schemeClr val="tx1"/>
                </a:solidFill>
              </a:rPr>
              <a:t>:</a:t>
            </a:r>
          </a:p>
          <a:p>
            <a:pPr algn="ctr"/>
            <a:r>
              <a:rPr lang="es-ES" dirty="0">
                <a:solidFill>
                  <a:schemeClr val="tx1"/>
                </a:solidFill>
              </a:rPr>
              <a:t>Investigar con rigor las soluciones de la naturaleza y aplicarlas en el diseño</a:t>
            </a:r>
          </a:p>
        </p:txBody>
      </p:sp>
      <p:sp>
        <p:nvSpPr>
          <p:cNvPr id="16" name="Rectángulo: esquinas redondeadas 15">
            <a:extLst>
              <a:ext uri="{FF2B5EF4-FFF2-40B4-BE49-F238E27FC236}">
                <a16:creationId xmlns:a16="http://schemas.microsoft.com/office/drawing/2014/main" id="{D42E1E4B-8955-28C7-422C-A2D796D1E42A}"/>
              </a:ext>
            </a:extLst>
          </p:cNvPr>
          <p:cNvSpPr/>
          <p:nvPr/>
        </p:nvSpPr>
        <p:spPr>
          <a:xfrm>
            <a:off x="8419087" y="4932022"/>
            <a:ext cx="2779856" cy="1325564"/>
          </a:xfrm>
          <a:prstGeom prst="roundRect">
            <a:avLst/>
          </a:prstGeom>
          <a:solidFill>
            <a:srgbClr val="E4863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u="sng" dirty="0">
                <a:solidFill>
                  <a:schemeClr val="tx1"/>
                </a:solidFill>
              </a:rPr>
              <a:t>(Re)Conectar</a:t>
            </a:r>
            <a:r>
              <a:rPr lang="es-ES" b="1" dirty="0">
                <a:solidFill>
                  <a:schemeClr val="tx1"/>
                </a:solidFill>
              </a:rPr>
              <a:t>:</a:t>
            </a:r>
          </a:p>
          <a:p>
            <a:pPr algn="ctr"/>
            <a:r>
              <a:rPr lang="es-ES" dirty="0">
                <a:solidFill>
                  <a:schemeClr val="tx1"/>
                </a:solidFill>
              </a:rPr>
              <a:t>Sentir que somos parte de la naturaleza y reconocer su genialidad</a:t>
            </a:r>
          </a:p>
        </p:txBody>
      </p:sp>
      <p:sp>
        <p:nvSpPr>
          <p:cNvPr id="17" name="CuadroTexto 16">
            <a:extLst>
              <a:ext uri="{FF2B5EF4-FFF2-40B4-BE49-F238E27FC236}">
                <a16:creationId xmlns:a16="http://schemas.microsoft.com/office/drawing/2014/main" id="{336E78DD-1307-E049-CB94-52452502C92B}"/>
              </a:ext>
            </a:extLst>
          </p:cNvPr>
          <p:cNvSpPr txBox="1"/>
          <p:nvPr/>
        </p:nvSpPr>
        <p:spPr>
          <a:xfrm>
            <a:off x="8782773" y="2437646"/>
            <a:ext cx="2052483" cy="369332"/>
          </a:xfrm>
          <a:prstGeom prst="rect">
            <a:avLst/>
          </a:prstGeom>
          <a:noFill/>
        </p:spPr>
        <p:txBody>
          <a:bodyPr wrap="square" rtlCol="0">
            <a:spAutoFit/>
          </a:bodyPr>
          <a:lstStyle/>
          <a:p>
            <a:pPr algn="ctr"/>
            <a:r>
              <a:rPr lang="es-ES" dirty="0">
                <a:hlinkClick r:id="rId4"/>
              </a:rPr>
              <a:t>Vídeo Explicativo</a:t>
            </a:r>
            <a:endParaRPr lang="es-ES" dirty="0"/>
          </a:p>
        </p:txBody>
      </p:sp>
      <p:cxnSp>
        <p:nvCxnSpPr>
          <p:cNvPr id="19" name="Conector recto de flecha 18">
            <a:extLst>
              <a:ext uri="{FF2B5EF4-FFF2-40B4-BE49-F238E27FC236}">
                <a16:creationId xmlns:a16="http://schemas.microsoft.com/office/drawing/2014/main" id="{6294D7A6-EC48-4F83-9AD2-19C12F825DD5}"/>
              </a:ext>
            </a:extLst>
          </p:cNvPr>
          <p:cNvCxnSpPr>
            <a:stCxn id="10" idx="2"/>
            <a:endCxn id="13" idx="0"/>
          </p:cNvCxnSpPr>
          <p:nvPr/>
        </p:nvCxnSpPr>
        <p:spPr>
          <a:xfrm flipH="1">
            <a:off x="2179183" y="3219622"/>
            <a:ext cx="3800168" cy="1712400"/>
          </a:xfrm>
          <a:prstGeom prst="straightConnector1">
            <a:avLst/>
          </a:prstGeom>
          <a:ln w="381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09B3A0D4-9474-6831-36AD-15E14F5DFDAB}"/>
              </a:ext>
            </a:extLst>
          </p:cNvPr>
          <p:cNvCxnSpPr>
            <a:cxnSpLocks/>
            <a:stCxn id="10" idx="2"/>
            <a:endCxn id="15" idx="0"/>
          </p:cNvCxnSpPr>
          <p:nvPr/>
        </p:nvCxnSpPr>
        <p:spPr>
          <a:xfrm>
            <a:off x="5979351" y="3219622"/>
            <a:ext cx="0" cy="1712400"/>
          </a:xfrm>
          <a:prstGeom prst="straightConnector1">
            <a:avLst/>
          </a:prstGeom>
          <a:ln w="381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82AF30FA-37AB-DBBE-9669-C9C3FDAE7A62}"/>
              </a:ext>
            </a:extLst>
          </p:cNvPr>
          <p:cNvCxnSpPr>
            <a:cxnSpLocks/>
            <a:stCxn id="10" idx="2"/>
            <a:endCxn id="16" idx="0"/>
          </p:cNvCxnSpPr>
          <p:nvPr/>
        </p:nvCxnSpPr>
        <p:spPr>
          <a:xfrm>
            <a:off x="5979351" y="3219622"/>
            <a:ext cx="3829664" cy="1712400"/>
          </a:xfrm>
          <a:prstGeom prst="straightConnector1">
            <a:avLst/>
          </a:prstGeom>
          <a:ln w="381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698635FC-34AC-32DB-171A-248FBA6F40D3}"/>
              </a:ext>
            </a:extLst>
          </p:cNvPr>
          <p:cNvPicPr>
            <a:picLocks noChangeAspect="1"/>
          </p:cNvPicPr>
          <p:nvPr/>
        </p:nvPicPr>
        <p:blipFill>
          <a:blip r:embed="rId5"/>
          <a:stretch>
            <a:fillRect/>
          </a:stretch>
        </p:blipFill>
        <p:spPr>
          <a:xfrm>
            <a:off x="502995" y="1760881"/>
            <a:ext cx="2989685" cy="1938625"/>
          </a:xfrm>
          <a:prstGeom prst="rect">
            <a:avLst/>
          </a:prstGeom>
        </p:spPr>
      </p:pic>
    </p:spTree>
    <p:extLst>
      <p:ext uri="{BB962C8B-B14F-4D97-AF65-F5344CB8AC3E}">
        <p14:creationId xmlns:p14="http://schemas.microsoft.com/office/powerpoint/2010/main" val="795824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BIOMÍMESIS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descr="Gráfico, Gráfico radial&#10;&#10;Descripción generada automáticamente">
            <a:extLst>
              <a:ext uri="{FF2B5EF4-FFF2-40B4-BE49-F238E27FC236}">
                <a16:creationId xmlns:a16="http://schemas.microsoft.com/office/drawing/2014/main" id="{891A98B8-38AC-B5EE-580A-687B288048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673" y="1793001"/>
            <a:ext cx="7356184" cy="4675165"/>
          </a:xfrm>
          <a:prstGeom prst="rect">
            <a:avLst/>
          </a:prstGeom>
        </p:spPr>
      </p:pic>
      <p:sp>
        <p:nvSpPr>
          <p:cNvPr id="6" name="CuadroTexto 5">
            <a:extLst>
              <a:ext uri="{FF2B5EF4-FFF2-40B4-BE49-F238E27FC236}">
                <a16:creationId xmlns:a16="http://schemas.microsoft.com/office/drawing/2014/main" id="{47FD938E-2B5E-EFEE-D263-5064B22FC65F}"/>
              </a:ext>
            </a:extLst>
          </p:cNvPr>
          <p:cNvSpPr txBox="1"/>
          <p:nvPr/>
        </p:nvSpPr>
        <p:spPr>
          <a:xfrm>
            <a:off x="958645" y="6468166"/>
            <a:ext cx="5663381" cy="369332"/>
          </a:xfrm>
          <a:prstGeom prst="rect">
            <a:avLst/>
          </a:prstGeom>
          <a:noFill/>
        </p:spPr>
        <p:txBody>
          <a:bodyPr wrap="square" rtlCol="0">
            <a:spAutoFit/>
          </a:bodyPr>
          <a:lstStyle/>
          <a:p>
            <a:r>
              <a:rPr lang="es-ES" dirty="0">
                <a:hlinkClick r:id="rId5"/>
              </a:rPr>
              <a:t>Cortesía del </a:t>
            </a:r>
            <a:r>
              <a:rPr lang="es-ES" dirty="0" err="1">
                <a:hlinkClick r:id="rId5"/>
              </a:rPr>
              <a:t>Biomimicry</a:t>
            </a:r>
            <a:r>
              <a:rPr lang="es-ES" dirty="0">
                <a:hlinkClick r:id="rId5"/>
              </a:rPr>
              <a:t> </a:t>
            </a:r>
            <a:r>
              <a:rPr lang="es-ES" dirty="0" err="1">
                <a:hlinkClick r:id="rId5"/>
              </a:rPr>
              <a:t>Institute</a:t>
            </a:r>
            <a:endParaRPr lang="es-ES" dirty="0"/>
          </a:p>
        </p:txBody>
      </p:sp>
      <p:sp>
        <p:nvSpPr>
          <p:cNvPr id="8" name="CuadroTexto 7">
            <a:extLst>
              <a:ext uri="{FF2B5EF4-FFF2-40B4-BE49-F238E27FC236}">
                <a16:creationId xmlns:a16="http://schemas.microsoft.com/office/drawing/2014/main" id="{ACDB097A-A695-2CE2-34D1-FA8030C56EF4}"/>
              </a:ext>
            </a:extLst>
          </p:cNvPr>
          <p:cNvSpPr txBox="1"/>
          <p:nvPr/>
        </p:nvSpPr>
        <p:spPr>
          <a:xfrm>
            <a:off x="8273845" y="2800954"/>
            <a:ext cx="2757949" cy="1938992"/>
          </a:xfrm>
          <a:prstGeom prst="rect">
            <a:avLst/>
          </a:prstGeo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just"/>
            <a:r>
              <a:rPr lang="es-ES" sz="2000" dirty="0"/>
              <a:t>El diseño </a:t>
            </a:r>
            <a:r>
              <a:rPr lang="es-ES" sz="2000" dirty="0" err="1"/>
              <a:t>biomimético</a:t>
            </a:r>
            <a:r>
              <a:rPr lang="es-ES" sz="2000" dirty="0"/>
              <a:t> sigue una metodología estructurada con 6 fases secuenciales a las que se vuelve para depurar las soluciones</a:t>
            </a:r>
          </a:p>
        </p:txBody>
      </p:sp>
      <p:pic>
        <p:nvPicPr>
          <p:cNvPr id="11" name="Imagen 10">
            <a:extLst>
              <a:ext uri="{FF2B5EF4-FFF2-40B4-BE49-F238E27FC236}">
                <a16:creationId xmlns:a16="http://schemas.microsoft.com/office/drawing/2014/main" id="{03B3EFFF-D641-CF29-4F4C-15CB781A211B}"/>
              </a:ext>
            </a:extLst>
          </p:cNvPr>
          <p:cNvPicPr>
            <a:picLocks noChangeAspect="1"/>
          </p:cNvPicPr>
          <p:nvPr/>
        </p:nvPicPr>
        <p:blipFill>
          <a:blip r:embed="rId6"/>
          <a:stretch>
            <a:fillRect/>
          </a:stretch>
        </p:blipFill>
        <p:spPr>
          <a:xfrm>
            <a:off x="255615" y="1529837"/>
            <a:ext cx="2841546" cy="899585"/>
          </a:xfrm>
          <a:prstGeom prst="rect">
            <a:avLst/>
          </a:prstGeom>
        </p:spPr>
      </p:pic>
    </p:spTree>
    <p:extLst>
      <p:ext uri="{BB962C8B-B14F-4D97-AF65-F5344CB8AC3E}">
        <p14:creationId xmlns:p14="http://schemas.microsoft.com/office/powerpoint/2010/main" val="487522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BIOMÍMESIS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aphicFrame>
        <p:nvGraphicFramePr>
          <p:cNvPr id="3" name="Diagrama 2">
            <a:extLst>
              <a:ext uri="{FF2B5EF4-FFF2-40B4-BE49-F238E27FC236}">
                <a16:creationId xmlns:a16="http://schemas.microsoft.com/office/drawing/2014/main" id="{857B47E1-D6FA-40A0-16C7-310DAD05B4DC}"/>
              </a:ext>
            </a:extLst>
          </p:cNvPr>
          <p:cNvGraphicFramePr/>
          <p:nvPr>
            <p:extLst>
              <p:ext uri="{D42A27DB-BD31-4B8C-83A1-F6EECF244321}">
                <p14:modId xmlns:p14="http://schemas.microsoft.com/office/powerpoint/2010/main" val="3186798269"/>
              </p:ext>
            </p:extLst>
          </p:nvPr>
        </p:nvGraphicFramePr>
        <p:xfrm>
          <a:off x="-76789" y="1371602"/>
          <a:ext cx="12081975" cy="50965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3" name="Imagen 12">
            <a:hlinkClick r:id="rId9"/>
            <a:extLst>
              <a:ext uri="{FF2B5EF4-FFF2-40B4-BE49-F238E27FC236}">
                <a16:creationId xmlns:a16="http://schemas.microsoft.com/office/drawing/2014/main" id="{22FFBD0E-A330-84C7-CC73-CDA3B789BF07}"/>
              </a:ext>
            </a:extLst>
          </p:cNvPr>
          <p:cNvPicPr>
            <a:picLocks noChangeAspect="1"/>
          </p:cNvPicPr>
          <p:nvPr/>
        </p:nvPicPr>
        <p:blipFill>
          <a:blip r:embed="rId10"/>
          <a:stretch>
            <a:fillRect/>
          </a:stretch>
        </p:blipFill>
        <p:spPr>
          <a:xfrm>
            <a:off x="704295" y="4675345"/>
            <a:ext cx="3126658" cy="1861816"/>
          </a:xfrm>
          <a:prstGeom prst="rect">
            <a:avLst/>
          </a:prstGeom>
        </p:spPr>
      </p:pic>
      <p:sp>
        <p:nvSpPr>
          <p:cNvPr id="14" name="CuadroTexto 13">
            <a:extLst>
              <a:ext uri="{FF2B5EF4-FFF2-40B4-BE49-F238E27FC236}">
                <a16:creationId xmlns:a16="http://schemas.microsoft.com/office/drawing/2014/main" id="{B0801C35-E01A-5F1E-AB27-6DAF6CC7C7D3}"/>
              </a:ext>
            </a:extLst>
          </p:cNvPr>
          <p:cNvSpPr txBox="1"/>
          <p:nvPr/>
        </p:nvSpPr>
        <p:spPr>
          <a:xfrm>
            <a:off x="8170606" y="1859370"/>
            <a:ext cx="3238833" cy="369332"/>
          </a:xfrm>
          <a:prstGeom prst="rect">
            <a:avLst/>
          </a:prstGeom>
          <a:noFill/>
        </p:spPr>
        <p:txBody>
          <a:bodyPr wrap="square" rtlCol="0">
            <a:spAutoFit/>
          </a:bodyPr>
          <a:lstStyle/>
          <a:p>
            <a:pPr algn="ctr"/>
            <a:r>
              <a:rPr lang="es-ES" dirty="0">
                <a:hlinkClick r:id="rId11"/>
              </a:rPr>
              <a:t>Vídeo explicativo</a:t>
            </a:r>
            <a:endParaRPr lang="es-ES" dirty="0"/>
          </a:p>
        </p:txBody>
      </p:sp>
    </p:spTree>
    <p:extLst>
      <p:ext uri="{BB962C8B-B14F-4D97-AF65-F5344CB8AC3E}">
        <p14:creationId xmlns:p14="http://schemas.microsoft.com/office/powerpoint/2010/main" val="1955131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D</a:t>
            </a:r>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 LA CUNA A LA CUNA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CuadroTexto 2">
            <a:extLst>
              <a:ext uri="{FF2B5EF4-FFF2-40B4-BE49-F238E27FC236}">
                <a16:creationId xmlns:a16="http://schemas.microsoft.com/office/drawing/2014/main" id="{266BE580-60B2-E7EC-3CCD-676EC93FA837}"/>
              </a:ext>
            </a:extLst>
          </p:cNvPr>
          <p:cNvSpPr txBox="1"/>
          <p:nvPr/>
        </p:nvSpPr>
        <p:spPr>
          <a:xfrm>
            <a:off x="8374588" y="3045650"/>
            <a:ext cx="3272853" cy="369332"/>
          </a:xfrm>
          <a:prstGeom prst="rect">
            <a:avLst/>
          </a:prstGeom>
          <a:noFill/>
        </p:spPr>
        <p:txBody>
          <a:bodyPr wrap="square" rtlCol="0">
            <a:spAutoFit/>
          </a:bodyPr>
          <a:lstStyle/>
          <a:p>
            <a:pPr algn="ctr"/>
            <a:r>
              <a:rPr lang="es-ES" dirty="0">
                <a:hlinkClick r:id="rId4"/>
              </a:rPr>
              <a:t>Vídeo Explicativo</a:t>
            </a:r>
            <a:endParaRPr lang="es-ES" dirty="0"/>
          </a:p>
        </p:txBody>
      </p:sp>
      <p:pic>
        <p:nvPicPr>
          <p:cNvPr id="1026" name="Picture 2" descr="OnInnovation Interview: William McDonough | From the &quot;Collec… | Flickr">
            <a:extLst>
              <a:ext uri="{FF2B5EF4-FFF2-40B4-BE49-F238E27FC236}">
                <a16:creationId xmlns:a16="http://schemas.microsoft.com/office/drawing/2014/main" id="{63753C9F-D5F9-540E-7AF7-BED29DAB27F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4538" t="-694" b="694"/>
          <a:stretch/>
        </p:blipFill>
        <p:spPr bwMode="auto">
          <a:xfrm>
            <a:off x="9360209" y="4456851"/>
            <a:ext cx="1301612" cy="132556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11BA0624-19FF-EA73-7CDD-10697BFBE442}"/>
              </a:ext>
            </a:extLst>
          </p:cNvPr>
          <p:cNvSpPr txBox="1"/>
          <p:nvPr/>
        </p:nvSpPr>
        <p:spPr>
          <a:xfrm>
            <a:off x="8713157" y="6126570"/>
            <a:ext cx="2595716" cy="369332"/>
          </a:xfrm>
          <a:prstGeom prst="rect">
            <a:avLst/>
          </a:prstGeom>
          <a:noFill/>
        </p:spPr>
        <p:txBody>
          <a:bodyPr wrap="square" rtlCol="0">
            <a:spAutoFit/>
          </a:bodyPr>
          <a:lstStyle/>
          <a:p>
            <a:pPr algn="ctr"/>
            <a:r>
              <a:rPr lang="es-ES" dirty="0"/>
              <a:t>William </a:t>
            </a:r>
            <a:r>
              <a:rPr lang="es-ES" dirty="0" err="1"/>
              <a:t>McDonough</a:t>
            </a:r>
            <a:endParaRPr lang="es-ES" dirty="0"/>
          </a:p>
        </p:txBody>
      </p:sp>
      <p:pic>
        <p:nvPicPr>
          <p:cNvPr id="1028" name="Picture 4" descr="Category:Michael Braungart - Wikimedia Commons">
            <a:extLst>
              <a:ext uri="{FF2B5EF4-FFF2-40B4-BE49-F238E27FC236}">
                <a16:creationId xmlns:a16="http://schemas.microsoft.com/office/drawing/2014/main" id="{3378A780-4C1E-8CD0-6B52-2968C9FB1F8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0101" b="21007"/>
          <a:stretch/>
        </p:blipFill>
        <p:spPr bwMode="auto">
          <a:xfrm>
            <a:off x="1146688" y="4341286"/>
            <a:ext cx="1524000" cy="157486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FB12D63C-46A9-20DA-8F34-90D1A24C9846}"/>
              </a:ext>
            </a:extLst>
          </p:cNvPr>
          <p:cNvSpPr txBox="1"/>
          <p:nvPr/>
        </p:nvSpPr>
        <p:spPr>
          <a:xfrm>
            <a:off x="559210" y="6103064"/>
            <a:ext cx="2698955" cy="369332"/>
          </a:xfrm>
          <a:prstGeom prst="rect">
            <a:avLst/>
          </a:prstGeom>
          <a:noFill/>
        </p:spPr>
        <p:txBody>
          <a:bodyPr wrap="square" rtlCol="0">
            <a:spAutoFit/>
          </a:bodyPr>
          <a:lstStyle/>
          <a:p>
            <a:pPr algn="ctr"/>
            <a:r>
              <a:rPr lang="es-ES" dirty="0"/>
              <a:t>Michael </a:t>
            </a:r>
            <a:r>
              <a:rPr lang="es-ES" dirty="0" err="1"/>
              <a:t>Braungart</a:t>
            </a:r>
            <a:endParaRPr lang="es-ES" dirty="0"/>
          </a:p>
        </p:txBody>
      </p:sp>
      <p:sp>
        <p:nvSpPr>
          <p:cNvPr id="8" name="Rectángulo: una sola esquina redondeada 7">
            <a:extLst>
              <a:ext uri="{FF2B5EF4-FFF2-40B4-BE49-F238E27FC236}">
                <a16:creationId xmlns:a16="http://schemas.microsoft.com/office/drawing/2014/main" id="{8C066608-FFE1-7A0B-D548-5518F4C8277C}"/>
              </a:ext>
            </a:extLst>
          </p:cNvPr>
          <p:cNvSpPr/>
          <p:nvPr/>
        </p:nvSpPr>
        <p:spPr>
          <a:xfrm>
            <a:off x="3421622" y="1755058"/>
            <a:ext cx="5112703" cy="4569135"/>
          </a:xfrm>
          <a:prstGeom prst="round1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i="1" dirty="0"/>
              <a:t>La ecoeficiencia es un concepto aparentemente admirable, incluso noble, pero no es una estrategia para el éxito a largo plazo, porque no alcanza suficiente. Funciona dentro del mismo sistema que causó el problema inicialmente, simplemente ralentizándolo con proscripciones morales y medidas punitivas. Presenta poco más que una ilusión de cambio. Confiar en la ecoeficiencia para salvar el medio ambiente logrará, de hecho, lo contrario: permitirá que la industria acabe con todo, silenciosa, persistente y completamente.</a:t>
            </a:r>
          </a:p>
        </p:txBody>
      </p:sp>
      <p:pic>
        <p:nvPicPr>
          <p:cNvPr id="1030" name="Picture 6">
            <a:extLst>
              <a:ext uri="{FF2B5EF4-FFF2-40B4-BE49-F238E27FC236}">
                <a16:creationId xmlns:a16="http://schemas.microsoft.com/office/drawing/2014/main" id="{75108876-886B-B52D-1948-F7A426165D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4239" y="1755056"/>
            <a:ext cx="1411499" cy="2288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0207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D</a:t>
            </a:r>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 LA CUNA A LA CUNA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diagonales redondeadas 2">
            <a:extLst>
              <a:ext uri="{FF2B5EF4-FFF2-40B4-BE49-F238E27FC236}">
                <a16:creationId xmlns:a16="http://schemas.microsoft.com/office/drawing/2014/main" id="{308B2A42-1A42-8E23-2D47-1A554248D5CD}"/>
              </a:ext>
            </a:extLst>
          </p:cNvPr>
          <p:cNvSpPr/>
          <p:nvPr/>
        </p:nvSpPr>
        <p:spPr>
          <a:xfrm>
            <a:off x="6140235" y="1548667"/>
            <a:ext cx="3333135" cy="634164"/>
          </a:xfrm>
          <a:prstGeom prst="round2Diag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DESECHOS = COMIDA</a:t>
            </a:r>
          </a:p>
        </p:txBody>
      </p:sp>
      <p:graphicFrame>
        <p:nvGraphicFramePr>
          <p:cNvPr id="8" name="Diagrama 7">
            <a:extLst>
              <a:ext uri="{FF2B5EF4-FFF2-40B4-BE49-F238E27FC236}">
                <a16:creationId xmlns:a16="http://schemas.microsoft.com/office/drawing/2014/main" id="{581BE590-4BC9-D8FE-B954-2F29D8828C9E}"/>
              </a:ext>
            </a:extLst>
          </p:cNvPr>
          <p:cNvGraphicFramePr/>
          <p:nvPr>
            <p:extLst>
              <p:ext uri="{D42A27DB-BD31-4B8C-83A1-F6EECF244321}">
                <p14:modId xmlns:p14="http://schemas.microsoft.com/office/powerpoint/2010/main" val="3512801378"/>
              </p:ext>
            </p:extLst>
          </p:nvPr>
        </p:nvGraphicFramePr>
        <p:xfrm>
          <a:off x="4339294" y="2506292"/>
          <a:ext cx="6935019" cy="39618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Rectángulo 9">
            <a:extLst>
              <a:ext uri="{FF2B5EF4-FFF2-40B4-BE49-F238E27FC236}">
                <a16:creationId xmlns:a16="http://schemas.microsoft.com/office/drawing/2014/main" id="{6C85C049-BDA3-885E-7366-807ACBF8D098}"/>
              </a:ext>
            </a:extLst>
          </p:cNvPr>
          <p:cNvSpPr/>
          <p:nvPr/>
        </p:nvSpPr>
        <p:spPr>
          <a:xfrm>
            <a:off x="737410" y="3764564"/>
            <a:ext cx="1784555" cy="1445336"/>
          </a:xfrm>
          <a:prstGeom prst="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Tipos de Materiales</a:t>
            </a:r>
          </a:p>
        </p:txBody>
      </p:sp>
      <p:sp>
        <p:nvSpPr>
          <p:cNvPr id="11" name="Flecha: a la derecha 10">
            <a:extLst>
              <a:ext uri="{FF2B5EF4-FFF2-40B4-BE49-F238E27FC236}">
                <a16:creationId xmlns:a16="http://schemas.microsoft.com/office/drawing/2014/main" id="{F204F054-CFBC-5814-8B42-5A7766B2D2FE}"/>
              </a:ext>
            </a:extLst>
          </p:cNvPr>
          <p:cNvSpPr/>
          <p:nvPr/>
        </p:nvSpPr>
        <p:spPr>
          <a:xfrm>
            <a:off x="2861178" y="4273380"/>
            <a:ext cx="1091380" cy="427704"/>
          </a:xfrm>
          <a:prstGeom prst="rightArrow">
            <a:avLst/>
          </a:prstGeom>
          <a:solidFill>
            <a:schemeClr val="accent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078D646E-907F-89BA-31E6-B039FF805585}"/>
              </a:ext>
            </a:extLst>
          </p:cNvPr>
          <p:cNvSpPr txBox="1"/>
          <p:nvPr/>
        </p:nvSpPr>
        <p:spPr>
          <a:xfrm>
            <a:off x="339213" y="1581588"/>
            <a:ext cx="3097161" cy="1477328"/>
          </a:xfrm>
          <a:prstGeom prst="rect">
            <a:avLst/>
          </a:prstGeom>
          <a:noFill/>
        </p:spPr>
        <p:txBody>
          <a:bodyPr wrap="square" rtlCol="0">
            <a:spAutoFit/>
          </a:bodyPr>
          <a:lstStyle/>
          <a:p>
            <a:pPr algn="just"/>
            <a:r>
              <a:rPr lang="es-ES" dirty="0"/>
              <a:t>Esta filosofía defiende que solamente se deben trabajar con dos tipos de materiales, los </a:t>
            </a:r>
            <a:r>
              <a:rPr lang="es-ES" b="1" dirty="0"/>
              <a:t>nutrientes biológicos </a:t>
            </a:r>
            <a:r>
              <a:rPr lang="es-ES" dirty="0"/>
              <a:t>y los </a:t>
            </a:r>
            <a:r>
              <a:rPr lang="es-ES" b="1" dirty="0"/>
              <a:t>nutrientes técnicos</a:t>
            </a:r>
            <a:r>
              <a:rPr lang="es-ES" dirty="0"/>
              <a:t>.</a:t>
            </a:r>
          </a:p>
        </p:txBody>
      </p:sp>
    </p:spTree>
    <p:extLst>
      <p:ext uri="{BB962C8B-B14F-4D97-AF65-F5344CB8AC3E}">
        <p14:creationId xmlns:p14="http://schemas.microsoft.com/office/powerpoint/2010/main" val="40984867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D</a:t>
            </a:r>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 LA CUNA A LA CUNA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descr="Diagrama&#10;&#10;Descripción generada automáticamente">
            <a:extLst>
              <a:ext uri="{FF2B5EF4-FFF2-40B4-BE49-F238E27FC236}">
                <a16:creationId xmlns:a16="http://schemas.microsoft.com/office/drawing/2014/main" id="{CEE8AC5D-1CF4-835C-5770-5F74E790F833}"/>
              </a:ext>
            </a:extLst>
          </p:cNvPr>
          <p:cNvPicPr>
            <a:picLocks noChangeAspect="1"/>
          </p:cNvPicPr>
          <p:nvPr/>
        </p:nvPicPr>
        <p:blipFill rotWithShape="1">
          <a:blip r:embed="rId4">
            <a:extLst>
              <a:ext uri="{28A0092B-C50C-407E-A947-70E740481C1C}">
                <a14:useLocalDpi xmlns:a14="http://schemas.microsoft.com/office/drawing/2010/main" val="0"/>
              </a:ext>
            </a:extLst>
          </a:blip>
          <a:srcRect t="27059" b="26914"/>
          <a:stretch/>
        </p:blipFill>
        <p:spPr bwMode="auto">
          <a:xfrm>
            <a:off x="265471" y="1385549"/>
            <a:ext cx="8082116" cy="5261646"/>
          </a:xfrm>
          <a:prstGeom prst="rect">
            <a:avLst/>
          </a:prstGeom>
          <a:ln>
            <a:noFill/>
          </a:ln>
          <a:extLst>
            <a:ext uri="{53640926-AAD7-44D8-BBD7-CCE9431645EC}">
              <a14:shadowObscured xmlns:a14="http://schemas.microsoft.com/office/drawing/2010/main"/>
            </a:ext>
          </a:extLst>
        </p:spPr>
      </p:pic>
      <p:sp>
        <p:nvSpPr>
          <p:cNvPr id="6" name="Rectángulo: esquinas redondeadas 5">
            <a:extLst>
              <a:ext uri="{FF2B5EF4-FFF2-40B4-BE49-F238E27FC236}">
                <a16:creationId xmlns:a16="http://schemas.microsoft.com/office/drawing/2014/main" id="{DF919C59-E41E-9452-CA38-61948570CB2E}"/>
              </a:ext>
            </a:extLst>
          </p:cNvPr>
          <p:cNvSpPr/>
          <p:nvPr/>
        </p:nvSpPr>
        <p:spPr>
          <a:xfrm>
            <a:off x="8952271" y="2064774"/>
            <a:ext cx="2344994" cy="2787445"/>
          </a:xfrm>
          <a:prstGeom prst="roundRect">
            <a:avLst/>
          </a:prstGeom>
          <a:solidFill>
            <a:schemeClr val="bg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Se definen dos ciclos o “metabolismos” diferenciados, el biológico y el técnico, que no se mezclan entre sí</a:t>
            </a:r>
          </a:p>
        </p:txBody>
      </p:sp>
    </p:spTree>
    <p:extLst>
      <p:ext uri="{BB962C8B-B14F-4D97-AF65-F5344CB8AC3E}">
        <p14:creationId xmlns:p14="http://schemas.microsoft.com/office/powerpoint/2010/main" val="34098968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D</a:t>
            </a:r>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E LA CUNA A LA CUNA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diagonales redondeadas 2">
            <a:extLst>
              <a:ext uri="{FF2B5EF4-FFF2-40B4-BE49-F238E27FC236}">
                <a16:creationId xmlns:a16="http://schemas.microsoft.com/office/drawing/2014/main" id="{FA9CA68A-D800-DA12-AA95-D4DDFF2AD491}"/>
              </a:ext>
            </a:extLst>
          </p:cNvPr>
          <p:cNvSpPr/>
          <p:nvPr/>
        </p:nvSpPr>
        <p:spPr>
          <a:xfrm>
            <a:off x="4429432" y="1542288"/>
            <a:ext cx="3333135" cy="634164"/>
          </a:xfrm>
          <a:prstGeom prst="round2Diag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Otras Características</a:t>
            </a:r>
          </a:p>
        </p:txBody>
      </p:sp>
      <p:sp>
        <p:nvSpPr>
          <p:cNvPr id="8" name="CuadroTexto 7">
            <a:extLst>
              <a:ext uri="{FF2B5EF4-FFF2-40B4-BE49-F238E27FC236}">
                <a16:creationId xmlns:a16="http://schemas.microsoft.com/office/drawing/2014/main" id="{4357E2A5-B5F8-E243-CE2E-145432C8599A}"/>
              </a:ext>
            </a:extLst>
          </p:cNvPr>
          <p:cNvSpPr txBox="1"/>
          <p:nvPr/>
        </p:nvSpPr>
        <p:spPr>
          <a:xfrm>
            <a:off x="280220" y="2577310"/>
            <a:ext cx="11518490" cy="369332"/>
          </a:xfrm>
          <a:prstGeom prst="rect">
            <a:avLst/>
          </a:prstGeom>
          <a:solidFill>
            <a:schemeClr val="accent2">
              <a:lumMod val="20000"/>
              <a:lumOff val="80000"/>
            </a:schemeClr>
          </a:solidFill>
          <a:effectLst>
            <a:glow rad="139700">
              <a:schemeClr val="accent3">
                <a:satMod val="175000"/>
                <a:alpha val="40000"/>
              </a:schemeClr>
            </a:glow>
          </a:effectLst>
        </p:spPr>
        <p:txBody>
          <a:bodyPr wrap="square" rtlCol="0">
            <a:spAutoFit/>
          </a:bodyPr>
          <a:lstStyle/>
          <a:p>
            <a:pPr marL="285750" indent="-285750">
              <a:buFont typeface="Arial" panose="020B0604020202020204" pitchFamily="34" charset="0"/>
              <a:buChar char="•"/>
            </a:pPr>
            <a:r>
              <a:rPr lang="es-ES" dirty="0"/>
              <a:t>Retirar y almacenar de forma segura materiales que son peligrosos hasta que aparezca la tecnología de recuperación.</a:t>
            </a:r>
          </a:p>
        </p:txBody>
      </p:sp>
      <p:sp>
        <p:nvSpPr>
          <p:cNvPr id="10" name="CuadroTexto 9">
            <a:extLst>
              <a:ext uri="{FF2B5EF4-FFF2-40B4-BE49-F238E27FC236}">
                <a16:creationId xmlns:a16="http://schemas.microsoft.com/office/drawing/2014/main" id="{B14B0301-5B9B-4FEE-9639-9C9259207054}"/>
              </a:ext>
            </a:extLst>
          </p:cNvPr>
          <p:cNvSpPr txBox="1"/>
          <p:nvPr/>
        </p:nvSpPr>
        <p:spPr>
          <a:xfrm>
            <a:off x="280220" y="3380583"/>
            <a:ext cx="11518490" cy="369332"/>
          </a:xfrm>
          <a:prstGeom prst="rect">
            <a:avLst/>
          </a:prstGeom>
          <a:solidFill>
            <a:schemeClr val="accent2">
              <a:lumMod val="20000"/>
              <a:lumOff val="80000"/>
            </a:schemeClr>
          </a:solidFill>
          <a:effectLst>
            <a:glow rad="139700">
              <a:schemeClr val="accent3">
                <a:satMod val="175000"/>
                <a:alpha val="40000"/>
              </a:schemeClr>
            </a:glow>
          </a:effectLst>
        </p:spPr>
        <p:txBody>
          <a:bodyPr wrap="square" rtlCol="0">
            <a:spAutoFit/>
          </a:bodyPr>
          <a:lstStyle/>
          <a:p>
            <a:pPr marL="285750" indent="-285750">
              <a:buFont typeface="Arial" panose="020B0604020202020204" pitchFamily="34" charset="0"/>
              <a:buChar char="•"/>
            </a:pPr>
            <a:r>
              <a:rPr lang="es-ES" dirty="0"/>
              <a:t>En la aplicación industrial </a:t>
            </a:r>
            <a:r>
              <a:rPr lang="es-ES" i="1" dirty="0"/>
              <a:t>de </a:t>
            </a:r>
            <a:r>
              <a:rPr lang="es-ES" i="1" dirty="0" err="1"/>
              <a:t>cradle</a:t>
            </a:r>
            <a:r>
              <a:rPr lang="es-ES" i="1" dirty="0"/>
              <a:t> </a:t>
            </a:r>
            <a:r>
              <a:rPr lang="es-ES" i="1" dirty="0" err="1"/>
              <a:t>to</a:t>
            </a:r>
            <a:r>
              <a:rPr lang="es-ES" i="1" dirty="0"/>
              <a:t> </a:t>
            </a:r>
            <a:r>
              <a:rPr lang="es-ES" i="1" dirty="0" err="1"/>
              <a:t>cradle</a:t>
            </a:r>
            <a:r>
              <a:rPr lang="es-ES" dirty="0"/>
              <a:t>, la economía debe ser local y de tamaño moderado.</a:t>
            </a:r>
          </a:p>
        </p:txBody>
      </p:sp>
      <p:sp>
        <p:nvSpPr>
          <p:cNvPr id="11" name="CuadroTexto 10">
            <a:extLst>
              <a:ext uri="{FF2B5EF4-FFF2-40B4-BE49-F238E27FC236}">
                <a16:creationId xmlns:a16="http://schemas.microsoft.com/office/drawing/2014/main" id="{D0ACE4D1-8363-0086-3FCF-651E5F6A1C92}"/>
              </a:ext>
            </a:extLst>
          </p:cNvPr>
          <p:cNvSpPr txBox="1"/>
          <p:nvPr/>
        </p:nvSpPr>
        <p:spPr>
          <a:xfrm>
            <a:off x="280220" y="4183856"/>
            <a:ext cx="11518490" cy="369332"/>
          </a:xfrm>
          <a:prstGeom prst="rect">
            <a:avLst/>
          </a:prstGeom>
          <a:solidFill>
            <a:schemeClr val="accent2">
              <a:lumMod val="20000"/>
              <a:lumOff val="80000"/>
            </a:schemeClr>
          </a:solidFill>
          <a:effectLst>
            <a:glow rad="139700">
              <a:schemeClr val="accent3">
                <a:satMod val="175000"/>
                <a:alpha val="40000"/>
              </a:schemeClr>
            </a:glow>
          </a:effectLst>
        </p:spPr>
        <p:txBody>
          <a:bodyPr wrap="square" rtlCol="0">
            <a:spAutoFit/>
          </a:bodyPr>
          <a:lstStyle/>
          <a:p>
            <a:pPr marL="285750" indent="-285750">
              <a:buFont typeface="Arial" panose="020B0604020202020204" pitchFamily="34" charset="0"/>
              <a:buChar char="•"/>
            </a:pPr>
            <a:r>
              <a:rPr lang="es-ES" dirty="0"/>
              <a:t>Debe ser capaz de crear riqueza en los alrededores y ser considerada con los trabajadores.</a:t>
            </a:r>
          </a:p>
        </p:txBody>
      </p:sp>
      <p:sp>
        <p:nvSpPr>
          <p:cNvPr id="12" name="CuadroTexto 11">
            <a:extLst>
              <a:ext uri="{FF2B5EF4-FFF2-40B4-BE49-F238E27FC236}">
                <a16:creationId xmlns:a16="http://schemas.microsoft.com/office/drawing/2014/main" id="{65EC316D-E8A4-F321-E99D-069240054891}"/>
              </a:ext>
            </a:extLst>
          </p:cNvPr>
          <p:cNvSpPr txBox="1"/>
          <p:nvPr/>
        </p:nvSpPr>
        <p:spPr>
          <a:xfrm>
            <a:off x="280220" y="4987129"/>
            <a:ext cx="11518490" cy="369332"/>
          </a:xfrm>
          <a:prstGeom prst="rect">
            <a:avLst/>
          </a:prstGeom>
          <a:solidFill>
            <a:schemeClr val="accent2">
              <a:lumMod val="20000"/>
              <a:lumOff val="80000"/>
            </a:schemeClr>
          </a:solidFill>
          <a:effectLst>
            <a:glow rad="139700">
              <a:schemeClr val="accent3">
                <a:satMod val="175000"/>
                <a:alpha val="40000"/>
              </a:schemeClr>
            </a:glow>
          </a:effectLst>
        </p:spPr>
        <p:txBody>
          <a:bodyPr wrap="square" rtlCol="0">
            <a:spAutoFit/>
          </a:bodyPr>
          <a:lstStyle/>
          <a:p>
            <a:pPr marL="285750" indent="-285750">
              <a:buFont typeface="Arial" panose="020B0604020202020204" pitchFamily="34" charset="0"/>
              <a:buChar char="•"/>
            </a:pPr>
            <a:r>
              <a:rPr lang="es-ES" dirty="0"/>
              <a:t>Es necesaria la diversidad de productos y adaptada al entorno.</a:t>
            </a:r>
          </a:p>
        </p:txBody>
      </p:sp>
      <p:sp>
        <p:nvSpPr>
          <p:cNvPr id="13" name="CuadroTexto 12">
            <a:extLst>
              <a:ext uri="{FF2B5EF4-FFF2-40B4-BE49-F238E27FC236}">
                <a16:creationId xmlns:a16="http://schemas.microsoft.com/office/drawing/2014/main" id="{AE37CEBC-910A-C8B6-193F-10AA2C576935}"/>
              </a:ext>
            </a:extLst>
          </p:cNvPr>
          <p:cNvSpPr txBox="1"/>
          <p:nvPr/>
        </p:nvSpPr>
        <p:spPr>
          <a:xfrm>
            <a:off x="336754" y="5790402"/>
            <a:ext cx="11518490" cy="369332"/>
          </a:xfrm>
          <a:prstGeom prst="rect">
            <a:avLst/>
          </a:prstGeom>
          <a:solidFill>
            <a:schemeClr val="accent2">
              <a:lumMod val="20000"/>
              <a:lumOff val="80000"/>
            </a:schemeClr>
          </a:solidFill>
          <a:effectLst>
            <a:glow rad="139700">
              <a:schemeClr val="accent3">
                <a:satMod val="175000"/>
                <a:alpha val="40000"/>
              </a:schemeClr>
            </a:glow>
          </a:effectLst>
        </p:spPr>
        <p:txBody>
          <a:bodyPr wrap="square" rtlCol="0">
            <a:spAutoFit/>
          </a:bodyPr>
          <a:lstStyle/>
          <a:p>
            <a:pPr marL="285750" indent="-285750">
              <a:buFont typeface="Arial" panose="020B0604020202020204" pitchFamily="34" charset="0"/>
              <a:buChar char="•"/>
            </a:pPr>
            <a:r>
              <a:rPr lang="es-ES" dirty="0"/>
              <a:t>Basada en energías renovables, no contaminante y capaz de regenerar la naturaleza.</a:t>
            </a:r>
          </a:p>
        </p:txBody>
      </p:sp>
      <p:sp>
        <p:nvSpPr>
          <p:cNvPr id="14" name="Flecha: curvada hacia la derecha 13">
            <a:extLst>
              <a:ext uri="{FF2B5EF4-FFF2-40B4-BE49-F238E27FC236}">
                <a16:creationId xmlns:a16="http://schemas.microsoft.com/office/drawing/2014/main" id="{AD5036E1-C4EE-5EF6-5593-1A999827DA05}"/>
              </a:ext>
            </a:extLst>
          </p:cNvPr>
          <p:cNvSpPr/>
          <p:nvPr/>
        </p:nvSpPr>
        <p:spPr>
          <a:xfrm>
            <a:off x="8609645" y="1451712"/>
            <a:ext cx="498844" cy="819727"/>
          </a:xfrm>
          <a:prstGeom prst="curvedRightArrow">
            <a:avLst/>
          </a:prstGeom>
          <a:solidFill>
            <a:schemeClr val="tx1">
              <a:lumMod val="65000"/>
              <a:lumOff val="3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5" name="Flecha: curvada hacia la derecha 14">
            <a:extLst>
              <a:ext uri="{FF2B5EF4-FFF2-40B4-BE49-F238E27FC236}">
                <a16:creationId xmlns:a16="http://schemas.microsoft.com/office/drawing/2014/main" id="{ACB44B4B-9F4F-D098-CBFD-EB94143216D6}"/>
              </a:ext>
            </a:extLst>
          </p:cNvPr>
          <p:cNvSpPr/>
          <p:nvPr/>
        </p:nvSpPr>
        <p:spPr>
          <a:xfrm flipH="1" flipV="1">
            <a:off x="9365834" y="1451712"/>
            <a:ext cx="498844" cy="819727"/>
          </a:xfrm>
          <a:prstGeom prst="curvedRightArrow">
            <a:avLst/>
          </a:prstGeom>
          <a:solidFill>
            <a:schemeClr val="tx1">
              <a:lumMod val="65000"/>
              <a:lumOff val="3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Tree>
    <p:extLst>
      <p:ext uri="{BB962C8B-B14F-4D97-AF65-F5344CB8AC3E}">
        <p14:creationId xmlns:p14="http://schemas.microsoft.com/office/powerpoint/2010/main" val="1176043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3.4. DISEÑO, FABRICACIÓN Y UTILIZACIÓN DE PRODUCTOS SOSTENIBLES</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4869000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8A809CC-E6D3-5F60-09C6-6E26C5F686DE}"/>
              </a:ext>
            </a:extLst>
          </p:cNvPr>
          <p:cNvPicPr>
            <a:picLocks noChangeAspect="1"/>
          </p:cNvPicPr>
          <p:nvPr/>
        </p:nvPicPr>
        <p:blipFill>
          <a:blip r:embed="rId3"/>
          <a:srcRect t="4874" b="4095"/>
          <a:stretch/>
        </p:blipFill>
        <p:spPr>
          <a:xfrm>
            <a:off x="1732011" y="1308834"/>
            <a:ext cx="7117020" cy="5397353"/>
          </a:xfrm>
          <a:prstGeom prst="rect">
            <a:avLst/>
          </a:prstGeom>
        </p:spPr>
      </p:pic>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PRODUCTOS SOSTENIBLES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3651643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CICLO DE VIDA DE LOS PRODUCTOS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aphicFrame>
        <p:nvGraphicFramePr>
          <p:cNvPr id="3" name="Diagrama 2">
            <a:extLst>
              <a:ext uri="{FF2B5EF4-FFF2-40B4-BE49-F238E27FC236}">
                <a16:creationId xmlns:a16="http://schemas.microsoft.com/office/drawing/2014/main" id="{F97BE1AF-9F5A-A216-6463-40C1CBBAA110}"/>
              </a:ext>
            </a:extLst>
          </p:cNvPr>
          <p:cNvGraphicFramePr/>
          <p:nvPr>
            <p:extLst>
              <p:ext uri="{D42A27DB-BD31-4B8C-83A1-F6EECF244321}">
                <p14:modId xmlns:p14="http://schemas.microsoft.com/office/powerpoint/2010/main" val="2888277877"/>
              </p:ext>
            </p:extLst>
          </p:nvPr>
        </p:nvGraphicFramePr>
        <p:xfrm>
          <a:off x="4391703" y="1297863"/>
          <a:ext cx="8673483" cy="52504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Imagen 7">
            <a:extLst>
              <a:ext uri="{FF2B5EF4-FFF2-40B4-BE49-F238E27FC236}">
                <a16:creationId xmlns:a16="http://schemas.microsoft.com/office/drawing/2014/main" id="{D99F4707-3AB3-5E16-9D22-D1F3077A1F70}"/>
              </a:ext>
            </a:extLst>
          </p:cNvPr>
          <p:cNvPicPr>
            <a:picLocks noChangeAspect="1"/>
          </p:cNvPicPr>
          <p:nvPr/>
        </p:nvPicPr>
        <p:blipFill>
          <a:blip r:embed="rId9"/>
          <a:stretch>
            <a:fillRect/>
          </a:stretch>
        </p:blipFill>
        <p:spPr>
          <a:xfrm>
            <a:off x="2813215" y="5556378"/>
            <a:ext cx="3012360" cy="958478"/>
          </a:xfrm>
          <a:prstGeom prst="rect">
            <a:avLst/>
          </a:prstGeom>
        </p:spPr>
      </p:pic>
      <p:sp>
        <p:nvSpPr>
          <p:cNvPr id="10" name="Rectángulo 9">
            <a:extLst>
              <a:ext uri="{FF2B5EF4-FFF2-40B4-BE49-F238E27FC236}">
                <a16:creationId xmlns:a16="http://schemas.microsoft.com/office/drawing/2014/main" id="{6E827B0F-4C1E-68B9-96A5-D7718C84A2D1}"/>
              </a:ext>
            </a:extLst>
          </p:cNvPr>
          <p:cNvSpPr/>
          <p:nvPr/>
        </p:nvSpPr>
        <p:spPr>
          <a:xfrm>
            <a:off x="5855070" y="4439269"/>
            <a:ext cx="1435533" cy="11891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hacia la izquierda 10">
            <a:extLst>
              <a:ext uri="{FF2B5EF4-FFF2-40B4-BE49-F238E27FC236}">
                <a16:creationId xmlns:a16="http://schemas.microsoft.com/office/drawing/2014/main" id="{9808E79A-F86A-10F6-E1E2-5AD76D87E10D}"/>
              </a:ext>
            </a:extLst>
          </p:cNvPr>
          <p:cNvSpPr/>
          <p:nvPr/>
        </p:nvSpPr>
        <p:spPr>
          <a:xfrm>
            <a:off x="6032052" y="5917633"/>
            <a:ext cx="987322" cy="259080"/>
          </a:xfrm>
          <a:prstGeom prst="leftArrow">
            <a:avLst/>
          </a:prstGeom>
          <a:solidFill>
            <a:schemeClr val="accent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3" name="Imagen 12">
            <a:extLst>
              <a:ext uri="{FF2B5EF4-FFF2-40B4-BE49-F238E27FC236}">
                <a16:creationId xmlns:a16="http://schemas.microsoft.com/office/drawing/2014/main" id="{8C946D37-1939-7A48-3E5A-A0BDB8C411B1}"/>
              </a:ext>
            </a:extLst>
          </p:cNvPr>
          <p:cNvPicPr>
            <a:picLocks noChangeAspect="1"/>
          </p:cNvPicPr>
          <p:nvPr/>
        </p:nvPicPr>
        <p:blipFill>
          <a:blip r:embed="rId10"/>
          <a:stretch>
            <a:fillRect/>
          </a:stretch>
        </p:blipFill>
        <p:spPr>
          <a:xfrm>
            <a:off x="4153982" y="4190969"/>
            <a:ext cx="4736690" cy="1058578"/>
          </a:xfrm>
          <a:prstGeom prst="rect">
            <a:avLst/>
          </a:prstGeom>
        </p:spPr>
      </p:pic>
      <p:grpSp>
        <p:nvGrpSpPr>
          <p:cNvPr id="18" name="Grupo 17">
            <a:extLst>
              <a:ext uri="{FF2B5EF4-FFF2-40B4-BE49-F238E27FC236}">
                <a16:creationId xmlns:a16="http://schemas.microsoft.com/office/drawing/2014/main" id="{1E056067-E006-E4E1-69C5-D36233DC8FAF}"/>
              </a:ext>
            </a:extLst>
          </p:cNvPr>
          <p:cNvGrpSpPr/>
          <p:nvPr/>
        </p:nvGrpSpPr>
        <p:grpSpPr>
          <a:xfrm>
            <a:off x="243475" y="1787499"/>
            <a:ext cx="4199955" cy="1219380"/>
            <a:chOff x="361459" y="1536778"/>
            <a:chExt cx="4199955" cy="1219380"/>
          </a:xfrm>
        </p:grpSpPr>
        <p:pic>
          <p:nvPicPr>
            <p:cNvPr id="15" name="Imagen 14">
              <a:extLst>
                <a:ext uri="{FF2B5EF4-FFF2-40B4-BE49-F238E27FC236}">
                  <a16:creationId xmlns:a16="http://schemas.microsoft.com/office/drawing/2014/main" id="{BD98F682-4B73-3DD3-7B0E-1E2A2D1CA143}"/>
                </a:ext>
              </a:extLst>
            </p:cNvPr>
            <p:cNvPicPr>
              <a:picLocks noChangeAspect="1"/>
            </p:cNvPicPr>
            <p:nvPr/>
          </p:nvPicPr>
          <p:blipFill>
            <a:blip r:embed="rId11"/>
            <a:stretch>
              <a:fillRect/>
            </a:stretch>
          </p:blipFill>
          <p:spPr>
            <a:xfrm>
              <a:off x="361459" y="1536778"/>
              <a:ext cx="1172847" cy="1219379"/>
            </a:xfrm>
            <a:prstGeom prst="rect">
              <a:avLst/>
            </a:prstGeom>
            <a:ln>
              <a:solidFill>
                <a:schemeClr val="accent6">
                  <a:lumMod val="50000"/>
                </a:schemeClr>
              </a:solidFill>
            </a:ln>
          </p:spPr>
        </p:pic>
        <p:sp>
          <p:nvSpPr>
            <p:cNvPr id="16" name="Rectángulo 15">
              <a:extLst>
                <a:ext uri="{FF2B5EF4-FFF2-40B4-BE49-F238E27FC236}">
                  <a16:creationId xmlns:a16="http://schemas.microsoft.com/office/drawing/2014/main" id="{56DC6C58-953E-7742-097C-37EB3B68E447}"/>
                </a:ext>
              </a:extLst>
            </p:cNvPr>
            <p:cNvSpPr/>
            <p:nvPr/>
          </p:nvSpPr>
          <p:spPr>
            <a:xfrm>
              <a:off x="1549054" y="1536779"/>
              <a:ext cx="3012360" cy="1219379"/>
            </a:xfrm>
            <a:prstGeom prst="rect">
              <a:avLst/>
            </a:prstGeom>
            <a:solidFill>
              <a:schemeClr val="accent6">
                <a:lumMod val="75000"/>
              </a:schemeClr>
            </a:solidFill>
            <a:ln>
              <a:solidFill>
                <a:schemeClr val="accent6">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La huella ecológica de un producto la conforman los impactos producidos en todo su ciclo de vida</a:t>
              </a:r>
            </a:p>
          </p:txBody>
        </p:sp>
      </p:grpSp>
      <p:sp>
        <p:nvSpPr>
          <p:cNvPr id="17" name="Flecha: hacia abajo 16">
            <a:extLst>
              <a:ext uri="{FF2B5EF4-FFF2-40B4-BE49-F238E27FC236}">
                <a16:creationId xmlns:a16="http://schemas.microsoft.com/office/drawing/2014/main" id="{DA65DDB5-BB3A-8840-BF94-CF4B241D72A8}"/>
              </a:ext>
            </a:extLst>
          </p:cNvPr>
          <p:cNvSpPr/>
          <p:nvPr/>
        </p:nvSpPr>
        <p:spPr>
          <a:xfrm>
            <a:off x="2051009" y="3151402"/>
            <a:ext cx="584887" cy="521481"/>
          </a:xfrm>
          <a:prstGeom prst="downArrow">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E4394DDA-B58C-4F54-77A0-D47E453D835F}"/>
              </a:ext>
            </a:extLst>
          </p:cNvPr>
          <p:cNvSpPr txBox="1"/>
          <p:nvPr/>
        </p:nvSpPr>
        <p:spPr>
          <a:xfrm>
            <a:off x="243475" y="3760842"/>
            <a:ext cx="4199955" cy="646331"/>
          </a:xfrm>
          <a:prstGeom prst="rect">
            <a:avLst/>
          </a:prstGeom>
          <a:noFill/>
        </p:spPr>
        <p:txBody>
          <a:bodyPr wrap="square" rtlCol="0">
            <a:spAutoFit/>
          </a:bodyPr>
          <a:lstStyle/>
          <a:p>
            <a:pPr algn="ctr"/>
            <a:r>
              <a:rPr lang="es-ES" b="1" dirty="0">
                <a:solidFill>
                  <a:schemeClr val="accent6">
                    <a:lumMod val="50000"/>
                  </a:schemeClr>
                </a:solidFill>
              </a:rPr>
              <a:t>Para reducirla hay que actuar sobre todas las fases del ciclo</a:t>
            </a:r>
          </a:p>
        </p:txBody>
      </p:sp>
    </p:spTree>
    <p:extLst>
      <p:ext uri="{BB962C8B-B14F-4D97-AF65-F5344CB8AC3E}">
        <p14:creationId xmlns:p14="http://schemas.microsoft.com/office/powerpoint/2010/main" val="3193920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SOSTENIBILIDAD EN EL CICLO DE VIDA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superiores cortadas 2">
            <a:extLst>
              <a:ext uri="{FF2B5EF4-FFF2-40B4-BE49-F238E27FC236}">
                <a16:creationId xmlns:a16="http://schemas.microsoft.com/office/drawing/2014/main" id="{18C76564-DB09-67F8-C611-6CDC383AF7FF}"/>
              </a:ext>
            </a:extLst>
          </p:cNvPr>
          <p:cNvSpPr/>
          <p:nvPr/>
        </p:nvSpPr>
        <p:spPr>
          <a:xfrm>
            <a:off x="4719483" y="1401108"/>
            <a:ext cx="2507226" cy="693174"/>
          </a:xfrm>
          <a:prstGeom prst="snip2SameRect">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POSIBLES ESTRATEGIAS</a:t>
            </a:r>
          </a:p>
        </p:txBody>
      </p:sp>
      <p:sp>
        <p:nvSpPr>
          <p:cNvPr id="4" name="Rectángulo 3">
            <a:extLst>
              <a:ext uri="{FF2B5EF4-FFF2-40B4-BE49-F238E27FC236}">
                <a16:creationId xmlns:a16="http://schemas.microsoft.com/office/drawing/2014/main" id="{2D9493E7-4353-C01C-327D-8AF67378D401}"/>
              </a:ext>
            </a:extLst>
          </p:cNvPr>
          <p:cNvSpPr/>
          <p:nvPr/>
        </p:nvSpPr>
        <p:spPr>
          <a:xfrm>
            <a:off x="1401096" y="2305681"/>
            <a:ext cx="3318387" cy="825910"/>
          </a:xfrm>
          <a:prstGeom prst="rect">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err="1"/>
              <a:t>Intraemprendimiento</a:t>
            </a:r>
            <a:r>
              <a:rPr lang="es-ES" sz="2000" b="1" dirty="0"/>
              <a:t> verde o modelo incremental</a:t>
            </a:r>
          </a:p>
        </p:txBody>
      </p:sp>
      <p:sp>
        <p:nvSpPr>
          <p:cNvPr id="8" name="Rectángulo 7">
            <a:extLst>
              <a:ext uri="{FF2B5EF4-FFF2-40B4-BE49-F238E27FC236}">
                <a16:creationId xmlns:a16="http://schemas.microsoft.com/office/drawing/2014/main" id="{4BF97D6D-FC7A-FCAE-4B16-777E88D65DD9}"/>
              </a:ext>
            </a:extLst>
          </p:cNvPr>
          <p:cNvSpPr/>
          <p:nvPr/>
        </p:nvSpPr>
        <p:spPr>
          <a:xfrm>
            <a:off x="7226709" y="2305681"/>
            <a:ext cx="3318387" cy="825910"/>
          </a:xfrm>
          <a:prstGeom prst="rect">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Emprendimiento verde o modelo innovador</a:t>
            </a:r>
          </a:p>
        </p:txBody>
      </p:sp>
      <p:sp>
        <p:nvSpPr>
          <p:cNvPr id="6" name="Flecha: hacia abajo 5">
            <a:extLst>
              <a:ext uri="{FF2B5EF4-FFF2-40B4-BE49-F238E27FC236}">
                <a16:creationId xmlns:a16="http://schemas.microsoft.com/office/drawing/2014/main" id="{2F2D8F24-CD1E-D047-6100-C449E78D1027}"/>
              </a:ext>
            </a:extLst>
          </p:cNvPr>
          <p:cNvSpPr/>
          <p:nvPr/>
        </p:nvSpPr>
        <p:spPr>
          <a:xfrm>
            <a:off x="2772697" y="3288902"/>
            <a:ext cx="471948" cy="646331"/>
          </a:xfrm>
          <a:prstGeom prst="downArrow">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E10E2867-C3E6-15AC-8192-C5DF33B7809D}"/>
              </a:ext>
            </a:extLst>
          </p:cNvPr>
          <p:cNvSpPr txBox="1"/>
          <p:nvPr/>
        </p:nvSpPr>
        <p:spPr>
          <a:xfrm>
            <a:off x="707923" y="3263270"/>
            <a:ext cx="2064774" cy="646331"/>
          </a:xfrm>
          <a:prstGeom prst="rect">
            <a:avLst/>
          </a:prstGeom>
          <a:noFill/>
        </p:spPr>
        <p:txBody>
          <a:bodyPr wrap="square" rtlCol="0">
            <a:spAutoFit/>
          </a:bodyPr>
          <a:lstStyle/>
          <a:p>
            <a:r>
              <a:rPr lang="es-ES" dirty="0"/>
              <a:t>Optimización del producto existente</a:t>
            </a:r>
          </a:p>
        </p:txBody>
      </p:sp>
      <p:sp>
        <p:nvSpPr>
          <p:cNvPr id="11" name="Rectángulo: esquinas redondeadas 10">
            <a:extLst>
              <a:ext uri="{FF2B5EF4-FFF2-40B4-BE49-F238E27FC236}">
                <a16:creationId xmlns:a16="http://schemas.microsoft.com/office/drawing/2014/main" id="{4F41DDE4-96A4-0826-4E0A-831EE868D971}"/>
              </a:ext>
            </a:extLst>
          </p:cNvPr>
          <p:cNvSpPr/>
          <p:nvPr/>
        </p:nvSpPr>
        <p:spPr>
          <a:xfrm>
            <a:off x="1061885" y="4035090"/>
            <a:ext cx="3893572" cy="1325564"/>
          </a:xfrm>
          <a:prstGeom prst="roundRect">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Menos consumo energético en la fabricación, menos materiales, menos tóxicos, menos embalajes, proveedores más próximos </a:t>
            </a:r>
          </a:p>
        </p:txBody>
      </p:sp>
      <p:sp>
        <p:nvSpPr>
          <p:cNvPr id="12" name="Flecha: hacia abajo 11">
            <a:extLst>
              <a:ext uri="{FF2B5EF4-FFF2-40B4-BE49-F238E27FC236}">
                <a16:creationId xmlns:a16="http://schemas.microsoft.com/office/drawing/2014/main" id="{F01D8C3C-D888-E55D-6D7B-8CC80390BBE7}"/>
              </a:ext>
            </a:extLst>
          </p:cNvPr>
          <p:cNvSpPr/>
          <p:nvPr/>
        </p:nvSpPr>
        <p:spPr>
          <a:xfrm>
            <a:off x="2772697" y="5455578"/>
            <a:ext cx="471948" cy="646331"/>
          </a:xfrm>
          <a:prstGeom prst="downArrow">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B9E2DB0E-54DC-58FF-B244-138C39931655}"/>
              </a:ext>
            </a:extLst>
          </p:cNvPr>
          <p:cNvSpPr txBox="1"/>
          <p:nvPr/>
        </p:nvSpPr>
        <p:spPr>
          <a:xfrm>
            <a:off x="733792" y="6124779"/>
            <a:ext cx="4560878" cy="400110"/>
          </a:xfrm>
          <a:prstGeom prst="rect">
            <a:avLst/>
          </a:prstGeom>
          <a:noFill/>
        </p:spPr>
        <p:txBody>
          <a:bodyPr wrap="square" rtlCol="0">
            <a:spAutoFit/>
          </a:bodyPr>
          <a:lstStyle/>
          <a:p>
            <a:pPr algn="ctr"/>
            <a:r>
              <a:rPr lang="es-ES" sz="2000" b="1" dirty="0"/>
              <a:t>ESTRATEGIA SIN VALIDEZ A LARGO PLAZO</a:t>
            </a:r>
          </a:p>
        </p:txBody>
      </p:sp>
      <p:sp>
        <p:nvSpPr>
          <p:cNvPr id="14" name="Flecha: hacia abajo 13">
            <a:extLst>
              <a:ext uri="{FF2B5EF4-FFF2-40B4-BE49-F238E27FC236}">
                <a16:creationId xmlns:a16="http://schemas.microsoft.com/office/drawing/2014/main" id="{45026D74-D50A-D0F6-45EB-34642567A62A}"/>
              </a:ext>
            </a:extLst>
          </p:cNvPr>
          <p:cNvSpPr/>
          <p:nvPr/>
        </p:nvSpPr>
        <p:spPr>
          <a:xfrm>
            <a:off x="8937521" y="3293830"/>
            <a:ext cx="471948" cy="646331"/>
          </a:xfrm>
          <a:prstGeom prst="downArrow">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4DB542C2-3BD8-8FF9-9086-CE668D1D23FA}"/>
              </a:ext>
            </a:extLst>
          </p:cNvPr>
          <p:cNvSpPr/>
          <p:nvPr/>
        </p:nvSpPr>
        <p:spPr>
          <a:xfrm>
            <a:off x="7226709" y="4040018"/>
            <a:ext cx="3893572" cy="1325564"/>
          </a:xfrm>
          <a:prstGeom prst="roundRect">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Se pone el foco en el medioambiente y en los aspectos sociales con todos los impactos resueltos en todo su ciclo de vida </a:t>
            </a:r>
          </a:p>
        </p:txBody>
      </p:sp>
      <p:sp>
        <p:nvSpPr>
          <p:cNvPr id="16" name="Flecha: hacia abajo 15">
            <a:extLst>
              <a:ext uri="{FF2B5EF4-FFF2-40B4-BE49-F238E27FC236}">
                <a16:creationId xmlns:a16="http://schemas.microsoft.com/office/drawing/2014/main" id="{48CDCFEF-9163-4622-515D-6A9F5E51BD2B}"/>
              </a:ext>
            </a:extLst>
          </p:cNvPr>
          <p:cNvSpPr/>
          <p:nvPr/>
        </p:nvSpPr>
        <p:spPr>
          <a:xfrm>
            <a:off x="8937521" y="5460506"/>
            <a:ext cx="471948" cy="646331"/>
          </a:xfrm>
          <a:prstGeom prst="downArrow">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DA36D538-B11F-4F73-8DBA-E0E1BCD17335}"/>
              </a:ext>
            </a:extLst>
          </p:cNvPr>
          <p:cNvSpPr txBox="1"/>
          <p:nvPr/>
        </p:nvSpPr>
        <p:spPr>
          <a:xfrm>
            <a:off x="6898616" y="6129707"/>
            <a:ext cx="4560878" cy="400110"/>
          </a:xfrm>
          <a:prstGeom prst="rect">
            <a:avLst/>
          </a:prstGeom>
          <a:noFill/>
        </p:spPr>
        <p:txBody>
          <a:bodyPr wrap="square" rtlCol="0">
            <a:spAutoFit/>
          </a:bodyPr>
          <a:lstStyle/>
          <a:p>
            <a:pPr algn="ctr"/>
            <a:r>
              <a:rPr lang="es-ES" sz="2000" b="1" dirty="0"/>
              <a:t>ESTRATEGIA VÁLIDA A LARGO PLAZO</a:t>
            </a:r>
          </a:p>
        </p:txBody>
      </p:sp>
      <p:sp>
        <p:nvSpPr>
          <p:cNvPr id="18" name="CuadroTexto 17">
            <a:extLst>
              <a:ext uri="{FF2B5EF4-FFF2-40B4-BE49-F238E27FC236}">
                <a16:creationId xmlns:a16="http://schemas.microsoft.com/office/drawing/2014/main" id="{5A1A9884-5099-E5FD-585F-EAB23C245620}"/>
              </a:ext>
            </a:extLst>
          </p:cNvPr>
          <p:cNvSpPr txBox="1"/>
          <p:nvPr/>
        </p:nvSpPr>
        <p:spPr>
          <a:xfrm>
            <a:off x="9527458" y="3254736"/>
            <a:ext cx="2462981" cy="646331"/>
          </a:xfrm>
          <a:prstGeom prst="rect">
            <a:avLst/>
          </a:prstGeom>
          <a:noFill/>
        </p:spPr>
        <p:txBody>
          <a:bodyPr wrap="square" rtlCol="0">
            <a:spAutoFit/>
          </a:bodyPr>
          <a:lstStyle/>
          <a:p>
            <a:r>
              <a:rPr lang="es-ES" dirty="0"/>
              <a:t>Diseño de un producto nuevo e innovador</a:t>
            </a:r>
          </a:p>
        </p:txBody>
      </p:sp>
    </p:spTree>
    <p:extLst>
      <p:ext uri="{BB962C8B-B14F-4D97-AF65-F5344CB8AC3E}">
        <p14:creationId xmlns:p14="http://schemas.microsoft.com/office/powerpoint/2010/main" val="16550151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EJEMPLO DOS MODELOS: PASTA DE DIENTES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4" name="Rectángulo 3">
            <a:extLst>
              <a:ext uri="{FF2B5EF4-FFF2-40B4-BE49-F238E27FC236}">
                <a16:creationId xmlns:a16="http://schemas.microsoft.com/office/drawing/2014/main" id="{2D9493E7-4353-C01C-327D-8AF67378D401}"/>
              </a:ext>
            </a:extLst>
          </p:cNvPr>
          <p:cNvSpPr/>
          <p:nvPr/>
        </p:nvSpPr>
        <p:spPr>
          <a:xfrm>
            <a:off x="1283111" y="3429786"/>
            <a:ext cx="3318387" cy="825910"/>
          </a:xfrm>
          <a:prstGeom prst="rect">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err="1"/>
              <a:t>Intraemprendimiento</a:t>
            </a:r>
            <a:r>
              <a:rPr lang="es-ES" sz="2000" b="1" dirty="0"/>
              <a:t> verde o modelo incremental</a:t>
            </a:r>
          </a:p>
        </p:txBody>
      </p:sp>
      <p:sp>
        <p:nvSpPr>
          <p:cNvPr id="8" name="Rectángulo 7">
            <a:extLst>
              <a:ext uri="{FF2B5EF4-FFF2-40B4-BE49-F238E27FC236}">
                <a16:creationId xmlns:a16="http://schemas.microsoft.com/office/drawing/2014/main" id="{4BF97D6D-FC7A-FCAE-4B16-777E88D65DD9}"/>
              </a:ext>
            </a:extLst>
          </p:cNvPr>
          <p:cNvSpPr/>
          <p:nvPr/>
        </p:nvSpPr>
        <p:spPr>
          <a:xfrm>
            <a:off x="7440610" y="3392915"/>
            <a:ext cx="3318387" cy="825910"/>
          </a:xfrm>
          <a:prstGeom prst="rect">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Emprendimiento verde o modelo innovador</a:t>
            </a:r>
          </a:p>
        </p:txBody>
      </p:sp>
      <p:sp>
        <p:nvSpPr>
          <p:cNvPr id="11" name="Rectángulo: esquinas redondeadas 10">
            <a:extLst>
              <a:ext uri="{FF2B5EF4-FFF2-40B4-BE49-F238E27FC236}">
                <a16:creationId xmlns:a16="http://schemas.microsoft.com/office/drawing/2014/main" id="{00CA5CC6-2FA9-71CC-92A3-4E31C52B550B}"/>
              </a:ext>
            </a:extLst>
          </p:cNvPr>
          <p:cNvSpPr/>
          <p:nvPr/>
        </p:nvSpPr>
        <p:spPr>
          <a:xfrm>
            <a:off x="1283111" y="1494763"/>
            <a:ext cx="5442153" cy="1477325"/>
          </a:xfrm>
          <a:prstGeom prst="roundRect">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La composición de la pasta de dientes suele contener </a:t>
            </a:r>
            <a:r>
              <a:rPr lang="es-ES" sz="2000" dirty="0" err="1">
                <a:solidFill>
                  <a:schemeClr val="tx1"/>
                </a:solidFill>
              </a:rPr>
              <a:t>microplásticos</a:t>
            </a:r>
            <a:r>
              <a:rPr lang="es-ES" sz="2000" dirty="0">
                <a:solidFill>
                  <a:schemeClr val="tx1"/>
                </a:solidFill>
              </a:rPr>
              <a:t> y los envases de la pasta de dientes están formados por varias capas de plástico que se degradan en cientos de años </a:t>
            </a:r>
          </a:p>
        </p:txBody>
      </p:sp>
      <p:sp>
        <p:nvSpPr>
          <p:cNvPr id="12" name="CuadroTexto 11">
            <a:extLst>
              <a:ext uri="{FF2B5EF4-FFF2-40B4-BE49-F238E27FC236}">
                <a16:creationId xmlns:a16="http://schemas.microsoft.com/office/drawing/2014/main" id="{847DBBD8-D936-F6AE-E5CB-8FA2D1E031C2}"/>
              </a:ext>
            </a:extLst>
          </p:cNvPr>
          <p:cNvSpPr txBox="1"/>
          <p:nvPr/>
        </p:nvSpPr>
        <p:spPr>
          <a:xfrm>
            <a:off x="716527" y="4477453"/>
            <a:ext cx="4451555" cy="1477328"/>
          </a:xfrm>
          <a:prstGeom prst="rect">
            <a:avLst/>
          </a:prstGeom>
          <a:noFill/>
        </p:spPr>
        <p:txBody>
          <a:bodyPr wrap="square" rtlCol="0">
            <a:spAutoFit/>
          </a:bodyPr>
          <a:lstStyle/>
          <a:p>
            <a:pPr marL="285750" indent="-285750">
              <a:buFont typeface="Arial" panose="020B0604020202020204" pitchFamily="34" charset="0"/>
              <a:buChar char="•"/>
            </a:pPr>
            <a:r>
              <a:rPr lang="es-ES" dirty="0"/>
              <a:t>Reducir la cantidad de plástico del envase.</a:t>
            </a:r>
          </a:p>
          <a:p>
            <a:pPr marL="285750" indent="-285750">
              <a:buFont typeface="Arial" panose="020B0604020202020204" pitchFamily="34" charset="0"/>
              <a:buChar char="•"/>
            </a:pPr>
            <a:r>
              <a:rPr lang="es-ES" dirty="0"/>
              <a:t>Buscar un envase alternativo (tarro cristal).</a:t>
            </a:r>
          </a:p>
          <a:p>
            <a:pPr marL="285750" indent="-285750">
              <a:buFont typeface="Arial" panose="020B0604020202020204" pitchFamily="34" charset="0"/>
              <a:buChar char="•"/>
            </a:pPr>
            <a:r>
              <a:rPr lang="es-ES" dirty="0"/>
              <a:t>Buscar una composición química de la pasta sin </a:t>
            </a:r>
            <a:r>
              <a:rPr lang="es-ES" dirty="0" err="1"/>
              <a:t>microplásticos</a:t>
            </a:r>
            <a:r>
              <a:rPr lang="es-ES" dirty="0"/>
              <a:t> o con menos.</a:t>
            </a:r>
          </a:p>
          <a:p>
            <a:pPr marL="285750" indent="-285750">
              <a:buFont typeface="Arial" panose="020B0604020202020204" pitchFamily="34" charset="0"/>
              <a:buChar char="•"/>
            </a:pPr>
            <a:r>
              <a:rPr lang="es-ES" dirty="0"/>
              <a:t>Etc.</a:t>
            </a:r>
          </a:p>
        </p:txBody>
      </p:sp>
      <p:pic>
        <p:nvPicPr>
          <p:cNvPr id="14" name="Imagen 13" descr="Imagen que contiene tabla, grande, parado, cepillo&#10;&#10;Descripción generada automáticamente">
            <a:extLst>
              <a:ext uri="{FF2B5EF4-FFF2-40B4-BE49-F238E27FC236}">
                <a16:creationId xmlns:a16="http://schemas.microsoft.com/office/drawing/2014/main" id="{6CD6F1C4-B570-961D-CCD1-FC58A10F3A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5829" y="5031472"/>
            <a:ext cx="3853387" cy="1507542"/>
          </a:xfrm>
          <a:prstGeom prst="rect">
            <a:avLst/>
          </a:prstGeom>
        </p:spPr>
      </p:pic>
      <p:pic>
        <p:nvPicPr>
          <p:cNvPr id="16" name="Imagen 15">
            <a:extLst>
              <a:ext uri="{FF2B5EF4-FFF2-40B4-BE49-F238E27FC236}">
                <a16:creationId xmlns:a16="http://schemas.microsoft.com/office/drawing/2014/main" id="{8CF87DB0-DD07-A987-6C6E-15368F7E95F5}"/>
              </a:ext>
            </a:extLst>
          </p:cNvPr>
          <p:cNvPicPr>
            <a:picLocks noChangeAspect="1"/>
          </p:cNvPicPr>
          <p:nvPr/>
        </p:nvPicPr>
        <p:blipFill>
          <a:blip r:embed="rId5"/>
          <a:stretch>
            <a:fillRect/>
          </a:stretch>
        </p:blipFill>
        <p:spPr>
          <a:xfrm>
            <a:off x="7918380" y="1635048"/>
            <a:ext cx="1873045" cy="1196755"/>
          </a:xfrm>
          <a:prstGeom prst="rect">
            <a:avLst/>
          </a:prstGeom>
        </p:spPr>
      </p:pic>
      <p:sp>
        <p:nvSpPr>
          <p:cNvPr id="17" name="CuadroTexto 16">
            <a:extLst>
              <a:ext uri="{FF2B5EF4-FFF2-40B4-BE49-F238E27FC236}">
                <a16:creationId xmlns:a16="http://schemas.microsoft.com/office/drawing/2014/main" id="{8AE6373F-DB0B-4BC4-9A8C-BEAE256C96D8}"/>
              </a:ext>
            </a:extLst>
          </p:cNvPr>
          <p:cNvSpPr txBox="1"/>
          <p:nvPr/>
        </p:nvSpPr>
        <p:spPr>
          <a:xfrm>
            <a:off x="7079226" y="4477453"/>
            <a:ext cx="3959990" cy="369332"/>
          </a:xfrm>
          <a:prstGeom prst="rect">
            <a:avLst/>
          </a:prstGeom>
          <a:noFill/>
        </p:spPr>
        <p:txBody>
          <a:bodyPr wrap="square" rtlCol="0">
            <a:spAutoFit/>
          </a:bodyPr>
          <a:lstStyle/>
          <a:p>
            <a:pPr marL="285750" indent="-285750">
              <a:buFont typeface="Arial" panose="020B0604020202020204" pitchFamily="34" charset="0"/>
              <a:buChar char="•"/>
            </a:pPr>
            <a:r>
              <a:rPr lang="es-ES" dirty="0"/>
              <a:t>Nuevo producto: pasta en cápsulas</a:t>
            </a:r>
          </a:p>
        </p:txBody>
      </p:sp>
    </p:spTree>
    <p:extLst>
      <p:ext uri="{BB962C8B-B14F-4D97-AF65-F5344CB8AC3E}">
        <p14:creationId xmlns:p14="http://schemas.microsoft.com/office/powerpoint/2010/main" val="15031862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100" b="1" kern="0" dirty="0">
                <a:effectLst/>
                <a:latin typeface="Calibri" panose="020F0502020204030204" pitchFamily="34" charset="0"/>
                <a:ea typeface="Times New Roman" panose="02020603050405020304" pitchFamily="18" charset="0"/>
                <a:cs typeface="Times New Roman" panose="02020603050405020304" pitchFamily="18" charset="0"/>
              </a:rPr>
              <a:t>EJEMPLO MODELO INNOVADOR: CUBIERTOS COMESTIBLES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3" name="Imagen 12">
            <a:hlinkClick r:id="rId4"/>
            <a:extLst>
              <a:ext uri="{FF2B5EF4-FFF2-40B4-BE49-F238E27FC236}">
                <a16:creationId xmlns:a16="http://schemas.microsoft.com/office/drawing/2014/main" id="{330BEC9D-44AD-94EE-4FC6-8AFB4B5C24C2}"/>
              </a:ext>
            </a:extLst>
          </p:cNvPr>
          <p:cNvPicPr>
            <a:picLocks noChangeAspect="1"/>
          </p:cNvPicPr>
          <p:nvPr/>
        </p:nvPicPr>
        <p:blipFill>
          <a:blip r:embed="rId5"/>
          <a:stretch>
            <a:fillRect/>
          </a:stretch>
        </p:blipFill>
        <p:spPr>
          <a:xfrm>
            <a:off x="1275782" y="1431991"/>
            <a:ext cx="9556955" cy="4968157"/>
          </a:xfrm>
          <a:prstGeom prst="rect">
            <a:avLst/>
          </a:prstGeom>
        </p:spPr>
      </p:pic>
    </p:spTree>
    <p:extLst>
      <p:ext uri="{BB962C8B-B14F-4D97-AF65-F5344CB8AC3E}">
        <p14:creationId xmlns:p14="http://schemas.microsoft.com/office/powerpoint/2010/main" val="22252837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EJEMPLOS MODELO INNOVADOR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E5A86441-41ED-D541-21B6-332560CCB5F7}"/>
              </a:ext>
            </a:extLst>
          </p:cNvPr>
          <p:cNvPicPr>
            <a:picLocks noChangeAspect="1"/>
          </p:cNvPicPr>
          <p:nvPr/>
        </p:nvPicPr>
        <p:blipFill>
          <a:blip r:embed="rId5"/>
          <a:stretch>
            <a:fillRect/>
          </a:stretch>
        </p:blipFill>
        <p:spPr>
          <a:xfrm>
            <a:off x="1986820" y="1420664"/>
            <a:ext cx="8160071" cy="4903529"/>
          </a:xfrm>
          <a:prstGeom prst="rect">
            <a:avLst/>
          </a:prstGeom>
        </p:spPr>
      </p:pic>
    </p:spTree>
    <p:extLst>
      <p:ext uri="{BB962C8B-B14F-4D97-AF65-F5344CB8AC3E}">
        <p14:creationId xmlns:p14="http://schemas.microsoft.com/office/powerpoint/2010/main" val="3122759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ECODISEÑO Y DISEÑO SOSTENIBLE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4" name="Elipse 3">
            <a:extLst>
              <a:ext uri="{FF2B5EF4-FFF2-40B4-BE49-F238E27FC236}">
                <a16:creationId xmlns:a16="http://schemas.microsoft.com/office/drawing/2014/main" id="{83F914F5-01BB-7112-37BE-E35ED2981F63}"/>
              </a:ext>
            </a:extLst>
          </p:cNvPr>
          <p:cNvSpPr/>
          <p:nvPr/>
        </p:nvSpPr>
        <p:spPr>
          <a:xfrm>
            <a:off x="3170904" y="1379980"/>
            <a:ext cx="5088193" cy="5088193"/>
          </a:xfrm>
          <a:prstGeom prst="ellipse">
            <a:avLst/>
          </a:prstGeom>
          <a:solidFill>
            <a:schemeClr val="accent6">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2400" b="1" dirty="0">
              <a:solidFill>
                <a:schemeClr val="tx1"/>
              </a:solidFill>
            </a:endParaRPr>
          </a:p>
        </p:txBody>
      </p:sp>
      <p:sp>
        <p:nvSpPr>
          <p:cNvPr id="3" name="Elipse 2">
            <a:extLst>
              <a:ext uri="{FF2B5EF4-FFF2-40B4-BE49-F238E27FC236}">
                <a16:creationId xmlns:a16="http://schemas.microsoft.com/office/drawing/2014/main" id="{B440D629-EED8-0EF2-2860-54D45AB1E8BD}"/>
              </a:ext>
            </a:extLst>
          </p:cNvPr>
          <p:cNvSpPr/>
          <p:nvPr/>
        </p:nvSpPr>
        <p:spPr>
          <a:xfrm>
            <a:off x="3536881" y="2359491"/>
            <a:ext cx="2433483" cy="2433483"/>
          </a:xfrm>
          <a:prstGeom prst="ellipse">
            <a:avLst/>
          </a:prstGeom>
          <a:solidFill>
            <a:schemeClr val="accent6">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ECODISEÑO</a:t>
            </a:r>
          </a:p>
        </p:txBody>
      </p:sp>
      <p:sp>
        <p:nvSpPr>
          <p:cNvPr id="8" name="CuadroTexto 7">
            <a:extLst>
              <a:ext uri="{FF2B5EF4-FFF2-40B4-BE49-F238E27FC236}">
                <a16:creationId xmlns:a16="http://schemas.microsoft.com/office/drawing/2014/main" id="{CBB8F7FD-AE11-34E8-69D3-63DB47C505B3}"/>
              </a:ext>
            </a:extLst>
          </p:cNvPr>
          <p:cNvSpPr txBox="1"/>
          <p:nvPr/>
        </p:nvSpPr>
        <p:spPr>
          <a:xfrm>
            <a:off x="5970364" y="3775587"/>
            <a:ext cx="1816784" cy="830997"/>
          </a:xfrm>
          <a:prstGeom prst="rect">
            <a:avLst/>
          </a:prstGeom>
          <a:noFill/>
        </p:spPr>
        <p:txBody>
          <a:bodyPr wrap="square" rtlCol="0">
            <a:spAutoFit/>
          </a:bodyPr>
          <a:lstStyle/>
          <a:p>
            <a:pPr algn="ctr"/>
            <a:r>
              <a:rPr lang="es-ES" sz="2400" b="1" dirty="0"/>
              <a:t>DISEÑO</a:t>
            </a:r>
          </a:p>
          <a:p>
            <a:pPr algn="ctr"/>
            <a:r>
              <a:rPr lang="es-ES" sz="2400" b="1" dirty="0"/>
              <a:t>SOSTENIBLE</a:t>
            </a:r>
          </a:p>
        </p:txBody>
      </p:sp>
      <p:sp>
        <p:nvSpPr>
          <p:cNvPr id="10" name="CuadroTexto 9">
            <a:extLst>
              <a:ext uri="{FF2B5EF4-FFF2-40B4-BE49-F238E27FC236}">
                <a16:creationId xmlns:a16="http://schemas.microsoft.com/office/drawing/2014/main" id="{3C49E7B8-1285-F230-8B05-05B864E6E877}"/>
              </a:ext>
            </a:extLst>
          </p:cNvPr>
          <p:cNvSpPr txBox="1"/>
          <p:nvPr/>
        </p:nvSpPr>
        <p:spPr>
          <a:xfrm>
            <a:off x="250723" y="2068955"/>
            <a:ext cx="2757948" cy="1015663"/>
          </a:xfrm>
          <a:prstGeom prst="rect">
            <a:avLst/>
          </a:prstGeom>
          <a:noFill/>
        </p:spPr>
        <p:txBody>
          <a:bodyPr wrap="square" rtlCol="0">
            <a:spAutoFit/>
          </a:bodyPr>
          <a:lstStyle/>
          <a:p>
            <a:pPr algn="ctr"/>
            <a:r>
              <a:rPr lang="es-ES" sz="2000" dirty="0"/>
              <a:t>Diseñar productos y/o servicios sin perjuicio medioambiental</a:t>
            </a:r>
          </a:p>
        </p:txBody>
      </p:sp>
      <p:cxnSp>
        <p:nvCxnSpPr>
          <p:cNvPr id="12" name="Conector recto de flecha 11">
            <a:extLst>
              <a:ext uri="{FF2B5EF4-FFF2-40B4-BE49-F238E27FC236}">
                <a16:creationId xmlns:a16="http://schemas.microsoft.com/office/drawing/2014/main" id="{1C6D874B-87C5-8A27-90BF-6C54247B4524}"/>
              </a:ext>
            </a:extLst>
          </p:cNvPr>
          <p:cNvCxnSpPr/>
          <p:nvPr/>
        </p:nvCxnSpPr>
        <p:spPr>
          <a:xfrm>
            <a:off x="2802194" y="2580968"/>
            <a:ext cx="840658" cy="499469"/>
          </a:xfrm>
          <a:prstGeom prst="straightConnector1">
            <a:avLst/>
          </a:prstGeom>
          <a:ln w="508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Flecha: hacia abajo 12">
            <a:extLst>
              <a:ext uri="{FF2B5EF4-FFF2-40B4-BE49-F238E27FC236}">
                <a16:creationId xmlns:a16="http://schemas.microsoft.com/office/drawing/2014/main" id="{45E3B74E-F3E2-C952-8ADF-E5C79DD0A580}"/>
              </a:ext>
            </a:extLst>
          </p:cNvPr>
          <p:cNvSpPr/>
          <p:nvPr/>
        </p:nvSpPr>
        <p:spPr>
          <a:xfrm>
            <a:off x="1393723" y="3182721"/>
            <a:ext cx="471948" cy="646331"/>
          </a:xfrm>
          <a:prstGeom prst="downArrow">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54EDD4D2-88E0-1428-C77D-59314FD422EA}"/>
              </a:ext>
            </a:extLst>
          </p:cNvPr>
          <p:cNvSpPr txBox="1"/>
          <p:nvPr/>
        </p:nvSpPr>
        <p:spPr>
          <a:xfrm>
            <a:off x="250723" y="3887474"/>
            <a:ext cx="2757948" cy="2246769"/>
          </a:xfrm>
          <a:prstGeom prst="rect">
            <a:avLst/>
          </a:prstGeom>
          <a:noFill/>
        </p:spPr>
        <p:txBody>
          <a:bodyPr wrap="square" rtlCol="0">
            <a:spAutoFit/>
          </a:bodyPr>
          <a:lstStyle/>
          <a:p>
            <a:pPr algn="ctr"/>
            <a:r>
              <a:rPr lang="es-ES" sz="2000" dirty="0"/>
              <a:t>Reducir al máximo su huella ecológica en todo el ciclo de vida del producto y tiene presente su recuperación y reciclado final</a:t>
            </a:r>
          </a:p>
        </p:txBody>
      </p:sp>
      <p:sp>
        <p:nvSpPr>
          <p:cNvPr id="15" name="CuadroTexto 14">
            <a:extLst>
              <a:ext uri="{FF2B5EF4-FFF2-40B4-BE49-F238E27FC236}">
                <a16:creationId xmlns:a16="http://schemas.microsoft.com/office/drawing/2014/main" id="{3AF6E272-AD0E-BFF9-A70C-B3A0515A1627}"/>
              </a:ext>
            </a:extLst>
          </p:cNvPr>
          <p:cNvSpPr txBox="1"/>
          <p:nvPr/>
        </p:nvSpPr>
        <p:spPr>
          <a:xfrm>
            <a:off x="8883445" y="2068955"/>
            <a:ext cx="2757948" cy="1015663"/>
          </a:xfrm>
          <a:prstGeom prst="rect">
            <a:avLst/>
          </a:prstGeom>
          <a:noFill/>
        </p:spPr>
        <p:txBody>
          <a:bodyPr wrap="square" rtlCol="0">
            <a:spAutoFit/>
          </a:bodyPr>
          <a:lstStyle/>
          <a:p>
            <a:pPr algn="ctr"/>
            <a:r>
              <a:rPr lang="es-ES" sz="2000" dirty="0"/>
              <a:t>Además del ecodiseño, incorpora el aspecto social y económico</a:t>
            </a:r>
          </a:p>
        </p:txBody>
      </p:sp>
      <p:cxnSp>
        <p:nvCxnSpPr>
          <p:cNvPr id="16" name="Conector recto de flecha 15">
            <a:extLst>
              <a:ext uri="{FF2B5EF4-FFF2-40B4-BE49-F238E27FC236}">
                <a16:creationId xmlns:a16="http://schemas.microsoft.com/office/drawing/2014/main" id="{7A5422D6-F319-59E6-EB6D-F15CC31DE118}"/>
              </a:ext>
            </a:extLst>
          </p:cNvPr>
          <p:cNvCxnSpPr>
            <a:cxnSpLocks/>
          </p:cNvCxnSpPr>
          <p:nvPr/>
        </p:nvCxnSpPr>
        <p:spPr>
          <a:xfrm flipH="1">
            <a:off x="8008374" y="2567744"/>
            <a:ext cx="961103" cy="262958"/>
          </a:xfrm>
          <a:prstGeom prst="straightConnector1">
            <a:avLst/>
          </a:prstGeom>
          <a:ln w="50800">
            <a:solidFill>
              <a:schemeClr val="accent6">
                <a:lumMod val="40000"/>
                <a:lumOff val="6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Flecha: hacia abajo 17">
            <a:extLst>
              <a:ext uri="{FF2B5EF4-FFF2-40B4-BE49-F238E27FC236}">
                <a16:creationId xmlns:a16="http://schemas.microsoft.com/office/drawing/2014/main" id="{9647014D-A78A-9218-D0B2-E1495996ED93}"/>
              </a:ext>
            </a:extLst>
          </p:cNvPr>
          <p:cNvSpPr/>
          <p:nvPr/>
        </p:nvSpPr>
        <p:spPr>
          <a:xfrm>
            <a:off x="10026445" y="3182721"/>
            <a:ext cx="471948" cy="646331"/>
          </a:xfrm>
          <a:prstGeom prst="downArrow">
            <a:avLst/>
          </a:prstGeom>
          <a:solidFill>
            <a:schemeClr val="accent6">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903D4D1E-F853-E089-D363-841AE004FED3}"/>
              </a:ext>
            </a:extLst>
          </p:cNvPr>
          <p:cNvSpPr txBox="1"/>
          <p:nvPr/>
        </p:nvSpPr>
        <p:spPr>
          <a:xfrm>
            <a:off x="8883445" y="3887474"/>
            <a:ext cx="2757948" cy="1938992"/>
          </a:xfrm>
          <a:prstGeom prst="rect">
            <a:avLst/>
          </a:prstGeom>
          <a:noFill/>
        </p:spPr>
        <p:txBody>
          <a:bodyPr wrap="square" rtlCol="0">
            <a:spAutoFit/>
          </a:bodyPr>
          <a:lstStyle/>
          <a:p>
            <a:pPr algn="ctr"/>
            <a:r>
              <a:rPr lang="es-ES" sz="2000" dirty="0"/>
              <a:t>Evalúa los impactos sociales, las expectativas de sus grupos de interés, además de analizar y buscar la rentabilidad económica</a:t>
            </a:r>
          </a:p>
        </p:txBody>
      </p:sp>
      <p:sp>
        <p:nvSpPr>
          <p:cNvPr id="21" name="CuadroTexto 20">
            <a:extLst>
              <a:ext uri="{FF2B5EF4-FFF2-40B4-BE49-F238E27FC236}">
                <a16:creationId xmlns:a16="http://schemas.microsoft.com/office/drawing/2014/main" id="{3CA8B07C-2B67-5912-E93F-CA9DC703DA05}"/>
              </a:ext>
            </a:extLst>
          </p:cNvPr>
          <p:cNvSpPr txBox="1"/>
          <p:nvPr/>
        </p:nvSpPr>
        <p:spPr>
          <a:xfrm>
            <a:off x="4603496" y="6505473"/>
            <a:ext cx="2275260" cy="369332"/>
          </a:xfrm>
          <a:prstGeom prst="rect">
            <a:avLst/>
          </a:prstGeom>
          <a:noFill/>
        </p:spPr>
        <p:txBody>
          <a:bodyPr wrap="square" rtlCol="0">
            <a:spAutoFit/>
          </a:bodyPr>
          <a:lstStyle/>
          <a:p>
            <a:pPr algn="ctr"/>
            <a:r>
              <a:rPr lang="es-ES" dirty="0">
                <a:hlinkClick r:id="rId4"/>
              </a:rPr>
              <a:t>Vídeo Explicativo</a:t>
            </a:r>
            <a:endParaRPr lang="es-ES" dirty="0"/>
          </a:p>
        </p:txBody>
      </p:sp>
    </p:spTree>
    <p:extLst>
      <p:ext uri="{BB962C8B-B14F-4D97-AF65-F5344CB8AC3E}">
        <p14:creationId xmlns:p14="http://schemas.microsoft.com/office/powerpoint/2010/main" val="780145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DISEÑO DE PRODUCTOS SOSTENIBLES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descr="Diagrama&#10;&#10;Descripción generada automáticamente">
            <a:extLst>
              <a:ext uri="{FF2B5EF4-FFF2-40B4-BE49-F238E27FC236}">
                <a16:creationId xmlns:a16="http://schemas.microsoft.com/office/drawing/2014/main" id="{C24CB695-D212-6B7B-168E-BF8CBDA917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987" y="1790666"/>
            <a:ext cx="11377538" cy="4344783"/>
          </a:xfrm>
          <a:prstGeom prst="rect">
            <a:avLst/>
          </a:prstGeom>
        </p:spPr>
      </p:pic>
    </p:spTree>
    <p:extLst>
      <p:ext uri="{BB962C8B-B14F-4D97-AF65-F5344CB8AC3E}">
        <p14:creationId xmlns:p14="http://schemas.microsoft.com/office/powerpoint/2010/main" val="31693140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SOSTENIBILIDAD DE PRODUCTOS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descr="Imagen de la pantalla de un celular con letras&#10;&#10;Descripción generada automáticamente con confianza baja">
            <a:extLst>
              <a:ext uri="{FF2B5EF4-FFF2-40B4-BE49-F238E27FC236}">
                <a16:creationId xmlns:a16="http://schemas.microsoft.com/office/drawing/2014/main" id="{624CAB54-14E4-D7EC-950B-FCADBD3951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1116" y="1306176"/>
            <a:ext cx="8673484" cy="5161997"/>
          </a:xfrm>
          <a:prstGeom prst="rect">
            <a:avLst/>
          </a:prstGeom>
        </p:spPr>
      </p:pic>
    </p:spTree>
    <p:extLst>
      <p:ext uri="{BB962C8B-B14F-4D97-AF65-F5344CB8AC3E}">
        <p14:creationId xmlns:p14="http://schemas.microsoft.com/office/powerpoint/2010/main" val="7876534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3.5. LA DIGITALIZACIÓN EN EL LOGRO DE PRODUCTOS SOSTENIBLES</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28562607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DIGITALIZACIÓN: ALGUNOS EJEMPLOS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aphicFrame>
        <p:nvGraphicFramePr>
          <p:cNvPr id="3" name="Diagrama 2">
            <a:extLst>
              <a:ext uri="{FF2B5EF4-FFF2-40B4-BE49-F238E27FC236}">
                <a16:creationId xmlns:a16="http://schemas.microsoft.com/office/drawing/2014/main" id="{FBE9C6F4-EE5B-7888-D64C-A4A73B498387}"/>
              </a:ext>
            </a:extLst>
          </p:cNvPr>
          <p:cNvGraphicFramePr/>
          <p:nvPr>
            <p:extLst>
              <p:ext uri="{D42A27DB-BD31-4B8C-83A1-F6EECF244321}">
                <p14:modId xmlns:p14="http://schemas.microsoft.com/office/powerpoint/2010/main" val="86045347"/>
              </p:ext>
            </p:extLst>
          </p:nvPr>
        </p:nvGraphicFramePr>
        <p:xfrm>
          <a:off x="2537406" y="1709673"/>
          <a:ext cx="7117187" cy="44846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CuadroTexto 5">
            <a:extLst>
              <a:ext uri="{FF2B5EF4-FFF2-40B4-BE49-F238E27FC236}">
                <a16:creationId xmlns:a16="http://schemas.microsoft.com/office/drawing/2014/main" id="{BF922551-EF1E-05D8-1193-EF931F7E6FCC}"/>
              </a:ext>
            </a:extLst>
          </p:cNvPr>
          <p:cNvSpPr txBox="1"/>
          <p:nvPr/>
        </p:nvSpPr>
        <p:spPr>
          <a:xfrm>
            <a:off x="191729" y="1461356"/>
            <a:ext cx="2949677" cy="646331"/>
          </a:xfrm>
          <a:prstGeom prst="rect">
            <a:avLst/>
          </a:prstGeom>
          <a:noFill/>
        </p:spPr>
        <p:txBody>
          <a:bodyPr wrap="square" rtlCol="0">
            <a:spAutoFit/>
          </a:bodyPr>
          <a:lstStyle/>
          <a:p>
            <a:r>
              <a:rPr lang="es-ES" dirty="0"/>
              <a:t>Técnicas de análisis de datos (Big Data): en todo el ciclo</a:t>
            </a:r>
          </a:p>
        </p:txBody>
      </p:sp>
      <p:sp>
        <p:nvSpPr>
          <p:cNvPr id="8" name="CuadroTexto 7">
            <a:extLst>
              <a:ext uri="{FF2B5EF4-FFF2-40B4-BE49-F238E27FC236}">
                <a16:creationId xmlns:a16="http://schemas.microsoft.com/office/drawing/2014/main" id="{52370911-3BF0-F425-6F74-5D6471F01A5A}"/>
              </a:ext>
            </a:extLst>
          </p:cNvPr>
          <p:cNvSpPr txBox="1"/>
          <p:nvPr/>
        </p:nvSpPr>
        <p:spPr>
          <a:xfrm>
            <a:off x="8085355" y="1962090"/>
            <a:ext cx="2802193" cy="369332"/>
          </a:xfrm>
          <a:prstGeom prst="rect">
            <a:avLst/>
          </a:prstGeom>
          <a:noFill/>
        </p:spPr>
        <p:txBody>
          <a:bodyPr wrap="square" rtlCol="0">
            <a:spAutoFit/>
          </a:bodyPr>
          <a:lstStyle/>
          <a:p>
            <a:r>
              <a:rPr lang="es-ES" dirty="0"/>
              <a:t>Inteligencia Artificial (IA)</a:t>
            </a:r>
          </a:p>
        </p:txBody>
      </p:sp>
      <p:sp>
        <p:nvSpPr>
          <p:cNvPr id="10" name="CuadroTexto 9">
            <a:extLst>
              <a:ext uri="{FF2B5EF4-FFF2-40B4-BE49-F238E27FC236}">
                <a16:creationId xmlns:a16="http://schemas.microsoft.com/office/drawing/2014/main" id="{C1DAA1D5-8EF7-15E0-3D8A-AF8EDC1ED9F7}"/>
              </a:ext>
            </a:extLst>
          </p:cNvPr>
          <p:cNvSpPr txBox="1"/>
          <p:nvPr/>
        </p:nvSpPr>
        <p:spPr>
          <a:xfrm>
            <a:off x="8627782" y="2825191"/>
            <a:ext cx="2227031" cy="369332"/>
          </a:xfrm>
          <a:prstGeom prst="rect">
            <a:avLst/>
          </a:prstGeom>
          <a:noFill/>
        </p:spPr>
        <p:txBody>
          <a:bodyPr wrap="square" rtlCol="0">
            <a:spAutoFit/>
          </a:bodyPr>
          <a:lstStyle/>
          <a:p>
            <a:r>
              <a:rPr lang="es-ES" dirty="0"/>
              <a:t>Realidad Virtual</a:t>
            </a:r>
          </a:p>
        </p:txBody>
      </p:sp>
      <p:cxnSp>
        <p:nvCxnSpPr>
          <p:cNvPr id="12" name="Conector recto de flecha 11">
            <a:extLst>
              <a:ext uri="{FF2B5EF4-FFF2-40B4-BE49-F238E27FC236}">
                <a16:creationId xmlns:a16="http://schemas.microsoft.com/office/drawing/2014/main" id="{5439FE14-D819-065B-5ED4-CE2B9C9FAAE3}"/>
              </a:ext>
            </a:extLst>
          </p:cNvPr>
          <p:cNvCxnSpPr>
            <a:cxnSpLocks/>
            <a:stCxn id="8" idx="1"/>
          </p:cNvCxnSpPr>
          <p:nvPr/>
        </p:nvCxnSpPr>
        <p:spPr>
          <a:xfrm flipH="1">
            <a:off x="7634338" y="2146756"/>
            <a:ext cx="451017" cy="317486"/>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BA0FB54B-4323-BE04-1A87-5C44533143DF}"/>
              </a:ext>
            </a:extLst>
          </p:cNvPr>
          <p:cNvCxnSpPr>
            <a:cxnSpLocks/>
          </p:cNvCxnSpPr>
          <p:nvPr/>
        </p:nvCxnSpPr>
        <p:spPr>
          <a:xfrm flipH="1">
            <a:off x="7978877" y="3035236"/>
            <a:ext cx="685729" cy="279877"/>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BD45B61D-FB11-9F80-1443-053E0AD71685}"/>
              </a:ext>
            </a:extLst>
          </p:cNvPr>
          <p:cNvSpPr txBox="1"/>
          <p:nvPr/>
        </p:nvSpPr>
        <p:spPr>
          <a:xfrm>
            <a:off x="8734104" y="4366559"/>
            <a:ext cx="2227031" cy="369332"/>
          </a:xfrm>
          <a:prstGeom prst="rect">
            <a:avLst/>
          </a:prstGeom>
          <a:noFill/>
        </p:spPr>
        <p:txBody>
          <a:bodyPr wrap="square" rtlCol="0">
            <a:spAutoFit/>
          </a:bodyPr>
          <a:lstStyle/>
          <a:p>
            <a:r>
              <a:rPr lang="es-ES" dirty="0"/>
              <a:t>Industria 4.0</a:t>
            </a:r>
          </a:p>
        </p:txBody>
      </p:sp>
      <p:cxnSp>
        <p:nvCxnSpPr>
          <p:cNvPr id="17" name="Conector recto de flecha 16">
            <a:extLst>
              <a:ext uri="{FF2B5EF4-FFF2-40B4-BE49-F238E27FC236}">
                <a16:creationId xmlns:a16="http://schemas.microsoft.com/office/drawing/2014/main" id="{8D78E6BA-C231-3375-4A78-E24CCE7DC38C}"/>
              </a:ext>
            </a:extLst>
          </p:cNvPr>
          <p:cNvCxnSpPr>
            <a:cxnSpLocks/>
          </p:cNvCxnSpPr>
          <p:nvPr/>
        </p:nvCxnSpPr>
        <p:spPr>
          <a:xfrm flipH="1" flipV="1">
            <a:off x="8082116" y="4487149"/>
            <a:ext cx="651988" cy="79459"/>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94499F24-D6DD-C2E5-F5A1-0A6568B78DD2}"/>
              </a:ext>
            </a:extLst>
          </p:cNvPr>
          <p:cNvCxnSpPr>
            <a:cxnSpLocks/>
          </p:cNvCxnSpPr>
          <p:nvPr/>
        </p:nvCxnSpPr>
        <p:spPr>
          <a:xfrm flipH="1" flipV="1">
            <a:off x="7634338" y="5258123"/>
            <a:ext cx="753673" cy="34813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53DFFE8F-DEF7-01A3-9172-8218B8034073}"/>
              </a:ext>
            </a:extLst>
          </p:cNvPr>
          <p:cNvSpPr txBox="1"/>
          <p:nvPr/>
        </p:nvSpPr>
        <p:spPr>
          <a:xfrm>
            <a:off x="8351237" y="5427406"/>
            <a:ext cx="2429833" cy="369332"/>
          </a:xfrm>
          <a:prstGeom prst="rect">
            <a:avLst/>
          </a:prstGeom>
          <a:noFill/>
        </p:spPr>
        <p:txBody>
          <a:bodyPr wrap="square" rtlCol="0">
            <a:spAutoFit/>
          </a:bodyPr>
          <a:lstStyle/>
          <a:p>
            <a:r>
              <a:rPr lang="es-ES" dirty="0"/>
              <a:t>Fabricación Aditiva</a:t>
            </a:r>
          </a:p>
        </p:txBody>
      </p:sp>
      <p:sp>
        <p:nvSpPr>
          <p:cNvPr id="23" name="CuadroTexto 22">
            <a:extLst>
              <a:ext uri="{FF2B5EF4-FFF2-40B4-BE49-F238E27FC236}">
                <a16:creationId xmlns:a16="http://schemas.microsoft.com/office/drawing/2014/main" id="{631591A7-4050-BEE9-E747-196817D2FB13}"/>
              </a:ext>
            </a:extLst>
          </p:cNvPr>
          <p:cNvSpPr txBox="1"/>
          <p:nvPr/>
        </p:nvSpPr>
        <p:spPr>
          <a:xfrm>
            <a:off x="7386179" y="6025652"/>
            <a:ext cx="2793355" cy="369332"/>
          </a:xfrm>
          <a:prstGeom prst="rect">
            <a:avLst/>
          </a:prstGeom>
          <a:noFill/>
        </p:spPr>
        <p:txBody>
          <a:bodyPr wrap="square" rtlCol="0">
            <a:spAutoFit/>
          </a:bodyPr>
          <a:lstStyle/>
          <a:p>
            <a:r>
              <a:rPr lang="es-ES" dirty="0"/>
              <a:t>Gemelos virtuales</a:t>
            </a:r>
          </a:p>
        </p:txBody>
      </p:sp>
      <p:cxnSp>
        <p:nvCxnSpPr>
          <p:cNvPr id="24" name="Conector recto de flecha 23">
            <a:extLst>
              <a:ext uri="{FF2B5EF4-FFF2-40B4-BE49-F238E27FC236}">
                <a16:creationId xmlns:a16="http://schemas.microsoft.com/office/drawing/2014/main" id="{D100D9DF-9E0F-7C53-1C18-FF87E3E44D61}"/>
              </a:ext>
            </a:extLst>
          </p:cNvPr>
          <p:cNvCxnSpPr>
            <a:cxnSpLocks/>
          </p:cNvCxnSpPr>
          <p:nvPr/>
        </p:nvCxnSpPr>
        <p:spPr>
          <a:xfrm flipH="1" flipV="1">
            <a:off x="7182465" y="5689157"/>
            <a:ext cx="232537" cy="432729"/>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CD3717FF-386B-1488-E5F5-E6DD184B0B28}"/>
              </a:ext>
            </a:extLst>
          </p:cNvPr>
          <p:cNvSpPr txBox="1"/>
          <p:nvPr/>
        </p:nvSpPr>
        <p:spPr>
          <a:xfrm>
            <a:off x="1230864" y="2433484"/>
            <a:ext cx="2839691" cy="369332"/>
          </a:xfrm>
          <a:prstGeom prst="rect">
            <a:avLst/>
          </a:prstGeom>
          <a:noFill/>
        </p:spPr>
        <p:txBody>
          <a:bodyPr wrap="square" rtlCol="0">
            <a:spAutoFit/>
          </a:bodyPr>
          <a:lstStyle/>
          <a:p>
            <a:r>
              <a:rPr lang="es-ES" dirty="0"/>
              <a:t>Internet de las Cosas (</a:t>
            </a:r>
            <a:r>
              <a:rPr lang="es-ES" dirty="0" err="1"/>
              <a:t>IoT</a:t>
            </a:r>
            <a:r>
              <a:rPr lang="es-ES" dirty="0"/>
              <a:t>)</a:t>
            </a:r>
          </a:p>
        </p:txBody>
      </p:sp>
      <p:cxnSp>
        <p:nvCxnSpPr>
          <p:cNvPr id="27" name="Conector recto de flecha 26">
            <a:extLst>
              <a:ext uri="{FF2B5EF4-FFF2-40B4-BE49-F238E27FC236}">
                <a16:creationId xmlns:a16="http://schemas.microsoft.com/office/drawing/2014/main" id="{A23D4C86-51F4-0AB6-3DA0-2451614C749E}"/>
              </a:ext>
            </a:extLst>
          </p:cNvPr>
          <p:cNvCxnSpPr>
            <a:cxnSpLocks/>
          </p:cNvCxnSpPr>
          <p:nvPr/>
        </p:nvCxnSpPr>
        <p:spPr>
          <a:xfrm>
            <a:off x="3827135" y="2655021"/>
            <a:ext cx="463794" cy="17017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3BD5A7CE-5B3D-61F7-9424-7FA198C9E78F}"/>
              </a:ext>
            </a:extLst>
          </p:cNvPr>
          <p:cNvSpPr txBox="1"/>
          <p:nvPr/>
        </p:nvSpPr>
        <p:spPr>
          <a:xfrm>
            <a:off x="2330632" y="5073457"/>
            <a:ext cx="2227031" cy="369332"/>
          </a:xfrm>
          <a:prstGeom prst="rect">
            <a:avLst/>
          </a:prstGeom>
          <a:noFill/>
        </p:spPr>
        <p:txBody>
          <a:bodyPr wrap="square" rtlCol="0">
            <a:spAutoFit/>
          </a:bodyPr>
          <a:lstStyle/>
          <a:p>
            <a:r>
              <a:rPr lang="es-ES" dirty="0"/>
              <a:t>Industria 4.0</a:t>
            </a:r>
          </a:p>
        </p:txBody>
      </p:sp>
      <p:cxnSp>
        <p:nvCxnSpPr>
          <p:cNvPr id="31" name="Conector recto de flecha 30">
            <a:extLst>
              <a:ext uri="{FF2B5EF4-FFF2-40B4-BE49-F238E27FC236}">
                <a16:creationId xmlns:a16="http://schemas.microsoft.com/office/drawing/2014/main" id="{84640E87-D10B-7316-1B74-32B749A2A648}"/>
              </a:ext>
            </a:extLst>
          </p:cNvPr>
          <p:cNvCxnSpPr>
            <a:cxnSpLocks/>
          </p:cNvCxnSpPr>
          <p:nvPr/>
        </p:nvCxnSpPr>
        <p:spPr>
          <a:xfrm flipV="1">
            <a:off x="3699774" y="5051082"/>
            <a:ext cx="591155" cy="221537"/>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360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3.6. LA CERTIFICACIÓN Y EL ETIQUETADO DE LOS PRODUCTOS</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5291974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CERTIFICACIÓN DE PRODUCTOS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9366043C-B5BC-8BCB-F96F-3BC34442396E}"/>
              </a:ext>
            </a:extLst>
          </p:cNvPr>
          <p:cNvPicPr>
            <a:picLocks noChangeAspect="1"/>
          </p:cNvPicPr>
          <p:nvPr/>
        </p:nvPicPr>
        <p:blipFill>
          <a:blip r:embed="rId4"/>
          <a:stretch>
            <a:fillRect/>
          </a:stretch>
        </p:blipFill>
        <p:spPr>
          <a:xfrm>
            <a:off x="1619865" y="1664310"/>
            <a:ext cx="8952270" cy="4659883"/>
          </a:xfrm>
          <a:prstGeom prst="rect">
            <a:avLst/>
          </a:prstGeom>
        </p:spPr>
      </p:pic>
    </p:spTree>
    <p:extLst>
      <p:ext uri="{BB962C8B-B14F-4D97-AF65-F5344CB8AC3E}">
        <p14:creationId xmlns:p14="http://schemas.microsoft.com/office/powerpoint/2010/main" val="29093248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CERTIFICACIÓN DE PRODUCTOS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extLst>
              <a:ext uri="{FF2B5EF4-FFF2-40B4-BE49-F238E27FC236}">
                <a16:creationId xmlns:a16="http://schemas.microsoft.com/office/drawing/2014/main" id="{FBC39F90-12BD-41C1-43A9-100DF9CA0180}"/>
              </a:ext>
            </a:extLst>
          </p:cNvPr>
          <p:cNvPicPr>
            <a:picLocks noChangeAspect="1"/>
          </p:cNvPicPr>
          <p:nvPr/>
        </p:nvPicPr>
        <p:blipFill>
          <a:blip r:embed="rId4"/>
          <a:stretch>
            <a:fillRect/>
          </a:stretch>
        </p:blipFill>
        <p:spPr>
          <a:xfrm>
            <a:off x="171205" y="1368615"/>
            <a:ext cx="7778176" cy="5480078"/>
          </a:xfrm>
          <a:prstGeom prst="rect">
            <a:avLst/>
          </a:prstGeom>
        </p:spPr>
      </p:pic>
    </p:spTree>
    <p:extLst>
      <p:ext uri="{BB962C8B-B14F-4D97-AF65-F5344CB8AC3E}">
        <p14:creationId xmlns:p14="http://schemas.microsoft.com/office/powerpoint/2010/main" val="34135360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FIN DE LA UNIDAD 3</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2789280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8477</TotalTime>
  <Words>4959</Words>
  <Application>Microsoft Office PowerPoint</Application>
  <PresentationFormat>Panorámica</PresentationFormat>
  <Paragraphs>482</Paragraphs>
  <Slides>62</Slides>
  <Notes>41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62</vt:i4>
      </vt:variant>
    </vt:vector>
  </HeadingPairs>
  <TitlesOfParts>
    <vt:vector size="67" baseType="lpstr">
      <vt:lpstr>Aptos</vt:lpstr>
      <vt:lpstr>Arial</vt:lpstr>
      <vt:lpstr>Calibri</vt:lpstr>
      <vt:lpstr>Calibri Light</vt:lpstr>
      <vt:lpstr>Tema de Office</vt:lpstr>
      <vt:lpstr>SOSTENIBILIDAD APLICADA AL SISTEMA PRODUCTIVO</vt:lpstr>
      <vt:lpstr>Presentación de PowerPoint</vt:lpstr>
      <vt:lpstr>MODELOS MACROECONÓMICOS </vt:lpstr>
      <vt:lpstr>EL SISTEMA MACROECONÓMICO GLOBAL </vt:lpstr>
      <vt:lpstr>CRECIMIENTO </vt:lpstr>
      <vt:lpstr>CRECIMIENTO </vt:lpstr>
      <vt:lpstr>CRECIMIENTO </vt:lpstr>
      <vt:lpstr>CRECIMIENTO </vt:lpstr>
      <vt:lpstr>CRECIMIENTO </vt:lpstr>
      <vt:lpstr>EL SISTEMA MACROECONÓMICO GLOBAL </vt:lpstr>
      <vt:lpstr>DECRECIMIENTO SOSTENIBLE </vt:lpstr>
      <vt:lpstr>POSTCRECIMIENTO </vt:lpstr>
      <vt:lpstr>ECONOMÍA ROSQUILLA </vt:lpstr>
      <vt:lpstr>ECONOMÍA ROSQUILLA </vt:lpstr>
      <vt:lpstr>CRECIMIENTO VERDE </vt:lpstr>
      <vt:lpstr>CRECIMIENTO VERDE </vt:lpstr>
      <vt:lpstr>Presentación de PowerPoint</vt:lpstr>
      <vt:lpstr>FORMAS DE PRODUCCIÓN </vt:lpstr>
      <vt:lpstr>ECONOMÍA LINEAL</vt:lpstr>
      <vt:lpstr>ECONOMÍA LINEAL</vt:lpstr>
      <vt:lpstr>OBSOLESCENCIA PROGRAMADA</vt:lpstr>
      <vt:lpstr>ECONOMÍA VERDE</vt:lpstr>
      <vt:lpstr>ECONOMÍA VERDE</vt:lpstr>
      <vt:lpstr>ECONOMÍA CIRCULAR</vt:lpstr>
      <vt:lpstr>ECONOMÍA CIRCULAR</vt:lpstr>
      <vt:lpstr>ECONOMÍA CIRCULAR</vt:lpstr>
      <vt:lpstr>ECONOMÍA CIRCULAR</vt:lpstr>
      <vt:lpstr>EJEMPLO ECONOMÍA CIRCULAR: RICOH </vt:lpstr>
      <vt:lpstr>ESTRATEGIA EUROPEA DE ECONOMÍA CIRCULAR</vt:lpstr>
      <vt:lpstr>ESPAÑA CIRCULAR 2030</vt:lpstr>
      <vt:lpstr>Presentación de PowerPoint</vt:lpstr>
      <vt:lpstr>HACIA UN NUEVO SISTEMA PRODUCTIVO </vt:lpstr>
      <vt:lpstr>ECOEFICIENCIA O 3R </vt:lpstr>
      <vt:lpstr>ECOEFICIENCIA O 3R </vt:lpstr>
      <vt:lpstr>TIPOS DE RECICLAJE </vt:lpstr>
      <vt:lpstr>TIPOS DE RECICLAJE </vt:lpstr>
      <vt:lpstr>TIPOS DE RECICLAJE </vt:lpstr>
      <vt:lpstr>ECOEFICIENCIA O 3R </vt:lpstr>
      <vt:lpstr>BIOMÍMESIS </vt:lpstr>
      <vt:lpstr>BIOMÍMESIS </vt:lpstr>
      <vt:lpstr>BIOMÍMESIS </vt:lpstr>
      <vt:lpstr>BIOMÍMESIS </vt:lpstr>
      <vt:lpstr>DE LA CUNA A LA CUNA </vt:lpstr>
      <vt:lpstr>DE LA CUNA A LA CUNA </vt:lpstr>
      <vt:lpstr>DE LA CUNA A LA CUNA </vt:lpstr>
      <vt:lpstr>DE LA CUNA A LA CUNA </vt:lpstr>
      <vt:lpstr>Presentación de PowerPoint</vt:lpstr>
      <vt:lpstr>PRODUCTOS SOSTENIBLES </vt:lpstr>
      <vt:lpstr>CICLO DE VIDA DE LOS PRODUCTOS  </vt:lpstr>
      <vt:lpstr>SOSTENIBILIDAD EN EL CICLO DE VIDA </vt:lpstr>
      <vt:lpstr>EJEMPLO DOS MODELOS: PASTA DE DIENTES </vt:lpstr>
      <vt:lpstr>EJEMPLO MODELO INNOVADOR: CUBIERTOS COMESTIBLES </vt:lpstr>
      <vt:lpstr>EJEMPLOS MODELO INNOVADOR </vt:lpstr>
      <vt:lpstr>ECODISEÑO Y DISEÑO SOSTENIBLE </vt:lpstr>
      <vt:lpstr>DISEÑO DE PRODUCTOS SOSTENIBLES </vt:lpstr>
      <vt:lpstr>SOSTENIBILIDAD DE PRODUCTOS </vt:lpstr>
      <vt:lpstr>Presentación de PowerPoint</vt:lpstr>
      <vt:lpstr>DIGITALIZACIÓN: ALGUNOS EJEMPLOS </vt:lpstr>
      <vt:lpstr>Presentación de PowerPoint</vt:lpstr>
      <vt:lpstr>CERTIFICACIÓN DE PRODUCTOS  </vt:lpstr>
      <vt:lpstr>CERTIFICACIÓN DE PRODUCTOS  </vt:lpstr>
      <vt:lpstr>Presentación de PowerPoint</vt:lpstr>
    </vt:vector>
  </TitlesOfParts>
  <Company>Empresa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DEL LIBRO</dc:title>
  <dc:creator>Rosa Castillo</dc:creator>
  <cp:lastModifiedBy>Maria León</cp:lastModifiedBy>
  <cp:revision>557</cp:revision>
  <dcterms:created xsi:type="dcterms:W3CDTF">2024-04-15T10:19:16Z</dcterms:created>
  <dcterms:modified xsi:type="dcterms:W3CDTF">2024-09-08T19:07:20Z</dcterms:modified>
</cp:coreProperties>
</file>