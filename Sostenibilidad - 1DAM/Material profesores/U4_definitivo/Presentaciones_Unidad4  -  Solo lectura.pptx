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0"/>
  </p:notesMasterIdLst>
  <p:sldIdLst>
    <p:sldId id="256" r:id="rId2"/>
    <p:sldId id="260" r:id="rId3"/>
    <p:sldId id="263" r:id="rId4"/>
    <p:sldId id="431" r:id="rId5"/>
    <p:sldId id="488" r:id="rId6"/>
    <p:sldId id="477" r:id="rId7"/>
    <p:sldId id="478" r:id="rId8"/>
    <p:sldId id="479" r:id="rId9"/>
    <p:sldId id="480" r:id="rId10"/>
    <p:sldId id="481" r:id="rId11"/>
    <p:sldId id="482" r:id="rId12"/>
    <p:sldId id="483" r:id="rId13"/>
    <p:sldId id="484" r:id="rId14"/>
    <p:sldId id="485" r:id="rId15"/>
    <p:sldId id="486" r:id="rId16"/>
    <p:sldId id="487" r:id="rId17"/>
    <p:sldId id="489" r:id="rId18"/>
    <p:sldId id="493" r:id="rId19"/>
    <p:sldId id="492" r:id="rId20"/>
    <p:sldId id="490" r:id="rId21"/>
    <p:sldId id="494" r:id="rId22"/>
    <p:sldId id="491" r:id="rId23"/>
    <p:sldId id="297" r:id="rId24"/>
    <p:sldId id="521" r:id="rId25"/>
    <p:sldId id="523" r:id="rId26"/>
    <p:sldId id="496" r:id="rId27"/>
    <p:sldId id="522" r:id="rId28"/>
    <p:sldId id="524" r:id="rId29"/>
    <p:sldId id="525" r:id="rId30"/>
    <p:sldId id="309" r:id="rId31"/>
    <p:sldId id="497" r:id="rId32"/>
    <p:sldId id="526" r:id="rId33"/>
    <p:sldId id="499" r:id="rId34"/>
    <p:sldId id="500" r:id="rId35"/>
    <p:sldId id="498" r:id="rId36"/>
    <p:sldId id="501" r:id="rId37"/>
    <p:sldId id="528" r:id="rId38"/>
    <p:sldId id="527" r:id="rId39"/>
    <p:sldId id="503" r:id="rId40"/>
    <p:sldId id="504" r:id="rId41"/>
    <p:sldId id="529" r:id="rId42"/>
    <p:sldId id="534" r:id="rId43"/>
    <p:sldId id="535" r:id="rId44"/>
    <p:sldId id="506" r:id="rId45"/>
    <p:sldId id="507" r:id="rId46"/>
    <p:sldId id="505" r:id="rId47"/>
    <p:sldId id="530" r:id="rId48"/>
    <p:sldId id="318" r:id="rId49"/>
    <p:sldId id="472" r:id="rId50"/>
    <p:sldId id="544" r:id="rId51"/>
    <p:sldId id="543" r:id="rId52"/>
    <p:sldId id="542" r:id="rId53"/>
    <p:sldId id="545" r:id="rId54"/>
    <p:sldId id="546" r:id="rId55"/>
    <p:sldId id="508" r:id="rId56"/>
    <p:sldId id="510" r:id="rId57"/>
    <p:sldId id="511" r:id="rId58"/>
    <p:sldId id="547" r:id="rId59"/>
    <p:sldId id="509" r:id="rId60"/>
    <p:sldId id="512" r:id="rId61"/>
    <p:sldId id="548" r:id="rId62"/>
    <p:sldId id="537" r:id="rId63"/>
    <p:sldId id="549" r:id="rId64"/>
    <p:sldId id="513" r:id="rId65"/>
    <p:sldId id="514" r:id="rId66"/>
    <p:sldId id="550" r:id="rId67"/>
    <p:sldId id="423" r:id="rId68"/>
    <p:sldId id="515" r:id="rId69"/>
    <p:sldId id="541" r:id="rId70"/>
    <p:sldId id="551" r:id="rId71"/>
    <p:sldId id="552" r:id="rId72"/>
    <p:sldId id="517" r:id="rId73"/>
    <p:sldId id="518" r:id="rId74"/>
    <p:sldId id="519" r:id="rId75"/>
    <p:sldId id="520" r:id="rId76"/>
    <p:sldId id="536" r:id="rId77"/>
    <p:sldId id="553" r:id="rId78"/>
    <p:sldId id="539" r:id="rId79"/>
    <p:sldId id="538" r:id="rId80"/>
    <p:sldId id="554" r:id="rId81"/>
    <p:sldId id="540" r:id="rId82"/>
    <p:sldId id="555" r:id="rId83"/>
    <p:sldId id="424" r:id="rId84"/>
    <p:sldId id="462" r:id="rId85"/>
    <p:sldId id="556" r:id="rId86"/>
    <p:sldId id="557" r:id="rId87"/>
    <p:sldId id="558" r:id="rId88"/>
    <p:sldId id="531" r:id="rId89"/>
    <p:sldId id="559" r:id="rId90"/>
    <p:sldId id="560" r:id="rId91"/>
    <p:sldId id="561" r:id="rId92"/>
    <p:sldId id="562" r:id="rId93"/>
    <p:sldId id="563" r:id="rId94"/>
    <p:sldId id="564" r:id="rId95"/>
    <p:sldId id="473" r:id="rId96"/>
    <p:sldId id="532" r:id="rId97"/>
    <p:sldId id="565" r:id="rId98"/>
    <p:sldId id="566" r:id="rId99"/>
    <p:sldId id="474" r:id="rId100"/>
    <p:sldId id="567" r:id="rId101"/>
    <p:sldId id="568" r:id="rId102"/>
    <p:sldId id="569" r:id="rId103"/>
    <p:sldId id="570" r:id="rId104"/>
    <p:sldId id="571" r:id="rId105"/>
    <p:sldId id="572" r:id="rId106"/>
    <p:sldId id="573" r:id="rId107"/>
    <p:sldId id="574" r:id="rId108"/>
    <p:sldId id="575" r:id="rId109"/>
    <p:sldId id="475" r:id="rId110"/>
    <p:sldId id="576" r:id="rId111"/>
    <p:sldId id="578" r:id="rId112"/>
    <p:sldId id="579" r:id="rId113"/>
    <p:sldId id="580" r:id="rId114"/>
    <p:sldId id="582" r:id="rId115"/>
    <p:sldId id="581" r:id="rId116"/>
    <p:sldId id="583" r:id="rId117"/>
    <p:sldId id="584" r:id="rId118"/>
    <p:sldId id="585" r:id="rId119"/>
    <p:sldId id="586" r:id="rId120"/>
    <p:sldId id="587" r:id="rId121"/>
    <p:sldId id="476" r:id="rId122"/>
    <p:sldId id="577" r:id="rId123"/>
    <p:sldId id="589" r:id="rId124"/>
    <p:sldId id="588" r:id="rId125"/>
    <p:sldId id="590" r:id="rId126"/>
    <p:sldId id="591" r:id="rId127"/>
    <p:sldId id="592" r:id="rId128"/>
    <p:sldId id="338" r:id="rId12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dad1: La acción humana sobre el entorno" id="{25193AA9-8668-4949-BBC6-7336EC209A2E}">
          <p14:sldIdLst>
            <p14:sldId id="256"/>
          </p14:sldIdLst>
        </p14:section>
        <p14:section name="4.1. Introducción" id="{B6C341E1-91D7-41DA-9610-64E428C50B83}">
          <p14:sldIdLst>
            <p14:sldId id="260"/>
            <p14:sldId id="263"/>
            <p14:sldId id="431"/>
            <p14:sldId id="488"/>
            <p14:sldId id="477"/>
            <p14:sldId id="478"/>
            <p14:sldId id="479"/>
            <p14:sldId id="480"/>
            <p14:sldId id="481"/>
            <p14:sldId id="482"/>
            <p14:sldId id="483"/>
            <p14:sldId id="484"/>
            <p14:sldId id="485"/>
            <p14:sldId id="486"/>
            <p14:sldId id="487"/>
            <p14:sldId id="489"/>
            <p14:sldId id="493"/>
            <p14:sldId id="492"/>
            <p14:sldId id="490"/>
            <p14:sldId id="494"/>
            <p14:sldId id="491"/>
          </p14:sldIdLst>
        </p14:section>
        <p14:section name="4.2. Concepto de ASG o ESG" id="{A5541D46-6C24-44BB-A6EA-2F18AA60E2DA}">
          <p14:sldIdLst>
            <p14:sldId id="297"/>
            <p14:sldId id="521"/>
            <p14:sldId id="523"/>
            <p14:sldId id="496"/>
            <p14:sldId id="522"/>
            <p14:sldId id="524"/>
            <p14:sldId id="525"/>
          </p14:sldIdLst>
        </p14:section>
        <p14:section name="4.3. Aspectos ambientales" id="{E7003578-20A7-48A8-ACE2-481420D34E84}">
          <p14:sldIdLst>
            <p14:sldId id="309"/>
            <p14:sldId id="497"/>
            <p14:sldId id="526"/>
            <p14:sldId id="499"/>
            <p14:sldId id="500"/>
            <p14:sldId id="498"/>
            <p14:sldId id="501"/>
            <p14:sldId id="528"/>
            <p14:sldId id="527"/>
            <p14:sldId id="503"/>
            <p14:sldId id="504"/>
            <p14:sldId id="529"/>
            <p14:sldId id="534"/>
            <p14:sldId id="535"/>
            <p14:sldId id="506"/>
            <p14:sldId id="507"/>
            <p14:sldId id="505"/>
            <p14:sldId id="530"/>
          </p14:sldIdLst>
        </p14:section>
        <p14:section name="4.4. Aspectos sociales" id="{577F9F3B-9807-4B5B-8A50-BBC964D98EE8}">
          <p14:sldIdLst>
            <p14:sldId id="318"/>
            <p14:sldId id="472"/>
            <p14:sldId id="544"/>
            <p14:sldId id="543"/>
            <p14:sldId id="542"/>
            <p14:sldId id="545"/>
            <p14:sldId id="546"/>
            <p14:sldId id="508"/>
            <p14:sldId id="510"/>
            <p14:sldId id="511"/>
            <p14:sldId id="547"/>
            <p14:sldId id="509"/>
            <p14:sldId id="512"/>
            <p14:sldId id="548"/>
            <p14:sldId id="537"/>
            <p14:sldId id="549"/>
            <p14:sldId id="513"/>
            <p14:sldId id="514"/>
            <p14:sldId id="550"/>
          </p14:sldIdLst>
        </p14:section>
        <p14:section name="4.5. Aspectos de gobernanza" id="{2960EB61-FBF4-47B3-BEC4-23D98D6A4DC5}">
          <p14:sldIdLst>
            <p14:sldId id="423"/>
            <p14:sldId id="515"/>
            <p14:sldId id="541"/>
            <p14:sldId id="551"/>
            <p14:sldId id="552"/>
            <p14:sldId id="517"/>
            <p14:sldId id="518"/>
            <p14:sldId id="519"/>
            <p14:sldId id="520"/>
            <p14:sldId id="536"/>
            <p14:sldId id="553"/>
            <p14:sldId id="539"/>
            <p14:sldId id="538"/>
            <p14:sldId id="554"/>
            <p14:sldId id="540"/>
            <p14:sldId id="555"/>
          </p14:sldIdLst>
        </p14:section>
        <p14:section name="4.6. Medida y evaluación de las estrategias ESG o ASG" id="{6BA42003-5E51-44E7-A313-8FB3D93618FE}">
          <p14:sldIdLst>
            <p14:sldId id="424"/>
            <p14:sldId id="462"/>
            <p14:sldId id="556"/>
            <p14:sldId id="557"/>
            <p14:sldId id="558"/>
            <p14:sldId id="531"/>
            <p14:sldId id="559"/>
            <p14:sldId id="560"/>
            <p14:sldId id="561"/>
            <p14:sldId id="562"/>
            <p14:sldId id="563"/>
            <p14:sldId id="564"/>
          </p14:sldIdLst>
        </p14:section>
        <p14:section name="4.7. Certificados ESG o ASG" id="{D4EA8068-71FB-42DD-8D1C-3C65D1A09E45}">
          <p14:sldIdLst>
            <p14:sldId id="473"/>
            <p14:sldId id="532"/>
            <p14:sldId id="565"/>
            <p14:sldId id="566"/>
          </p14:sldIdLst>
        </p14:section>
        <p14:section name="4.8. El ESG/ASG y los inversores" id="{F2191C17-B897-4D16-90CA-28A3EEE58E07}">
          <p14:sldIdLst>
            <p14:sldId id="474"/>
            <p14:sldId id="567"/>
            <p14:sldId id="568"/>
            <p14:sldId id="569"/>
            <p14:sldId id="570"/>
            <p14:sldId id="571"/>
            <p14:sldId id="572"/>
            <p14:sldId id="573"/>
            <p14:sldId id="574"/>
            <p14:sldId id="575"/>
          </p14:sldIdLst>
        </p14:section>
        <p14:section name="4.9. El papel de los gobiernos y la normativa" id="{F13C4585-A8FA-4EE3-8B92-E9DBDB38A864}">
          <p14:sldIdLst>
            <p14:sldId id="475"/>
            <p14:sldId id="576"/>
            <p14:sldId id="578"/>
            <p14:sldId id="579"/>
            <p14:sldId id="580"/>
            <p14:sldId id="582"/>
            <p14:sldId id="581"/>
            <p14:sldId id="583"/>
            <p14:sldId id="584"/>
            <p14:sldId id="585"/>
            <p14:sldId id="586"/>
            <p14:sldId id="587"/>
          </p14:sldIdLst>
        </p14:section>
        <p14:section name="4.10. Nuevos modelos de hacer negocios" id="{CBB67BE1-0039-4DC9-B5FC-7FE1F3E0BE3E}">
          <p14:sldIdLst>
            <p14:sldId id="476"/>
            <p14:sldId id="577"/>
            <p14:sldId id="589"/>
            <p14:sldId id="588"/>
            <p14:sldId id="590"/>
            <p14:sldId id="591"/>
            <p14:sldId id="592"/>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7"/>
    <a:srgbClr val="FFFF81"/>
    <a:srgbClr val="FFF7C9"/>
    <a:srgbClr val="FFE7E7"/>
    <a:srgbClr val="E99E09"/>
    <a:srgbClr val="EAFAE6"/>
    <a:srgbClr val="45C727"/>
    <a:srgbClr val="62DB45"/>
    <a:srgbClr val="FEFECE"/>
    <a:srgbClr val="F2B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86" autoAdjust="0"/>
    <p:restoredTop sz="94660"/>
  </p:normalViewPr>
  <p:slideViewPr>
    <p:cSldViewPr snapToGrid="0">
      <p:cViewPr varScale="1">
        <p:scale>
          <a:sx n="108" d="100"/>
          <a:sy n="108"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407904-C181-4D2B-ACE9-E12ED20C5F01}" type="doc">
      <dgm:prSet loTypeId="urn:microsoft.com/office/officeart/2009/3/layout/StepUpProcess" loCatId="process" qsTypeId="urn:microsoft.com/office/officeart/2005/8/quickstyle/3d1" qsCatId="3D" csTypeId="urn:microsoft.com/office/officeart/2005/8/colors/colorful5" csCatId="colorful" phldr="1"/>
      <dgm:spPr/>
      <dgm:t>
        <a:bodyPr/>
        <a:lstStyle/>
        <a:p>
          <a:endParaRPr lang="es-ES"/>
        </a:p>
      </dgm:t>
    </dgm:pt>
    <dgm:pt modelId="{34872905-0B55-479B-BE69-B73885F69C6C}">
      <dgm:prSet phldrT="[Texto]"/>
      <dgm:spPr/>
      <dgm:t>
        <a:bodyPr/>
        <a:lstStyle/>
        <a:p>
          <a:r>
            <a:rPr lang="es-ES" dirty="0"/>
            <a:t>Evaluar huella hídrica</a:t>
          </a:r>
        </a:p>
      </dgm:t>
    </dgm:pt>
    <dgm:pt modelId="{F4FDE8E4-48FD-4E8C-BBD1-E65BECA0A52C}" type="parTrans" cxnId="{37D9BA64-D794-40E7-A072-52E1ABF55A84}">
      <dgm:prSet/>
      <dgm:spPr/>
      <dgm:t>
        <a:bodyPr/>
        <a:lstStyle/>
        <a:p>
          <a:endParaRPr lang="es-ES"/>
        </a:p>
      </dgm:t>
    </dgm:pt>
    <dgm:pt modelId="{83C80CB3-4AD7-47C4-B5B3-13DC8089DE47}" type="sibTrans" cxnId="{37D9BA64-D794-40E7-A072-52E1ABF55A84}">
      <dgm:prSet/>
      <dgm:spPr/>
      <dgm:t>
        <a:bodyPr/>
        <a:lstStyle/>
        <a:p>
          <a:endParaRPr lang="es-ES"/>
        </a:p>
      </dgm:t>
    </dgm:pt>
    <dgm:pt modelId="{5ED94313-7FC3-430D-9734-3E2183493646}">
      <dgm:prSet phldrT="[Texto]"/>
      <dgm:spPr/>
      <dgm:t>
        <a:bodyPr/>
        <a:lstStyle/>
        <a:p>
          <a:r>
            <a:rPr lang="es-ES" dirty="0"/>
            <a:t>Implementar una gestión eficiente</a:t>
          </a:r>
        </a:p>
      </dgm:t>
    </dgm:pt>
    <dgm:pt modelId="{2A534926-7BDB-41EB-BA8C-0F181D83EF6C}" type="parTrans" cxnId="{20B2D73C-DA36-49AA-91DC-AAEDBE4593CB}">
      <dgm:prSet/>
      <dgm:spPr/>
      <dgm:t>
        <a:bodyPr/>
        <a:lstStyle/>
        <a:p>
          <a:endParaRPr lang="es-ES"/>
        </a:p>
      </dgm:t>
    </dgm:pt>
    <dgm:pt modelId="{63F2E1B7-06E6-47C5-835E-AEF363989295}" type="sibTrans" cxnId="{20B2D73C-DA36-49AA-91DC-AAEDBE4593CB}">
      <dgm:prSet/>
      <dgm:spPr/>
      <dgm:t>
        <a:bodyPr/>
        <a:lstStyle/>
        <a:p>
          <a:endParaRPr lang="es-ES"/>
        </a:p>
      </dgm:t>
    </dgm:pt>
    <dgm:pt modelId="{720DED0C-0FEA-4352-A37F-CD04EE0F25B4}">
      <dgm:prSet phldrT="[Texto]"/>
      <dgm:spPr/>
      <dgm:t>
        <a:bodyPr/>
        <a:lstStyle/>
        <a:p>
          <a:r>
            <a:rPr lang="es-ES" dirty="0"/>
            <a:t>Tecnologías de menor consumo</a:t>
          </a:r>
        </a:p>
      </dgm:t>
    </dgm:pt>
    <dgm:pt modelId="{2D4225EA-BCA3-40A2-BA77-747F637C857C}" type="parTrans" cxnId="{5C0D29EB-5056-4F7D-8AB4-1FCFBF3F9799}">
      <dgm:prSet/>
      <dgm:spPr/>
      <dgm:t>
        <a:bodyPr/>
        <a:lstStyle/>
        <a:p>
          <a:endParaRPr lang="es-ES"/>
        </a:p>
      </dgm:t>
    </dgm:pt>
    <dgm:pt modelId="{89BF472C-20A5-4C0A-89A1-C670D470E1D0}" type="sibTrans" cxnId="{5C0D29EB-5056-4F7D-8AB4-1FCFBF3F9799}">
      <dgm:prSet/>
      <dgm:spPr/>
      <dgm:t>
        <a:bodyPr/>
        <a:lstStyle/>
        <a:p>
          <a:endParaRPr lang="es-ES"/>
        </a:p>
      </dgm:t>
    </dgm:pt>
    <dgm:pt modelId="{28795BD7-3F13-4460-8611-B0FAF1AE8334}">
      <dgm:prSet phldrT="[Texto]"/>
      <dgm:spPr/>
      <dgm:t>
        <a:bodyPr/>
        <a:lstStyle/>
        <a:p>
          <a:r>
            <a:rPr lang="es-ES" dirty="0"/>
            <a:t>Sistemas de reciclado y reutilización</a:t>
          </a:r>
        </a:p>
      </dgm:t>
    </dgm:pt>
    <dgm:pt modelId="{D56372DB-41AB-40FA-B70E-277A8FCE9000}" type="parTrans" cxnId="{E68DF57A-A9FF-4EFA-AA2F-FC6159EE8BC4}">
      <dgm:prSet/>
      <dgm:spPr/>
      <dgm:t>
        <a:bodyPr/>
        <a:lstStyle/>
        <a:p>
          <a:endParaRPr lang="es-ES"/>
        </a:p>
      </dgm:t>
    </dgm:pt>
    <dgm:pt modelId="{38B4FB5D-C30D-4679-829C-1187AC464EB3}" type="sibTrans" cxnId="{E68DF57A-A9FF-4EFA-AA2F-FC6159EE8BC4}">
      <dgm:prSet/>
      <dgm:spPr/>
      <dgm:t>
        <a:bodyPr/>
        <a:lstStyle/>
        <a:p>
          <a:endParaRPr lang="es-ES"/>
        </a:p>
      </dgm:t>
    </dgm:pt>
    <dgm:pt modelId="{FAA16BB1-0008-4B4C-BC4D-A26A71C311AC}" type="pres">
      <dgm:prSet presAssocID="{9C407904-C181-4D2B-ACE9-E12ED20C5F01}" presName="rootnode" presStyleCnt="0">
        <dgm:presLayoutVars>
          <dgm:chMax/>
          <dgm:chPref/>
          <dgm:dir/>
          <dgm:animLvl val="lvl"/>
        </dgm:presLayoutVars>
      </dgm:prSet>
      <dgm:spPr/>
    </dgm:pt>
    <dgm:pt modelId="{5306CBB5-41F8-4B2F-B9DD-BA29AA4B92CA}" type="pres">
      <dgm:prSet presAssocID="{34872905-0B55-479B-BE69-B73885F69C6C}" presName="composite" presStyleCnt="0"/>
      <dgm:spPr/>
    </dgm:pt>
    <dgm:pt modelId="{B42E0408-0D6F-4FD0-A6F6-6DB5C0868E81}" type="pres">
      <dgm:prSet presAssocID="{34872905-0B55-479B-BE69-B73885F69C6C}" presName="LShape" presStyleLbl="alignNode1" presStyleIdx="0" presStyleCnt="7"/>
      <dgm:spPr/>
    </dgm:pt>
    <dgm:pt modelId="{2A2B9127-4312-4A49-8427-6F3716C0AED1}" type="pres">
      <dgm:prSet presAssocID="{34872905-0B55-479B-BE69-B73885F69C6C}" presName="ParentText" presStyleLbl="revTx" presStyleIdx="0" presStyleCnt="4">
        <dgm:presLayoutVars>
          <dgm:chMax val="0"/>
          <dgm:chPref val="0"/>
          <dgm:bulletEnabled val="1"/>
        </dgm:presLayoutVars>
      </dgm:prSet>
      <dgm:spPr/>
    </dgm:pt>
    <dgm:pt modelId="{715A3DC0-CBFA-495E-97FD-2382B11E49C0}" type="pres">
      <dgm:prSet presAssocID="{34872905-0B55-479B-BE69-B73885F69C6C}" presName="Triangle" presStyleLbl="alignNode1" presStyleIdx="1" presStyleCnt="7"/>
      <dgm:spPr/>
    </dgm:pt>
    <dgm:pt modelId="{6CFD94F5-19CE-4480-B4D3-76FF475C4802}" type="pres">
      <dgm:prSet presAssocID="{83C80CB3-4AD7-47C4-B5B3-13DC8089DE47}" presName="sibTrans" presStyleCnt="0"/>
      <dgm:spPr/>
    </dgm:pt>
    <dgm:pt modelId="{0A6E4E56-7082-416F-BDBF-C874317298B9}" type="pres">
      <dgm:prSet presAssocID="{83C80CB3-4AD7-47C4-B5B3-13DC8089DE47}" presName="space" presStyleCnt="0"/>
      <dgm:spPr/>
    </dgm:pt>
    <dgm:pt modelId="{E8C811F1-F39A-446B-A973-ACC5B6CC111C}" type="pres">
      <dgm:prSet presAssocID="{5ED94313-7FC3-430D-9734-3E2183493646}" presName="composite" presStyleCnt="0"/>
      <dgm:spPr/>
    </dgm:pt>
    <dgm:pt modelId="{B1784888-765D-4135-A5A6-6FE8B0D1E10D}" type="pres">
      <dgm:prSet presAssocID="{5ED94313-7FC3-430D-9734-3E2183493646}" presName="LShape" presStyleLbl="alignNode1" presStyleIdx="2" presStyleCnt="7"/>
      <dgm:spPr/>
    </dgm:pt>
    <dgm:pt modelId="{BB3B5B41-DB6A-4F8F-85EA-B8B5B3D83482}" type="pres">
      <dgm:prSet presAssocID="{5ED94313-7FC3-430D-9734-3E2183493646}" presName="ParentText" presStyleLbl="revTx" presStyleIdx="1" presStyleCnt="4">
        <dgm:presLayoutVars>
          <dgm:chMax val="0"/>
          <dgm:chPref val="0"/>
          <dgm:bulletEnabled val="1"/>
        </dgm:presLayoutVars>
      </dgm:prSet>
      <dgm:spPr/>
    </dgm:pt>
    <dgm:pt modelId="{DFBB9949-F487-4046-9ACA-BDBF0C0F5748}" type="pres">
      <dgm:prSet presAssocID="{5ED94313-7FC3-430D-9734-3E2183493646}" presName="Triangle" presStyleLbl="alignNode1" presStyleIdx="3" presStyleCnt="7"/>
      <dgm:spPr/>
    </dgm:pt>
    <dgm:pt modelId="{FF335EAD-1E46-4C2B-9A4B-878AFA628D06}" type="pres">
      <dgm:prSet presAssocID="{63F2E1B7-06E6-47C5-835E-AEF363989295}" presName="sibTrans" presStyleCnt="0"/>
      <dgm:spPr/>
    </dgm:pt>
    <dgm:pt modelId="{79FFCEFC-7F6D-4673-A844-479C913E0EAE}" type="pres">
      <dgm:prSet presAssocID="{63F2E1B7-06E6-47C5-835E-AEF363989295}" presName="space" presStyleCnt="0"/>
      <dgm:spPr/>
    </dgm:pt>
    <dgm:pt modelId="{4AF6D687-067B-4B4E-9342-696E4BB61177}" type="pres">
      <dgm:prSet presAssocID="{720DED0C-0FEA-4352-A37F-CD04EE0F25B4}" presName="composite" presStyleCnt="0"/>
      <dgm:spPr/>
    </dgm:pt>
    <dgm:pt modelId="{DEF10233-87B0-4475-8B34-C10E16C4A418}" type="pres">
      <dgm:prSet presAssocID="{720DED0C-0FEA-4352-A37F-CD04EE0F25B4}" presName="LShape" presStyleLbl="alignNode1" presStyleIdx="4" presStyleCnt="7"/>
      <dgm:spPr/>
    </dgm:pt>
    <dgm:pt modelId="{FFE92E79-C097-4EE8-B277-51D8BDC9BAF0}" type="pres">
      <dgm:prSet presAssocID="{720DED0C-0FEA-4352-A37F-CD04EE0F25B4}" presName="ParentText" presStyleLbl="revTx" presStyleIdx="2" presStyleCnt="4">
        <dgm:presLayoutVars>
          <dgm:chMax val="0"/>
          <dgm:chPref val="0"/>
          <dgm:bulletEnabled val="1"/>
        </dgm:presLayoutVars>
      </dgm:prSet>
      <dgm:spPr/>
    </dgm:pt>
    <dgm:pt modelId="{DD6FE535-A42C-4456-98EB-F6EDFEC3F06F}" type="pres">
      <dgm:prSet presAssocID="{720DED0C-0FEA-4352-A37F-CD04EE0F25B4}" presName="Triangle" presStyleLbl="alignNode1" presStyleIdx="5" presStyleCnt="7"/>
      <dgm:spPr/>
    </dgm:pt>
    <dgm:pt modelId="{4CC06054-12A0-4164-A9E9-253136861130}" type="pres">
      <dgm:prSet presAssocID="{89BF472C-20A5-4C0A-89A1-C670D470E1D0}" presName="sibTrans" presStyleCnt="0"/>
      <dgm:spPr/>
    </dgm:pt>
    <dgm:pt modelId="{9C04B791-369D-42B7-A5C2-E0F794BDCF88}" type="pres">
      <dgm:prSet presAssocID="{89BF472C-20A5-4C0A-89A1-C670D470E1D0}" presName="space" presStyleCnt="0"/>
      <dgm:spPr/>
    </dgm:pt>
    <dgm:pt modelId="{0A288AD7-219D-4DD7-8F78-A960F27C1C83}" type="pres">
      <dgm:prSet presAssocID="{28795BD7-3F13-4460-8611-B0FAF1AE8334}" presName="composite" presStyleCnt="0"/>
      <dgm:spPr/>
    </dgm:pt>
    <dgm:pt modelId="{D879FAA6-6CDC-4EC3-B356-C83824EB1385}" type="pres">
      <dgm:prSet presAssocID="{28795BD7-3F13-4460-8611-B0FAF1AE8334}" presName="LShape" presStyleLbl="alignNode1" presStyleIdx="6" presStyleCnt="7"/>
      <dgm:spPr/>
    </dgm:pt>
    <dgm:pt modelId="{8E8F6F24-0B36-4042-A04C-251944603FE5}" type="pres">
      <dgm:prSet presAssocID="{28795BD7-3F13-4460-8611-B0FAF1AE8334}" presName="ParentText" presStyleLbl="revTx" presStyleIdx="3" presStyleCnt="4">
        <dgm:presLayoutVars>
          <dgm:chMax val="0"/>
          <dgm:chPref val="0"/>
          <dgm:bulletEnabled val="1"/>
        </dgm:presLayoutVars>
      </dgm:prSet>
      <dgm:spPr/>
    </dgm:pt>
  </dgm:ptLst>
  <dgm:cxnLst>
    <dgm:cxn modelId="{AE03DF07-B2DC-4D6D-95BE-964C343AFEE6}" type="presOf" srcId="{9C407904-C181-4D2B-ACE9-E12ED20C5F01}" destId="{FAA16BB1-0008-4B4C-BC4D-A26A71C311AC}" srcOrd="0" destOrd="0" presId="urn:microsoft.com/office/officeart/2009/3/layout/StepUpProcess"/>
    <dgm:cxn modelId="{3CA2750D-DD5C-4848-B791-DD1584C1C27B}" type="presOf" srcId="{28795BD7-3F13-4460-8611-B0FAF1AE8334}" destId="{8E8F6F24-0B36-4042-A04C-251944603FE5}" srcOrd="0" destOrd="0" presId="urn:microsoft.com/office/officeart/2009/3/layout/StepUpProcess"/>
    <dgm:cxn modelId="{20B2D73C-DA36-49AA-91DC-AAEDBE4593CB}" srcId="{9C407904-C181-4D2B-ACE9-E12ED20C5F01}" destId="{5ED94313-7FC3-430D-9734-3E2183493646}" srcOrd="1" destOrd="0" parTransId="{2A534926-7BDB-41EB-BA8C-0F181D83EF6C}" sibTransId="{63F2E1B7-06E6-47C5-835E-AEF363989295}"/>
    <dgm:cxn modelId="{37D9BA64-D794-40E7-A072-52E1ABF55A84}" srcId="{9C407904-C181-4D2B-ACE9-E12ED20C5F01}" destId="{34872905-0B55-479B-BE69-B73885F69C6C}" srcOrd="0" destOrd="0" parTransId="{F4FDE8E4-48FD-4E8C-BBD1-E65BECA0A52C}" sibTransId="{83C80CB3-4AD7-47C4-B5B3-13DC8089DE47}"/>
    <dgm:cxn modelId="{E68DF57A-A9FF-4EFA-AA2F-FC6159EE8BC4}" srcId="{9C407904-C181-4D2B-ACE9-E12ED20C5F01}" destId="{28795BD7-3F13-4460-8611-B0FAF1AE8334}" srcOrd="3" destOrd="0" parTransId="{D56372DB-41AB-40FA-B70E-277A8FCE9000}" sibTransId="{38B4FB5D-C30D-4679-829C-1187AC464EB3}"/>
    <dgm:cxn modelId="{1CB4D785-0D86-4C71-A161-4CC81B9C4F9E}" type="presOf" srcId="{5ED94313-7FC3-430D-9734-3E2183493646}" destId="{BB3B5B41-DB6A-4F8F-85EA-B8B5B3D83482}" srcOrd="0" destOrd="0" presId="urn:microsoft.com/office/officeart/2009/3/layout/StepUpProcess"/>
    <dgm:cxn modelId="{2361A88A-F72C-4B68-A444-FADF9AEDB318}" type="presOf" srcId="{34872905-0B55-479B-BE69-B73885F69C6C}" destId="{2A2B9127-4312-4A49-8427-6F3716C0AED1}" srcOrd="0" destOrd="0" presId="urn:microsoft.com/office/officeart/2009/3/layout/StepUpProcess"/>
    <dgm:cxn modelId="{1FDA3BD7-F848-4862-9B30-1B436C751914}" type="presOf" srcId="{720DED0C-0FEA-4352-A37F-CD04EE0F25B4}" destId="{FFE92E79-C097-4EE8-B277-51D8BDC9BAF0}" srcOrd="0" destOrd="0" presId="urn:microsoft.com/office/officeart/2009/3/layout/StepUpProcess"/>
    <dgm:cxn modelId="{5C0D29EB-5056-4F7D-8AB4-1FCFBF3F9799}" srcId="{9C407904-C181-4D2B-ACE9-E12ED20C5F01}" destId="{720DED0C-0FEA-4352-A37F-CD04EE0F25B4}" srcOrd="2" destOrd="0" parTransId="{2D4225EA-BCA3-40A2-BA77-747F637C857C}" sibTransId="{89BF472C-20A5-4C0A-89A1-C670D470E1D0}"/>
    <dgm:cxn modelId="{75630069-39D5-4F23-879C-FCA84F23B100}" type="presParOf" srcId="{FAA16BB1-0008-4B4C-BC4D-A26A71C311AC}" destId="{5306CBB5-41F8-4B2F-B9DD-BA29AA4B92CA}" srcOrd="0" destOrd="0" presId="urn:microsoft.com/office/officeart/2009/3/layout/StepUpProcess"/>
    <dgm:cxn modelId="{F02D4024-1DFF-4C79-8FF9-4CCC8132BB75}" type="presParOf" srcId="{5306CBB5-41F8-4B2F-B9DD-BA29AA4B92CA}" destId="{B42E0408-0D6F-4FD0-A6F6-6DB5C0868E81}" srcOrd="0" destOrd="0" presId="urn:microsoft.com/office/officeart/2009/3/layout/StepUpProcess"/>
    <dgm:cxn modelId="{D604E97D-5118-455A-9C01-1738FA70BD2B}" type="presParOf" srcId="{5306CBB5-41F8-4B2F-B9DD-BA29AA4B92CA}" destId="{2A2B9127-4312-4A49-8427-6F3716C0AED1}" srcOrd="1" destOrd="0" presId="urn:microsoft.com/office/officeart/2009/3/layout/StepUpProcess"/>
    <dgm:cxn modelId="{F7C75B59-48AB-4539-AEDF-D62406F41327}" type="presParOf" srcId="{5306CBB5-41F8-4B2F-B9DD-BA29AA4B92CA}" destId="{715A3DC0-CBFA-495E-97FD-2382B11E49C0}" srcOrd="2" destOrd="0" presId="urn:microsoft.com/office/officeart/2009/3/layout/StepUpProcess"/>
    <dgm:cxn modelId="{5A9B8C56-E96C-4E51-B5A1-444D06C0244A}" type="presParOf" srcId="{FAA16BB1-0008-4B4C-BC4D-A26A71C311AC}" destId="{6CFD94F5-19CE-4480-B4D3-76FF475C4802}" srcOrd="1" destOrd="0" presId="urn:microsoft.com/office/officeart/2009/3/layout/StepUpProcess"/>
    <dgm:cxn modelId="{34FE6CD1-51CD-4AD9-B54B-8AB27403B0A6}" type="presParOf" srcId="{6CFD94F5-19CE-4480-B4D3-76FF475C4802}" destId="{0A6E4E56-7082-416F-BDBF-C874317298B9}" srcOrd="0" destOrd="0" presId="urn:microsoft.com/office/officeart/2009/3/layout/StepUpProcess"/>
    <dgm:cxn modelId="{FB8F3E53-1699-4856-A718-20F5BE838771}" type="presParOf" srcId="{FAA16BB1-0008-4B4C-BC4D-A26A71C311AC}" destId="{E8C811F1-F39A-446B-A973-ACC5B6CC111C}" srcOrd="2" destOrd="0" presId="urn:microsoft.com/office/officeart/2009/3/layout/StepUpProcess"/>
    <dgm:cxn modelId="{9F0A5398-ED49-40AC-B847-1688488C4C9E}" type="presParOf" srcId="{E8C811F1-F39A-446B-A973-ACC5B6CC111C}" destId="{B1784888-765D-4135-A5A6-6FE8B0D1E10D}" srcOrd="0" destOrd="0" presId="urn:microsoft.com/office/officeart/2009/3/layout/StepUpProcess"/>
    <dgm:cxn modelId="{7B29D51E-2768-4EEE-B500-6E1DB825DC1B}" type="presParOf" srcId="{E8C811F1-F39A-446B-A973-ACC5B6CC111C}" destId="{BB3B5B41-DB6A-4F8F-85EA-B8B5B3D83482}" srcOrd="1" destOrd="0" presId="urn:microsoft.com/office/officeart/2009/3/layout/StepUpProcess"/>
    <dgm:cxn modelId="{9E051905-90B2-4E47-8AC6-F30B8379DFCE}" type="presParOf" srcId="{E8C811F1-F39A-446B-A973-ACC5B6CC111C}" destId="{DFBB9949-F487-4046-9ACA-BDBF0C0F5748}" srcOrd="2" destOrd="0" presId="urn:microsoft.com/office/officeart/2009/3/layout/StepUpProcess"/>
    <dgm:cxn modelId="{BD5936B3-082C-4E04-8CB9-9459E4365D39}" type="presParOf" srcId="{FAA16BB1-0008-4B4C-BC4D-A26A71C311AC}" destId="{FF335EAD-1E46-4C2B-9A4B-878AFA628D06}" srcOrd="3" destOrd="0" presId="urn:microsoft.com/office/officeart/2009/3/layout/StepUpProcess"/>
    <dgm:cxn modelId="{5ED85D4D-65C6-41A1-BE79-CA878A1BE456}" type="presParOf" srcId="{FF335EAD-1E46-4C2B-9A4B-878AFA628D06}" destId="{79FFCEFC-7F6D-4673-A844-479C913E0EAE}" srcOrd="0" destOrd="0" presId="urn:microsoft.com/office/officeart/2009/3/layout/StepUpProcess"/>
    <dgm:cxn modelId="{88E165C8-8613-483A-8F77-5E4A00C8AAAA}" type="presParOf" srcId="{FAA16BB1-0008-4B4C-BC4D-A26A71C311AC}" destId="{4AF6D687-067B-4B4E-9342-696E4BB61177}" srcOrd="4" destOrd="0" presId="urn:microsoft.com/office/officeart/2009/3/layout/StepUpProcess"/>
    <dgm:cxn modelId="{F766489C-59CC-47D8-A698-1BE622A17814}" type="presParOf" srcId="{4AF6D687-067B-4B4E-9342-696E4BB61177}" destId="{DEF10233-87B0-4475-8B34-C10E16C4A418}" srcOrd="0" destOrd="0" presId="urn:microsoft.com/office/officeart/2009/3/layout/StepUpProcess"/>
    <dgm:cxn modelId="{B3FF604B-26D4-401E-B8C3-D7F261FC5570}" type="presParOf" srcId="{4AF6D687-067B-4B4E-9342-696E4BB61177}" destId="{FFE92E79-C097-4EE8-B277-51D8BDC9BAF0}" srcOrd="1" destOrd="0" presId="urn:microsoft.com/office/officeart/2009/3/layout/StepUpProcess"/>
    <dgm:cxn modelId="{B2856D1A-09D2-4673-8DD3-9C1BB418E2DE}" type="presParOf" srcId="{4AF6D687-067B-4B4E-9342-696E4BB61177}" destId="{DD6FE535-A42C-4456-98EB-F6EDFEC3F06F}" srcOrd="2" destOrd="0" presId="urn:microsoft.com/office/officeart/2009/3/layout/StepUpProcess"/>
    <dgm:cxn modelId="{5C6CE61C-E75B-46F5-99FB-2F87ABCC2542}" type="presParOf" srcId="{FAA16BB1-0008-4B4C-BC4D-A26A71C311AC}" destId="{4CC06054-12A0-4164-A9E9-253136861130}" srcOrd="5" destOrd="0" presId="urn:microsoft.com/office/officeart/2009/3/layout/StepUpProcess"/>
    <dgm:cxn modelId="{2F83D64D-ED70-40F2-9BF4-BF4CBDB7563F}" type="presParOf" srcId="{4CC06054-12A0-4164-A9E9-253136861130}" destId="{9C04B791-369D-42B7-A5C2-E0F794BDCF88}" srcOrd="0" destOrd="0" presId="urn:microsoft.com/office/officeart/2009/3/layout/StepUpProcess"/>
    <dgm:cxn modelId="{7CC2DDC4-B939-4B69-A579-3BE7D8BB6835}" type="presParOf" srcId="{FAA16BB1-0008-4B4C-BC4D-A26A71C311AC}" destId="{0A288AD7-219D-4DD7-8F78-A960F27C1C83}" srcOrd="6" destOrd="0" presId="urn:microsoft.com/office/officeart/2009/3/layout/StepUpProcess"/>
    <dgm:cxn modelId="{3EE11057-C2B7-4EBE-9085-A18D0FF26044}" type="presParOf" srcId="{0A288AD7-219D-4DD7-8F78-A960F27C1C83}" destId="{D879FAA6-6CDC-4EC3-B356-C83824EB1385}" srcOrd="0" destOrd="0" presId="urn:microsoft.com/office/officeart/2009/3/layout/StepUpProcess"/>
    <dgm:cxn modelId="{AE1B3915-0DAB-415A-A192-B7FA188A892B}" type="presParOf" srcId="{0A288AD7-219D-4DD7-8F78-A960F27C1C83}" destId="{8E8F6F24-0B36-4042-A04C-251944603FE5}" srcOrd="1" destOrd="0" presId="urn:microsoft.com/office/officeart/2009/3/layout/StepUpProcess"/>
  </dgm:cxnLst>
  <dgm:bg/>
  <dgm:whole>
    <a:ln w="19050">
      <a:solidFill>
        <a:schemeClr val="accent5">
          <a:lumMod val="75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E0408-0D6F-4FD0-A6F6-6DB5C0868E81}">
      <dsp:nvSpPr>
        <dsp:cNvPr id="0" name=""/>
        <dsp:cNvSpPr/>
      </dsp:nvSpPr>
      <dsp:spPr>
        <a:xfrm rot="5400000">
          <a:off x="270210" y="970768"/>
          <a:ext cx="801380" cy="1333479"/>
        </a:xfrm>
        <a:prstGeom prst="corner">
          <a:avLst>
            <a:gd name="adj1" fmla="val 16120"/>
            <a:gd name="adj2" fmla="val 1611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2A2B9127-4312-4A49-8427-6F3716C0AED1}">
      <dsp:nvSpPr>
        <dsp:cNvPr id="0" name=""/>
        <dsp:cNvSpPr/>
      </dsp:nvSpPr>
      <dsp:spPr>
        <a:xfrm>
          <a:off x="136440" y="1369191"/>
          <a:ext cx="1203872" cy="1055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Evaluar huella hídrica</a:t>
          </a:r>
        </a:p>
      </dsp:txBody>
      <dsp:txXfrm>
        <a:off x="136440" y="1369191"/>
        <a:ext cx="1203872" cy="1055264"/>
      </dsp:txXfrm>
    </dsp:sp>
    <dsp:sp modelId="{715A3DC0-CBFA-495E-97FD-2382B11E49C0}">
      <dsp:nvSpPr>
        <dsp:cNvPr id="0" name=""/>
        <dsp:cNvSpPr/>
      </dsp:nvSpPr>
      <dsp:spPr>
        <a:xfrm>
          <a:off x="1113167" y="872596"/>
          <a:ext cx="227145" cy="227145"/>
        </a:xfrm>
        <a:prstGeom prst="triangle">
          <a:avLst>
            <a:gd name="adj" fmla="val 100000"/>
          </a:avLst>
        </a:prstGeom>
        <a:gradFill rotWithShape="0">
          <a:gsLst>
            <a:gs pos="0">
              <a:schemeClr val="accent5">
                <a:hueOff val="-1126424"/>
                <a:satOff val="-2903"/>
                <a:lumOff val="-1961"/>
                <a:alphaOff val="0"/>
                <a:satMod val="103000"/>
                <a:lumMod val="102000"/>
                <a:tint val="94000"/>
              </a:schemeClr>
            </a:gs>
            <a:gs pos="50000">
              <a:schemeClr val="accent5">
                <a:hueOff val="-1126424"/>
                <a:satOff val="-2903"/>
                <a:lumOff val="-1961"/>
                <a:alphaOff val="0"/>
                <a:satMod val="110000"/>
                <a:lumMod val="100000"/>
                <a:shade val="100000"/>
              </a:schemeClr>
            </a:gs>
            <a:gs pos="100000">
              <a:schemeClr val="accent5">
                <a:hueOff val="-1126424"/>
                <a:satOff val="-2903"/>
                <a:lumOff val="-1961"/>
                <a:alphaOff val="0"/>
                <a:lumMod val="99000"/>
                <a:satMod val="120000"/>
                <a:shade val="78000"/>
              </a:schemeClr>
            </a:gs>
          </a:gsLst>
          <a:lin ang="5400000" scaled="0"/>
        </a:gradFill>
        <a:ln w="6350" cap="flat" cmpd="sng" algn="ctr">
          <a:solidFill>
            <a:schemeClr val="accent5">
              <a:hueOff val="-1126424"/>
              <a:satOff val="-2903"/>
              <a:lumOff val="-1961"/>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B1784888-765D-4135-A5A6-6FE8B0D1E10D}">
      <dsp:nvSpPr>
        <dsp:cNvPr id="0" name=""/>
        <dsp:cNvSpPr/>
      </dsp:nvSpPr>
      <dsp:spPr>
        <a:xfrm rot="5400000">
          <a:off x="1743985" y="606081"/>
          <a:ext cx="801380" cy="1333479"/>
        </a:xfrm>
        <a:prstGeom prst="corner">
          <a:avLst>
            <a:gd name="adj1" fmla="val 16120"/>
            <a:gd name="adj2" fmla="val 16110"/>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w="6350" cap="flat" cmpd="sng" algn="ctr">
          <a:solidFill>
            <a:schemeClr val="accent5">
              <a:hueOff val="-2252848"/>
              <a:satOff val="-5806"/>
              <a:lumOff val="-3922"/>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BB3B5B41-DB6A-4F8F-85EA-B8B5B3D83482}">
      <dsp:nvSpPr>
        <dsp:cNvPr id="0" name=""/>
        <dsp:cNvSpPr/>
      </dsp:nvSpPr>
      <dsp:spPr>
        <a:xfrm>
          <a:off x="1610215" y="1004504"/>
          <a:ext cx="1203872" cy="1055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Implementar una gestión eficiente</a:t>
          </a:r>
        </a:p>
      </dsp:txBody>
      <dsp:txXfrm>
        <a:off x="1610215" y="1004504"/>
        <a:ext cx="1203872" cy="1055264"/>
      </dsp:txXfrm>
    </dsp:sp>
    <dsp:sp modelId="{DFBB9949-F487-4046-9ACA-BDBF0C0F5748}">
      <dsp:nvSpPr>
        <dsp:cNvPr id="0" name=""/>
        <dsp:cNvSpPr/>
      </dsp:nvSpPr>
      <dsp:spPr>
        <a:xfrm>
          <a:off x="2586942" y="507909"/>
          <a:ext cx="227145" cy="227145"/>
        </a:xfrm>
        <a:prstGeom prst="triangle">
          <a:avLst>
            <a:gd name="adj" fmla="val 100000"/>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w="6350" cap="flat" cmpd="sng" algn="ctr">
          <a:solidFill>
            <a:schemeClr val="accent5">
              <a:hueOff val="-3379271"/>
              <a:satOff val="-8710"/>
              <a:lumOff val="-5883"/>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DEF10233-87B0-4475-8B34-C10E16C4A418}">
      <dsp:nvSpPr>
        <dsp:cNvPr id="0" name=""/>
        <dsp:cNvSpPr/>
      </dsp:nvSpPr>
      <dsp:spPr>
        <a:xfrm rot="5400000">
          <a:off x="3217761" y="241394"/>
          <a:ext cx="801380" cy="1333479"/>
        </a:xfrm>
        <a:prstGeom prst="corner">
          <a:avLst>
            <a:gd name="adj1" fmla="val 16120"/>
            <a:gd name="adj2" fmla="val 16110"/>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w="6350" cap="flat" cmpd="sng" algn="ctr">
          <a:solidFill>
            <a:schemeClr val="accent5">
              <a:hueOff val="-4505695"/>
              <a:satOff val="-11613"/>
              <a:lumOff val="-7843"/>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FFE92E79-C097-4EE8-B277-51D8BDC9BAF0}">
      <dsp:nvSpPr>
        <dsp:cNvPr id="0" name=""/>
        <dsp:cNvSpPr/>
      </dsp:nvSpPr>
      <dsp:spPr>
        <a:xfrm>
          <a:off x="3083990" y="639817"/>
          <a:ext cx="1203872" cy="1055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Tecnologías de menor consumo</a:t>
          </a:r>
        </a:p>
      </dsp:txBody>
      <dsp:txXfrm>
        <a:off x="3083990" y="639817"/>
        <a:ext cx="1203872" cy="1055264"/>
      </dsp:txXfrm>
    </dsp:sp>
    <dsp:sp modelId="{DD6FE535-A42C-4456-98EB-F6EDFEC3F06F}">
      <dsp:nvSpPr>
        <dsp:cNvPr id="0" name=""/>
        <dsp:cNvSpPr/>
      </dsp:nvSpPr>
      <dsp:spPr>
        <a:xfrm>
          <a:off x="4060717" y="143222"/>
          <a:ext cx="227145" cy="227145"/>
        </a:xfrm>
        <a:prstGeom prst="triangle">
          <a:avLst>
            <a:gd name="adj" fmla="val 100000"/>
          </a:avLst>
        </a:prstGeom>
        <a:gradFill rotWithShape="0">
          <a:gsLst>
            <a:gs pos="0">
              <a:schemeClr val="accent5">
                <a:hueOff val="-5632119"/>
                <a:satOff val="-14516"/>
                <a:lumOff val="-9804"/>
                <a:alphaOff val="0"/>
                <a:satMod val="103000"/>
                <a:lumMod val="102000"/>
                <a:tint val="94000"/>
              </a:schemeClr>
            </a:gs>
            <a:gs pos="50000">
              <a:schemeClr val="accent5">
                <a:hueOff val="-5632119"/>
                <a:satOff val="-14516"/>
                <a:lumOff val="-9804"/>
                <a:alphaOff val="0"/>
                <a:satMod val="110000"/>
                <a:lumMod val="100000"/>
                <a:shade val="100000"/>
              </a:schemeClr>
            </a:gs>
            <a:gs pos="100000">
              <a:schemeClr val="accent5">
                <a:hueOff val="-5632119"/>
                <a:satOff val="-14516"/>
                <a:lumOff val="-9804"/>
                <a:alphaOff val="0"/>
                <a:lumMod val="99000"/>
                <a:satMod val="120000"/>
                <a:shade val="78000"/>
              </a:schemeClr>
            </a:gs>
          </a:gsLst>
          <a:lin ang="5400000" scaled="0"/>
        </a:gradFill>
        <a:ln w="6350" cap="flat" cmpd="sng" algn="ctr">
          <a:solidFill>
            <a:schemeClr val="accent5">
              <a:hueOff val="-5632119"/>
              <a:satOff val="-14516"/>
              <a:lumOff val="-9804"/>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D879FAA6-6CDC-4EC3-B356-C83824EB1385}">
      <dsp:nvSpPr>
        <dsp:cNvPr id="0" name=""/>
        <dsp:cNvSpPr/>
      </dsp:nvSpPr>
      <dsp:spPr>
        <a:xfrm rot="5400000">
          <a:off x="4691536" y="-123292"/>
          <a:ext cx="801380" cy="1333479"/>
        </a:xfrm>
        <a:prstGeom prst="corner">
          <a:avLst>
            <a:gd name="adj1" fmla="val 16120"/>
            <a:gd name="adj2" fmla="val 16110"/>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w="6350" cap="flat" cmpd="sng" algn="ctr">
          <a:solidFill>
            <a:schemeClr val="accent5">
              <a:hueOff val="-6758543"/>
              <a:satOff val="-17419"/>
              <a:lumOff val="-11765"/>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8E8F6F24-0B36-4042-A04C-251944603FE5}">
      <dsp:nvSpPr>
        <dsp:cNvPr id="0" name=""/>
        <dsp:cNvSpPr/>
      </dsp:nvSpPr>
      <dsp:spPr>
        <a:xfrm>
          <a:off x="4557766" y="275130"/>
          <a:ext cx="1203872" cy="1055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ES" sz="1600" kern="1200" dirty="0"/>
            <a:t>Sistemas de reciclado y reutilización</a:t>
          </a:r>
        </a:p>
      </dsp:txBody>
      <dsp:txXfrm>
        <a:off x="4557766" y="275130"/>
        <a:ext cx="1203872" cy="1055264"/>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C2524-49A1-4D99-93A3-B4F510E55F03}" type="datetimeFigureOut">
              <a:rPr lang="es-ES" smtClean="0"/>
              <a:t>30/09/2024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398F5-E9FA-420A-B315-012EB89CBA8D}" type="slidenum">
              <a:rPr lang="es-ES" smtClean="0"/>
              <a:t>‹Nº›</a:t>
            </a:fld>
            <a:endParaRPr lang="es-ES"/>
          </a:p>
        </p:txBody>
      </p:sp>
    </p:spTree>
    <p:extLst>
      <p:ext uri="{BB962C8B-B14F-4D97-AF65-F5344CB8AC3E}">
        <p14:creationId xmlns:p14="http://schemas.microsoft.com/office/powerpoint/2010/main" val="1243173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24</a:t>
            </a:fld>
            <a:endParaRPr lang="es-ES"/>
          </a:p>
        </p:txBody>
      </p:sp>
    </p:spTree>
    <p:extLst>
      <p:ext uri="{BB962C8B-B14F-4D97-AF65-F5344CB8AC3E}">
        <p14:creationId xmlns:p14="http://schemas.microsoft.com/office/powerpoint/2010/main" val="2018202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25</a:t>
            </a:fld>
            <a:endParaRPr lang="es-ES"/>
          </a:p>
        </p:txBody>
      </p:sp>
    </p:spTree>
    <p:extLst>
      <p:ext uri="{BB962C8B-B14F-4D97-AF65-F5344CB8AC3E}">
        <p14:creationId xmlns:p14="http://schemas.microsoft.com/office/powerpoint/2010/main" val="2773337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26</a:t>
            </a:fld>
            <a:endParaRPr lang="es-ES"/>
          </a:p>
        </p:txBody>
      </p:sp>
    </p:spTree>
    <p:extLst>
      <p:ext uri="{BB962C8B-B14F-4D97-AF65-F5344CB8AC3E}">
        <p14:creationId xmlns:p14="http://schemas.microsoft.com/office/powerpoint/2010/main" val="86145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27</a:t>
            </a:fld>
            <a:endParaRPr lang="es-ES"/>
          </a:p>
        </p:txBody>
      </p:sp>
    </p:spTree>
    <p:extLst>
      <p:ext uri="{BB962C8B-B14F-4D97-AF65-F5344CB8AC3E}">
        <p14:creationId xmlns:p14="http://schemas.microsoft.com/office/powerpoint/2010/main" val="2149001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28</a:t>
            </a:fld>
            <a:endParaRPr lang="es-ES"/>
          </a:p>
        </p:txBody>
      </p:sp>
    </p:spTree>
    <p:extLst>
      <p:ext uri="{BB962C8B-B14F-4D97-AF65-F5344CB8AC3E}">
        <p14:creationId xmlns:p14="http://schemas.microsoft.com/office/powerpoint/2010/main" val="312720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29</a:t>
            </a:fld>
            <a:endParaRPr lang="es-ES"/>
          </a:p>
        </p:txBody>
      </p:sp>
    </p:spTree>
    <p:extLst>
      <p:ext uri="{BB962C8B-B14F-4D97-AF65-F5344CB8AC3E}">
        <p14:creationId xmlns:p14="http://schemas.microsoft.com/office/powerpoint/2010/main" val="2564719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31</a:t>
            </a:fld>
            <a:endParaRPr lang="es-ES"/>
          </a:p>
        </p:txBody>
      </p:sp>
    </p:spTree>
    <p:extLst>
      <p:ext uri="{BB962C8B-B14F-4D97-AF65-F5344CB8AC3E}">
        <p14:creationId xmlns:p14="http://schemas.microsoft.com/office/powerpoint/2010/main" val="653076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32</a:t>
            </a:fld>
            <a:endParaRPr lang="es-ES"/>
          </a:p>
        </p:txBody>
      </p:sp>
    </p:spTree>
    <p:extLst>
      <p:ext uri="{BB962C8B-B14F-4D97-AF65-F5344CB8AC3E}">
        <p14:creationId xmlns:p14="http://schemas.microsoft.com/office/powerpoint/2010/main" val="3179883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33</a:t>
            </a:fld>
            <a:endParaRPr lang="es-ES"/>
          </a:p>
        </p:txBody>
      </p:sp>
    </p:spTree>
    <p:extLst>
      <p:ext uri="{BB962C8B-B14F-4D97-AF65-F5344CB8AC3E}">
        <p14:creationId xmlns:p14="http://schemas.microsoft.com/office/powerpoint/2010/main" val="258487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34</a:t>
            </a:fld>
            <a:endParaRPr lang="es-ES"/>
          </a:p>
        </p:txBody>
      </p:sp>
    </p:spTree>
    <p:extLst>
      <p:ext uri="{BB962C8B-B14F-4D97-AF65-F5344CB8AC3E}">
        <p14:creationId xmlns:p14="http://schemas.microsoft.com/office/powerpoint/2010/main" val="558532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35</a:t>
            </a:fld>
            <a:endParaRPr lang="es-ES"/>
          </a:p>
        </p:txBody>
      </p:sp>
    </p:spTree>
    <p:extLst>
      <p:ext uri="{BB962C8B-B14F-4D97-AF65-F5344CB8AC3E}">
        <p14:creationId xmlns:p14="http://schemas.microsoft.com/office/powerpoint/2010/main" val="427250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36</a:t>
            </a:fld>
            <a:endParaRPr lang="es-ES"/>
          </a:p>
        </p:txBody>
      </p:sp>
    </p:spTree>
    <p:extLst>
      <p:ext uri="{BB962C8B-B14F-4D97-AF65-F5344CB8AC3E}">
        <p14:creationId xmlns:p14="http://schemas.microsoft.com/office/powerpoint/2010/main" val="4267622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37</a:t>
            </a:fld>
            <a:endParaRPr lang="es-ES"/>
          </a:p>
        </p:txBody>
      </p:sp>
    </p:spTree>
    <p:extLst>
      <p:ext uri="{BB962C8B-B14F-4D97-AF65-F5344CB8AC3E}">
        <p14:creationId xmlns:p14="http://schemas.microsoft.com/office/powerpoint/2010/main" val="1175734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38</a:t>
            </a:fld>
            <a:endParaRPr lang="es-ES"/>
          </a:p>
        </p:txBody>
      </p:sp>
    </p:spTree>
    <p:extLst>
      <p:ext uri="{BB962C8B-B14F-4D97-AF65-F5344CB8AC3E}">
        <p14:creationId xmlns:p14="http://schemas.microsoft.com/office/powerpoint/2010/main" val="1517222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39</a:t>
            </a:fld>
            <a:endParaRPr lang="es-ES"/>
          </a:p>
        </p:txBody>
      </p:sp>
    </p:spTree>
    <p:extLst>
      <p:ext uri="{BB962C8B-B14F-4D97-AF65-F5344CB8AC3E}">
        <p14:creationId xmlns:p14="http://schemas.microsoft.com/office/powerpoint/2010/main" val="2777437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40</a:t>
            </a:fld>
            <a:endParaRPr lang="es-ES"/>
          </a:p>
        </p:txBody>
      </p:sp>
    </p:spTree>
    <p:extLst>
      <p:ext uri="{BB962C8B-B14F-4D97-AF65-F5344CB8AC3E}">
        <p14:creationId xmlns:p14="http://schemas.microsoft.com/office/powerpoint/2010/main" val="104943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41</a:t>
            </a:fld>
            <a:endParaRPr lang="es-ES"/>
          </a:p>
        </p:txBody>
      </p:sp>
    </p:spTree>
    <p:extLst>
      <p:ext uri="{BB962C8B-B14F-4D97-AF65-F5344CB8AC3E}">
        <p14:creationId xmlns:p14="http://schemas.microsoft.com/office/powerpoint/2010/main" val="1178586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42</a:t>
            </a:fld>
            <a:endParaRPr lang="es-ES"/>
          </a:p>
        </p:txBody>
      </p:sp>
    </p:spTree>
    <p:extLst>
      <p:ext uri="{BB962C8B-B14F-4D97-AF65-F5344CB8AC3E}">
        <p14:creationId xmlns:p14="http://schemas.microsoft.com/office/powerpoint/2010/main" val="1901549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43</a:t>
            </a:fld>
            <a:endParaRPr lang="es-ES"/>
          </a:p>
        </p:txBody>
      </p:sp>
    </p:spTree>
    <p:extLst>
      <p:ext uri="{BB962C8B-B14F-4D97-AF65-F5344CB8AC3E}">
        <p14:creationId xmlns:p14="http://schemas.microsoft.com/office/powerpoint/2010/main" val="3291732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44</a:t>
            </a:fld>
            <a:endParaRPr lang="es-ES"/>
          </a:p>
        </p:txBody>
      </p:sp>
    </p:spTree>
    <p:extLst>
      <p:ext uri="{BB962C8B-B14F-4D97-AF65-F5344CB8AC3E}">
        <p14:creationId xmlns:p14="http://schemas.microsoft.com/office/powerpoint/2010/main" val="2365399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45</a:t>
            </a:fld>
            <a:endParaRPr lang="es-ES"/>
          </a:p>
        </p:txBody>
      </p:sp>
    </p:spTree>
    <p:extLst>
      <p:ext uri="{BB962C8B-B14F-4D97-AF65-F5344CB8AC3E}">
        <p14:creationId xmlns:p14="http://schemas.microsoft.com/office/powerpoint/2010/main" val="150480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46</a:t>
            </a:fld>
            <a:endParaRPr lang="es-ES"/>
          </a:p>
        </p:txBody>
      </p:sp>
    </p:spTree>
    <p:extLst>
      <p:ext uri="{BB962C8B-B14F-4D97-AF65-F5344CB8AC3E}">
        <p14:creationId xmlns:p14="http://schemas.microsoft.com/office/powerpoint/2010/main" val="22445837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47</a:t>
            </a:fld>
            <a:endParaRPr lang="es-ES"/>
          </a:p>
        </p:txBody>
      </p:sp>
    </p:spTree>
    <p:extLst>
      <p:ext uri="{BB962C8B-B14F-4D97-AF65-F5344CB8AC3E}">
        <p14:creationId xmlns:p14="http://schemas.microsoft.com/office/powerpoint/2010/main" val="34727172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49</a:t>
            </a:fld>
            <a:endParaRPr lang="es-ES"/>
          </a:p>
        </p:txBody>
      </p:sp>
    </p:spTree>
    <p:extLst>
      <p:ext uri="{BB962C8B-B14F-4D97-AF65-F5344CB8AC3E}">
        <p14:creationId xmlns:p14="http://schemas.microsoft.com/office/powerpoint/2010/main" val="25280707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50</a:t>
            </a:fld>
            <a:endParaRPr lang="es-ES"/>
          </a:p>
        </p:txBody>
      </p:sp>
    </p:spTree>
    <p:extLst>
      <p:ext uri="{BB962C8B-B14F-4D97-AF65-F5344CB8AC3E}">
        <p14:creationId xmlns:p14="http://schemas.microsoft.com/office/powerpoint/2010/main" val="2489783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51</a:t>
            </a:fld>
            <a:endParaRPr lang="es-ES"/>
          </a:p>
        </p:txBody>
      </p:sp>
    </p:spTree>
    <p:extLst>
      <p:ext uri="{BB962C8B-B14F-4D97-AF65-F5344CB8AC3E}">
        <p14:creationId xmlns:p14="http://schemas.microsoft.com/office/powerpoint/2010/main" val="22038872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52</a:t>
            </a:fld>
            <a:endParaRPr lang="es-ES"/>
          </a:p>
        </p:txBody>
      </p:sp>
    </p:spTree>
    <p:extLst>
      <p:ext uri="{BB962C8B-B14F-4D97-AF65-F5344CB8AC3E}">
        <p14:creationId xmlns:p14="http://schemas.microsoft.com/office/powerpoint/2010/main" val="22777529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53</a:t>
            </a:fld>
            <a:endParaRPr lang="es-ES"/>
          </a:p>
        </p:txBody>
      </p:sp>
    </p:spTree>
    <p:extLst>
      <p:ext uri="{BB962C8B-B14F-4D97-AF65-F5344CB8AC3E}">
        <p14:creationId xmlns:p14="http://schemas.microsoft.com/office/powerpoint/2010/main" val="25133192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54</a:t>
            </a:fld>
            <a:endParaRPr lang="es-ES"/>
          </a:p>
        </p:txBody>
      </p:sp>
    </p:spTree>
    <p:extLst>
      <p:ext uri="{BB962C8B-B14F-4D97-AF65-F5344CB8AC3E}">
        <p14:creationId xmlns:p14="http://schemas.microsoft.com/office/powerpoint/2010/main" val="944575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55</a:t>
            </a:fld>
            <a:endParaRPr lang="es-ES"/>
          </a:p>
        </p:txBody>
      </p:sp>
    </p:spTree>
    <p:extLst>
      <p:ext uri="{BB962C8B-B14F-4D97-AF65-F5344CB8AC3E}">
        <p14:creationId xmlns:p14="http://schemas.microsoft.com/office/powerpoint/2010/main" val="32722396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56</a:t>
            </a:fld>
            <a:endParaRPr lang="es-ES"/>
          </a:p>
        </p:txBody>
      </p:sp>
    </p:spTree>
    <p:extLst>
      <p:ext uri="{BB962C8B-B14F-4D97-AF65-F5344CB8AC3E}">
        <p14:creationId xmlns:p14="http://schemas.microsoft.com/office/powerpoint/2010/main" val="2424835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57</a:t>
            </a:fld>
            <a:endParaRPr lang="es-ES"/>
          </a:p>
        </p:txBody>
      </p:sp>
    </p:spTree>
    <p:extLst>
      <p:ext uri="{BB962C8B-B14F-4D97-AF65-F5344CB8AC3E}">
        <p14:creationId xmlns:p14="http://schemas.microsoft.com/office/powerpoint/2010/main" val="4372313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58</a:t>
            </a:fld>
            <a:endParaRPr lang="es-ES"/>
          </a:p>
        </p:txBody>
      </p:sp>
    </p:spTree>
    <p:extLst>
      <p:ext uri="{BB962C8B-B14F-4D97-AF65-F5344CB8AC3E}">
        <p14:creationId xmlns:p14="http://schemas.microsoft.com/office/powerpoint/2010/main" val="4030245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59</a:t>
            </a:fld>
            <a:endParaRPr lang="es-ES"/>
          </a:p>
        </p:txBody>
      </p:sp>
    </p:spTree>
    <p:extLst>
      <p:ext uri="{BB962C8B-B14F-4D97-AF65-F5344CB8AC3E}">
        <p14:creationId xmlns:p14="http://schemas.microsoft.com/office/powerpoint/2010/main" val="27756959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60</a:t>
            </a:fld>
            <a:endParaRPr lang="es-ES"/>
          </a:p>
        </p:txBody>
      </p:sp>
    </p:spTree>
    <p:extLst>
      <p:ext uri="{BB962C8B-B14F-4D97-AF65-F5344CB8AC3E}">
        <p14:creationId xmlns:p14="http://schemas.microsoft.com/office/powerpoint/2010/main" val="37409484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61</a:t>
            </a:fld>
            <a:endParaRPr lang="es-ES"/>
          </a:p>
        </p:txBody>
      </p:sp>
    </p:spTree>
    <p:extLst>
      <p:ext uri="{BB962C8B-B14F-4D97-AF65-F5344CB8AC3E}">
        <p14:creationId xmlns:p14="http://schemas.microsoft.com/office/powerpoint/2010/main" val="24115647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62</a:t>
            </a:fld>
            <a:endParaRPr lang="es-ES"/>
          </a:p>
        </p:txBody>
      </p:sp>
    </p:spTree>
    <p:extLst>
      <p:ext uri="{BB962C8B-B14F-4D97-AF65-F5344CB8AC3E}">
        <p14:creationId xmlns:p14="http://schemas.microsoft.com/office/powerpoint/2010/main" val="33817028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63</a:t>
            </a:fld>
            <a:endParaRPr lang="es-ES"/>
          </a:p>
        </p:txBody>
      </p:sp>
    </p:spTree>
    <p:extLst>
      <p:ext uri="{BB962C8B-B14F-4D97-AF65-F5344CB8AC3E}">
        <p14:creationId xmlns:p14="http://schemas.microsoft.com/office/powerpoint/2010/main" val="3755897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64</a:t>
            </a:fld>
            <a:endParaRPr lang="es-ES"/>
          </a:p>
        </p:txBody>
      </p:sp>
    </p:spTree>
    <p:extLst>
      <p:ext uri="{BB962C8B-B14F-4D97-AF65-F5344CB8AC3E}">
        <p14:creationId xmlns:p14="http://schemas.microsoft.com/office/powerpoint/2010/main" val="1192424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65</a:t>
            </a:fld>
            <a:endParaRPr lang="es-ES"/>
          </a:p>
        </p:txBody>
      </p:sp>
    </p:spTree>
    <p:extLst>
      <p:ext uri="{BB962C8B-B14F-4D97-AF65-F5344CB8AC3E}">
        <p14:creationId xmlns:p14="http://schemas.microsoft.com/office/powerpoint/2010/main" val="4134116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66</a:t>
            </a:fld>
            <a:endParaRPr lang="es-ES"/>
          </a:p>
        </p:txBody>
      </p:sp>
    </p:spTree>
    <p:extLst>
      <p:ext uri="{BB962C8B-B14F-4D97-AF65-F5344CB8AC3E}">
        <p14:creationId xmlns:p14="http://schemas.microsoft.com/office/powerpoint/2010/main" val="1334072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68</a:t>
            </a:fld>
            <a:endParaRPr lang="es-ES"/>
          </a:p>
        </p:txBody>
      </p:sp>
    </p:spTree>
    <p:extLst>
      <p:ext uri="{BB962C8B-B14F-4D97-AF65-F5344CB8AC3E}">
        <p14:creationId xmlns:p14="http://schemas.microsoft.com/office/powerpoint/2010/main" val="38043005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69</a:t>
            </a:fld>
            <a:endParaRPr lang="es-ES"/>
          </a:p>
        </p:txBody>
      </p:sp>
    </p:spTree>
    <p:extLst>
      <p:ext uri="{BB962C8B-B14F-4D97-AF65-F5344CB8AC3E}">
        <p14:creationId xmlns:p14="http://schemas.microsoft.com/office/powerpoint/2010/main" val="5654499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70</a:t>
            </a:fld>
            <a:endParaRPr lang="es-ES"/>
          </a:p>
        </p:txBody>
      </p:sp>
    </p:spTree>
    <p:extLst>
      <p:ext uri="{BB962C8B-B14F-4D97-AF65-F5344CB8AC3E}">
        <p14:creationId xmlns:p14="http://schemas.microsoft.com/office/powerpoint/2010/main" val="28938751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71</a:t>
            </a:fld>
            <a:endParaRPr lang="es-ES"/>
          </a:p>
        </p:txBody>
      </p:sp>
    </p:spTree>
    <p:extLst>
      <p:ext uri="{BB962C8B-B14F-4D97-AF65-F5344CB8AC3E}">
        <p14:creationId xmlns:p14="http://schemas.microsoft.com/office/powerpoint/2010/main" val="4624088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72</a:t>
            </a:fld>
            <a:endParaRPr lang="es-ES"/>
          </a:p>
        </p:txBody>
      </p:sp>
    </p:spTree>
    <p:extLst>
      <p:ext uri="{BB962C8B-B14F-4D97-AF65-F5344CB8AC3E}">
        <p14:creationId xmlns:p14="http://schemas.microsoft.com/office/powerpoint/2010/main" val="17028210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73</a:t>
            </a:fld>
            <a:endParaRPr lang="es-ES"/>
          </a:p>
        </p:txBody>
      </p:sp>
    </p:spTree>
    <p:extLst>
      <p:ext uri="{BB962C8B-B14F-4D97-AF65-F5344CB8AC3E}">
        <p14:creationId xmlns:p14="http://schemas.microsoft.com/office/powerpoint/2010/main" val="335865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74</a:t>
            </a:fld>
            <a:endParaRPr lang="es-ES"/>
          </a:p>
        </p:txBody>
      </p:sp>
    </p:spTree>
    <p:extLst>
      <p:ext uri="{BB962C8B-B14F-4D97-AF65-F5344CB8AC3E}">
        <p14:creationId xmlns:p14="http://schemas.microsoft.com/office/powerpoint/2010/main" val="25165610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75</a:t>
            </a:fld>
            <a:endParaRPr lang="es-ES"/>
          </a:p>
        </p:txBody>
      </p:sp>
    </p:spTree>
    <p:extLst>
      <p:ext uri="{BB962C8B-B14F-4D97-AF65-F5344CB8AC3E}">
        <p14:creationId xmlns:p14="http://schemas.microsoft.com/office/powerpoint/2010/main" val="22102742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76</a:t>
            </a:fld>
            <a:endParaRPr lang="es-ES"/>
          </a:p>
        </p:txBody>
      </p:sp>
    </p:spTree>
    <p:extLst>
      <p:ext uri="{BB962C8B-B14F-4D97-AF65-F5344CB8AC3E}">
        <p14:creationId xmlns:p14="http://schemas.microsoft.com/office/powerpoint/2010/main" val="39454596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77</a:t>
            </a:fld>
            <a:endParaRPr lang="es-ES"/>
          </a:p>
        </p:txBody>
      </p:sp>
    </p:spTree>
    <p:extLst>
      <p:ext uri="{BB962C8B-B14F-4D97-AF65-F5344CB8AC3E}">
        <p14:creationId xmlns:p14="http://schemas.microsoft.com/office/powerpoint/2010/main" val="23669894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78</a:t>
            </a:fld>
            <a:endParaRPr lang="es-ES"/>
          </a:p>
        </p:txBody>
      </p:sp>
    </p:spTree>
    <p:extLst>
      <p:ext uri="{BB962C8B-B14F-4D97-AF65-F5344CB8AC3E}">
        <p14:creationId xmlns:p14="http://schemas.microsoft.com/office/powerpoint/2010/main" val="2219159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79</a:t>
            </a:fld>
            <a:endParaRPr lang="es-ES"/>
          </a:p>
        </p:txBody>
      </p:sp>
    </p:spTree>
    <p:extLst>
      <p:ext uri="{BB962C8B-B14F-4D97-AF65-F5344CB8AC3E}">
        <p14:creationId xmlns:p14="http://schemas.microsoft.com/office/powerpoint/2010/main" val="31926789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80</a:t>
            </a:fld>
            <a:endParaRPr lang="es-ES"/>
          </a:p>
        </p:txBody>
      </p:sp>
    </p:spTree>
    <p:extLst>
      <p:ext uri="{BB962C8B-B14F-4D97-AF65-F5344CB8AC3E}">
        <p14:creationId xmlns:p14="http://schemas.microsoft.com/office/powerpoint/2010/main" val="522986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81</a:t>
            </a:fld>
            <a:endParaRPr lang="es-ES"/>
          </a:p>
        </p:txBody>
      </p:sp>
    </p:spTree>
    <p:extLst>
      <p:ext uri="{BB962C8B-B14F-4D97-AF65-F5344CB8AC3E}">
        <p14:creationId xmlns:p14="http://schemas.microsoft.com/office/powerpoint/2010/main" val="31611496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82</a:t>
            </a:fld>
            <a:endParaRPr lang="es-ES"/>
          </a:p>
        </p:txBody>
      </p:sp>
    </p:spTree>
    <p:extLst>
      <p:ext uri="{BB962C8B-B14F-4D97-AF65-F5344CB8AC3E}">
        <p14:creationId xmlns:p14="http://schemas.microsoft.com/office/powerpoint/2010/main" val="16959199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84</a:t>
            </a:fld>
            <a:endParaRPr lang="es-ES"/>
          </a:p>
        </p:txBody>
      </p:sp>
    </p:spTree>
    <p:extLst>
      <p:ext uri="{BB962C8B-B14F-4D97-AF65-F5344CB8AC3E}">
        <p14:creationId xmlns:p14="http://schemas.microsoft.com/office/powerpoint/2010/main" val="30671981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85</a:t>
            </a:fld>
            <a:endParaRPr lang="es-ES"/>
          </a:p>
        </p:txBody>
      </p:sp>
    </p:spTree>
    <p:extLst>
      <p:ext uri="{BB962C8B-B14F-4D97-AF65-F5344CB8AC3E}">
        <p14:creationId xmlns:p14="http://schemas.microsoft.com/office/powerpoint/2010/main" val="17046102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86</a:t>
            </a:fld>
            <a:endParaRPr lang="es-ES"/>
          </a:p>
        </p:txBody>
      </p:sp>
    </p:spTree>
    <p:extLst>
      <p:ext uri="{BB962C8B-B14F-4D97-AF65-F5344CB8AC3E}">
        <p14:creationId xmlns:p14="http://schemas.microsoft.com/office/powerpoint/2010/main" val="27614527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87</a:t>
            </a:fld>
            <a:endParaRPr lang="es-ES"/>
          </a:p>
        </p:txBody>
      </p:sp>
    </p:spTree>
    <p:extLst>
      <p:ext uri="{BB962C8B-B14F-4D97-AF65-F5344CB8AC3E}">
        <p14:creationId xmlns:p14="http://schemas.microsoft.com/office/powerpoint/2010/main" val="11399877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88</a:t>
            </a:fld>
            <a:endParaRPr lang="es-ES"/>
          </a:p>
        </p:txBody>
      </p:sp>
    </p:spTree>
    <p:extLst>
      <p:ext uri="{BB962C8B-B14F-4D97-AF65-F5344CB8AC3E}">
        <p14:creationId xmlns:p14="http://schemas.microsoft.com/office/powerpoint/2010/main" val="21614935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89</a:t>
            </a:fld>
            <a:endParaRPr lang="es-ES"/>
          </a:p>
        </p:txBody>
      </p:sp>
    </p:spTree>
    <p:extLst>
      <p:ext uri="{BB962C8B-B14F-4D97-AF65-F5344CB8AC3E}">
        <p14:creationId xmlns:p14="http://schemas.microsoft.com/office/powerpoint/2010/main" val="23539272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90</a:t>
            </a:fld>
            <a:endParaRPr lang="es-ES"/>
          </a:p>
        </p:txBody>
      </p:sp>
    </p:spTree>
    <p:extLst>
      <p:ext uri="{BB962C8B-B14F-4D97-AF65-F5344CB8AC3E}">
        <p14:creationId xmlns:p14="http://schemas.microsoft.com/office/powerpoint/2010/main" val="301443271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91</a:t>
            </a:fld>
            <a:endParaRPr lang="es-ES"/>
          </a:p>
        </p:txBody>
      </p:sp>
    </p:spTree>
    <p:extLst>
      <p:ext uri="{BB962C8B-B14F-4D97-AF65-F5344CB8AC3E}">
        <p14:creationId xmlns:p14="http://schemas.microsoft.com/office/powerpoint/2010/main" val="13558955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92</a:t>
            </a:fld>
            <a:endParaRPr lang="es-ES"/>
          </a:p>
        </p:txBody>
      </p:sp>
    </p:spTree>
    <p:extLst>
      <p:ext uri="{BB962C8B-B14F-4D97-AF65-F5344CB8AC3E}">
        <p14:creationId xmlns:p14="http://schemas.microsoft.com/office/powerpoint/2010/main" val="39810687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93</a:t>
            </a:fld>
            <a:endParaRPr lang="es-ES"/>
          </a:p>
        </p:txBody>
      </p:sp>
    </p:spTree>
    <p:extLst>
      <p:ext uri="{BB962C8B-B14F-4D97-AF65-F5344CB8AC3E}">
        <p14:creationId xmlns:p14="http://schemas.microsoft.com/office/powerpoint/2010/main" val="154685298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94</a:t>
            </a:fld>
            <a:endParaRPr lang="es-ES"/>
          </a:p>
        </p:txBody>
      </p:sp>
    </p:spTree>
    <p:extLst>
      <p:ext uri="{BB962C8B-B14F-4D97-AF65-F5344CB8AC3E}">
        <p14:creationId xmlns:p14="http://schemas.microsoft.com/office/powerpoint/2010/main" val="368033014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96</a:t>
            </a:fld>
            <a:endParaRPr lang="es-ES"/>
          </a:p>
        </p:txBody>
      </p:sp>
    </p:spTree>
    <p:extLst>
      <p:ext uri="{BB962C8B-B14F-4D97-AF65-F5344CB8AC3E}">
        <p14:creationId xmlns:p14="http://schemas.microsoft.com/office/powerpoint/2010/main" val="8565164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97</a:t>
            </a:fld>
            <a:endParaRPr lang="es-ES"/>
          </a:p>
        </p:txBody>
      </p:sp>
    </p:spTree>
    <p:extLst>
      <p:ext uri="{BB962C8B-B14F-4D97-AF65-F5344CB8AC3E}">
        <p14:creationId xmlns:p14="http://schemas.microsoft.com/office/powerpoint/2010/main" val="9221336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98</a:t>
            </a:fld>
            <a:endParaRPr lang="es-ES"/>
          </a:p>
        </p:txBody>
      </p:sp>
    </p:spTree>
    <p:extLst>
      <p:ext uri="{BB962C8B-B14F-4D97-AF65-F5344CB8AC3E}">
        <p14:creationId xmlns:p14="http://schemas.microsoft.com/office/powerpoint/2010/main" val="18079965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100</a:t>
            </a:fld>
            <a:endParaRPr lang="es-ES"/>
          </a:p>
        </p:txBody>
      </p:sp>
    </p:spTree>
    <p:extLst>
      <p:ext uri="{BB962C8B-B14F-4D97-AF65-F5344CB8AC3E}">
        <p14:creationId xmlns:p14="http://schemas.microsoft.com/office/powerpoint/2010/main" val="93515043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101</a:t>
            </a:fld>
            <a:endParaRPr lang="es-ES"/>
          </a:p>
        </p:txBody>
      </p:sp>
    </p:spTree>
    <p:extLst>
      <p:ext uri="{BB962C8B-B14F-4D97-AF65-F5344CB8AC3E}">
        <p14:creationId xmlns:p14="http://schemas.microsoft.com/office/powerpoint/2010/main" val="40555140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102</a:t>
            </a:fld>
            <a:endParaRPr lang="es-ES"/>
          </a:p>
        </p:txBody>
      </p:sp>
    </p:spTree>
    <p:extLst>
      <p:ext uri="{BB962C8B-B14F-4D97-AF65-F5344CB8AC3E}">
        <p14:creationId xmlns:p14="http://schemas.microsoft.com/office/powerpoint/2010/main" val="248080140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103</a:t>
            </a:fld>
            <a:endParaRPr lang="es-ES"/>
          </a:p>
        </p:txBody>
      </p:sp>
    </p:spTree>
    <p:extLst>
      <p:ext uri="{BB962C8B-B14F-4D97-AF65-F5344CB8AC3E}">
        <p14:creationId xmlns:p14="http://schemas.microsoft.com/office/powerpoint/2010/main" val="6285400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104</a:t>
            </a:fld>
            <a:endParaRPr lang="es-ES"/>
          </a:p>
        </p:txBody>
      </p:sp>
    </p:spTree>
    <p:extLst>
      <p:ext uri="{BB962C8B-B14F-4D97-AF65-F5344CB8AC3E}">
        <p14:creationId xmlns:p14="http://schemas.microsoft.com/office/powerpoint/2010/main" val="8316677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105</a:t>
            </a:fld>
            <a:endParaRPr lang="es-ES"/>
          </a:p>
        </p:txBody>
      </p:sp>
    </p:spTree>
    <p:extLst>
      <p:ext uri="{BB962C8B-B14F-4D97-AF65-F5344CB8AC3E}">
        <p14:creationId xmlns:p14="http://schemas.microsoft.com/office/powerpoint/2010/main" val="49051901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106</a:t>
            </a:fld>
            <a:endParaRPr lang="es-ES"/>
          </a:p>
        </p:txBody>
      </p:sp>
    </p:spTree>
    <p:extLst>
      <p:ext uri="{BB962C8B-B14F-4D97-AF65-F5344CB8AC3E}">
        <p14:creationId xmlns:p14="http://schemas.microsoft.com/office/powerpoint/2010/main" val="23996353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107</a:t>
            </a:fld>
            <a:endParaRPr lang="es-ES"/>
          </a:p>
        </p:txBody>
      </p:sp>
    </p:spTree>
    <p:extLst>
      <p:ext uri="{BB962C8B-B14F-4D97-AF65-F5344CB8AC3E}">
        <p14:creationId xmlns:p14="http://schemas.microsoft.com/office/powerpoint/2010/main" val="37974554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108</a:t>
            </a:fld>
            <a:endParaRPr lang="es-ES"/>
          </a:p>
        </p:txBody>
      </p:sp>
    </p:spTree>
    <p:extLst>
      <p:ext uri="{BB962C8B-B14F-4D97-AF65-F5344CB8AC3E}">
        <p14:creationId xmlns:p14="http://schemas.microsoft.com/office/powerpoint/2010/main" val="101768116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110</a:t>
            </a:fld>
            <a:endParaRPr lang="es-ES"/>
          </a:p>
        </p:txBody>
      </p:sp>
    </p:spTree>
    <p:extLst>
      <p:ext uri="{BB962C8B-B14F-4D97-AF65-F5344CB8AC3E}">
        <p14:creationId xmlns:p14="http://schemas.microsoft.com/office/powerpoint/2010/main" val="180616594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111</a:t>
            </a:fld>
            <a:endParaRPr lang="es-ES"/>
          </a:p>
        </p:txBody>
      </p:sp>
    </p:spTree>
    <p:extLst>
      <p:ext uri="{BB962C8B-B14F-4D97-AF65-F5344CB8AC3E}">
        <p14:creationId xmlns:p14="http://schemas.microsoft.com/office/powerpoint/2010/main" val="10540521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112</a:t>
            </a:fld>
            <a:endParaRPr lang="es-ES"/>
          </a:p>
        </p:txBody>
      </p:sp>
    </p:spTree>
    <p:extLst>
      <p:ext uri="{BB962C8B-B14F-4D97-AF65-F5344CB8AC3E}">
        <p14:creationId xmlns:p14="http://schemas.microsoft.com/office/powerpoint/2010/main" val="123560008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113</a:t>
            </a:fld>
            <a:endParaRPr lang="es-ES"/>
          </a:p>
        </p:txBody>
      </p:sp>
    </p:spTree>
    <p:extLst>
      <p:ext uri="{BB962C8B-B14F-4D97-AF65-F5344CB8AC3E}">
        <p14:creationId xmlns:p14="http://schemas.microsoft.com/office/powerpoint/2010/main" val="287970102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114</a:t>
            </a:fld>
            <a:endParaRPr lang="es-ES"/>
          </a:p>
        </p:txBody>
      </p:sp>
    </p:spTree>
    <p:extLst>
      <p:ext uri="{BB962C8B-B14F-4D97-AF65-F5344CB8AC3E}">
        <p14:creationId xmlns:p14="http://schemas.microsoft.com/office/powerpoint/2010/main" val="236608588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115</a:t>
            </a:fld>
            <a:endParaRPr lang="es-ES"/>
          </a:p>
        </p:txBody>
      </p:sp>
    </p:spTree>
    <p:extLst>
      <p:ext uri="{BB962C8B-B14F-4D97-AF65-F5344CB8AC3E}">
        <p14:creationId xmlns:p14="http://schemas.microsoft.com/office/powerpoint/2010/main" val="242099456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116</a:t>
            </a:fld>
            <a:endParaRPr lang="es-ES"/>
          </a:p>
        </p:txBody>
      </p:sp>
    </p:spTree>
    <p:extLst>
      <p:ext uri="{BB962C8B-B14F-4D97-AF65-F5344CB8AC3E}">
        <p14:creationId xmlns:p14="http://schemas.microsoft.com/office/powerpoint/2010/main" val="352970396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117</a:t>
            </a:fld>
            <a:endParaRPr lang="es-ES"/>
          </a:p>
        </p:txBody>
      </p:sp>
    </p:spTree>
    <p:extLst>
      <p:ext uri="{BB962C8B-B14F-4D97-AF65-F5344CB8AC3E}">
        <p14:creationId xmlns:p14="http://schemas.microsoft.com/office/powerpoint/2010/main" val="295081526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118</a:t>
            </a:fld>
            <a:endParaRPr lang="es-ES"/>
          </a:p>
        </p:txBody>
      </p:sp>
    </p:spTree>
    <p:extLst>
      <p:ext uri="{BB962C8B-B14F-4D97-AF65-F5344CB8AC3E}">
        <p14:creationId xmlns:p14="http://schemas.microsoft.com/office/powerpoint/2010/main" val="9332400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119</a:t>
            </a:fld>
            <a:endParaRPr lang="es-ES"/>
          </a:p>
        </p:txBody>
      </p:sp>
    </p:spTree>
    <p:extLst>
      <p:ext uri="{BB962C8B-B14F-4D97-AF65-F5344CB8AC3E}">
        <p14:creationId xmlns:p14="http://schemas.microsoft.com/office/powerpoint/2010/main" val="103153541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120</a:t>
            </a:fld>
            <a:endParaRPr lang="es-ES"/>
          </a:p>
        </p:txBody>
      </p:sp>
    </p:spTree>
    <p:extLst>
      <p:ext uri="{BB962C8B-B14F-4D97-AF65-F5344CB8AC3E}">
        <p14:creationId xmlns:p14="http://schemas.microsoft.com/office/powerpoint/2010/main" val="197371196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122</a:t>
            </a:fld>
            <a:endParaRPr lang="es-ES"/>
          </a:p>
        </p:txBody>
      </p:sp>
    </p:spTree>
    <p:extLst>
      <p:ext uri="{BB962C8B-B14F-4D97-AF65-F5344CB8AC3E}">
        <p14:creationId xmlns:p14="http://schemas.microsoft.com/office/powerpoint/2010/main" val="1461985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123</a:t>
            </a:fld>
            <a:endParaRPr lang="es-ES"/>
          </a:p>
        </p:txBody>
      </p:sp>
    </p:spTree>
    <p:extLst>
      <p:ext uri="{BB962C8B-B14F-4D97-AF65-F5344CB8AC3E}">
        <p14:creationId xmlns:p14="http://schemas.microsoft.com/office/powerpoint/2010/main" val="174707787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124</a:t>
            </a:fld>
            <a:endParaRPr lang="es-ES"/>
          </a:p>
        </p:txBody>
      </p:sp>
    </p:spTree>
    <p:extLst>
      <p:ext uri="{BB962C8B-B14F-4D97-AF65-F5344CB8AC3E}">
        <p14:creationId xmlns:p14="http://schemas.microsoft.com/office/powerpoint/2010/main" val="55519498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125</a:t>
            </a:fld>
            <a:endParaRPr lang="es-ES"/>
          </a:p>
        </p:txBody>
      </p:sp>
    </p:spTree>
    <p:extLst>
      <p:ext uri="{BB962C8B-B14F-4D97-AF65-F5344CB8AC3E}">
        <p14:creationId xmlns:p14="http://schemas.microsoft.com/office/powerpoint/2010/main" val="35863601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126</a:t>
            </a:fld>
            <a:endParaRPr lang="es-ES"/>
          </a:p>
        </p:txBody>
      </p:sp>
    </p:spTree>
    <p:extLst>
      <p:ext uri="{BB962C8B-B14F-4D97-AF65-F5344CB8AC3E}">
        <p14:creationId xmlns:p14="http://schemas.microsoft.com/office/powerpoint/2010/main" val="290934648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DF5398F5-E9FA-420A-B315-012EB89CBA8D}" type="slidenum">
              <a:rPr lang="es-ES" smtClean="0"/>
              <a:t>127</a:t>
            </a:fld>
            <a:endParaRPr lang="es-ES"/>
          </a:p>
        </p:txBody>
      </p:sp>
    </p:spTree>
    <p:extLst>
      <p:ext uri="{BB962C8B-B14F-4D97-AF65-F5344CB8AC3E}">
        <p14:creationId xmlns:p14="http://schemas.microsoft.com/office/powerpoint/2010/main" val="969968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B92668-6D9E-DB59-3452-8108F602E7B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C869818A-8943-9746-CA3C-5CD48FA309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7104F8F6-7B29-6EA6-0A53-F080A199DF3C}"/>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5" name="Marcador de pie de página 4">
            <a:extLst>
              <a:ext uri="{FF2B5EF4-FFF2-40B4-BE49-F238E27FC236}">
                <a16:creationId xmlns:a16="http://schemas.microsoft.com/office/drawing/2014/main" id="{A327689B-B61B-D8B6-1D32-C6D369F0E52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AE49673-D454-7FC1-B34F-C8C34FFADE70}"/>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336315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602FE4-F9B1-E6C9-D749-F7818F3BB25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80A7B5B-FE10-57E3-31FB-4E34C46A5E3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E308FD2-8FF4-9E65-EC53-43F26684F2A3}"/>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5" name="Marcador de pie de página 4">
            <a:extLst>
              <a:ext uri="{FF2B5EF4-FFF2-40B4-BE49-F238E27FC236}">
                <a16:creationId xmlns:a16="http://schemas.microsoft.com/office/drawing/2014/main" id="{B0FE258E-BCC6-745A-E7B7-9CEB17153B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12AF9A8-00C7-8E33-6A6C-D44B3471E203}"/>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57041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F73E0-BE6E-0437-1033-744EAE26F29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53A980D-2C84-2A74-1BC3-A9DF7ACA32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1771F1F-4AE1-34A5-031A-5186CC9CEF3D}"/>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5" name="Marcador de pie de página 4">
            <a:extLst>
              <a:ext uri="{FF2B5EF4-FFF2-40B4-BE49-F238E27FC236}">
                <a16:creationId xmlns:a16="http://schemas.microsoft.com/office/drawing/2014/main" id="{2A901522-0FBD-DF10-9C2B-BEC9EED7AD1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A0126F2-BDF9-F470-DDD2-3D18A2DEC477}"/>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358360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F4274-0291-ED1A-0D97-B025F39E645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F161746-EE5C-DF14-0183-464C0AE1E43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5D7B791-41A8-A1A1-F23C-805F8683547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D19F56F-054D-16E7-8B2D-5DC080D3481A}"/>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6" name="Marcador de pie de página 5">
            <a:extLst>
              <a:ext uri="{FF2B5EF4-FFF2-40B4-BE49-F238E27FC236}">
                <a16:creationId xmlns:a16="http://schemas.microsoft.com/office/drawing/2014/main" id="{DB7144C2-765F-8941-1DC0-4357E19EB68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00EF2F5-8453-D698-80F6-801B40BD6AAF}"/>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378467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E60874-7185-3950-36AB-071F2EC0AA8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3F321E1-0127-D3C9-33B9-9D809886CF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4443CFC-55AF-2555-AC51-D80F8879F2A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A6C6F2C1-350C-FE53-F08E-DC3609D2F9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D83DC4D-C8FA-8BE0-236B-BC020E4C0AC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F5B06216-3451-FCAA-BB58-B6536120EC1A}"/>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8" name="Marcador de pie de página 7">
            <a:extLst>
              <a:ext uri="{FF2B5EF4-FFF2-40B4-BE49-F238E27FC236}">
                <a16:creationId xmlns:a16="http://schemas.microsoft.com/office/drawing/2014/main" id="{A737DA0C-08A5-78F6-824F-6F0A307E6D5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B00EB7C9-46F0-B82A-102E-9F151FADB19F}"/>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1373210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D67C0B-7787-D153-FCC7-12751A1EC8A2}"/>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B685E7BD-7F3A-A450-52B6-01FAE4D355AC}"/>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4" name="Marcador de pie de página 3">
            <a:extLst>
              <a:ext uri="{FF2B5EF4-FFF2-40B4-BE49-F238E27FC236}">
                <a16:creationId xmlns:a16="http://schemas.microsoft.com/office/drawing/2014/main" id="{AA0F638A-919B-2D29-9865-4DE4E8D3CA9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950B5A4B-2186-EA05-0091-BD0CE199B017}"/>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1995406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6244587-DF06-7A13-CF85-293BFA5D0FE3}"/>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3" name="Marcador de pie de página 2">
            <a:extLst>
              <a:ext uri="{FF2B5EF4-FFF2-40B4-BE49-F238E27FC236}">
                <a16:creationId xmlns:a16="http://schemas.microsoft.com/office/drawing/2014/main" id="{A419BE8B-3E5E-FD03-03D5-B03A3A96690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6B7F174-B1F1-212C-DFAC-D7F30898F261}"/>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3395163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40A32-1927-0F1A-8EFC-9CEF227AB69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3AAD9DC-597D-C0CD-67A9-770ED2A071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57450F1D-D75A-EFF5-4BF0-664DD3A847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C97CB6E-5E36-BE8A-DC9D-E1D11E0E7C82}"/>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6" name="Marcador de pie de página 5">
            <a:extLst>
              <a:ext uri="{FF2B5EF4-FFF2-40B4-BE49-F238E27FC236}">
                <a16:creationId xmlns:a16="http://schemas.microsoft.com/office/drawing/2014/main" id="{C91BF8F8-07E5-CEC5-9D87-7C23B0BB419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8EAE4B8-EE27-8B23-D5E0-10F02F9340C9}"/>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3415324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780C2B-17BC-44BE-72EE-32ABECDCE11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5B4C8BEF-B5B8-58EF-F11A-DCC88F1CC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FD6151C-2472-ED14-AD2C-B1084BFE1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506BEDA-2786-8569-C9DD-B6406DFE5077}"/>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6" name="Marcador de pie de página 5">
            <a:extLst>
              <a:ext uri="{FF2B5EF4-FFF2-40B4-BE49-F238E27FC236}">
                <a16:creationId xmlns:a16="http://schemas.microsoft.com/office/drawing/2014/main" id="{D4F16F0D-4CD7-9FA5-7945-B0C366D6EEF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740B294-62AE-E889-AA7B-D1FA4474DC67}"/>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2752777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3459C-6D7A-0822-3BC5-A7C93E980C15}"/>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EE8C815-15D6-93AE-8DA2-DB4353F11B4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605C478-C7E1-CCB0-D8B0-065A24C9B923}"/>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5" name="Marcador de pie de página 4">
            <a:extLst>
              <a:ext uri="{FF2B5EF4-FFF2-40B4-BE49-F238E27FC236}">
                <a16:creationId xmlns:a16="http://schemas.microsoft.com/office/drawing/2014/main" id="{A8862560-F0DC-9C14-84A6-9C690321E25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4D539A9-F6EB-26F5-6134-2C2BDDCE4E64}"/>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4023008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31B7A5E-47DD-2D4C-97C5-4CDADC93F0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F1AB29C-1968-56A3-8F49-4AA98FCF332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E6256C1-FF31-1E16-26E3-91E7BEED6A77}"/>
              </a:ext>
            </a:extLst>
          </p:cNvPr>
          <p:cNvSpPr>
            <a:spLocks noGrp="1"/>
          </p:cNvSpPr>
          <p:nvPr>
            <p:ph type="dt" sz="half" idx="10"/>
          </p:nvPr>
        </p:nvSpPr>
        <p:spPr/>
        <p:txBody>
          <a:bodyPr/>
          <a:lstStyle/>
          <a:p>
            <a:fld id="{440EFEB4-58C1-4DEB-8963-3A1649DDE979}" type="datetimeFigureOut">
              <a:rPr lang="es-ES" smtClean="0"/>
              <a:t>30/09/2024</a:t>
            </a:fld>
            <a:endParaRPr lang="es-ES"/>
          </a:p>
        </p:txBody>
      </p:sp>
      <p:sp>
        <p:nvSpPr>
          <p:cNvPr id="5" name="Marcador de pie de página 4">
            <a:extLst>
              <a:ext uri="{FF2B5EF4-FFF2-40B4-BE49-F238E27FC236}">
                <a16:creationId xmlns:a16="http://schemas.microsoft.com/office/drawing/2014/main" id="{0365AEC2-C7C8-6BE1-842B-5E0237A742F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1AADCB1-2BC5-D30F-236F-F5918791B320}"/>
              </a:ext>
            </a:extLst>
          </p:cNvPr>
          <p:cNvSpPr>
            <a:spLocks noGrp="1"/>
          </p:cNvSpPr>
          <p:nvPr>
            <p:ph type="sldNum" sz="quarter" idx="12"/>
          </p:nvPr>
        </p:nvSpPr>
        <p:spPr/>
        <p:txBody>
          <a:bodyPr/>
          <a:lstStyle/>
          <a:p>
            <a:fld id="{4901620D-3714-4BF1-ABEA-39EEC691F8C7}" type="slidenum">
              <a:rPr lang="es-ES" smtClean="0"/>
              <a:t>‹Nº›</a:t>
            </a:fld>
            <a:endParaRPr lang="es-ES"/>
          </a:p>
        </p:txBody>
      </p:sp>
    </p:spTree>
    <p:extLst>
      <p:ext uri="{BB962C8B-B14F-4D97-AF65-F5344CB8AC3E}">
        <p14:creationId xmlns:p14="http://schemas.microsoft.com/office/powerpoint/2010/main" val="1440340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BDF2B03-C1A2-92F1-9F74-018844DD35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95FB26A-6CAC-B3A5-F8A6-E9186B9F89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6E6F543-0C5B-3EE6-8FD7-F6B5D1F4A8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0EFEB4-58C1-4DEB-8963-3A1649DDE979}" type="datetimeFigureOut">
              <a:rPr lang="es-ES" smtClean="0"/>
              <a:t>30/09/2024</a:t>
            </a:fld>
            <a:endParaRPr lang="es-ES"/>
          </a:p>
        </p:txBody>
      </p:sp>
      <p:sp>
        <p:nvSpPr>
          <p:cNvPr id="5" name="Marcador de pie de página 4">
            <a:extLst>
              <a:ext uri="{FF2B5EF4-FFF2-40B4-BE49-F238E27FC236}">
                <a16:creationId xmlns:a16="http://schemas.microsoft.com/office/drawing/2014/main" id="{AABCCD4B-F8D0-63B3-E068-EFDBC4B5A3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23AFE1C1-9F9D-B4AD-A983-FF7BAD8600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1620D-3714-4BF1-ABEA-39EEC691F8C7}" type="slidenum">
              <a:rPr lang="es-ES" smtClean="0"/>
              <a:t>‹Nº›</a:t>
            </a:fld>
            <a:endParaRPr lang="es-ES"/>
          </a:p>
        </p:txBody>
      </p:sp>
    </p:spTree>
    <p:extLst>
      <p:ext uri="{BB962C8B-B14F-4D97-AF65-F5344CB8AC3E}">
        <p14:creationId xmlns:p14="http://schemas.microsoft.com/office/powerpoint/2010/main" val="363818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youtube.com/watch?v=JGZJjqhA9wY"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fundacion-biodiversidad.es/" TargetMode="External"/><Relationship Id="rId5" Type="http://schemas.openxmlformats.org/officeDocument/2006/relationships/image" Target="../media/image32.png"/><Relationship Id="rId4" Type="http://schemas.openxmlformats.org/officeDocument/2006/relationships/hyperlink" Target="https://ieeb.fundacion-biodiversidad.es/content/que-es"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youtube.com/watch?v=3W7FqB5KWQo" TargetMode="External"/><Relationship Id="rId5" Type="http://schemas.openxmlformats.org/officeDocument/2006/relationships/image" Target="../media/image33.png"/><Relationship Id="rId4" Type="http://schemas.openxmlformats.org/officeDocument/2006/relationships/hyperlink" Target="https://www.holcim.es/el-modelo-de-restauracion-de-canteras-de-lafargeholcim-premiado-por-su-contribucion-a-la"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5.jp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hyperlink" Target="https://www.iccspain.org/creacion-del-icc-sme-climate-hub-para-pymes-centro-climatico-para-pymes/"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co2revolution.es/"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hyperlink" Target="https://www.lagunanivaria.com/es/filosofia/" TargetMode="External"/></Relationships>
</file>

<file path=ppt/slides/_rels/slide4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diagramColors" Target="../diagrams/colors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42.png"/><Relationship Id="rId4" Type="http://schemas.openxmlformats.org/officeDocument/2006/relationships/diagramData" Target="../diagrams/data1.xml"/><Relationship Id="rId9"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hyperlink" Target="https://www.estrelladamm.com/es/sostenibilidad"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hyperlink" Target="https://www.aquactiva-solutions.com/"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hyperlink" Target="https://cocircular.es/"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3.jpg"/></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boe.es/boe/dias/2017/09/14/pdfs/BOE-A-2017-10516.pdf" TargetMode="External"/><Relationship Id="rId5" Type="http://schemas.openxmlformats.org/officeDocument/2006/relationships/image" Target="../media/image54.png"/><Relationship Id="rId4" Type="http://schemas.openxmlformats.org/officeDocument/2006/relationships/hyperlink" Target="https://exteriores.gob.es/es/Comunicacion/Comunicados/Paginas/2017_COMUNICADOS/20170728_COMU180.aspx"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jpg"/><Relationship Id="rId7"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5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hyperlink" Target="https://www.nestle.com.ar/te-interesa-saber/derechos-humanos"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hyperlink" Target="https://ecooo.es/"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hyperlink" Target="https://www.ethichub.com/es/what-is-it-and-how-does-it-work"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hyperlink" Target="https://apuntadas.es/" TargetMode="External"/><Relationship Id="rId4" Type="http://schemas.openxmlformats.org/officeDocument/2006/relationships/hyperlink" Target="https://fundaciondiversidad.com/"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hyperlink" Target="https://www.nechigroup.com/?p=9941"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6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6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hyperlink" Target="https://auara.org/" TargetMode="External"/></Relationships>
</file>

<file path=ppt/slides/_rels/slide6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6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hyperlink" Target="https://ecoalf.com/pages/historia?srsltid=AfmBOooe8HhB5-IAn_btVcLlBT2Qm487HryxQvW-sQxIywY3qjKURn-I" TargetMode="External"/><Relationship Id="rId4" Type="http://schemas.openxmlformats.org/officeDocument/2006/relationships/hyperlink" Target="https://ecoalf.com/"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7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7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hyperlink" Target="https://www.applus.com/global/es/news/applus+-finalista-en-los-premios-aeca-a-la-transparencia-empresarial" TargetMode="External"/><Relationship Id="rId4" Type="http://schemas.openxmlformats.org/officeDocument/2006/relationships/hyperlink" Target="https://www.applus.com/global/es/"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hyperlink" Target="https://es.wikipedia.org/wiki/Esc%C3%A1ndalo_de_emisiones_contaminantes_de_veh%C3%ADculos_Volkswagen"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hyperlink" Target="https://en.wikipedia.org/wiki/Criticism_of_IKEA" TargetMode="External"/><Relationship Id="rId4" Type="http://schemas.openxmlformats.org/officeDocument/2006/relationships/hyperlink" Target="https://www.earthsight.org.uk/" TargetMode="External"/></Relationships>
</file>

<file path=ppt/slides/_rels/slide75.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1.jpg"/><Relationship Id="rId7" Type="http://schemas.openxmlformats.org/officeDocument/2006/relationships/hyperlink" Target="https://www.inditex.com/itxcomweb/api/media/055fd613-eba2-48c0-8e8b-c3d462b1a908/politica_de_sostenibilidad_inditex.pdf?t=1655306508429"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hyperlink" Target="https://www.rtve.es/noticias/20210702/investigan-inditex-por-presunto-trabajo-forzado-minoria-uigur/2119380.shtml" TargetMode="External"/><Relationship Id="rId4" Type="http://schemas.openxmlformats.org/officeDocument/2006/relationships/hyperlink" Target="https://www.youtube.com/watch?v=hF__r5DkGZ8"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jpeg"/></Relationships>
</file>

<file path=ppt/slides/_rels/slide7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hyperlink" Target="https://www.pemex.com/etica_y_transparencia/etica/Paginas/compromiso-anticorrupcion.aspx"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hyperlink" Target="https://www.rtve.es/noticias/20230131/espana-empeora-ranking-corrupcion-2022-segundo-ano-consecutivo/2419165.shtml" TargetMode="External"/><Relationship Id="rId5" Type="http://schemas.openxmlformats.org/officeDocument/2006/relationships/image" Target="../media/image88.png"/><Relationship Id="rId4" Type="http://schemas.openxmlformats.org/officeDocument/2006/relationships/hyperlink" Target="https://elpais.com/espana/2024-03-28/las-causas-por-corrupcion-de-empresas-se-duplican-en-el-ultimo-ano.html"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8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93.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hyperlink" Target="https://cincodias.elpais.com/cincodias/2022/12/15/economia/1671125305_902904.html" TargetMode="External"/><Relationship Id="rId5" Type="http://schemas.openxmlformats.org/officeDocument/2006/relationships/image" Target="../media/image92.png"/><Relationship Id="rId4" Type="http://schemas.openxmlformats.org/officeDocument/2006/relationships/hyperlink" Target="https://elpais.com/economia/2024-07-29/evasion-fiscal-y-castigo-a-las-pymes.html"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8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hyperlink" Target="https://prnoticias.com/2023/09/19/el-sector-tecnologico-el-que-mas-invierte-en-lobby/" TargetMode="External"/></Relationships>
</file>

<file path=ppt/slides/_rels/slide8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8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98.png"/></Relationships>
</file>

<file path=ppt/slides/_rels/slide8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00.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hyperlink" Target="https://sdgcompass.org/" TargetMode="External"/><Relationship Id="rId5" Type="http://schemas.openxmlformats.org/officeDocument/2006/relationships/image" Target="../media/image99.jpeg"/><Relationship Id="rId4" Type="http://schemas.openxmlformats.org/officeDocument/2006/relationships/hyperlink" Target="https://iris.thegiin.org/"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01.jpg"/></Relationships>
</file>

<file path=ppt/slides/_rels/slide8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8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hyperlink" Target="https://decirhaciendo.consum.es/wp-content/uploads/memorias/2023/index.html" TargetMode="External"/></Relationships>
</file>

<file path=ppt/slides/_rels/slide9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04.jpg"/></Relationships>
</file>

<file path=ppt/slides/_rels/slide92.xml.rels><?xml version="1.0" encoding="UTF-8" standalone="yes"?>
<Relationships xmlns="http://schemas.openxmlformats.org/package/2006/relationships"><Relationship Id="rId8" Type="http://schemas.openxmlformats.org/officeDocument/2006/relationships/hyperlink" Target="https://www.sec.gov/" TargetMode="External"/><Relationship Id="rId3" Type="http://schemas.openxmlformats.org/officeDocument/2006/relationships/image" Target="../media/image1.jpg"/><Relationship Id="rId7" Type="http://schemas.openxmlformats.org/officeDocument/2006/relationships/image" Target="../media/image107.jpe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06.jpeg"/><Relationship Id="rId5" Type="http://schemas.openxmlformats.org/officeDocument/2006/relationships/image" Target="../media/image105.png"/><Relationship Id="rId4" Type="http://schemas.openxmlformats.org/officeDocument/2006/relationships/hyperlink" Target="https://www.efrag.org/en" TargetMode="External"/><Relationship Id="rId9" Type="http://schemas.openxmlformats.org/officeDocument/2006/relationships/image" Target="../media/image108.png"/></Relationships>
</file>

<file path=ppt/slides/_rels/slide93.xml.rels><?xml version="1.0" encoding="UTF-8" standalone="yes"?>
<Relationships xmlns="http://schemas.openxmlformats.org/package/2006/relationships"><Relationship Id="rId8" Type="http://schemas.openxmlformats.org/officeDocument/2006/relationships/hyperlink" Target="https://www.cdp.net/en" TargetMode="External"/><Relationship Id="rId3" Type="http://schemas.openxmlformats.org/officeDocument/2006/relationships/image" Target="../media/image1.jpg"/><Relationship Id="rId7" Type="http://schemas.openxmlformats.org/officeDocument/2006/relationships/image" Target="../media/image110.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hyperlink" Target="https://www.ifrs.org/groups/international-sustainability-standards-board/" TargetMode="External"/><Relationship Id="rId5" Type="http://schemas.openxmlformats.org/officeDocument/2006/relationships/image" Target="../media/image109.png"/><Relationship Id="rId4" Type="http://schemas.openxmlformats.org/officeDocument/2006/relationships/hyperlink" Target="https://www.globalreporting.org/" TargetMode="External"/><Relationship Id="rId9" Type="http://schemas.openxmlformats.org/officeDocument/2006/relationships/image" Target="../media/image111.png"/></Relationships>
</file>

<file path=ppt/slides/_rels/slide9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12.jpg"/></Relationships>
</file>

<file path=ppt/slides/_rels/slide9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4.png"/><Relationship Id="rId4" Type="http://schemas.openxmlformats.org/officeDocument/2006/relationships/image" Target="../media/image113.png"/></Relationships>
</file>

<file path=ppt/slides/_rels/slide97.xml.rels><?xml version="1.0" encoding="UTF-8" standalone="yes"?>
<Relationships xmlns="http://schemas.openxmlformats.org/package/2006/relationships"><Relationship Id="rId8" Type="http://schemas.openxmlformats.org/officeDocument/2006/relationships/hyperlink" Target="https://www.youtube.com/watch?v=Gd_3gB_PgiM" TargetMode="External"/><Relationship Id="rId3" Type="http://schemas.openxmlformats.org/officeDocument/2006/relationships/image" Target="../media/image1.jpg"/><Relationship Id="rId7" Type="http://schemas.openxmlformats.org/officeDocument/2006/relationships/hyperlink" Target="https://www.youtube.com/watch?v=eIDKAE8RbdQ" TargetMode="Externa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hyperlink" Target="https://www.iso.org/obp/ui#iso:std:iso:14001:ed-3:v1:es" TargetMode="External"/><Relationship Id="rId5" Type="http://schemas.openxmlformats.org/officeDocument/2006/relationships/hyperlink" Target="https://www.iso.org/obp/ui#iso:std:iso:26000:ed-1:v1:es" TargetMode="External"/><Relationship Id="rId4" Type="http://schemas.openxmlformats.org/officeDocument/2006/relationships/image" Target="../media/image115.png"/></Relationships>
</file>

<file path=ppt/slides/_rels/slide9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9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10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hyperlink" Target="https://www.youtube.com/watch?v=ug63EhyK3UU" TargetMode="External"/><Relationship Id="rId5" Type="http://schemas.openxmlformats.org/officeDocument/2006/relationships/image" Target="../media/image119.png"/><Relationship Id="rId4" Type="http://schemas.openxmlformats.org/officeDocument/2006/relationships/image" Target="../media/image118.png"/></Relationships>
</file>

<file path=ppt/slides/_rels/slide10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0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10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122.jpeg"/></Relationships>
</file>

<file path=ppt/slides/_rels/slide10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hyperlink" Target="https://www.consilium.europa.eu/es/press/press-releases/2020/04/15/sustainable-finance-council-adopts-a-unified-eu-classification-system/" TargetMode="External"/></Relationships>
</file>

<file path=ppt/slides/_rels/slide10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hyperlink" Target="https://www.bde.es/f/webbde/SES/Secciones/Publicaciones/PublicacionesSeriadas/DocumentosOcasionales/20/Files/do2101e.pdf" TargetMode="External"/></Relationships>
</file>

<file path=ppt/slides/_rels/slide10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hyperlink" Target="https://www.bde.es/f/webbde/SES/Secciones/Publicaciones/PublicacionesSeriadas/DocumentosOcasionales/20/Files/do2101e.pdf" TargetMode="External"/></Relationships>
</file>

<file path=ppt/slides/_rels/slide10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hyperlink" Target="https://www.consilium.europa.eu/es/press/press-releases/2023/10/24/european-green-bonds-council-adopts-new-regulation-to-promote-sustainable-finance/" TargetMode="External"/></Relationships>
</file>

<file path=ppt/slides/_rels/slide10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29.jpeg"/></Relationships>
</file>

<file path=ppt/slides/_rels/slide1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hyperlink" Target="https://www.youtube.com/watch?v=rmy0F3_Ywbg" TargetMode="External"/><Relationship Id="rId4" Type="http://schemas.openxmlformats.org/officeDocument/2006/relationships/image" Target="../media/image129.jpeg"/></Relationships>
</file>

<file path=ppt/slides/_rels/slide1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131.jpg"/></Relationships>
</file>

<file path=ppt/slides/_rels/slide1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1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hyperlink" Target="https://commission.europa.eu/business-economy-euro/doing-business-eu/sustainability-due-diligence-responsible-business/corporate-sustainability-due-diligence_en" TargetMode="External"/></Relationships>
</file>

<file path=ppt/slides/_rels/slide1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hyperlink" Target="https://www.youtube.com/watch?v=LqrUD8T0sNU" TargetMode="External"/><Relationship Id="rId4" Type="http://schemas.openxmlformats.org/officeDocument/2006/relationships/image" Target="../media/image134.png"/></Relationships>
</file>

<file path=ppt/slides/_rels/slide1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hyperlink" Target="https://www.youtube.com/watch?v=uPZOLKj7xBk" TargetMode="External"/><Relationship Id="rId4" Type="http://schemas.openxmlformats.org/officeDocument/2006/relationships/image" Target="../media/image134.png"/></Relationships>
</file>

<file path=ppt/slides/_rels/slide1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35.jpeg"/></Relationships>
</file>

<file path=ppt/slides/_rels/slide1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36.png"/></Relationships>
</file>

<file path=ppt/slides/_rels/slide12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38.jpeg"/><Relationship Id="rId2" Type="http://schemas.openxmlformats.org/officeDocument/2006/relationships/notesSlide" Target="../notesSlides/notesSlide92.xml"/><Relationship Id="rId1" Type="http://schemas.openxmlformats.org/officeDocument/2006/relationships/slideLayout" Target="../slideLayouts/slideLayout2.xml"/><Relationship Id="rId6" Type="http://schemas.openxmlformats.org/officeDocument/2006/relationships/hyperlink" Target="http://zeri.org/" TargetMode="External"/><Relationship Id="rId5" Type="http://schemas.openxmlformats.org/officeDocument/2006/relationships/image" Target="../media/image137.jpeg"/><Relationship Id="rId4" Type="http://schemas.openxmlformats.org/officeDocument/2006/relationships/hyperlink" Target="https://es.wikipedia.org/wiki/Gunter_Pauli" TargetMode="External"/></Relationships>
</file>

<file path=ppt/slides/_rels/slide1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139.png"/><Relationship Id="rId4" Type="http://schemas.openxmlformats.org/officeDocument/2006/relationships/hyperlink" Target="https://www.theblueeconomy.org/en/" TargetMode="External"/></Relationships>
</file>

<file path=ppt/slides/_rels/slide1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8" Type="http://schemas.openxmlformats.org/officeDocument/2006/relationships/image" Target="../media/image142.jpeg"/><Relationship Id="rId3" Type="http://schemas.openxmlformats.org/officeDocument/2006/relationships/image" Target="../media/image1.jpg"/><Relationship Id="rId7" Type="http://schemas.openxmlformats.org/officeDocument/2006/relationships/hyperlink" Target="https://andrewwinston.com/" TargetMode="External"/><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141.jpeg"/><Relationship Id="rId5" Type="http://schemas.openxmlformats.org/officeDocument/2006/relationships/image" Target="../media/image140.jpeg"/><Relationship Id="rId4" Type="http://schemas.openxmlformats.org/officeDocument/2006/relationships/hyperlink" Target="https://en.wikipedia.org/wiki/Paul_Polman" TargetMode="External"/></Relationships>
</file>

<file path=ppt/slides/_rels/slide1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1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Imagen 5" descr="Imagen que contiene Logotipo&#10;&#10;Descripción generada automáticamente">
            <a:extLst>
              <a:ext uri="{FF2B5EF4-FFF2-40B4-BE49-F238E27FC236}">
                <a16:creationId xmlns:a16="http://schemas.microsoft.com/office/drawing/2014/main" id="{07A242A6-60AE-89F6-4C75-571B64511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6951" y="5398576"/>
            <a:ext cx="1536228" cy="853380"/>
          </a:xfrm>
          <a:prstGeom prst="rect">
            <a:avLst/>
          </a:prstGeom>
        </p:spPr>
      </p:pic>
      <p:sp>
        <p:nvSpPr>
          <p:cNvPr id="17" name="Título 1">
            <a:extLst>
              <a:ext uri="{FF2B5EF4-FFF2-40B4-BE49-F238E27FC236}">
                <a16:creationId xmlns:a16="http://schemas.microsoft.com/office/drawing/2014/main" id="{43AE97C8-277C-A719-BE23-BBA3D40B1D51}"/>
              </a:ext>
            </a:extLst>
          </p:cNvPr>
          <p:cNvSpPr>
            <a:spLocks noGrp="1"/>
          </p:cNvSpPr>
          <p:nvPr>
            <p:ph type="ctrTitle"/>
          </p:nvPr>
        </p:nvSpPr>
        <p:spPr>
          <a:xfrm>
            <a:off x="6810060" y="2400250"/>
            <a:ext cx="4805996" cy="1297115"/>
          </a:xfrm>
        </p:spPr>
        <p:txBody>
          <a:bodyPr anchor="t">
            <a:normAutofit/>
          </a:bodyPr>
          <a:lstStyle/>
          <a:p>
            <a:pPr algn="l"/>
            <a:r>
              <a:rPr lang="es-ES" sz="2400" b="1" dirty="0">
                <a:solidFill>
                  <a:schemeClr val="tx2"/>
                </a:solidFill>
              </a:rPr>
              <a:t>SOSTENIBILIDAD APLICADA AL SISTEMA PRODUCTIVO</a:t>
            </a:r>
          </a:p>
        </p:txBody>
      </p:sp>
      <p:sp>
        <p:nvSpPr>
          <p:cNvPr id="18" name="Subtítulo 2">
            <a:extLst>
              <a:ext uri="{FF2B5EF4-FFF2-40B4-BE49-F238E27FC236}">
                <a16:creationId xmlns:a16="http://schemas.microsoft.com/office/drawing/2014/main" id="{12410059-5DFF-1142-DC92-E66564B95D90}"/>
              </a:ext>
            </a:extLst>
          </p:cNvPr>
          <p:cNvSpPr>
            <a:spLocks noGrp="1"/>
          </p:cNvSpPr>
          <p:nvPr>
            <p:ph type="subTitle" idx="1"/>
          </p:nvPr>
        </p:nvSpPr>
        <p:spPr>
          <a:xfrm>
            <a:off x="6909295" y="2861389"/>
            <a:ext cx="4706760" cy="838831"/>
          </a:xfrm>
        </p:spPr>
        <p:txBody>
          <a:bodyPr anchor="b">
            <a:normAutofit/>
          </a:bodyPr>
          <a:lstStyle/>
          <a:p>
            <a:pPr marL="0" indent="0" algn="l">
              <a:buNone/>
            </a:pPr>
            <a:r>
              <a:rPr lang="es-ES" sz="2000" b="1" kern="0" dirty="0">
                <a:solidFill>
                  <a:srgbClr val="9CB026"/>
                </a:solidFill>
                <a:effectLst/>
                <a:latin typeface="Calibri" panose="020F0502020204030204" pitchFamily="34" charset="0"/>
                <a:ea typeface="Times New Roman" panose="02020603050405020304" pitchFamily="18" charset="0"/>
                <a:cs typeface="Times New Roman" panose="02020603050405020304" pitchFamily="18" charset="0"/>
              </a:rPr>
              <a:t>Asunción León Blasco</a:t>
            </a:r>
            <a:endParaRPr lang="es-ES" sz="20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cxnSp>
        <p:nvCxnSpPr>
          <p:cNvPr id="19" name="Conector recto 18">
            <a:extLst>
              <a:ext uri="{FF2B5EF4-FFF2-40B4-BE49-F238E27FC236}">
                <a16:creationId xmlns:a16="http://schemas.microsoft.com/office/drawing/2014/main" id="{0F18D2B9-98DE-3FD1-9770-ACCDEA142980}"/>
              </a:ext>
            </a:extLst>
          </p:cNvPr>
          <p:cNvCxnSpPr>
            <a:cxnSpLocks/>
          </p:cNvCxnSpPr>
          <p:nvPr/>
        </p:nvCxnSpPr>
        <p:spPr>
          <a:xfrm>
            <a:off x="6909295" y="3038378"/>
            <a:ext cx="5289753"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21" name="Imagen 20" descr="Calendario&#10;&#10;Descripción generada automáticamente">
            <a:extLst>
              <a:ext uri="{FF2B5EF4-FFF2-40B4-BE49-F238E27FC236}">
                <a16:creationId xmlns:a16="http://schemas.microsoft.com/office/drawing/2014/main" id="{824D0508-F8B2-4511-C04C-EA1EB7F92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387" y="2056087"/>
            <a:ext cx="2555955" cy="3391140"/>
          </a:xfrm>
          <a:prstGeom prst="rect">
            <a:avLst/>
          </a:prstGeom>
        </p:spPr>
      </p:pic>
      <p:sp>
        <p:nvSpPr>
          <p:cNvPr id="22" name="CuadroTexto 21">
            <a:extLst>
              <a:ext uri="{FF2B5EF4-FFF2-40B4-BE49-F238E27FC236}">
                <a16:creationId xmlns:a16="http://schemas.microsoft.com/office/drawing/2014/main" id="{99277388-1129-13DB-2F96-F4534E3CBC0F}"/>
              </a:ext>
            </a:extLst>
          </p:cNvPr>
          <p:cNvSpPr txBox="1"/>
          <p:nvPr/>
        </p:nvSpPr>
        <p:spPr>
          <a:xfrm>
            <a:off x="6909295" y="4391203"/>
            <a:ext cx="5036899" cy="400110"/>
          </a:xfrm>
          <a:prstGeom prst="rect">
            <a:avLst/>
          </a:prstGeom>
          <a:noFill/>
        </p:spPr>
        <p:txBody>
          <a:bodyPr wrap="square" rtlCol="0">
            <a:spAutoFit/>
          </a:bodyPr>
          <a:lstStyle/>
          <a:p>
            <a:r>
              <a:rPr lang="es-ES" sz="2000" b="1" u="sng" dirty="0"/>
              <a:t>Unidad 4</a:t>
            </a:r>
            <a:r>
              <a:rPr lang="es-ES" sz="2000" b="1" dirty="0"/>
              <a:t>: La sostenibilidad en las empresas</a:t>
            </a:r>
          </a:p>
        </p:txBody>
      </p:sp>
    </p:spTree>
    <p:extLst>
      <p:ext uri="{BB962C8B-B14F-4D97-AF65-F5344CB8AC3E}">
        <p14:creationId xmlns:p14="http://schemas.microsoft.com/office/powerpoint/2010/main" val="4057633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200" b="1" kern="0" dirty="0">
                <a:latin typeface="Calibri" panose="020F0502020204030204" pitchFamily="34" charset="0"/>
                <a:ea typeface="Times New Roman" panose="02020603050405020304" pitchFamily="18" charset="0"/>
                <a:cs typeface="Times New Roman" panose="02020603050405020304" pitchFamily="18" charset="0"/>
              </a:rPr>
              <a:t>4.1. INTRODUCCIÓN </a:t>
            </a:r>
            <a:endParaRPr lang="es-ES" sz="4200"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3433971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CONCEPTOS DE SOSTENIBILIDAD EMPRESARIAL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8" name="Imagen 7">
            <a:extLst>
              <a:ext uri="{FF2B5EF4-FFF2-40B4-BE49-F238E27FC236}">
                <a16:creationId xmlns:a16="http://schemas.microsoft.com/office/drawing/2014/main" id="{E647A04C-D2B0-6BB8-A442-9887326DC3D6}"/>
              </a:ext>
            </a:extLst>
          </p:cNvPr>
          <p:cNvPicPr>
            <a:picLocks noChangeAspect="1"/>
          </p:cNvPicPr>
          <p:nvPr/>
        </p:nvPicPr>
        <p:blipFill>
          <a:blip r:embed="rId3"/>
          <a:stretch>
            <a:fillRect/>
          </a:stretch>
        </p:blipFill>
        <p:spPr>
          <a:xfrm>
            <a:off x="1961535" y="1404655"/>
            <a:ext cx="6844705" cy="5112478"/>
          </a:xfrm>
          <a:prstGeom prst="rect">
            <a:avLst/>
          </a:prstGeom>
        </p:spPr>
      </p:pic>
    </p:spTree>
    <p:extLst>
      <p:ext uri="{BB962C8B-B14F-4D97-AF65-F5344CB8AC3E}">
        <p14:creationId xmlns:p14="http://schemas.microsoft.com/office/powerpoint/2010/main" val="1895338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LOS GRUPOS DE INTERÉS (SKATEHOLDERS)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7DE1730F-99CF-C2B0-24C5-11826AA4876F}"/>
              </a:ext>
            </a:extLst>
          </p:cNvPr>
          <p:cNvPicPr>
            <a:picLocks noChangeAspect="1"/>
          </p:cNvPicPr>
          <p:nvPr/>
        </p:nvPicPr>
        <p:blipFill>
          <a:blip r:embed="rId3"/>
          <a:stretch>
            <a:fillRect/>
          </a:stretch>
        </p:blipFill>
        <p:spPr>
          <a:xfrm>
            <a:off x="4663641" y="2340512"/>
            <a:ext cx="2371337" cy="3383662"/>
          </a:xfrm>
          <a:prstGeom prst="rect">
            <a:avLst/>
          </a:prstGeom>
        </p:spPr>
      </p:pic>
      <p:sp>
        <p:nvSpPr>
          <p:cNvPr id="8" name="Rectángulo: esquinas redondeadas 7">
            <a:extLst>
              <a:ext uri="{FF2B5EF4-FFF2-40B4-BE49-F238E27FC236}">
                <a16:creationId xmlns:a16="http://schemas.microsoft.com/office/drawing/2014/main" id="{FFDA06D1-AB38-ADFA-F8C3-37262DB906BD}"/>
              </a:ext>
            </a:extLst>
          </p:cNvPr>
          <p:cNvSpPr/>
          <p:nvPr/>
        </p:nvSpPr>
        <p:spPr>
          <a:xfrm>
            <a:off x="4964405" y="5899337"/>
            <a:ext cx="1858297" cy="498580"/>
          </a:xfrm>
          <a:prstGeom prst="round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EMPRESA</a:t>
            </a:r>
          </a:p>
        </p:txBody>
      </p:sp>
      <p:pic>
        <p:nvPicPr>
          <p:cNvPr id="10" name="Imagen 9">
            <a:extLst>
              <a:ext uri="{FF2B5EF4-FFF2-40B4-BE49-F238E27FC236}">
                <a16:creationId xmlns:a16="http://schemas.microsoft.com/office/drawing/2014/main" id="{0780B678-5162-3C0E-02DD-950DA103D411}"/>
              </a:ext>
            </a:extLst>
          </p:cNvPr>
          <p:cNvPicPr>
            <a:picLocks noChangeAspect="1"/>
          </p:cNvPicPr>
          <p:nvPr/>
        </p:nvPicPr>
        <p:blipFill>
          <a:blip r:embed="rId4"/>
          <a:stretch>
            <a:fillRect/>
          </a:stretch>
        </p:blipFill>
        <p:spPr>
          <a:xfrm>
            <a:off x="8310646" y="1534896"/>
            <a:ext cx="2391109" cy="2314898"/>
          </a:xfrm>
          <a:prstGeom prst="rect">
            <a:avLst/>
          </a:prstGeom>
        </p:spPr>
      </p:pic>
      <p:pic>
        <p:nvPicPr>
          <p:cNvPr id="12" name="Imagen 11">
            <a:extLst>
              <a:ext uri="{FF2B5EF4-FFF2-40B4-BE49-F238E27FC236}">
                <a16:creationId xmlns:a16="http://schemas.microsoft.com/office/drawing/2014/main" id="{50538CF9-09B2-3BBD-04FD-314BA744932A}"/>
              </a:ext>
            </a:extLst>
          </p:cNvPr>
          <p:cNvPicPr>
            <a:picLocks noChangeAspect="1"/>
          </p:cNvPicPr>
          <p:nvPr/>
        </p:nvPicPr>
        <p:blipFill>
          <a:blip r:embed="rId5"/>
          <a:stretch>
            <a:fillRect/>
          </a:stretch>
        </p:blipFill>
        <p:spPr>
          <a:xfrm>
            <a:off x="986733" y="1534896"/>
            <a:ext cx="2391109" cy="2380387"/>
          </a:xfrm>
          <a:prstGeom prst="rect">
            <a:avLst/>
          </a:prstGeom>
        </p:spPr>
      </p:pic>
      <p:sp>
        <p:nvSpPr>
          <p:cNvPr id="13" name="Flecha: doblada 12">
            <a:extLst>
              <a:ext uri="{FF2B5EF4-FFF2-40B4-BE49-F238E27FC236}">
                <a16:creationId xmlns:a16="http://schemas.microsoft.com/office/drawing/2014/main" id="{2D972B35-8654-7213-70DC-57B3692CD1CE}"/>
              </a:ext>
            </a:extLst>
          </p:cNvPr>
          <p:cNvSpPr/>
          <p:nvPr/>
        </p:nvSpPr>
        <p:spPr>
          <a:xfrm flipV="1">
            <a:off x="2005781" y="4232778"/>
            <a:ext cx="2109019" cy="1491396"/>
          </a:xfrm>
          <a:prstGeom prst="bentArrow">
            <a:avLst/>
          </a:prstGeom>
          <a:solidFill>
            <a:schemeClr val="accent5">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4" name="CuadroTexto 13">
            <a:extLst>
              <a:ext uri="{FF2B5EF4-FFF2-40B4-BE49-F238E27FC236}">
                <a16:creationId xmlns:a16="http://schemas.microsoft.com/office/drawing/2014/main" id="{E95CCA79-DD33-EB66-7615-0D20C566EB7F}"/>
              </a:ext>
            </a:extLst>
          </p:cNvPr>
          <p:cNvSpPr txBox="1"/>
          <p:nvPr/>
        </p:nvSpPr>
        <p:spPr>
          <a:xfrm>
            <a:off x="2554622" y="4736269"/>
            <a:ext cx="2109019" cy="369332"/>
          </a:xfrm>
          <a:prstGeom prst="rect">
            <a:avLst/>
          </a:prstGeom>
          <a:noFill/>
        </p:spPr>
        <p:txBody>
          <a:bodyPr wrap="square" rtlCol="0">
            <a:spAutoFit/>
          </a:bodyPr>
          <a:lstStyle/>
          <a:p>
            <a:r>
              <a:rPr lang="es-ES" dirty="0"/>
              <a:t>INFLUYEN</a:t>
            </a:r>
          </a:p>
        </p:txBody>
      </p:sp>
      <p:sp>
        <p:nvSpPr>
          <p:cNvPr id="19" name="Flecha: doblada 18">
            <a:extLst>
              <a:ext uri="{FF2B5EF4-FFF2-40B4-BE49-F238E27FC236}">
                <a16:creationId xmlns:a16="http://schemas.microsoft.com/office/drawing/2014/main" id="{A82FC6F1-9B35-144F-375B-E78BF26ED615}"/>
              </a:ext>
            </a:extLst>
          </p:cNvPr>
          <p:cNvSpPr/>
          <p:nvPr/>
        </p:nvSpPr>
        <p:spPr>
          <a:xfrm rot="16200000" flipV="1">
            <a:off x="8018263" y="3664352"/>
            <a:ext cx="1491395" cy="2224828"/>
          </a:xfrm>
          <a:prstGeom prst="bentArrow">
            <a:avLst/>
          </a:prstGeom>
          <a:solidFill>
            <a:schemeClr val="accent5">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2" name="CuadroTexto 21">
            <a:extLst>
              <a:ext uri="{FF2B5EF4-FFF2-40B4-BE49-F238E27FC236}">
                <a16:creationId xmlns:a16="http://schemas.microsoft.com/office/drawing/2014/main" id="{77BE2CE7-C6D9-EC56-5C84-12769EAB5D23}"/>
              </a:ext>
            </a:extLst>
          </p:cNvPr>
          <p:cNvSpPr txBox="1"/>
          <p:nvPr/>
        </p:nvSpPr>
        <p:spPr>
          <a:xfrm>
            <a:off x="7651546" y="4446661"/>
            <a:ext cx="1816919" cy="646331"/>
          </a:xfrm>
          <a:prstGeom prst="rect">
            <a:avLst/>
          </a:prstGeom>
          <a:noFill/>
        </p:spPr>
        <p:txBody>
          <a:bodyPr wrap="square" rtlCol="0">
            <a:spAutoFit/>
          </a:bodyPr>
          <a:lstStyle/>
          <a:p>
            <a:r>
              <a:rPr lang="es-ES" dirty="0"/>
              <a:t>SE VEN AFECTADOS</a:t>
            </a:r>
          </a:p>
        </p:txBody>
      </p:sp>
      <p:sp>
        <p:nvSpPr>
          <p:cNvPr id="25" name="CuadroTexto 24">
            <a:extLst>
              <a:ext uri="{FF2B5EF4-FFF2-40B4-BE49-F238E27FC236}">
                <a16:creationId xmlns:a16="http://schemas.microsoft.com/office/drawing/2014/main" id="{D6C1BB05-4961-CEA2-8B55-7115D04DCD4B}"/>
              </a:ext>
            </a:extLst>
          </p:cNvPr>
          <p:cNvSpPr txBox="1"/>
          <p:nvPr/>
        </p:nvSpPr>
        <p:spPr>
          <a:xfrm>
            <a:off x="222488" y="6376800"/>
            <a:ext cx="4359249" cy="369332"/>
          </a:xfrm>
          <a:prstGeom prst="rect">
            <a:avLst/>
          </a:prstGeom>
          <a:noFill/>
        </p:spPr>
        <p:txBody>
          <a:bodyPr wrap="square" rtlCol="0">
            <a:spAutoFit/>
          </a:bodyPr>
          <a:lstStyle/>
          <a:p>
            <a:r>
              <a:rPr lang="es-ES" dirty="0">
                <a:hlinkClick r:id="rId6"/>
              </a:rPr>
              <a:t>Vídeo Explicativo </a:t>
            </a:r>
            <a:r>
              <a:rPr lang="es-ES" dirty="0" err="1">
                <a:hlinkClick r:id="rId6"/>
              </a:rPr>
              <a:t>Skateholder</a:t>
            </a:r>
            <a:r>
              <a:rPr lang="es-ES" dirty="0">
                <a:hlinkClick r:id="rId6"/>
              </a:rPr>
              <a:t>/</a:t>
            </a:r>
            <a:r>
              <a:rPr lang="es-ES" dirty="0" err="1">
                <a:hlinkClick r:id="rId6"/>
              </a:rPr>
              <a:t>Shareholder</a:t>
            </a:r>
            <a:endParaRPr lang="es-ES" dirty="0"/>
          </a:p>
        </p:txBody>
      </p:sp>
    </p:spTree>
    <p:extLst>
      <p:ext uri="{BB962C8B-B14F-4D97-AF65-F5344CB8AC3E}">
        <p14:creationId xmlns:p14="http://schemas.microsoft.com/office/powerpoint/2010/main" val="3201145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LOS GRUPOS DE INTERÉS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567ACF4A-5928-366D-9527-BED4A373988B}"/>
              </a:ext>
            </a:extLst>
          </p:cNvPr>
          <p:cNvPicPr>
            <a:picLocks noChangeAspect="1"/>
          </p:cNvPicPr>
          <p:nvPr/>
        </p:nvPicPr>
        <p:blipFill>
          <a:blip r:embed="rId3"/>
          <a:stretch>
            <a:fillRect/>
          </a:stretch>
        </p:blipFill>
        <p:spPr>
          <a:xfrm>
            <a:off x="563590" y="3433587"/>
            <a:ext cx="1608503" cy="2295174"/>
          </a:xfrm>
          <a:prstGeom prst="rect">
            <a:avLst/>
          </a:prstGeom>
        </p:spPr>
      </p:pic>
      <p:sp>
        <p:nvSpPr>
          <p:cNvPr id="8" name="Rectángulo: esquinas redondeadas 7">
            <a:extLst>
              <a:ext uri="{FF2B5EF4-FFF2-40B4-BE49-F238E27FC236}">
                <a16:creationId xmlns:a16="http://schemas.microsoft.com/office/drawing/2014/main" id="{8E2CBAB9-E17B-0EF7-AD87-E9D0CBC9AC86}"/>
              </a:ext>
            </a:extLst>
          </p:cNvPr>
          <p:cNvSpPr/>
          <p:nvPr/>
        </p:nvSpPr>
        <p:spPr>
          <a:xfrm>
            <a:off x="2993923" y="1579155"/>
            <a:ext cx="7893799" cy="958646"/>
          </a:xfrm>
          <a:prstGeom prst="roundRect">
            <a:avLst>
              <a:gd name="adj" fmla="val 50000"/>
            </a:avLst>
          </a:prstGeom>
          <a:solidFill>
            <a:schemeClr val="tx1">
              <a:lumMod val="85000"/>
              <a:lumOff val="1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¿QUÉ DEBE HACER LA EMPRESA RESPECTO A SUS GRUPOS DE INTERÉS?</a:t>
            </a:r>
          </a:p>
        </p:txBody>
      </p:sp>
      <p:sp>
        <p:nvSpPr>
          <p:cNvPr id="10" name="Abrir llave 9">
            <a:extLst>
              <a:ext uri="{FF2B5EF4-FFF2-40B4-BE49-F238E27FC236}">
                <a16:creationId xmlns:a16="http://schemas.microsoft.com/office/drawing/2014/main" id="{E9B45252-2CC2-74D5-A983-D40183C6AFA5}"/>
              </a:ext>
            </a:extLst>
          </p:cNvPr>
          <p:cNvSpPr/>
          <p:nvPr/>
        </p:nvSpPr>
        <p:spPr>
          <a:xfrm>
            <a:off x="2172093" y="2787445"/>
            <a:ext cx="939817" cy="3536748"/>
          </a:xfrm>
          <a:prstGeom prst="leftBrace">
            <a:avLst>
              <a:gd name="adj1" fmla="val 38149"/>
              <a:gd name="adj2" fmla="val 50000"/>
            </a:avLst>
          </a:prstGeom>
          <a:ln w="571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2" name="CuadroTexto 11">
            <a:extLst>
              <a:ext uri="{FF2B5EF4-FFF2-40B4-BE49-F238E27FC236}">
                <a16:creationId xmlns:a16="http://schemas.microsoft.com/office/drawing/2014/main" id="{EE1925B4-6E47-3C05-6A78-A20EC592E0E3}"/>
              </a:ext>
            </a:extLst>
          </p:cNvPr>
          <p:cNvSpPr txBox="1"/>
          <p:nvPr/>
        </p:nvSpPr>
        <p:spPr>
          <a:xfrm>
            <a:off x="3303639" y="3119235"/>
            <a:ext cx="7418438" cy="2554545"/>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s-ES" sz="2400" dirty="0"/>
              <a:t>Identificarlos </a:t>
            </a:r>
          </a:p>
          <a:p>
            <a:pPr marL="285750" indent="-285750">
              <a:spcBef>
                <a:spcPts val="600"/>
              </a:spcBef>
              <a:spcAft>
                <a:spcPts val="600"/>
              </a:spcAft>
              <a:buFont typeface="Arial" panose="020B0604020202020204" pitchFamily="34" charset="0"/>
              <a:buChar char="•"/>
            </a:pPr>
            <a:r>
              <a:rPr lang="es-ES" sz="2400" dirty="0"/>
              <a:t>Conocer sus expectativa e intereses</a:t>
            </a:r>
          </a:p>
          <a:p>
            <a:pPr marL="285750" indent="-285750">
              <a:spcBef>
                <a:spcPts val="600"/>
              </a:spcBef>
              <a:spcAft>
                <a:spcPts val="600"/>
              </a:spcAft>
              <a:buFont typeface="Arial" panose="020B0604020202020204" pitchFamily="34" charset="0"/>
              <a:buChar char="•"/>
            </a:pPr>
            <a:r>
              <a:rPr lang="es-ES" sz="2400" dirty="0"/>
              <a:t>Mantener una relación de diálogo</a:t>
            </a:r>
          </a:p>
          <a:p>
            <a:pPr marL="285750" indent="-285750">
              <a:spcBef>
                <a:spcPts val="600"/>
              </a:spcBef>
              <a:spcAft>
                <a:spcPts val="600"/>
              </a:spcAft>
              <a:buFont typeface="Arial" panose="020B0604020202020204" pitchFamily="34" charset="0"/>
              <a:buChar char="•"/>
            </a:pPr>
            <a:r>
              <a:rPr lang="es-ES" sz="2400" dirty="0"/>
              <a:t>Incorporar sus necesidades a la estrategia empresarial</a:t>
            </a:r>
          </a:p>
          <a:p>
            <a:pPr marL="285750" indent="-285750">
              <a:spcBef>
                <a:spcPts val="600"/>
              </a:spcBef>
              <a:spcAft>
                <a:spcPts val="600"/>
              </a:spcAft>
              <a:buFont typeface="Arial" panose="020B0604020202020204" pitchFamily="34" charset="0"/>
              <a:buChar char="•"/>
            </a:pPr>
            <a:r>
              <a:rPr lang="es-ES" sz="2400" dirty="0"/>
              <a:t>Cumplir normativa y regulación</a:t>
            </a:r>
          </a:p>
        </p:txBody>
      </p:sp>
      <p:pic>
        <p:nvPicPr>
          <p:cNvPr id="13" name="Imagen 12">
            <a:extLst>
              <a:ext uri="{FF2B5EF4-FFF2-40B4-BE49-F238E27FC236}">
                <a16:creationId xmlns:a16="http://schemas.microsoft.com/office/drawing/2014/main" id="{3D26A2A8-246E-D17A-DEAB-6E00496E539B}"/>
              </a:ext>
            </a:extLst>
          </p:cNvPr>
          <p:cNvPicPr>
            <a:picLocks noChangeAspect="1"/>
          </p:cNvPicPr>
          <p:nvPr/>
        </p:nvPicPr>
        <p:blipFill>
          <a:blip r:embed="rId4"/>
          <a:stretch>
            <a:fillRect/>
          </a:stretch>
        </p:blipFill>
        <p:spPr>
          <a:xfrm>
            <a:off x="10019907" y="3027945"/>
            <a:ext cx="1334799" cy="1292255"/>
          </a:xfrm>
          <a:prstGeom prst="rect">
            <a:avLst/>
          </a:prstGeom>
        </p:spPr>
      </p:pic>
      <p:pic>
        <p:nvPicPr>
          <p:cNvPr id="14" name="Imagen 13">
            <a:extLst>
              <a:ext uri="{FF2B5EF4-FFF2-40B4-BE49-F238E27FC236}">
                <a16:creationId xmlns:a16="http://schemas.microsoft.com/office/drawing/2014/main" id="{6E7580FC-85D5-2617-94E9-ABA97641E247}"/>
              </a:ext>
            </a:extLst>
          </p:cNvPr>
          <p:cNvPicPr>
            <a:picLocks noChangeAspect="1"/>
          </p:cNvPicPr>
          <p:nvPr/>
        </p:nvPicPr>
        <p:blipFill>
          <a:blip r:embed="rId5"/>
          <a:stretch>
            <a:fillRect/>
          </a:stretch>
        </p:blipFill>
        <p:spPr>
          <a:xfrm>
            <a:off x="10146316" y="5198291"/>
            <a:ext cx="1081980" cy="1077128"/>
          </a:xfrm>
          <a:prstGeom prst="rect">
            <a:avLst/>
          </a:prstGeom>
        </p:spPr>
      </p:pic>
    </p:spTree>
    <p:extLst>
      <p:ext uri="{BB962C8B-B14F-4D97-AF65-F5344CB8AC3E}">
        <p14:creationId xmlns:p14="http://schemas.microsoft.com/office/powerpoint/2010/main" val="2475611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LOS GRUPOS DE INTERÉS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redondeadas 2">
            <a:extLst>
              <a:ext uri="{FF2B5EF4-FFF2-40B4-BE49-F238E27FC236}">
                <a16:creationId xmlns:a16="http://schemas.microsoft.com/office/drawing/2014/main" id="{B3B9F54A-3D29-FFBA-E29F-E475866962E0}"/>
              </a:ext>
            </a:extLst>
          </p:cNvPr>
          <p:cNvSpPr/>
          <p:nvPr/>
        </p:nvSpPr>
        <p:spPr>
          <a:xfrm>
            <a:off x="4427472" y="1579155"/>
            <a:ext cx="3052916" cy="958646"/>
          </a:xfrm>
          <a:prstGeom prst="roundRect">
            <a:avLst>
              <a:gd name="adj" fmla="val 50000"/>
            </a:avLst>
          </a:prstGeom>
          <a:solidFill>
            <a:schemeClr val="tx1">
              <a:lumMod val="85000"/>
              <a:lumOff val="1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TIPOS DE GRUPOS DE INTERÉS</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1873044" y="3285719"/>
            <a:ext cx="1976284" cy="522529"/>
          </a:xfrm>
          <a:prstGeom prst="snip2SameRect">
            <a:avLst>
              <a:gd name="adj1" fmla="val 32251"/>
              <a:gd name="adj2" fmla="val 0"/>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INTERNOS</a:t>
            </a:r>
          </a:p>
        </p:txBody>
      </p:sp>
      <p:sp>
        <p:nvSpPr>
          <p:cNvPr id="11" name="Rectángulo: esquinas superiores cortadas 10">
            <a:extLst>
              <a:ext uri="{FF2B5EF4-FFF2-40B4-BE49-F238E27FC236}">
                <a16:creationId xmlns:a16="http://schemas.microsoft.com/office/drawing/2014/main" id="{84385B8E-975F-2725-0DE6-64BB145F542A}"/>
              </a:ext>
            </a:extLst>
          </p:cNvPr>
          <p:cNvSpPr/>
          <p:nvPr/>
        </p:nvSpPr>
        <p:spPr>
          <a:xfrm>
            <a:off x="8058531" y="3285719"/>
            <a:ext cx="1976284" cy="522529"/>
          </a:xfrm>
          <a:prstGeom prst="snip2SameRect">
            <a:avLst>
              <a:gd name="adj1" fmla="val 32251"/>
              <a:gd name="adj2" fmla="val 0"/>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EXTERNOS</a:t>
            </a:r>
          </a:p>
        </p:txBody>
      </p:sp>
      <p:sp>
        <p:nvSpPr>
          <p:cNvPr id="15" name="Rectángulo 14">
            <a:extLst>
              <a:ext uri="{FF2B5EF4-FFF2-40B4-BE49-F238E27FC236}">
                <a16:creationId xmlns:a16="http://schemas.microsoft.com/office/drawing/2014/main" id="{E127B2CE-ED87-848A-6602-F92E0E817452}"/>
              </a:ext>
            </a:extLst>
          </p:cNvPr>
          <p:cNvSpPr/>
          <p:nvPr/>
        </p:nvSpPr>
        <p:spPr>
          <a:xfrm>
            <a:off x="1666566" y="4062102"/>
            <a:ext cx="2389239" cy="2344994"/>
          </a:xfrm>
          <a:prstGeom prst="rect">
            <a:avLst/>
          </a:prstGeom>
          <a:solidFill>
            <a:srgbClr val="FCD4C8"/>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s-ES" sz="2000" b="1" dirty="0">
                <a:solidFill>
                  <a:schemeClr val="tx1"/>
                </a:solidFill>
              </a:rPr>
              <a:t>Accionistas</a:t>
            </a:r>
          </a:p>
          <a:p>
            <a:pPr marL="285750" indent="-285750" algn="just">
              <a:buFont typeface="Arial" panose="020B0604020202020204" pitchFamily="34" charset="0"/>
              <a:buChar char="•"/>
            </a:pPr>
            <a:r>
              <a:rPr lang="es-ES" sz="2000" b="1" dirty="0">
                <a:solidFill>
                  <a:schemeClr val="tx1"/>
                </a:solidFill>
              </a:rPr>
              <a:t>Empleados</a:t>
            </a:r>
          </a:p>
          <a:p>
            <a:pPr marL="285750" indent="-285750" algn="just">
              <a:buFont typeface="Arial" panose="020B0604020202020204" pitchFamily="34" charset="0"/>
              <a:buChar char="•"/>
            </a:pPr>
            <a:r>
              <a:rPr lang="es-ES" sz="2000" b="1" dirty="0">
                <a:solidFill>
                  <a:schemeClr val="tx1"/>
                </a:solidFill>
              </a:rPr>
              <a:t>Directivos</a:t>
            </a:r>
          </a:p>
        </p:txBody>
      </p:sp>
      <p:sp>
        <p:nvSpPr>
          <p:cNvPr id="16" name="Rectángulo 15">
            <a:extLst>
              <a:ext uri="{FF2B5EF4-FFF2-40B4-BE49-F238E27FC236}">
                <a16:creationId xmlns:a16="http://schemas.microsoft.com/office/drawing/2014/main" id="{B959990B-A63C-4A5E-8AF4-DBA1B778D8B6}"/>
              </a:ext>
            </a:extLst>
          </p:cNvPr>
          <p:cNvSpPr/>
          <p:nvPr/>
        </p:nvSpPr>
        <p:spPr>
          <a:xfrm>
            <a:off x="7884374" y="4052791"/>
            <a:ext cx="2389239" cy="2344994"/>
          </a:xfrm>
          <a:prstGeom prst="rect">
            <a:avLst/>
          </a:prstGeom>
          <a:solidFill>
            <a:schemeClr val="accent1">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s-ES" sz="2000" b="1" dirty="0">
                <a:solidFill>
                  <a:schemeClr val="tx1"/>
                </a:solidFill>
              </a:rPr>
              <a:t>Clientes</a:t>
            </a:r>
          </a:p>
          <a:p>
            <a:pPr marL="285750" indent="-285750" algn="just">
              <a:buFont typeface="Arial" panose="020B0604020202020204" pitchFamily="34" charset="0"/>
              <a:buChar char="•"/>
            </a:pPr>
            <a:r>
              <a:rPr lang="es-ES" sz="2000" b="1" dirty="0">
                <a:solidFill>
                  <a:schemeClr val="tx1"/>
                </a:solidFill>
              </a:rPr>
              <a:t>Proveedores</a:t>
            </a:r>
          </a:p>
          <a:p>
            <a:pPr marL="285750" indent="-285750" algn="just">
              <a:buFont typeface="Arial" panose="020B0604020202020204" pitchFamily="34" charset="0"/>
              <a:buChar char="•"/>
            </a:pPr>
            <a:r>
              <a:rPr lang="es-ES" sz="2000" b="1" dirty="0">
                <a:solidFill>
                  <a:schemeClr val="tx1"/>
                </a:solidFill>
              </a:rPr>
              <a:t>Competidores</a:t>
            </a:r>
          </a:p>
          <a:p>
            <a:pPr marL="285750" indent="-285750" algn="just">
              <a:buFont typeface="Arial" panose="020B0604020202020204" pitchFamily="34" charset="0"/>
              <a:buChar char="•"/>
            </a:pPr>
            <a:r>
              <a:rPr lang="es-ES" sz="2000" b="1" dirty="0">
                <a:solidFill>
                  <a:schemeClr val="tx1"/>
                </a:solidFill>
              </a:rPr>
              <a:t>Bancos</a:t>
            </a:r>
          </a:p>
          <a:p>
            <a:pPr marL="285750" indent="-285750" algn="just">
              <a:buFont typeface="Arial" panose="020B0604020202020204" pitchFamily="34" charset="0"/>
              <a:buChar char="•"/>
            </a:pPr>
            <a:r>
              <a:rPr lang="es-ES" sz="2000" b="1" dirty="0">
                <a:solidFill>
                  <a:schemeClr val="tx1"/>
                </a:solidFill>
              </a:rPr>
              <a:t>Sociedad</a:t>
            </a:r>
          </a:p>
          <a:p>
            <a:pPr marL="285750" indent="-285750" algn="just">
              <a:buFont typeface="Arial" panose="020B0604020202020204" pitchFamily="34" charset="0"/>
              <a:buChar char="•"/>
            </a:pPr>
            <a:r>
              <a:rPr lang="es-ES" sz="2000" b="1" dirty="0">
                <a:solidFill>
                  <a:schemeClr val="tx1"/>
                </a:solidFill>
              </a:rPr>
              <a:t>Gobiernos</a:t>
            </a:r>
          </a:p>
          <a:p>
            <a:pPr marL="285750" indent="-285750" algn="just">
              <a:buFont typeface="Arial" panose="020B0604020202020204" pitchFamily="34" charset="0"/>
              <a:buChar char="•"/>
            </a:pPr>
            <a:r>
              <a:rPr lang="es-ES" sz="2000" b="1" dirty="0">
                <a:solidFill>
                  <a:schemeClr val="tx1"/>
                </a:solidFill>
              </a:rPr>
              <a:t>Tercer sector, </a:t>
            </a:r>
            <a:r>
              <a:rPr lang="es-ES" sz="2000" b="1" dirty="0" err="1">
                <a:solidFill>
                  <a:schemeClr val="tx1"/>
                </a:solidFill>
              </a:rPr>
              <a:t>etc</a:t>
            </a:r>
            <a:r>
              <a:rPr lang="es-ES" sz="2000" b="1" dirty="0">
                <a:solidFill>
                  <a:schemeClr val="tx1"/>
                </a:solidFill>
              </a:rPr>
              <a:t> </a:t>
            </a:r>
          </a:p>
        </p:txBody>
      </p:sp>
      <p:cxnSp>
        <p:nvCxnSpPr>
          <p:cNvPr id="18" name="Conector recto de flecha 17">
            <a:extLst>
              <a:ext uri="{FF2B5EF4-FFF2-40B4-BE49-F238E27FC236}">
                <a16:creationId xmlns:a16="http://schemas.microsoft.com/office/drawing/2014/main" id="{B184A870-07F6-2A8B-EF09-924AB8E3321C}"/>
              </a:ext>
            </a:extLst>
          </p:cNvPr>
          <p:cNvCxnSpPr>
            <a:stCxn id="3" idx="2"/>
            <a:endCxn id="9" idx="3"/>
          </p:cNvCxnSpPr>
          <p:nvPr/>
        </p:nvCxnSpPr>
        <p:spPr>
          <a:xfrm flipH="1">
            <a:off x="2861186" y="2537801"/>
            <a:ext cx="3092744" cy="747918"/>
          </a:xfrm>
          <a:prstGeom prst="straightConnector1">
            <a:avLst/>
          </a:prstGeom>
          <a:ln w="57150">
            <a:solidFill>
              <a:schemeClr val="tx1">
                <a:lumMod val="95000"/>
                <a:lumOff val="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67978806-D6EF-A6A5-805F-B7F8B587D98B}"/>
              </a:ext>
            </a:extLst>
          </p:cNvPr>
          <p:cNvCxnSpPr>
            <a:cxnSpLocks/>
            <a:stCxn id="3" idx="2"/>
            <a:endCxn id="11" idx="3"/>
          </p:cNvCxnSpPr>
          <p:nvPr/>
        </p:nvCxnSpPr>
        <p:spPr>
          <a:xfrm>
            <a:off x="5953930" y="2537801"/>
            <a:ext cx="3092743" cy="747918"/>
          </a:xfrm>
          <a:prstGeom prst="straightConnector1">
            <a:avLst/>
          </a:prstGeom>
          <a:ln w="57150">
            <a:solidFill>
              <a:schemeClr val="tx1">
                <a:lumMod val="95000"/>
                <a:lumOff val="5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6517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INTERNOS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1976284" cy="522529"/>
          </a:xfrm>
          <a:prstGeom prst="snip2SameRect">
            <a:avLst>
              <a:gd name="adj1" fmla="val 32251"/>
              <a:gd name="adj2" fmla="val 0"/>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ACCIONISTAS</a:t>
            </a:r>
          </a:p>
        </p:txBody>
      </p:sp>
      <p:pic>
        <p:nvPicPr>
          <p:cNvPr id="10" name="Imagen 9">
            <a:extLst>
              <a:ext uri="{FF2B5EF4-FFF2-40B4-BE49-F238E27FC236}">
                <a16:creationId xmlns:a16="http://schemas.microsoft.com/office/drawing/2014/main" id="{144889FF-BF3F-FD3B-9187-AC89635D1ECD}"/>
              </a:ext>
            </a:extLst>
          </p:cNvPr>
          <p:cNvPicPr>
            <a:picLocks noChangeAspect="1"/>
          </p:cNvPicPr>
          <p:nvPr/>
        </p:nvPicPr>
        <p:blipFill>
          <a:blip r:embed="rId3"/>
          <a:stretch>
            <a:fillRect/>
          </a:stretch>
        </p:blipFill>
        <p:spPr>
          <a:xfrm>
            <a:off x="210809" y="2603589"/>
            <a:ext cx="2620881" cy="2899428"/>
          </a:xfrm>
          <a:prstGeom prst="rect">
            <a:avLst/>
          </a:prstGeom>
        </p:spPr>
      </p:pic>
      <p:sp>
        <p:nvSpPr>
          <p:cNvPr id="12" name="Rectángulo: esquinas redondeadas 11">
            <a:extLst>
              <a:ext uri="{FF2B5EF4-FFF2-40B4-BE49-F238E27FC236}">
                <a16:creationId xmlns:a16="http://schemas.microsoft.com/office/drawing/2014/main" id="{727F716C-0735-6D13-7D51-4E00D9AA5047}"/>
              </a:ext>
            </a:extLst>
          </p:cNvPr>
          <p:cNvSpPr/>
          <p:nvPr/>
        </p:nvSpPr>
        <p:spPr>
          <a:xfrm>
            <a:off x="3892025" y="1589034"/>
            <a:ext cx="2203976"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4" y="2252338"/>
            <a:ext cx="5188426" cy="400110"/>
          </a:xfrm>
          <a:prstGeom prst="rect">
            <a:avLst/>
          </a:prstGeom>
          <a:noFill/>
        </p:spPr>
        <p:txBody>
          <a:bodyPr wrap="square" rtlCol="0">
            <a:spAutoFit/>
          </a:bodyPr>
          <a:lstStyle/>
          <a:p>
            <a:r>
              <a:rPr lang="es-ES" sz="2000" dirty="0"/>
              <a:t>Son los propietarios de la empresa</a:t>
            </a:r>
          </a:p>
        </p:txBody>
      </p:sp>
      <p:sp>
        <p:nvSpPr>
          <p:cNvPr id="19" name="Rectángulo: esquinas redondeadas 18">
            <a:extLst>
              <a:ext uri="{FF2B5EF4-FFF2-40B4-BE49-F238E27FC236}">
                <a16:creationId xmlns:a16="http://schemas.microsoft.com/office/drawing/2014/main" id="{D409654E-35ED-5C00-AA45-6715A3F9D4C0}"/>
              </a:ext>
            </a:extLst>
          </p:cNvPr>
          <p:cNvSpPr/>
          <p:nvPr/>
        </p:nvSpPr>
        <p:spPr>
          <a:xfrm>
            <a:off x="3892024" y="2793222"/>
            <a:ext cx="4426066"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21" name="CuadroTexto 20">
            <a:extLst>
              <a:ext uri="{FF2B5EF4-FFF2-40B4-BE49-F238E27FC236}">
                <a16:creationId xmlns:a16="http://schemas.microsoft.com/office/drawing/2014/main" id="{ED7014C6-5C8F-7D82-0E00-5C78654D722E}"/>
              </a:ext>
            </a:extLst>
          </p:cNvPr>
          <p:cNvSpPr txBox="1"/>
          <p:nvPr/>
        </p:nvSpPr>
        <p:spPr>
          <a:xfrm>
            <a:off x="3892024" y="3456526"/>
            <a:ext cx="7093976" cy="400110"/>
          </a:xfrm>
          <a:prstGeom prst="rect">
            <a:avLst/>
          </a:prstGeom>
          <a:noFill/>
        </p:spPr>
        <p:txBody>
          <a:bodyPr wrap="square" rtlCol="0">
            <a:spAutoFit/>
          </a:bodyPr>
          <a:lstStyle/>
          <a:p>
            <a:r>
              <a:rPr lang="es-ES" sz="2000" dirty="0"/>
              <a:t>Aportan capital a la empresa, necesario para existir y funcionar</a:t>
            </a:r>
          </a:p>
        </p:txBody>
      </p:sp>
      <p:sp>
        <p:nvSpPr>
          <p:cNvPr id="22" name="Rectángulo: esquinas redondeadas 21">
            <a:extLst>
              <a:ext uri="{FF2B5EF4-FFF2-40B4-BE49-F238E27FC236}">
                <a16:creationId xmlns:a16="http://schemas.microsoft.com/office/drawing/2014/main" id="{997D4FE6-A956-682B-FEE5-8EC1738E5547}"/>
              </a:ext>
            </a:extLst>
          </p:cNvPr>
          <p:cNvSpPr/>
          <p:nvPr/>
        </p:nvSpPr>
        <p:spPr>
          <a:xfrm>
            <a:off x="3892024" y="3997410"/>
            <a:ext cx="4986505"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7093976" cy="400110"/>
          </a:xfrm>
          <a:prstGeom prst="rect">
            <a:avLst/>
          </a:prstGeom>
          <a:noFill/>
        </p:spPr>
        <p:txBody>
          <a:bodyPr wrap="square" rtlCol="0">
            <a:spAutoFit/>
          </a:bodyPr>
          <a:lstStyle/>
          <a:p>
            <a:r>
              <a:rPr lang="es-ES" sz="2000" dirty="0"/>
              <a:t>Les proporciona beneficios económicos</a:t>
            </a:r>
          </a:p>
        </p:txBody>
      </p:sp>
      <p:sp>
        <p:nvSpPr>
          <p:cNvPr id="24" name="Rectángulo: esquinas redondeadas 23">
            <a:extLst>
              <a:ext uri="{FF2B5EF4-FFF2-40B4-BE49-F238E27FC236}">
                <a16:creationId xmlns:a16="http://schemas.microsoft.com/office/drawing/2014/main" id="{84FCCAB9-7711-5EE5-98AD-0E891497351E}"/>
              </a:ext>
            </a:extLst>
          </p:cNvPr>
          <p:cNvSpPr/>
          <p:nvPr/>
        </p:nvSpPr>
        <p:spPr>
          <a:xfrm>
            <a:off x="3892023" y="5201598"/>
            <a:ext cx="4986505"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Que presionen para que se obtengan los máximos beneficios a toda costa</a:t>
            </a:r>
          </a:p>
        </p:txBody>
      </p:sp>
    </p:spTree>
    <p:extLst>
      <p:ext uri="{BB962C8B-B14F-4D97-AF65-F5344CB8AC3E}">
        <p14:creationId xmlns:p14="http://schemas.microsoft.com/office/powerpoint/2010/main" val="1857480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INTERNOS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1976284" cy="522529"/>
          </a:xfrm>
          <a:prstGeom prst="snip2SameRect">
            <a:avLst>
              <a:gd name="adj1" fmla="val 32251"/>
              <a:gd name="adj2" fmla="val 0"/>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EMPLEADOS</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Son el capital humano de la empresa que con sus tareas hacen que funcione</a:t>
            </a:r>
          </a:p>
        </p:txBody>
      </p:sp>
      <p:sp>
        <p:nvSpPr>
          <p:cNvPr id="21" name="CuadroTexto 20">
            <a:extLst>
              <a:ext uri="{FF2B5EF4-FFF2-40B4-BE49-F238E27FC236}">
                <a16:creationId xmlns:a16="http://schemas.microsoft.com/office/drawing/2014/main" id="{ED7014C6-5C8F-7D82-0E00-5C78654D722E}"/>
              </a:ext>
            </a:extLst>
          </p:cNvPr>
          <p:cNvSpPr txBox="1"/>
          <p:nvPr/>
        </p:nvSpPr>
        <p:spPr>
          <a:xfrm>
            <a:off x="3892024" y="3456526"/>
            <a:ext cx="7093976" cy="400110"/>
          </a:xfrm>
          <a:prstGeom prst="rect">
            <a:avLst/>
          </a:prstGeom>
          <a:noFill/>
        </p:spPr>
        <p:txBody>
          <a:bodyPr wrap="square" rtlCol="0">
            <a:spAutoFit/>
          </a:bodyPr>
          <a:lstStyle/>
          <a:p>
            <a:r>
              <a:rPr lang="es-ES" sz="2000" dirty="0"/>
              <a:t>Proporcionan el trabajo necesario para producir y funcionar</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7093976" cy="400110"/>
          </a:xfrm>
          <a:prstGeom prst="rect">
            <a:avLst/>
          </a:prstGeom>
          <a:noFill/>
        </p:spPr>
        <p:txBody>
          <a:bodyPr wrap="square" rtlCol="0">
            <a:spAutoFit/>
          </a:bodyPr>
          <a:lstStyle/>
          <a:p>
            <a:r>
              <a:rPr lang="es-ES" sz="2000" dirty="0"/>
              <a:t>Por el salario recibido, la estabilidad, su desarrollo personal, etc.</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Tener una plantilla desmotivada, poco eficiente y débilmente implicada</a:t>
            </a:r>
          </a:p>
        </p:txBody>
      </p:sp>
      <p:pic>
        <p:nvPicPr>
          <p:cNvPr id="6" name="Imagen 5">
            <a:extLst>
              <a:ext uri="{FF2B5EF4-FFF2-40B4-BE49-F238E27FC236}">
                <a16:creationId xmlns:a16="http://schemas.microsoft.com/office/drawing/2014/main" id="{4686AC28-7DCA-3825-7015-CEC5AE156DBC}"/>
              </a:ext>
            </a:extLst>
          </p:cNvPr>
          <p:cNvPicPr>
            <a:picLocks noChangeAspect="1"/>
          </p:cNvPicPr>
          <p:nvPr/>
        </p:nvPicPr>
        <p:blipFill>
          <a:blip r:embed="rId3"/>
          <a:stretch>
            <a:fillRect/>
          </a:stretch>
        </p:blipFill>
        <p:spPr>
          <a:xfrm>
            <a:off x="71428" y="2517292"/>
            <a:ext cx="2730765" cy="2687073"/>
          </a:xfrm>
          <a:prstGeom prst="rect">
            <a:avLst/>
          </a:prstGeom>
        </p:spPr>
      </p:pic>
      <p:sp>
        <p:nvSpPr>
          <p:cNvPr id="3" name="Rectángulo: esquinas redondeadas 2">
            <a:extLst>
              <a:ext uri="{FF2B5EF4-FFF2-40B4-BE49-F238E27FC236}">
                <a16:creationId xmlns:a16="http://schemas.microsoft.com/office/drawing/2014/main" id="{7CD95E00-C0BD-8550-7862-5270837DD6A7}"/>
              </a:ext>
            </a:extLst>
          </p:cNvPr>
          <p:cNvSpPr/>
          <p:nvPr/>
        </p:nvSpPr>
        <p:spPr>
          <a:xfrm>
            <a:off x="3892025" y="1589034"/>
            <a:ext cx="2203976"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8" name="Rectángulo: esquinas redondeadas 7">
            <a:extLst>
              <a:ext uri="{FF2B5EF4-FFF2-40B4-BE49-F238E27FC236}">
                <a16:creationId xmlns:a16="http://schemas.microsoft.com/office/drawing/2014/main" id="{0D593449-77E6-D744-5951-11F7FC4668E1}"/>
              </a:ext>
            </a:extLst>
          </p:cNvPr>
          <p:cNvSpPr/>
          <p:nvPr/>
        </p:nvSpPr>
        <p:spPr>
          <a:xfrm>
            <a:off x="3892024" y="2793222"/>
            <a:ext cx="4426066"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0" name="Rectángulo: esquinas redondeadas 9">
            <a:extLst>
              <a:ext uri="{FF2B5EF4-FFF2-40B4-BE49-F238E27FC236}">
                <a16:creationId xmlns:a16="http://schemas.microsoft.com/office/drawing/2014/main" id="{5B2FF5B5-9319-B3CF-8AD4-CB247125655F}"/>
              </a:ext>
            </a:extLst>
          </p:cNvPr>
          <p:cNvSpPr/>
          <p:nvPr/>
        </p:nvSpPr>
        <p:spPr>
          <a:xfrm>
            <a:off x="3892024" y="3997410"/>
            <a:ext cx="4986505"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1" name="Rectángulo: esquinas redondeadas 10">
            <a:extLst>
              <a:ext uri="{FF2B5EF4-FFF2-40B4-BE49-F238E27FC236}">
                <a16:creationId xmlns:a16="http://schemas.microsoft.com/office/drawing/2014/main" id="{32C7312A-74FD-01CA-9DFE-00E58BCEDBCA}"/>
              </a:ext>
            </a:extLst>
          </p:cNvPr>
          <p:cNvSpPr/>
          <p:nvPr/>
        </p:nvSpPr>
        <p:spPr>
          <a:xfrm>
            <a:off x="3892023" y="5201598"/>
            <a:ext cx="4986505"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1456203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INTERNOS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1976284" cy="522529"/>
          </a:xfrm>
          <a:prstGeom prst="snip2SameRect">
            <a:avLst>
              <a:gd name="adj1" fmla="val 32251"/>
              <a:gd name="adj2" fmla="val 0"/>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DIRECTIVOS</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Las personas que están al mando de la compañía</a:t>
            </a:r>
          </a:p>
        </p:txBody>
      </p:sp>
      <p:sp>
        <p:nvSpPr>
          <p:cNvPr id="21" name="CuadroTexto 20">
            <a:extLst>
              <a:ext uri="{FF2B5EF4-FFF2-40B4-BE49-F238E27FC236}">
                <a16:creationId xmlns:a16="http://schemas.microsoft.com/office/drawing/2014/main" id="{ED7014C6-5C8F-7D82-0E00-5C78654D722E}"/>
              </a:ext>
            </a:extLst>
          </p:cNvPr>
          <p:cNvSpPr txBox="1"/>
          <p:nvPr/>
        </p:nvSpPr>
        <p:spPr>
          <a:xfrm>
            <a:off x="3892024" y="3456526"/>
            <a:ext cx="7093976" cy="400110"/>
          </a:xfrm>
          <a:prstGeom prst="rect">
            <a:avLst/>
          </a:prstGeom>
          <a:noFill/>
        </p:spPr>
        <p:txBody>
          <a:bodyPr wrap="square" rtlCol="0">
            <a:spAutoFit/>
          </a:bodyPr>
          <a:lstStyle/>
          <a:p>
            <a:r>
              <a:rPr lang="es-ES" sz="2000" dirty="0"/>
              <a:t>Toman las decisiones y definen las estrategias de funcionamiento</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3" y="4673238"/>
            <a:ext cx="7093976" cy="400110"/>
          </a:xfrm>
          <a:prstGeom prst="rect">
            <a:avLst/>
          </a:prstGeom>
          <a:noFill/>
        </p:spPr>
        <p:txBody>
          <a:bodyPr wrap="square" rtlCol="0">
            <a:spAutoFit/>
          </a:bodyPr>
          <a:lstStyle/>
          <a:p>
            <a:r>
              <a:rPr lang="es-ES" sz="2000" dirty="0"/>
              <a:t>Por la retribución, prestigio profesional, satisfacción personal, etc.</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Que sus intereses personales estén por encima de los de la empresa</a:t>
            </a:r>
          </a:p>
        </p:txBody>
      </p:sp>
      <p:pic>
        <p:nvPicPr>
          <p:cNvPr id="8" name="Imagen 7">
            <a:extLst>
              <a:ext uri="{FF2B5EF4-FFF2-40B4-BE49-F238E27FC236}">
                <a16:creationId xmlns:a16="http://schemas.microsoft.com/office/drawing/2014/main" id="{5820F4BD-9149-2D4C-2889-ECB87AE97D41}"/>
              </a:ext>
            </a:extLst>
          </p:cNvPr>
          <p:cNvPicPr>
            <a:picLocks noChangeAspect="1"/>
          </p:cNvPicPr>
          <p:nvPr/>
        </p:nvPicPr>
        <p:blipFill>
          <a:blip r:embed="rId3"/>
          <a:stretch>
            <a:fillRect/>
          </a:stretch>
        </p:blipFill>
        <p:spPr>
          <a:xfrm>
            <a:off x="19971" y="2574447"/>
            <a:ext cx="2841216" cy="2498901"/>
          </a:xfrm>
          <a:prstGeom prst="rect">
            <a:avLst/>
          </a:prstGeom>
        </p:spPr>
      </p:pic>
      <p:sp>
        <p:nvSpPr>
          <p:cNvPr id="3" name="Rectángulo: esquinas redondeadas 2">
            <a:extLst>
              <a:ext uri="{FF2B5EF4-FFF2-40B4-BE49-F238E27FC236}">
                <a16:creationId xmlns:a16="http://schemas.microsoft.com/office/drawing/2014/main" id="{F6634EE0-9B08-EA4B-2751-A7AB3B54E948}"/>
              </a:ext>
            </a:extLst>
          </p:cNvPr>
          <p:cNvSpPr/>
          <p:nvPr/>
        </p:nvSpPr>
        <p:spPr>
          <a:xfrm>
            <a:off x="3892025" y="1589034"/>
            <a:ext cx="2203976"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6" name="Rectángulo: esquinas redondeadas 5">
            <a:extLst>
              <a:ext uri="{FF2B5EF4-FFF2-40B4-BE49-F238E27FC236}">
                <a16:creationId xmlns:a16="http://schemas.microsoft.com/office/drawing/2014/main" id="{0175B321-6AF7-A446-2502-5E30F0DBB48A}"/>
              </a:ext>
            </a:extLst>
          </p:cNvPr>
          <p:cNvSpPr/>
          <p:nvPr/>
        </p:nvSpPr>
        <p:spPr>
          <a:xfrm>
            <a:off x="3892024" y="2793222"/>
            <a:ext cx="4426066"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0" name="Rectángulo: esquinas redondeadas 9">
            <a:extLst>
              <a:ext uri="{FF2B5EF4-FFF2-40B4-BE49-F238E27FC236}">
                <a16:creationId xmlns:a16="http://schemas.microsoft.com/office/drawing/2014/main" id="{E6D4CE9B-DED8-ECF3-EAE7-526281805E8F}"/>
              </a:ext>
            </a:extLst>
          </p:cNvPr>
          <p:cNvSpPr/>
          <p:nvPr/>
        </p:nvSpPr>
        <p:spPr>
          <a:xfrm>
            <a:off x="3892024" y="3997410"/>
            <a:ext cx="4986505"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1" name="Rectángulo: esquinas redondeadas 10">
            <a:extLst>
              <a:ext uri="{FF2B5EF4-FFF2-40B4-BE49-F238E27FC236}">
                <a16:creationId xmlns:a16="http://schemas.microsoft.com/office/drawing/2014/main" id="{740DA430-BC8C-F9FC-A37B-EB4968712958}"/>
              </a:ext>
            </a:extLst>
          </p:cNvPr>
          <p:cNvSpPr/>
          <p:nvPr/>
        </p:nvSpPr>
        <p:spPr>
          <a:xfrm>
            <a:off x="3892023" y="5201598"/>
            <a:ext cx="4986505" cy="522530"/>
          </a:xfrm>
          <a:prstGeom prst="roundRect">
            <a:avLst>
              <a:gd name="adj" fmla="val 19902"/>
            </a:avLst>
          </a:prstGeom>
          <a:solidFill>
            <a:srgbClr val="C0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206174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a:t>
            </a:r>
            <a:r>
              <a:rPr lang="es-ES" sz="3600" b="1" kern="0" dirty="0">
                <a:latin typeface="Calibri" panose="020F0502020204030204" pitchFamily="34" charset="0"/>
                <a:ea typeface="Times New Roman" panose="02020603050405020304" pitchFamily="18" charset="0"/>
                <a:cs typeface="Times New Roman" panose="02020603050405020304" pitchFamily="18" charset="0"/>
              </a:rPr>
              <a:t>EX</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1976284" cy="522529"/>
          </a:xfrm>
          <a:prstGeom prst="snip2SameRect">
            <a:avLst>
              <a:gd name="adj1" fmla="val 32251"/>
              <a:gd name="adj2" fmla="val 0"/>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CLIENTES</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Usuarios de los productos y servicios que ofrece la empresa</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7818194" cy="400110"/>
          </a:xfrm>
          <a:prstGeom prst="rect">
            <a:avLst/>
          </a:prstGeom>
          <a:noFill/>
        </p:spPr>
        <p:txBody>
          <a:bodyPr wrap="square" rtlCol="0">
            <a:spAutoFit/>
          </a:bodyPr>
          <a:lstStyle/>
          <a:p>
            <a:r>
              <a:rPr lang="es-ES" sz="2000" dirty="0"/>
              <a:t>Por las características de los productos: calidad, precio, servicio, etc. </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Decantarse por productos de la competencia, dar referencias negativas</a:t>
            </a:r>
          </a:p>
        </p:txBody>
      </p:sp>
      <p:pic>
        <p:nvPicPr>
          <p:cNvPr id="6" name="Imagen 5">
            <a:extLst>
              <a:ext uri="{FF2B5EF4-FFF2-40B4-BE49-F238E27FC236}">
                <a16:creationId xmlns:a16="http://schemas.microsoft.com/office/drawing/2014/main" id="{F7078339-B751-F55C-1CA1-E0440E964EA6}"/>
              </a:ext>
            </a:extLst>
          </p:cNvPr>
          <p:cNvPicPr>
            <a:picLocks noChangeAspect="1"/>
          </p:cNvPicPr>
          <p:nvPr/>
        </p:nvPicPr>
        <p:blipFill>
          <a:blip r:embed="rId3"/>
          <a:stretch>
            <a:fillRect/>
          </a:stretch>
        </p:blipFill>
        <p:spPr>
          <a:xfrm>
            <a:off x="205125" y="2652448"/>
            <a:ext cx="2523327" cy="3387291"/>
          </a:xfrm>
          <a:prstGeom prst="rect">
            <a:avLst/>
          </a:prstGeom>
        </p:spPr>
      </p:pic>
      <p:sp>
        <p:nvSpPr>
          <p:cNvPr id="10" name="CuadroTexto 9">
            <a:extLst>
              <a:ext uri="{FF2B5EF4-FFF2-40B4-BE49-F238E27FC236}">
                <a16:creationId xmlns:a16="http://schemas.microsoft.com/office/drawing/2014/main" id="{EC6E46EA-B76E-8A7F-84CA-04578A6DE2A4}"/>
              </a:ext>
            </a:extLst>
          </p:cNvPr>
          <p:cNvSpPr txBox="1"/>
          <p:nvPr/>
        </p:nvSpPr>
        <p:spPr>
          <a:xfrm>
            <a:off x="3892022" y="3467526"/>
            <a:ext cx="8228549" cy="400110"/>
          </a:xfrm>
          <a:prstGeom prst="rect">
            <a:avLst/>
          </a:prstGeom>
          <a:noFill/>
        </p:spPr>
        <p:txBody>
          <a:bodyPr wrap="square" rtlCol="0">
            <a:spAutoFit/>
          </a:bodyPr>
          <a:lstStyle/>
          <a:p>
            <a:r>
              <a:rPr lang="es-ES" sz="2000" dirty="0"/>
              <a:t>Compran y/o contratan los productos objeto de negocio de la empresa</a:t>
            </a:r>
          </a:p>
        </p:txBody>
      </p:sp>
      <p:sp>
        <p:nvSpPr>
          <p:cNvPr id="3" name="Rectángulo: esquinas redondeadas 2">
            <a:extLst>
              <a:ext uri="{FF2B5EF4-FFF2-40B4-BE49-F238E27FC236}">
                <a16:creationId xmlns:a16="http://schemas.microsoft.com/office/drawing/2014/main" id="{21F2E9CD-4A40-2AAF-C338-514701D45406}"/>
              </a:ext>
            </a:extLst>
          </p:cNvPr>
          <p:cNvSpPr/>
          <p:nvPr/>
        </p:nvSpPr>
        <p:spPr>
          <a:xfrm>
            <a:off x="3892025" y="1589034"/>
            <a:ext cx="220397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8" name="Rectángulo: esquinas redondeadas 7">
            <a:extLst>
              <a:ext uri="{FF2B5EF4-FFF2-40B4-BE49-F238E27FC236}">
                <a16:creationId xmlns:a16="http://schemas.microsoft.com/office/drawing/2014/main" id="{32472D02-9C0C-8785-9EBF-4C552440A9CA}"/>
              </a:ext>
            </a:extLst>
          </p:cNvPr>
          <p:cNvSpPr/>
          <p:nvPr/>
        </p:nvSpPr>
        <p:spPr>
          <a:xfrm>
            <a:off x="3892024" y="2793222"/>
            <a:ext cx="442606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1" name="Rectángulo: esquinas redondeadas 10">
            <a:extLst>
              <a:ext uri="{FF2B5EF4-FFF2-40B4-BE49-F238E27FC236}">
                <a16:creationId xmlns:a16="http://schemas.microsoft.com/office/drawing/2014/main" id="{FB337FE3-35C5-5CB1-3484-E08C93B05C29}"/>
              </a:ext>
            </a:extLst>
          </p:cNvPr>
          <p:cNvSpPr/>
          <p:nvPr/>
        </p:nvSpPr>
        <p:spPr>
          <a:xfrm>
            <a:off x="3892024" y="3997410"/>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4" name="Rectángulo: esquinas redondeadas 13">
            <a:extLst>
              <a:ext uri="{FF2B5EF4-FFF2-40B4-BE49-F238E27FC236}">
                <a16:creationId xmlns:a16="http://schemas.microsoft.com/office/drawing/2014/main" id="{18CF3235-3C86-24F7-64DB-D79090A578D4}"/>
              </a:ext>
            </a:extLst>
          </p:cNvPr>
          <p:cNvSpPr/>
          <p:nvPr/>
        </p:nvSpPr>
        <p:spPr>
          <a:xfrm>
            <a:off x="3892023" y="5201598"/>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325865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a:t>
            </a:r>
            <a:r>
              <a:rPr lang="es-ES" sz="3600" b="1" kern="0" dirty="0">
                <a:latin typeface="Calibri" panose="020F0502020204030204" pitchFamily="34" charset="0"/>
                <a:ea typeface="Times New Roman" panose="02020603050405020304" pitchFamily="18" charset="0"/>
                <a:cs typeface="Times New Roman" panose="02020603050405020304" pitchFamily="18" charset="0"/>
              </a:rPr>
              <a:t>EX</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1976284" cy="522529"/>
          </a:xfrm>
          <a:prstGeom prst="snip2SameRect">
            <a:avLst>
              <a:gd name="adj1" fmla="val 32251"/>
              <a:gd name="adj2" fmla="val 0"/>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PROVEEDORES</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Son empresas que suministran materias primas y otros productos</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8126268" cy="400110"/>
          </a:xfrm>
          <a:prstGeom prst="rect">
            <a:avLst/>
          </a:prstGeom>
          <a:noFill/>
        </p:spPr>
        <p:txBody>
          <a:bodyPr wrap="square" rtlCol="0">
            <a:spAutoFit/>
          </a:bodyPr>
          <a:lstStyle/>
          <a:p>
            <a:r>
              <a:rPr lang="es-ES" sz="2000" dirty="0"/>
              <a:t>Por el tipo de relación: fiabilidad, regularidad, volumen, pronto pago, precio</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Incumplimiento de plazos, productos de mala calidad, precios elevados</a:t>
            </a:r>
          </a:p>
        </p:txBody>
      </p:sp>
      <p:sp>
        <p:nvSpPr>
          <p:cNvPr id="10" name="CuadroTexto 9">
            <a:extLst>
              <a:ext uri="{FF2B5EF4-FFF2-40B4-BE49-F238E27FC236}">
                <a16:creationId xmlns:a16="http://schemas.microsoft.com/office/drawing/2014/main" id="{EC6E46EA-B76E-8A7F-84CA-04578A6DE2A4}"/>
              </a:ext>
            </a:extLst>
          </p:cNvPr>
          <p:cNvSpPr txBox="1"/>
          <p:nvPr/>
        </p:nvSpPr>
        <p:spPr>
          <a:xfrm>
            <a:off x="3892022" y="3467526"/>
            <a:ext cx="8228549" cy="400110"/>
          </a:xfrm>
          <a:prstGeom prst="rect">
            <a:avLst/>
          </a:prstGeom>
          <a:noFill/>
        </p:spPr>
        <p:txBody>
          <a:bodyPr wrap="square" rtlCol="0">
            <a:spAutoFit/>
          </a:bodyPr>
          <a:lstStyle/>
          <a:p>
            <a:r>
              <a:rPr lang="es-ES" sz="2000" dirty="0"/>
              <a:t>Proveen de los recursos necesarios para el funcionamiento de su negocio</a:t>
            </a:r>
          </a:p>
        </p:txBody>
      </p:sp>
      <p:pic>
        <p:nvPicPr>
          <p:cNvPr id="8" name="Imagen 7">
            <a:extLst>
              <a:ext uri="{FF2B5EF4-FFF2-40B4-BE49-F238E27FC236}">
                <a16:creationId xmlns:a16="http://schemas.microsoft.com/office/drawing/2014/main" id="{473C0356-3073-EB1A-33F0-91811DEF34F5}"/>
              </a:ext>
            </a:extLst>
          </p:cNvPr>
          <p:cNvPicPr>
            <a:picLocks noChangeAspect="1"/>
          </p:cNvPicPr>
          <p:nvPr/>
        </p:nvPicPr>
        <p:blipFill>
          <a:blip r:embed="rId3"/>
          <a:stretch>
            <a:fillRect/>
          </a:stretch>
        </p:blipFill>
        <p:spPr>
          <a:xfrm>
            <a:off x="173708" y="2793222"/>
            <a:ext cx="2582321" cy="2582321"/>
          </a:xfrm>
          <a:prstGeom prst="rect">
            <a:avLst/>
          </a:prstGeom>
        </p:spPr>
      </p:pic>
      <p:sp>
        <p:nvSpPr>
          <p:cNvPr id="3" name="Rectángulo: esquinas redondeadas 2">
            <a:extLst>
              <a:ext uri="{FF2B5EF4-FFF2-40B4-BE49-F238E27FC236}">
                <a16:creationId xmlns:a16="http://schemas.microsoft.com/office/drawing/2014/main" id="{1B9CCA1F-5A88-A2D8-C333-9B27A61E70C8}"/>
              </a:ext>
            </a:extLst>
          </p:cNvPr>
          <p:cNvSpPr/>
          <p:nvPr/>
        </p:nvSpPr>
        <p:spPr>
          <a:xfrm>
            <a:off x="3892025" y="1589034"/>
            <a:ext cx="220397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6" name="Rectángulo: esquinas redondeadas 5">
            <a:extLst>
              <a:ext uri="{FF2B5EF4-FFF2-40B4-BE49-F238E27FC236}">
                <a16:creationId xmlns:a16="http://schemas.microsoft.com/office/drawing/2014/main" id="{C5152C7C-B862-3513-E93C-55C47ABAD935}"/>
              </a:ext>
            </a:extLst>
          </p:cNvPr>
          <p:cNvSpPr/>
          <p:nvPr/>
        </p:nvSpPr>
        <p:spPr>
          <a:xfrm>
            <a:off x="3892024" y="2793222"/>
            <a:ext cx="442606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1" name="Rectángulo: esquinas redondeadas 10">
            <a:extLst>
              <a:ext uri="{FF2B5EF4-FFF2-40B4-BE49-F238E27FC236}">
                <a16:creationId xmlns:a16="http://schemas.microsoft.com/office/drawing/2014/main" id="{029AA351-9C90-2488-5BAA-0C61E5573E44}"/>
              </a:ext>
            </a:extLst>
          </p:cNvPr>
          <p:cNvSpPr/>
          <p:nvPr/>
        </p:nvSpPr>
        <p:spPr>
          <a:xfrm>
            <a:off x="3892024" y="3997410"/>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4" name="Rectángulo: esquinas redondeadas 13">
            <a:extLst>
              <a:ext uri="{FF2B5EF4-FFF2-40B4-BE49-F238E27FC236}">
                <a16:creationId xmlns:a16="http://schemas.microsoft.com/office/drawing/2014/main" id="{3FD2AA92-054E-3B2E-5B2C-5F90BF7B7972}"/>
              </a:ext>
            </a:extLst>
          </p:cNvPr>
          <p:cNvSpPr/>
          <p:nvPr/>
        </p:nvSpPr>
        <p:spPr>
          <a:xfrm>
            <a:off x="3892023" y="5201598"/>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3924785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a:t>
            </a:r>
            <a:r>
              <a:rPr lang="es-ES" sz="3600" b="1" kern="0" dirty="0">
                <a:latin typeface="Calibri" panose="020F0502020204030204" pitchFamily="34" charset="0"/>
                <a:ea typeface="Times New Roman" panose="02020603050405020304" pitchFamily="18" charset="0"/>
                <a:cs typeface="Times New Roman" panose="02020603050405020304" pitchFamily="18" charset="0"/>
              </a:rPr>
              <a:t>EX</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2074744" cy="522529"/>
          </a:xfrm>
          <a:prstGeom prst="snip2SameRect">
            <a:avLst>
              <a:gd name="adj1" fmla="val 32251"/>
              <a:gd name="adj2" fmla="val 0"/>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COMPETIDORES</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Otras empresas que ofrecen los mimos productos y servicios</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8126268" cy="400110"/>
          </a:xfrm>
          <a:prstGeom prst="rect">
            <a:avLst/>
          </a:prstGeom>
          <a:noFill/>
        </p:spPr>
        <p:txBody>
          <a:bodyPr wrap="square" rtlCol="0">
            <a:spAutoFit/>
          </a:bodyPr>
          <a:lstStyle/>
          <a:p>
            <a:r>
              <a:rPr lang="es-ES" sz="2000" dirty="0"/>
              <a:t>Por el tipo de competencia que ejercen: desleal, colaborativa, etc.</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Que le arrebaten clientes</a:t>
            </a:r>
          </a:p>
        </p:txBody>
      </p:sp>
      <p:sp>
        <p:nvSpPr>
          <p:cNvPr id="10" name="CuadroTexto 9">
            <a:extLst>
              <a:ext uri="{FF2B5EF4-FFF2-40B4-BE49-F238E27FC236}">
                <a16:creationId xmlns:a16="http://schemas.microsoft.com/office/drawing/2014/main" id="{EC6E46EA-B76E-8A7F-84CA-04578A6DE2A4}"/>
              </a:ext>
            </a:extLst>
          </p:cNvPr>
          <p:cNvSpPr txBox="1"/>
          <p:nvPr/>
        </p:nvSpPr>
        <p:spPr>
          <a:xfrm>
            <a:off x="3892022" y="3467526"/>
            <a:ext cx="8228549" cy="400110"/>
          </a:xfrm>
          <a:prstGeom prst="rect">
            <a:avLst/>
          </a:prstGeom>
          <a:noFill/>
        </p:spPr>
        <p:txBody>
          <a:bodyPr wrap="square" rtlCol="0">
            <a:spAutoFit/>
          </a:bodyPr>
          <a:lstStyle/>
          <a:p>
            <a:r>
              <a:rPr lang="es-ES" sz="2000" dirty="0"/>
              <a:t>En sus precios, reputación, imagen de marca, políticas comerciales</a:t>
            </a:r>
          </a:p>
        </p:txBody>
      </p:sp>
      <p:pic>
        <p:nvPicPr>
          <p:cNvPr id="6" name="Imagen 5">
            <a:extLst>
              <a:ext uri="{FF2B5EF4-FFF2-40B4-BE49-F238E27FC236}">
                <a16:creationId xmlns:a16="http://schemas.microsoft.com/office/drawing/2014/main" id="{D1F8FA66-C78D-EBBD-601C-2547BC14A0A7}"/>
              </a:ext>
            </a:extLst>
          </p:cNvPr>
          <p:cNvPicPr>
            <a:picLocks noChangeAspect="1"/>
          </p:cNvPicPr>
          <p:nvPr/>
        </p:nvPicPr>
        <p:blipFill>
          <a:blip r:embed="rId3"/>
          <a:stretch>
            <a:fillRect/>
          </a:stretch>
        </p:blipFill>
        <p:spPr>
          <a:xfrm>
            <a:off x="5870" y="2771925"/>
            <a:ext cx="3141407" cy="1811169"/>
          </a:xfrm>
          <a:prstGeom prst="rect">
            <a:avLst/>
          </a:prstGeom>
        </p:spPr>
      </p:pic>
      <p:sp>
        <p:nvSpPr>
          <p:cNvPr id="3" name="Rectángulo: esquinas redondeadas 2">
            <a:extLst>
              <a:ext uri="{FF2B5EF4-FFF2-40B4-BE49-F238E27FC236}">
                <a16:creationId xmlns:a16="http://schemas.microsoft.com/office/drawing/2014/main" id="{068F48BD-E747-C8B2-1E0E-B0D8499CCAF5}"/>
              </a:ext>
            </a:extLst>
          </p:cNvPr>
          <p:cNvSpPr/>
          <p:nvPr/>
        </p:nvSpPr>
        <p:spPr>
          <a:xfrm>
            <a:off x="3892025" y="1589034"/>
            <a:ext cx="220397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8" name="Rectángulo: esquinas redondeadas 7">
            <a:extLst>
              <a:ext uri="{FF2B5EF4-FFF2-40B4-BE49-F238E27FC236}">
                <a16:creationId xmlns:a16="http://schemas.microsoft.com/office/drawing/2014/main" id="{564CC15A-6500-1DE6-1B5E-3293B0CB1403}"/>
              </a:ext>
            </a:extLst>
          </p:cNvPr>
          <p:cNvSpPr/>
          <p:nvPr/>
        </p:nvSpPr>
        <p:spPr>
          <a:xfrm>
            <a:off x="3892024" y="2793222"/>
            <a:ext cx="442606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1" name="Rectángulo: esquinas redondeadas 10">
            <a:extLst>
              <a:ext uri="{FF2B5EF4-FFF2-40B4-BE49-F238E27FC236}">
                <a16:creationId xmlns:a16="http://schemas.microsoft.com/office/drawing/2014/main" id="{B77579A0-6DC1-075C-4350-C9DBF2600081}"/>
              </a:ext>
            </a:extLst>
          </p:cNvPr>
          <p:cNvSpPr/>
          <p:nvPr/>
        </p:nvSpPr>
        <p:spPr>
          <a:xfrm>
            <a:off x="3892024" y="3997410"/>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4" name="Rectángulo: esquinas redondeadas 13">
            <a:extLst>
              <a:ext uri="{FF2B5EF4-FFF2-40B4-BE49-F238E27FC236}">
                <a16:creationId xmlns:a16="http://schemas.microsoft.com/office/drawing/2014/main" id="{6DC164FD-CB06-5025-F083-103DB5F555EE}"/>
              </a:ext>
            </a:extLst>
          </p:cNvPr>
          <p:cNvSpPr/>
          <p:nvPr/>
        </p:nvSpPr>
        <p:spPr>
          <a:xfrm>
            <a:off x="3892023" y="5201598"/>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2692304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a:t>
            </a:r>
            <a:r>
              <a:rPr lang="es-ES" sz="3600" b="1" kern="0" dirty="0">
                <a:latin typeface="Calibri" panose="020F0502020204030204" pitchFamily="34" charset="0"/>
                <a:ea typeface="Times New Roman" panose="02020603050405020304" pitchFamily="18" charset="0"/>
                <a:cs typeface="Times New Roman" panose="02020603050405020304" pitchFamily="18" charset="0"/>
              </a:rPr>
              <a:t>EX</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2074744" cy="522529"/>
          </a:xfrm>
          <a:prstGeom prst="snip2SameRect">
            <a:avLst>
              <a:gd name="adj1" fmla="val 32251"/>
              <a:gd name="adj2" fmla="val 0"/>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BANCOS</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Entidades que realizan préstamos, ofrecen intereses por los depósitos, etc.</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8126268" cy="400110"/>
          </a:xfrm>
          <a:prstGeom prst="rect">
            <a:avLst/>
          </a:prstGeom>
          <a:noFill/>
        </p:spPr>
        <p:txBody>
          <a:bodyPr wrap="square" rtlCol="0">
            <a:spAutoFit/>
          </a:bodyPr>
          <a:lstStyle/>
          <a:p>
            <a:r>
              <a:rPr lang="es-ES" sz="2000" dirty="0"/>
              <a:t>Por su relación de fidelidad, volumen de negocio y de capital, etc.</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Intereses elevados, les nieguen financiación</a:t>
            </a:r>
          </a:p>
        </p:txBody>
      </p:sp>
      <p:sp>
        <p:nvSpPr>
          <p:cNvPr id="10" name="CuadroTexto 9">
            <a:extLst>
              <a:ext uri="{FF2B5EF4-FFF2-40B4-BE49-F238E27FC236}">
                <a16:creationId xmlns:a16="http://schemas.microsoft.com/office/drawing/2014/main" id="{EC6E46EA-B76E-8A7F-84CA-04578A6DE2A4}"/>
              </a:ext>
            </a:extLst>
          </p:cNvPr>
          <p:cNvSpPr txBox="1"/>
          <p:nvPr/>
        </p:nvSpPr>
        <p:spPr>
          <a:xfrm>
            <a:off x="3892022" y="3467526"/>
            <a:ext cx="8299978" cy="400110"/>
          </a:xfrm>
          <a:prstGeom prst="rect">
            <a:avLst/>
          </a:prstGeom>
          <a:noFill/>
        </p:spPr>
        <p:txBody>
          <a:bodyPr wrap="square" rtlCol="0">
            <a:spAutoFit/>
          </a:bodyPr>
          <a:lstStyle/>
          <a:p>
            <a:r>
              <a:rPr lang="es-ES" sz="2000" dirty="0"/>
              <a:t>Le proporcionan financiación y rentabilidad, custodian su dinero y operaciones</a:t>
            </a:r>
          </a:p>
        </p:txBody>
      </p:sp>
      <p:pic>
        <p:nvPicPr>
          <p:cNvPr id="8" name="Imagen 7">
            <a:extLst>
              <a:ext uri="{FF2B5EF4-FFF2-40B4-BE49-F238E27FC236}">
                <a16:creationId xmlns:a16="http://schemas.microsoft.com/office/drawing/2014/main" id="{B9F957A6-5D54-0774-E44D-AB1E00049F76}"/>
              </a:ext>
            </a:extLst>
          </p:cNvPr>
          <p:cNvPicPr>
            <a:picLocks noChangeAspect="1"/>
          </p:cNvPicPr>
          <p:nvPr/>
        </p:nvPicPr>
        <p:blipFill>
          <a:blip r:embed="rId3"/>
          <a:stretch>
            <a:fillRect/>
          </a:stretch>
        </p:blipFill>
        <p:spPr>
          <a:xfrm>
            <a:off x="0" y="2765471"/>
            <a:ext cx="3141407" cy="2697392"/>
          </a:xfrm>
          <a:prstGeom prst="rect">
            <a:avLst/>
          </a:prstGeom>
        </p:spPr>
      </p:pic>
      <p:sp>
        <p:nvSpPr>
          <p:cNvPr id="3" name="Rectángulo: esquinas redondeadas 2">
            <a:extLst>
              <a:ext uri="{FF2B5EF4-FFF2-40B4-BE49-F238E27FC236}">
                <a16:creationId xmlns:a16="http://schemas.microsoft.com/office/drawing/2014/main" id="{DB0865D6-3742-BBC1-B907-2445B89EE571}"/>
              </a:ext>
            </a:extLst>
          </p:cNvPr>
          <p:cNvSpPr/>
          <p:nvPr/>
        </p:nvSpPr>
        <p:spPr>
          <a:xfrm>
            <a:off x="3892025" y="1589034"/>
            <a:ext cx="220397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6" name="Rectángulo: esquinas redondeadas 5">
            <a:extLst>
              <a:ext uri="{FF2B5EF4-FFF2-40B4-BE49-F238E27FC236}">
                <a16:creationId xmlns:a16="http://schemas.microsoft.com/office/drawing/2014/main" id="{AA1C0729-004B-54C4-6B95-264186359CDC}"/>
              </a:ext>
            </a:extLst>
          </p:cNvPr>
          <p:cNvSpPr/>
          <p:nvPr/>
        </p:nvSpPr>
        <p:spPr>
          <a:xfrm>
            <a:off x="3892024" y="2793222"/>
            <a:ext cx="442606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1" name="Rectángulo: esquinas redondeadas 10">
            <a:extLst>
              <a:ext uri="{FF2B5EF4-FFF2-40B4-BE49-F238E27FC236}">
                <a16:creationId xmlns:a16="http://schemas.microsoft.com/office/drawing/2014/main" id="{2C57E943-20B4-5FD2-896A-F6FB4E86BC32}"/>
              </a:ext>
            </a:extLst>
          </p:cNvPr>
          <p:cNvSpPr/>
          <p:nvPr/>
        </p:nvSpPr>
        <p:spPr>
          <a:xfrm>
            <a:off x="3892024" y="3997410"/>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4" name="Rectángulo: esquinas redondeadas 13">
            <a:extLst>
              <a:ext uri="{FF2B5EF4-FFF2-40B4-BE49-F238E27FC236}">
                <a16:creationId xmlns:a16="http://schemas.microsoft.com/office/drawing/2014/main" id="{C4085130-1D75-BB90-4FF0-F033F1B9BF67}"/>
              </a:ext>
            </a:extLst>
          </p:cNvPr>
          <p:cNvSpPr/>
          <p:nvPr/>
        </p:nvSpPr>
        <p:spPr>
          <a:xfrm>
            <a:off x="3892023" y="5201598"/>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1156589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a:t>
            </a:r>
            <a:r>
              <a:rPr lang="es-ES" sz="3600" b="1" kern="0" dirty="0">
                <a:latin typeface="Calibri" panose="020F0502020204030204" pitchFamily="34" charset="0"/>
                <a:ea typeface="Times New Roman" panose="02020603050405020304" pitchFamily="18" charset="0"/>
                <a:cs typeface="Times New Roman" panose="02020603050405020304" pitchFamily="18" charset="0"/>
              </a:rPr>
              <a:t>EX</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2074744" cy="522529"/>
          </a:xfrm>
          <a:prstGeom prst="snip2SameRect">
            <a:avLst>
              <a:gd name="adj1" fmla="val 32251"/>
              <a:gd name="adj2" fmla="val 0"/>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SOCIEDAD</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La comunidad o habitantes del área geográfica en la que opera la empresa</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8126268" cy="400110"/>
          </a:xfrm>
          <a:prstGeom prst="rect">
            <a:avLst/>
          </a:prstGeom>
          <a:noFill/>
        </p:spPr>
        <p:txBody>
          <a:bodyPr wrap="square" rtlCol="0">
            <a:spAutoFit/>
          </a:bodyPr>
          <a:lstStyle/>
          <a:p>
            <a:r>
              <a:rPr lang="es-ES" sz="2000" dirty="0"/>
              <a:t>Desarrollo económico, innovación tecnológica, impacto ambiental, etc.</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Reputacional, cambio en las preferencias, exigencias medioambientales</a:t>
            </a:r>
          </a:p>
        </p:txBody>
      </p:sp>
      <p:sp>
        <p:nvSpPr>
          <p:cNvPr id="10" name="CuadroTexto 9">
            <a:extLst>
              <a:ext uri="{FF2B5EF4-FFF2-40B4-BE49-F238E27FC236}">
                <a16:creationId xmlns:a16="http://schemas.microsoft.com/office/drawing/2014/main" id="{EC6E46EA-B76E-8A7F-84CA-04578A6DE2A4}"/>
              </a:ext>
            </a:extLst>
          </p:cNvPr>
          <p:cNvSpPr txBox="1"/>
          <p:nvPr/>
        </p:nvSpPr>
        <p:spPr>
          <a:xfrm>
            <a:off x="3892022" y="3467526"/>
            <a:ext cx="8299978" cy="400110"/>
          </a:xfrm>
          <a:prstGeom prst="rect">
            <a:avLst/>
          </a:prstGeom>
          <a:noFill/>
        </p:spPr>
        <p:txBody>
          <a:bodyPr wrap="square" rtlCol="0">
            <a:spAutoFit/>
          </a:bodyPr>
          <a:lstStyle/>
          <a:p>
            <a:r>
              <a:rPr lang="es-ES" sz="2000" dirty="0"/>
              <a:t>Sus costumbres, necesidades expectativas y demandas, </a:t>
            </a:r>
          </a:p>
        </p:txBody>
      </p:sp>
      <p:pic>
        <p:nvPicPr>
          <p:cNvPr id="6" name="Imagen 5">
            <a:extLst>
              <a:ext uri="{FF2B5EF4-FFF2-40B4-BE49-F238E27FC236}">
                <a16:creationId xmlns:a16="http://schemas.microsoft.com/office/drawing/2014/main" id="{6F5B9823-DFD0-CE6A-D16E-1035DB3C856C}"/>
              </a:ext>
            </a:extLst>
          </p:cNvPr>
          <p:cNvPicPr>
            <a:picLocks noChangeAspect="1"/>
          </p:cNvPicPr>
          <p:nvPr/>
        </p:nvPicPr>
        <p:blipFill>
          <a:blip r:embed="rId3"/>
          <a:stretch>
            <a:fillRect/>
          </a:stretch>
        </p:blipFill>
        <p:spPr>
          <a:xfrm>
            <a:off x="0" y="2785407"/>
            <a:ext cx="3141407" cy="2758874"/>
          </a:xfrm>
          <a:prstGeom prst="rect">
            <a:avLst/>
          </a:prstGeom>
        </p:spPr>
      </p:pic>
      <p:sp>
        <p:nvSpPr>
          <p:cNvPr id="3" name="Rectángulo: esquinas redondeadas 2">
            <a:extLst>
              <a:ext uri="{FF2B5EF4-FFF2-40B4-BE49-F238E27FC236}">
                <a16:creationId xmlns:a16="http://schemas.microsoft.com/office/drawing/2014/main" id="{BB78A8F2-9335-5AEB-93B5-2E51C5A191B6}"/>
              </a:ext>
            </a:extLst>
          </p:cNvPr>
          <p:cNvSpPr/>
          <p:nvPr/>
        </p:nvSpPr>
        <p:spPr>
          <a:xfrm>
            <a:off x="3892025" y="1589034"/>
            <a:ext cx="220397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8" name="Rectángulo: esquinas redondeadas 7">
            <a:extLst>
              <a:ext uri="{FF2B5EF4-FFF2-40B4-BE49-F238E27FC236}">
                <a16:creationId xmlns:a16="http://schemas.microsoft.com/office/drawing/2014/main" id="{ABA4071C-7F51-B3B8-7249-3972264CF8B5}"/>
              </a:ext>
            </a:extLst>
          </p:cNvPr>
          <p:cNvSpPr/>
          <p:nvPr/>
        </p:nvSpPr>
        <p:spPr>
          <a:xfrm>
            <a:off x="3892024" y="2793222"/>
            <a:ext cx="442606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1" name="Rectángulo: esquinas redondeadas 10">
            <a:extLst>
              <a:ext uri="{FF2B5EF4-FFF2-40B4-BE49-F238E27FC236}">
                <a16:creationId xmlns:a16="http://schemas.microsoft.com/office/drawing/2014/main" id="{D08A58D8-BDFB-CFC0-A66D-A36EBB9660EE}"/>
              </a:ext>
            </a:extLst>
          </p:cNvPr>
          <p:cNvSpPr/>
          <p:nvPr/>
        </p:nvSpPr>
        <p:spPr>
          <a:xfrm>
            <a:off x="3892024" y="3997410"/>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4" name="Rectángulo: esquinas redondeadas 13">
            <a:extLst>
              <a:ext uri="{FF2B5EF4-FFF2-40B4-BE49-F238E27FC236}">
                <a16:creationId xmlns:a16="http://schemas.microsoft.com/office/drawing/2014/main" id="{80C8B35D-7DA3-BE14-5D47-E784B0FF7DB5}"/>
              </a:ext>
            </a:extLst>
          </p:cNvPr>
          <p:cNvSpPr/>
          <p:nvPr/>
        </p:nvSpPr>
        <p:spPr>
          <a:xfrm>
            <a:off x="3892023" y="5201598"/>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1972388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a:t>
            </a:r>
            <a:r>
              <a:rPr lang="es-ES" sz="3600" b="1" kern="0" dirty="0">
                <a:latin typeface="Calibri" panose="020F0502020204030204" pitchFamily="34" charset="0"/>
                <a:ea typeface="Times New Roman" panose="02020603050405020304" pitchFamily="18" charset="0"/>
                <a:cs typeface="Times New Roman" panose="02020603050405020304" pitchFamily="18" charset="0"/>
              </a:rPr>
              <a:t>EX</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2074744" cy="522529"/>
          </a:xfrm>
          <a:prstGeom prst="snip2SameRect">
            <a:avLst>
              <a:gd name="adj1" fmla="val 32251"/>
              <a:gd name="adj2" fmla="val 0"/>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GOBIERNOS</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Las instituciones que tienen capacidad de regular y de aplicar medidas </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8126268" cy="400110"/>
          </a:xfrm>
          <a:prstGeom prst="rect">
            <a:avLst/>
          </a:prstGeom>
          <a:noFill/>
        </p:spPr>
        <p:txBody>
          <a:bodyPr wrap="square" rtlCol="0">
            <a:spAutoFit/>
          </a:bodyPr>
          <a:lstStyle/>
          <a:p>
            <a:r>
              <a:rPr lang="es-ES" sz="2000" dirty="0"/>
              <a:t>Desarrollo económico, impacto social y medioambiental, etc.</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Promulguen normativa muy estricta, impongan sanciones cuantiosas</a:t>
            </a:r>
          </a:p>
        </p:txBody>
      </p:sp>
      <p:sp>
        <p:nvSpPr>
          <p:cNvPr id="10" name="CuadroTexto 9">
            <a:extLst>
              <a:ext uri="{FF2B5EF4-FFF2-40B4-BE49-F238E27FC236}">
                <a16:creationId xmlns:a16="http://schemas.microsoft.com/office/drawing/2014/main" id="{EC6E46EA-B76E-8A7F-84CA-04578A6DE2A4}"/>
              </a:ext>
            </a:extLst>
          </p:cNvPr>
          <p:cNvSpPr txBox="1"/>
          <p:nvPr/>
        </p:nvSpPr>
        <p:spPr>
          <a:xfrm>
            <a:off x="3892022" y="3467526"/>
            <a:ext cx="8299978" cy="400110"/>
          </a:xfrm>
          <a:prstGeom prst="rect">
            <a:avLst/>
          </a:prstGeom>
          <a:noFill/>
        </p:spPr>
        <p:txBody>
          <a:bodyPr wrap="square" rtlCol="0">
            <a:spAutoFit/>
          </a:bodyPr>
          <a:lstStyle/>
          <a:p>
            <a:r>
              <a:rPr lang="es-ES" sz="2000" dirty="0"/>
              <a:t>Imponen normativa que deben cumplir, potestad sancionadora</a:t>
            </a:r>
          </a:p>
        </p:txBody>
      </p:sp>
      <p:pic>
        <p:nvPicPr>
          <p:cNvPr id="8" name="Imagen 7">
            <a:extLst>
              <a:ext uri="{FF2B5EF4-FFF2-40B4-BE49-F238E27FC236}">
                <a16:creationId xmlns:a16="http://schemas.microsoft.com/office/drawing/2014/main" id="{42C0521B-0680-406F-4FDA-4982291A0425}"/>
              </a:ext>
            </a:extLst>
          </p:cNvPr>
          <p:cNvPicPr>
            <a:picLocks noChangeAspect="1"/>
          </p:cNvPicPr>
          <p:nvPr/>
        </p:nvPicPr>
        <p:blipFill>
          <a:blip r:embed="rId3"/>
          <a:stretch>
            <a:fillRect/>
          </a:stretch>
        </p:blipFill>
        <p:spPr>
          <a:xfrm>
            <a:off x="67600" y="2697051"/>
            <a:ext cx="2892998" cy="2775397"/>
          </a:xfrm>
          <a:prstGeom prst="rect">
            <a:avLst/>
          </a:prstGeom>
        </p:spPr>
      </p:pic>
      <p:sp>
        <p:nvSpPr>
          <p:cNvPr id="3" name="Rectángulo: esquinas redondeadas 2">
            <a:extLst>
              <a:ext uri="{FF2B5EF4-FFF2-40B4-BE49-F238E27FC236}">
                <a16:creationId xmlns:a16="http://schemas.microsoft.com/office/drawing/2014/main" id="{61F0BDC7-0DA7-35C6-44E0-6DCA4ECD465E}"/>
              </a:ext>
            </a:extLst>
          </p:cNvPr>
          <p:cNvSpPr/>
          <p:nvPr/>
        </p:nvSpPr>
        <p:spPr>
          <a:xfrm>
            <a:off x="3892025" y="1589034"/>
            <a:ext cx="220397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6" name="Rectángulo: esquinas redondeadas 5">
            <a:extLst>
              <a:ext uri="{FF2B5EF4-FFF2-40B4-BE49-F238E27FC236}">
                <a16:creationId xmlns:a16="http://schemas.microsoft.com/office/drawing/2014/main" id="{2634E9D4-178F-F465-6E6F-3EF58331FA88}"/>
              </a:ext>
            </a:extLst>
          </p:cNvPr>
          <p:cNvSpPr/>
          <p:nvPr/>
        </p:nvSpPr>
        <p:spPr>
          <a:xfrm>
            <a:off x="3892024" y="2793222"/>
            <a:ext cx="442606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1" name="Rectángulo: esquinas redondeadas 10">
            <a:extLst>
              <a:ext uri="{FF2B5EF4-FFF2-40B4-BE49-F238E27FC236}">
                <a16:creationId xmlns:a16="http://schemas.microsoft.com/office/drawing/2014/main" id="{AA5A10FF-584A-9E68-77D5-C035164C4798}"/>
              </a:ext>
            </a:extLst>
          </p:cNvPr>
          <p:cNvSpPr/>
          <p:nvPr/>
        </p:nvSpPr>
        <p:spPr>
          <a:xfrm>
            <a:off x="3892024" y="3997410"/>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4" name="Rectángulo: esquinas redondeadas 13">
            <a:extLst>
              <a:ext uri="{FF2B5EF4-FFF2-40B4-BE49-F238E27FC236}">
                <a16:creationId xmlns:a16="http://schemas.microsoft.com/office/drawing/2014/main" id="{F775190E-4991-4B91-23CC-B4B3EC1507AB}"/>
              </a:ext>
            </a:extLst>
          </p:cNvPr>
          <p:cNvSpPr/>
          <p:nvPr/>
        </p:nvSpPr>
        <p:spPr>
          <a:xfrm>
            <a:off x="3892023" y="5201598"/>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367817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GRUPOS DE INTERÉS </a:t>
            </a:r>
            <a:r>
              <a:rPr lang="es-ES" sz="3600" b="1" kern="0" dirty="0">
                <a:latin typeface="Calibri" panose="020F0502020204030204" pitchFamily="34" charset="0"/>
                <a:ea typeface="Times New Roman" panose="02020603050405020304" pitchFamily="18" charset="0"/>
                <a:cs typeface="Times New Roman" panose="02020603050405020304" pitchFamily="18" charset="0"/>
              </a:rPr>
              <a:t>EX</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9" name="Rectángulo: esquinas superiores cortadas 8">
            <a:extLst>
              <a:ext uri="{FF2B5EF4-FFF2-40B4-BE49-F238E27FC236}">
                <a16:creationId xmlns:a16="http://schemas.microsoft.com/office/drawing/2014/main" id="{BA7AF6F4-9AA2-F121-425A-AD6218D47740}"/>
              </a:ext>
            </a:extLst>
          </p:cNvPr>
          <p:cNvSpPr/>
          <p:nvPr/>
        </p:nvSpPr>
        <p:spPr>
          <a:xfrm>
            <a:off x="476727" y="1589034"/>
            <a:ext cx="2074744" cy="522529"/>
          </a:xfrm>
          <a:prstGeom prst="snip2SameRect">
            <a:avLst>
              <a:gd name="adj1" fmla="val 32251"/>
              <a:gd name="adj2" fmla="val 0"/>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TERCER SECTOR</a:t>
            </a:r>
          </a:p>
        </p:txBody>
      </p:sp>
      <p:sp>
        <p:nvSpPr>
          <p:cNvPr id="13" name="CuadroTexto 12">
            <a:extLst>
              <a:ext uri="{FF2B5EF4-FFF2-40B4-BE49-F238E27FC236}">
                <a16:creationId xmlns:a16="http://schemas.microsoft.com/office/drawing/2014/main" id="{B0E0F82C-AA50-1739-D808-7739DD9A50A3}"/>
              </a:ext>
            </a:extLst>
          </p:cNvPr>
          <p:cNvSpPr txBox="1"/>
          <p:nvPr/>
        </p:nvSpPr>
        <p:spPr>
          <a:xfrm>
            <a:off x="3892023" y="2252338"/>
            <a:ext cx="8228549" cy="400110"/>
          </a:xfrm>
          <a:prstGeom prst="rect">
            <a:avLst/>
          </a:prstGeom>
          <a:noFill/>
        </p:spPr>
        <p:txBody>
          <a:bodyPr wrap="square" rtlCol="0">
            <a:spAutoFit/>
          </a:bodyPr>
          <a:lstStyle/>
          <a:p>
            <a:r>
              <a:rPr lang="es-ES" sz="2000" dirty="0"/>
              <a:t>Entidades que tienen un cometido social, ambiental, religioso, cultural, etc.</a:t>
            </a:r>
          </a:p>
        </p:txBody>
      </p:sp>
      <p:sp>
        <p:nvSpPr>
          <p:cNvPr id="23" name="CuadroTexto 22">
            <a:extLst>
              <a:ext uri="{FF2B5EF4-FFF2-40B4-BE49-F238E27FC236}">
                <a16:creationId xmlns:a16="http://schemas.microsoft.com/office/drawing/2014/main" id="{EB02F036-AB6E-BE16-3DB2-86CE2CAA3D7F}"/>
              </a:ext>
            </a:extLst>
          </p:cNvPr>
          <p:cNvSpPr txBox="1"/>
          <p:nvPr/>
        </p:nvSpPr>
        <p:spPr>
          <a:xfrm>
            <a:off x="3892024" y="4660714"/>
            <a:ext cx="8126268" cy="400110"/>
          </a:xfrm>
          <a:prstGeom prst="rect">
            <a:avLst/>
          </a:prstGeom>
          <a:noFill/>
        </p:spPr>
        <p:txBody>
          <a:bodyPr wrap="square" rtlCol="0">
            <a:spAutoFit/>
          </a:bodyPr>
          <a:lstStyle/>
          <a:p>
            <a:r>
              <a:rPr lang="es-ES" sz="2000" dirty="0"/>
              <a:t>Dependencia financiera, relaciones de colaboración, valor compartido</a:t>
            </a:r>
          </a:p>
        </p:txBody>
      </p:sp>
      <p:sp>
        <p:nvSpPr>
          <p:cNvPr id="25" name="CuadroTexto 24">
            <a:extLst>
              <a:ext uri="{FF2B5EF4-FFF2-40B4-BE49-F238E27FC236}">
                <a16:creationId xmlns:a16="http://schemas.microsoft.com/office/drawing/2014/main" id="{F7E61163-155C-5F8E-7057-E92E18611D54}"/>
              </a:ext>
            </a:extLst>
          </p:cNvPr>
          <p:cNvSpPr txBox="1"/>
          <p:nvPr/>
        </p:nvSpPr>
        <p:spPr>
          <a:xfrm>
            <a:off x="3892023" y="5864902"/>
            <a:ext cx="7818195" cy="400110"/>
          </a:xfrm>
          <a:prstGeom prst="rect">
            <a:avLst/>
          </a:prstGeom>
          <a:noFill/>
        </p:spPr>
        <p:txBody>
          <a:bodyPr wrap="square" rtlCol="0">
            <a:spAutoFit/>
          </a:bodyPr>
          <a:lstStyle/>
          <a:p>
            <a:r>
              <a:rPr lang="es-ES" sz="2000" dirty="0"/>
              <a:t>Riesgo reputacional, de litigios, de influencia sobre consumidores, etc.</a:t>
            </a:r>
          </a:p>
        </p:txBody>
      </p:sp>
      <p:sp>
        <p:nvSpPr>
          <p:cNvPr id="10" name="CuadroTexto 9">
            <a:extLst>
              <a:ext uri="{FF2B5EF4-FFF2-40B4-BE49-F238E27FC236}">
                <a16:creationId xmlns:a16="http://schemas.microsoft.com/office/drawing/2014/main" id="{EC6E46EA-B76E-8A7F-84CA-04578A6DE2A4}"/>
              </a:ext>
            </a:extLst>
          </p:cNvPr>
          <p:cNvSpPr txBox="1"/>
          <p:nvPr/>
        </p:nvSpPr>
        <p:spPr>
          <a:xfrm>
            <a:off x="3892022" y="3467526"/>
            <a:ext cx="8299978" cy="400110"/>
          </a:xfrm>
          <a:prstGeom prst="rect">
            <a:avLst/>
          </a:prstGeom>
          <a:noFill/>
        </p:spPr>
        <p:txBody>
          <a:bodyPr wrap="square" rtlCol="0">
            <a:spAutoFit/>
          </a:bodyPr>
          <a:lstStyle/>
          <a:p>
            <a:r>
              <a:rPr lang="es-ES" sz="2000" dirty="0"/>
              <a:t>Presión social y ética, impacto en la demanda del consumidor, defensa reglas</a:t>
            </a:r>
          </a:p>
        </p:txBody>
      </p:sp>
      <p:pic>
        <p:nvPicPr>
          <p:cNvPr id="6" name="Imagen 5">
            <a:extLst>
              <a:ext uri="{FF2B5EF4-FFF2-40B4-BE49-F238E27FC236}">
                <a16:creationId xmlns:a16="http://schemas.microsoft.com/office/drawing/2014/main" id="{B5204720-5B6C-FAC0-85F2-E4C770BD6ED8}"/>
              </a:ext>
            </a:extLst>
          </p:cNvPr>
          <p:cNvPicPr>
            <a:picLocks noChangeAspect="1"/>
          </p:cNvPicPr>
          <p:nvPr/>
        </p:nvPicPr>
        <p:blipFill>
          <a:blip r:embed="rId3"/>
          <a:stretch>
            <a:fillRect/>
          </a:stretch>
        </p:blipFill>
        <p:spPr>
          <a:xfrm>
            <a:off x="0" y="2536344"/>
            <a:ext cx="2996237" cy="2784003"/>
          </a:xfrm>
          <a:prstGeom prst="rect">
            <a:avLst/>
          </a:prstGeom>
        </p:spPr>
      </p:pic>
      <p:sp>
        <p:nvSpPr>
          <p:cNvPr id="3" name="Rectángulo: esquinas redondeadas 2">
            <a:extLst>
              <a:ext uri="{FF2B5EF4-FFF2-40B4-BE49-F238E27FC236}">
                <a16:creationId xmlns:a16="http://schemas.microsoft.com/office/drawing/2014/main" id="{F7A79409-D7D4-EB98-5A78-A8F839BCEFD5}"/>
              </a:ext>
            </a:extLst>
          </p:cNvPr>
          <p:cNvSpPr/>
          <p:nvPr/>
        </p:nvSpPr>
        <p:spPr>
          <a:xfrm>
            <a:off x="3892025" y="1589034"/>
            <a:ext cx="220397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¿Quiénes son?</a:t>
            </a:r>
          </a:p>
        </p:txBody>
      </p:sp>
      <p:sp>
        <p:nvSpPr>
          <p:cNvPr id="8" name="Rectángulo: esquinas redondeadas 7">
            <a:extLst>
              <a:ext uri="{FF2B5EF4-FFF2-40B4-BE49-F238E27FC236}">
                <a16:creationId xmlns:a16="http://schemas.microsoft.com/office/drawing/2014/main" id="{45AB4243-034B-3FF7-2F83-08E188189C00}"/>
              </a:ext>
            </a:extLst>
          </p:cNvPr>
          <p:cNvSpPr/>
          <p:nvPr/>
        </p:nvSpPr>
        <p:spPr>
          <a:xfrm>
            <a:off x="3892024" y="2793222"/>
            <a:ext cx="4426066"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influyen sobre la empresa?</a:t>
            </a:r>
          </a:p>
        </p:txBody>
      </p:sp>
      <p:sp>
        <p:nvSpPr>
          <p:cNvPr id="11" name="Rectángulo: esquinas redondeadas 10">
            <a:extLst>
              <a:ext uri="{FF2B5EF4-FFF2-40B4-BE49-F238E27FC236}">
                <a16:creationId xmlns:a16="http://schemas.microsoft.com/office/drawing/2014/main" id="{EE74FB9C-DBF0-2D1E-70EC-82D710C33B31}"/>
              </a:ext>
            </a:extLst>
          </p:cNvPr>
          <p:cNvSpPr/>
          <p:nvPr/>
        </p:nvSpPr>
        <p:spPr>
          <a:xfrm>
            <a:off x="3892024" y="3997410"/>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¿Cómo se ven afectados por la empresa?</a:t>
            </a:r>
          </a:p>
        </p:txBody>
      </p:sp>
      <p:sp>
        <p:nvSpPr>
          <p:cNvPr id="14" name="Rectángulo: esquinas redondeadas 13">
            <a:extLst>
              <a:ext uri="{FF2B5EF4-FFF2-40B4-BE49-F238E27FC236}">
                <a16:creationId xmlns:a16="http://schemas.microsoft.com/office/drawing/2014/main" id="{E4AE3343-57D6-3A81-6EF9-0CC3228C9E0D}"/>
              </a:ext>
            </a:extLst>
          </p:cNvPr>
          <p:cNvSpPr/>
          <p:nvPr/>
        </p:nvSpPr>
        <p:spPr>
          <a:xfrm>
            <a:off x="3892023" y="5201598"/>
            <a:ext cx="4986505" cy="522530"/>
          </a:xfrm>
          <a:prstGeom prst="roundRect">
            <a:avLst>
              <a:gd name="adj" fmla="val 19902"/>
            </a:avLst>
          </a:prstGeom>
          <a:solidFill>
            <a:schemeClr val="accent5">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riesgo suponen para la empresa?</a:t>
            </a:r>
          </a:p>
        </p:txBody>
      </p:sp>
    </p:spTree>
    <p:extLst>
      <p:ext uri="{BB962C8B-B14F-4D97-AF65-F5344CB8AC3E}">
        <p14:creationId xmlns:p14="http://schemas.microsoft.com/office/powerpoint/2010/main" val="750815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LA CADENA DE VALOR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2" name="CuadroTexto 11">
            <a:extLst>
              <a:ext uri="{FF2B5EF4-FFF2-40B4-BE49-F238E27FC236}">
                <a16:creationId xmlns:a16="http://schemas.microsoft.com/office/drawing/2014/main" id="{13302C84-8927-D310-8A26-824370C023A9}"/>
              </a:ext>
            </a:extLst>
          </p:cNvPr>
          <p:cNvSpPr txBox="1"/>
          <p:nvPr/>
        </p:nvSpPr>
        <p:spPr>
          <a:xfrm>
            <a:off x="3716593" y="2506813"/>
            <a:ext cx="4483510" cy="1446550"/>
          </a:xfrm>
          <a:prstGeom prst="rect">
            <a:avLst/>
          </a:prstGeom>
          <a:solidFill>
            <a:schemeClr val="accent2">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just"/>
            <a:r>
              <a:rPr lang="es-ES_tradnl" sz="2200" dirty="0">
                <a:latin typeface="Calibri" panose="020F0502020204030204" pitchFamily="34" charset="0"/>
                <a:ea typeface="Times New Roman" panose="02020603050405020304" pitchFamily="18" charset="0"/>
              </a:rPr>
              <a:t>S</a:t>
            </a:r>
            <a:r>
              <a:rPr lang="es-ES_tradnl" sz="2200" dirty="0">
                <a:effectLst/>
                <a:latin typeface="Calibri" panose="020F0502020204030204" pitchFamily="34" charset="0"/>
                <a:ea typeface="Times New Roman" panose="02020603050405020304" pitchFamily="18" charset="0"/>
              </a:rPr>
              <a:t>ecuencia de todas las tareas que realiza la empresa para añadir valor al producto o servicio objetos de su negocio, y análisis de esta secuencia</a:t>
            </a:r>
            <a:endParaRPr lang="es-ES" sz="2200" dirty="0"/>
          </a:p>
        </p:txBody>
      </p:sp>
      <p:sp>
        <p:nvSpPr>
          <p:cNvPr id="15" name="Rectángulo: esquinas superiores cortadas 14">
            <a:extLst>
              <a:ext uri="{FF2B5EF4-FFF2-40B4-BE49-F238E27FC236}">
                <a16:creationId xmlns:a16="http://schemas.microsoft.com/office/drawing/2014/main" id="{EEA028C3-DC3A-33FE-9401-3A094BCD2AEB}"/>
              </a:ext>
            </a:extLst>
          </p:cNvPr>
          <p:cNvSpPr/>
          <p:nvPr/>
        </p:nvSpPr>
        <p:spPr>
          <a:xfrm>
            <a:off x="4343400" y="1669634"/>
            <a:ext cx="3229896" cy="522529"/>
          </a:xfrm>
          <a:prstGeom prst="snip2SameRect">
            <a:avLst>
              <a:gd name="adj1" fmla="val 32251"/>
              <a:gd name="adj2" fmla="val 0"/>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CADENA DE VALOR</a:t>
            </a:r>
          </a:p>
        </p:txBody>
      </p:sp>
      <p:sp>
        <p:nvSpPr>
          <p:cNvPr id="16" name="Rectángulo: esquinas redondeadas 15">
            <a:extLst>
              <a:ext uri="{FF2B5EF4-FFF2-40B4-BE49-F238E27FC236}">
                <a16:creationId xmlns:a16="http://schemas.microsoft.com/office/drawing/2014/main" id="{25549030-4C68-44E2-916E-F63D14C580CD}"/>
              </a:ext>
            </a:extLst>
          </p:cNvPr>
          <p:cNvSpPr/>
          <p:nvPr/>
        </p:nvSpPr>
        <p:spPr>
          <a:xfrm>
            <a:off x="1017639" y="4940706"/>
            <a:ext cx="2698954" cy="825910"/>
          </a:xfrm>
          <a:prstGeom prst="roundRect">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Conocer margen de beneficio</a:t>
            </a:r>
          </a:p>
        </p:txBody>
      </p:sp>
      <p:sp>
        <p:nvSpPr>
          <p:cNvPr id="17" name="Rectángulo: esquinas redondeadas 16">
            <a:extLst>
              <a:ext uri="{FF2B5EF4-FFF2-40B4-BE49-F238E27FC236}">
                <a16:creationId xmlns:a16="http://schemas.microsoft.com/office/drawing/2014/main" id="{089A74F5-BC43-5925-2005-1629D137FDF2}"/>
              </a:ext>
            </a:extLst>
          </p:cNvPr>
          <p:cNvSpPr/>
          <p:nvPr/>
        </p:nvSpPr>
        <p:spPr>
          <a:xfrm>
            <a:off x="4608871" y="4940706"/>
            <a:ext cx="2698954" cy="825910"/>
          </a:xfrm>
          <a:prstGeom prst="roundRect">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Reducir costes</a:t>
            </a:r>
          </a:p>
        </p:txBody>
      </p:sp>
      <p:sp>
        <p:nvSpPr>
          <p:cNvPr id="18" name="Rectángulo: esquinas redondeadas 17">
            <a:extLst>
              <a:ext uri="{FF2B5EF4-FFF2-40B4-BE49-F238E27FC236}">
                <a16:creationId xmlns:a16="http://schemas.microsoft.com/office/drawing/2014/main" id="{1C417267-F790-3FB1-5FEF-2641B571AA2A}"/>
              </a:ext>
            </a:extLst>
          </p:cNvPr>
          <p:cNvSpPr/>
          <p:nvPr/>
        </p:nvSpPr>
        <p:spPr>
          <a:xfrm>
            <a:off x="8200103" y="4940706"/>
            <a:ext cx="2698954" cy="825910"/>
          </a:xfrm>
          <a:prstGeom prst="roundRect">
            <a:avLst/>
          </a:prstGeom>
          <a:solidFill>
            <a:schemeClr val="accent2">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Mejorar eficiencia</a:t>
            </a:r>
          </a:p>
        </p:txBody>
      </p:sp>
      <p:cxnSp>
        <p:nvCxnSpPr>
          <p:cNvPr id="20" name="Conector recto de flecha 19">
            <a:extLst>
              <a:ext uri="{FF2B5EF4-FFF2-40B4-BE49-F238E27FC236}">
                <a16:creationId xmlns:a16="http://schemas.microsoft.com/office/drawing/2014/main" id="{E1E892BF-AB13-DA2A-EC39-7FA2D0F239B3}"/>
              </a:ext>
            </a:extLst>
          </p:cNvPr>
          <p:cNvCxnSpPr>
            <a:stCxn id="12" idx="2"/>
            <a:endCxn id="16" idx="0"/>
          </p:cNvCxnSpPr>
          <p:nvPr/>
        </p:nvCxnSpPr>
        <p:spPr>
          <a:xfrm flipH="1">
            <a:off x="2367116" y="3953363"/>
            <a:ext cx="3591232" cy="987343"/>
          </a:xfrm>
          <a:prstGeom prst="straightConnector1">
            <a:avLst/>
          </a:prstGeom>
          <a:ln w="44450">
            <a:solidFill>
              <a:schemeClr val="accent2">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3011A10E-299E-32FD-BFCF-1A84C362A750}"/>
              </a:ext>
            </a:extLst>
          </p:cNvPr>
          <p:cNvCxnSpPr>
            <a:cxnSpLocks/>
            <a:stCxn id="12" idx="2"/>
            <a:endCxn id="17" idx="0"/>
          </p:cNvCxnSpPr>
          <p:nvPr/>
        </p:nvCxnSpPr>
        <p:spPr>
          <a:xfrm>
            <a:off x="5958348" y="3953363"/>
            <a:ext cx="0" cy="987343"/>
          </a:xfrm>
          <a:prstGeom prst="straightConnector1">
            <a:avLst/>
          </a:prstGeom>
          <a:ln w="44450">
            <a:solidFill>
              <a:schemeClr val="accent2">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B59629A6-C850-DD30-A4C6-74A64BD60CBA}"/>
              </a:ext>
            </a:extLst>
          </p:cNvPr>
          <p:cNvCxnSpPr>
            <a:cxnSpLocks/>
            <a:stCxn id="12" idx="2"/>
            <a:endCxn id="18" idx="0"/>
          </p:cNvCxnSpPr>
          <p:nvPr/>
        </p:nvCxnSpPr>
        <p:spPr>
          <a:xfrm>
            <a:off x="5958348" y="3953363"/>
            <a:ext cx="3591232" cy="987343"/>
          </a:xfrm>
          <a:prstGeom prst="straightConnector1">
            <a:avLst/>
          </a:prstGeom>
          <a:ln w="44450">
            <a:solidFill>
              <a:schemeClr val="accent2">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270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LA CADENA DE VALOR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diagonales redondeadas 2">
            <a:extLst>
              <a:ext uri="{FF2B5EF4-FFF2-40B4-BE49-F238E27FC236}">
                <a16:creationId xmlns:a16="http://schemas.microsoft.com/office/drawing/2014/main" id="{0CF93AA3-87EE-5EC1-23D2-DE1C70C50C50}"/>
              </a:ext>
            </a:extLst>
          </p:cNvPr>
          <p:cNvSpPr/>
          <p:nvPr/>
        </p:nvSpPr>
        <p:spPr>
          <a:xfrm>
            <a:off x="838200" y="3443748"/>
            <a:ext cx="2421194" cy="1017639"/>
          </a:xfrm>
          <a:prstGeom prst="round2Diag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Tipos de actividades de la cadena de valor</a:t>
            </a:r>
          </a:p>
        </p:txBody>
      </p:sp>
      <p:sp>
        <p:nvSpPr>
          <p:cNvPr id="6" name="Abrir llave 5">
            <a:extLst>
              <a:ext uri="{FF2B5EF4-FFF2-40B4-BE49-F238E27FC236}">
                <a16:creationId xmlns:a16="http://schemas.microsoft.com/office/drawing/2014/main" id="{B911AE8B-4AF0-8EA7-CA64-22DCC980D961}"/>
              </a:ext>
            </a:extLst>
          </p:cNvPr>
          <p:cNvSpPr/>
          <p:nvPr/>
        </p:nvSpPr>
        <p:spPr>
          <a:xfrm>
            <a:off x="3510117" y="1902145"/>
            <a:ext cx="589935" cy="4070952"/>
          </a:xfrm>
          <a:prstGeom prst="leftBrace">
            <a:avLst>
              <a:gd name="adj1" fmla="val 55833"/>
              <a:gd name="adj2" fmla="val 50000"/>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pic>
        <p:nvPicPr>
          <p:cNvPr id="11" name="Imagen 10">
            <a:extLst>
              <a:ext uri="{FF2B5EF4-FFF2-40B4-BE49-F238E27FC236}">
                <a16:creationId xmlns:a16="http://schemas.microsoft.com/office/drawing/2014/main" id="{466E9292-48C4-5955-79E1-E882C00311E5}"/>
              </a:ext>
            </a:extLst>
          </p:cNvPr>
          <p:cNvPicPr>
            <a:picLocks noChangeAspect="1"/>
          </p:cNvPicPr>
          <p:nvPr/>
        </p:nvPicPr>
        <p:blipFill>
          <a:blip r:embed="rId3"/>
          <a:stretch>
            <a:fillRect/>
          </a:stretch>
        </p:blipFill>
        <p:spPr>
          <a:xfrm>
            <a:off x="1233747" y="4711858"/>
            <a:ext cx="1630099" cy="1090559"/>
          </a:xfrm>
          <a:prstGeom prst="rect">
            <a:avLst/>
          </a:prstGeom>
        </p:spPr>
      </p:pic>
      <p:sp>
        <p:nvSpPr>
          <p:cNvPr id="13" name="Rectángulo: esquinas diagonales redondeadas 12">
            <a:extLst>
              <a:ext uri="{FF2B5EF4-FFF2-40B4-BE49-F238E27FC236}">
                <a16:creationId xmlns:a16="http://schemas.microsoft.com/office/drawing/2014/main" id="{09D316E0-C414-FECF-4598-4BDE4B3B87B7}"/>
              </a:ext>
            </a:extLst>
          </p:cNvPr>
          <p:cNvSpPr/>
          <p:nvPr/>
        </p:nvSpPr>
        <p:spPr>
          <a:xfrm>
            <a:off x="4161504" y="2168014"/>
            <a:ext cx="1873045" cy="383458"/>
          </a:xfrm>
          <a:prstGeom prst="round2Diag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PRIMARIAS</a:t>
            </a:r>
          </a:p>
        </p:txBody>
      </p:sp>
      <p:sp>
        <p:nvSpPr>
          <p:cNvPr id="14" name="Rectángulo: esquinas diagonales redondeadas 13">
            <a:extLst>
              <a:ext uri="{FF2B5EF4-FFF2-40B4-BE49-F238E27FC236}">
                <a16:creationId xmlns:a16="http://schemas.microsoft.com/office/drawing/2014/main" id="{0C57EDBF-9A18-4268-0994-CF3FF0FF85FC}"/>
              </a:ext>
            </a:extLst>
          </p:cNvPr>
          <p:cNvSpPr/>
          <p:nvPr/>
        </p:nvSpPr>
        <p:spPr>
          <a:xfrm>
            <a:off x="4161504" y="4508262"/>
            <a:ext cx="1873045" cy="383458"/>
          </a:xfrm>
          <a:prstGeom prst="round2Diag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SECUNDARIAS</a:t>
            </a:r>
          </a:p>
        </p:txBody>
      </p:sp>
      <p:sp>
        <p:nvSpPr>
          <p:cNvPr id="19" name="CuadroTexto 18">
            <a:extLst>
              <a:ext uri="{FF2B5EF4-FFF2-40B4-BE49-F238E27FC236}">
                <a16:creationId xmlns:a16="http://schemas.microsoft.com/office/drawing/2014/main" id="{8004FF07-CB40-45BF-9FBC-64F13E2C88DE}"/>
              </a:ext>
            </a:extLst>
          </p:cNvPr>
          <p:cNvSpPr txBox="1"/>
          <p:nvPr/>
        </p:nvSpPr>
        <p:spPr>
          <a:xfrm>
            <a:off x="4161504" y="2875935"/>
            <a:ext cx="6327058" cy="646331"/>
          </a:xfrm>
          <a:prstGeom prst="rect">
            <a:avLst/>
          </a:prstGeom>
          <a:solidFill>
            <a:schemeClr val="accent6">
              <a:lumMod val="20000"/>
              <a:lumOff val="80000"/>
            </a:schemeClr>
          </a:solidFill>
        </p:spPr>
        <p:txBody>
          <a:bodyPr wrap="square" rtlCol="0">
            <a:spAutoFit/>
          </a:bodyPr>
          <a:lstStyle/>
          <a:p>
            <a:r>
              <a:rPr lang="es-ES" dirty="0"/>
              <a:t>Directamente relacionadas con la fabricación y comercialización de los productos</a:t>
            </a:r>
          </a:p>
        </p:txBody>
      </p:sp>
      <p:sp>
        <p:nvSpPr>
          <p:cNvPr id="22" name="CuadroTexto 21">
            <a:extLst>
              <a:ext uri="{FF2B5EF4-FFF2-40B4-BE49-F238E27FC236}">
                <a16:creationId xmlns:a16="http://schemas.microsoft.com/office/drawing/2014/main" id="{5AFF5997-BDFF-941F-832E-9099A38C9FB2}"/>
              </a:ext>
            </a:extLst>
          </p:cNvPr>
          <p:cNvSpPr txBox="1"/>
          <p:nvPr/>
        </p:nvSpPr>
        <p:spPr>
          <a:xfrm>
            <a:off x="4161504" y="5218954"/>
            <a:ext cx="6327058" cy="646331"/>
          </a:xfrm>
          <a:prstGeom prst="rect">
            <a:avLst/>
          </a:prstGeom>
          <a:solidFill>
            <a:schemeClr val="accent6">
              <a:lumMod val="20000"/>
              <a:lumOff val="80000"/>
            </a:schemeClr>
          </a:solidFill>
        </p:spPr>
        <p:txBody>
          <a:bodyPr wrap="square" rtlCol="0">
            <a:spAutoFit/>
          </a:bodyPr>
          <a:lstStyle/>
          <a:p>
            <a:r>
              <a:rPr lang="es-ES" dirty="0"/>
              <a:t>Aumentan el valor del producto y son imprescindibles para el funcionamiento de la empresa, pero no son primarias</a:t>
            </a:r>
          </a:p>
        </p:txBody>
      </p:sp>
      <p:sp>
        <p:nvSpPr>
          <p:cNvPr id="23" name="Flecha: hacia abajo 22">
            <a:extLst>
              <a:ext uri="{FF2B5EF4-FFF2-40B4-BE49-F238E27FC236}">
                <a16:creationId xmlns:a16="http://schemas.microsoft.com/office/drawing/2014/main" id="{AF103C77-10D7-1D29-EFC0-1FACE09E3434}"/>
              </a:ext>
            </a:extLst>
          </p:cNvPr>
          <p:cNvSpPr/>
          <p:nvPr/>
        </p:nvSpPr>
        <p:spPr>
          <a:xfrm>
            <a:off x="4957917" y="2583555"/>
            <a:ext cx="280219" cy="261811"/>
          </a:xfrm>
          <a:prstGeom prst="down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Flecha: hacia abajo 23">
            <a:extLst>
              <a:ext uri="{FF2B5EF4-FFF2-40B4-BE49-F238E27FC236}">
                <a16:creationId xmlns:a16="http://schemas.microsoft.com/office/drawing/2014/main" id="{89B73F55-3F36-0F57-7BA7-7BB805196DE6}"/>
              </a:ext>
            </a:extLst>
          </p:cNvPr>
          <p:cNvSpPr/>
          <p:nvPr/>
        </p:nvSpPr>
        <p:spPr>
          <a:xfrm>
            <a:off x="4957917" y="4931352"/>
            <a:ext cx="280219" cy="261811"/>
          </a:xfrm>
          <a:prstGeom prst="down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74052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LA CADENA DE VALOR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descr="Imagen que contiene Escala de tiempo&#10;&#10;Descripción generada automáticamente">
            <a:extLst>
              <a:ext uri="{FF2B5EF4-FFF2-40B4-BE49-F238E27FC236}">
                <a16:creationId xmlns:a16="http://schemas.microsoft.com/office/drawing/2014/main" id="{2C26EA7F-909F-EF5D-B662-0232DDF43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95" y="2258373"/>
            <a:ext cx="8816630" cy="3258320"/>
          </a:xfrm>
          <a:prstGeom prst="rect">
            <a:avLst/>
          </a:prstGeom>
        </p:spPr>
      </p:pic>
      <p:sp>
        <p:nvSpPr>
          <p:cNvPr id="3" name="Rectángulo: esquinas redondeadas 2">
            <a:extLst>
              <a:ext uri="{FF2B5EF4-FFF2-40B4-BE49-F238E27FC236}">
                <a16:creationId xmlns:a16="http://schemas.microsoft.com/office/drawing/2014/main" id="{13CA3112-E07D-5DF9-5102-B673C2008FF5}"/>
              </a:ext>
            </a:extLst>
          </p:cNvPr>
          <p:cNvSpPr/>
          <p:nvPr/>
        </p:nvSpPr>
        <p:spPr>
          <a:xfrm>
            <a:off x="8972525" y="2599481"/>
            <a:ext cx="2927616" cy="2576103"/>
          </a:xfrm>
          <a:prstGeom prst="roundRect">
            <a:avLst>
              <a:gd name="adj" fmla="val 36914"/>
            </a:avLst>
          </a:prstGeom>
          <a:solidFill>
            <a:srgbClr val="C00000"/>
          </a:solidFill>
          <a:effectLst>
            <a:outerShdw blurRad="63500" sx="102000" sy="102000" algn="ctr" rotWithShape="0">
              <a:prstClr val="black">
                <a:alpha val="40000"/>
              </a:prstClr>
            </a:outerShdw>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La evaluación del impacto ambiental y/o social de una compañía debe extenderse a toda su cadena de valor</a:t>
            </a:r>
          </a:p>
        </p:txBody>
      </p:sp>
    </p:spTree>
    <p:extLst>
      <p:ext uri="{BB962C8B-B14F-4D97-AF65-F5344CB8AC3E}">
        <p14:creationId xmlns:p14="http://schemas.microsoft.com/office/powerpoint/2010/main" val="2523980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LOS PRINCIPIOS RECTORES DEL PACTO MUNDIAL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20" name="Grupo 19">
            <a:extLst>
              <a:ext uri="{FF2B5EF4-FFF2-40B4-BE49-F238E27FC236}">
                <a16:creationId xmlns:a16="http://schemas.microsoft.com/office/drawing/2014/main" id="{64873CA9-27AA-3278-0203-F3293285DC0B}"/>
              </a:ext>
            </a:extLst>
          </p:cNvPr>
          <p:cNvGrpSpPr/>
          <p:nvPr/>
        </p:nvGrpSpPr>
        <p:grpSpPr>
          <a:xfrm>
            <a:off x="1698654" y="1770031"/>
            <a:ext cx="3522276" cy="1360674"/>
            <a:chOff x="1757646" y="1770031"/>
            <a:chExt cx="3522276" cy="1360674"/>
          </a:xfrm>
        </p:grpSpPr>
        <p:pic>
          <p:nvPicPr>
            <p:cNvPr id="8" name="Imagen 7">
              <a:extLst>
                <a:ext uri="{FF2B5EF4-FFF2-40B4-BE49-F238E27FC236}">
                  <a16:creationId xmlns:a16="http://schemas.microsoft.com/office/drawing/2014/main" id="{A5283090-EB35-D621-7C33-2F3A8E92E111}"/>
                </a:ext>
              </a:extLst>
            </p:cNvPr>
            <p:cNvPicPr>
              <a:picLocks noChangeAspect="1"/>
            </p:cNvPicPr>
            <p:nvPr/>
          </p:nvPicPr>
          <p:blipFill>
            <a:blip r:embed="rId3"/>
            <a:stretch>
              <a:fillRect/>
            </a:stretch>
          </p:blipFill>
          <p:spPr>
            <a:xfrm>
              <a:off x="1757646" y="1770031"/>
              <a:ext cx="1870458" cy="1360674"/>
            </a:xfrm>
            <a:prstGeom prst="rect">
              <a:avLst/>
            </a:prstGeom>
          </p:spPr>
        </p:pic>
        <p:sp>
          <p:nvSpPr>
            <p:cNvPr id="9" name="CuadroTexto 8">
              <a:extLst>
                <a:ext uri="{FF2B5EF4-FFF2-40B4-BE49-F238E27FC236}">
                  <a16:creationId xmlns:a16="http://schemas.microsoft.com/office/drawing/2014/main" id="{5DFB2E71-A7F2-0EDE-007A-B1CB23C44F8C}"/>
                </a:ext>
              </a:extLst>
            </p:cNvPr>
            <p:cNvSpPr txBox="1"/>
            <p:nvPr/>
          </p:nvSpPr>
          <p:spPr>
            <a:xfrm>
              <a:off x="3628104" y="1779340"/>
              <a:ext cx="1651818" cy="1342056"/>
            </a:xfrm>
            <a:prstGeom prst="rect">
              <a:avLst/>
            </a:prstGeom>
            <a:noFill/>
            <a:ln w="25400">
              <a:solidFill>
                <a:schemeClr val="accent1">
                  <a:lumMod val="60000"/>
                  <a:lumOff val="40000"/>
                </a:schemeClr>
              </a:solidFill>
            </a:ln>
          </p:spPr>
          <p:txBody>
            <a:bodyPr wrap="square" rtlCol="0">
              <a:spAutoFit/>
            </a:bodyPr>
            <a:lstStyle/>
            <a:p>
              <a:pPr algn="ctr"/>
              <a:r>
                <a:rPr lang="es-ES" sz="2000" dirty="0"/>
                <a:t>Organización de las Naciones Unidas</a:t>
              </a:r>
            </a:p>
          </p:txBody>
        </p:sp>
      </p:grpSp>
      <p:sp>
        <p:nvSpPr>
          <p:cNvPr id="10" name="CuadroTexto 9">
            <a:extLst>
              <a:ext uri="{FF2B5EF4-FFF2-40B4-BE49-F238E27FC236}">
                <a16:creationId xmlns:a16="http://schemas.microsoft.com/office/drawing/2014/main" id="{06BC6859-492D-1243-20DE-2D4A713DAB0E}"/>
              </a:ext>
            </a:extLst>
          </p:cNvPr>
          <p:cNvSpPr txBox="1"/>
          <p:nvPr/>
        </p:nvSpPr>
        <p:spPr>
          <a:xfrm>
            <a:off x="5835084" y="1850204"/>
            <a:ext cx="4356053" cy="1200329"/>
          </a:xfrm>
          <a:prstGeom prst="rect">
            <a:avLst/>
          </a:prstGeom>
          <a:solidFill>
            <a:srgbClr val="F2F4FC"/>
          </a:solidFill>
          <a:effectLst>
            <a:outerShdw blurRad="50800" dist="38100" dir="5400000" algn="t" rotWithShape="0">
              <a:prstClr val="black">
                <a:alpha val="40000"/>
              </a:prstClr>
            </a:outerShdw>
          </a:effectLst>
        </p:spPr>
        <p:txBody>
          <a:bodyPr wrap="square" rtlCol="0">
            <a:spAutoFit/>
          </a:bodyPr>
          <a:lstStyle/>
          <a:p>
            <a:pPr algn="just"/>
            <a:r>
              <a:rPr lang="es-ES" dirty="0"/>
              <a:t>Organización fundada en 1945 e integrada por 193 Estados que se reúnen para tratar problemas comunes y llegar a soluciones beneficiosas para toda la humanidad.</a:t>
            </a:r>
          </a:p>
        </p:txBody>
      </p:sp>
      <p:cxnSp>
        <p:nvCxnSpPr>
          <p:cNvPr id="12" name="Conector recto 11">
            <a:extLst>
              <a:ext uri="{FF2B5EF4-FFF2-40B4-BE49-F238E27FC236}">
                <a16:creationId xmlns:a16="http://schemas.microsoft.com/office/drawing/2014/main" id="{775DC909-37F9-01A3-35E2-CD9ABEBEC150}"/>
              </a:ext>
            </a:extLst>
          </p:cNvPr>
          <p:cNvCxnSpPr>
            <a:stCxn id="10" idx="1"/>
            <a:endCxn id="9" idx="3"/>
          </p:cNvCxnSpPr>
          <p:nvPr/>
        </p:nvCxnSpPr>
        <p:spPr>
          <a:xfrm flipH="1" flipV="1">
            <a:off x="5220930" y="2450368"/>
            <a:ext cx="614154" cy="1"/>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3" name="Flecha: hacia abajo 12">
            <a:extLst>
              <a:ext uri="{FF2B5EF4-FFF2-40B4-BE49-F238E27FC236}">
                <a16:creationId xmlns:a16="http://schemas.microsoft.com/office/drawing/2014/main" id="{DD5B74D2-D951-5169-B808-529E54FF7FB7}"/>
              </a:ext>
            </a:extLst>
          </p:cNvPr>
          <p:cNvSpPr/>
          <p:nvPr/>
        </p:nvSpPr>
        <p:spPr>
          <a:xfrm>
            <a:off x="3135328" y="3223804"/>
            <a:ext cx="648929" cy="1608836"/>
          </a:xfrm>
          <a:prstGeom prst="downArrow">
            <a:avLst>
              <a:gd name="adj1" fmla="val 54546"/>
              <a:gd name="adj2" fmla="val 61364"/>
            </a:avLst>
          </a:prstGeom>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50738DC1-768A-99AB-ECF6-9642CB0CFF28}"/>
              </a:ext>
            </a:extLst>
          </p:cNvPr>
          <p:cNvSpPr txBox="1"/>
          <p:nvPr/>
        </p:nvSpPr>
        <p:spPr>
          <a:xfrm>
            <a:off x="2045241" y="3679005"/>
            <a:ext cx="1177283" cy="400110"/>
          </a:xfrm>
          <a:prstGeom prst="rect">
            <a:avLst/>
          </a:prstGeom>
          <a:noFill/>
        </p:spPr>
        <p:txBody>
          <a:bodyPr wrap="square" rtlCol="0">
            <a:spAutoFit/>
          </a:bodyPr>
          <a:lstStyle/>
          <a:p>
            <a:r>
              <a:rPr lang="es-ES" sz="2000" dirty="0"/>
              <a:t>Iniciativa</a:t>
            </a:r>
          </a:p>
        </p:txBody>
      </p:sp>
      <p:grpSp>
        <p:nvGrpSpPr>
          <p:cNvPr id="19" name="Grupo 18">
            <a:extLst>
              <a:ext uri="{FF2B5EF4-FFF2-40B4-BE49-F238E27FC236}">
                <a16:creationId xmlns:a16="http://schemas.microsoft.com/office/drawing/2014/main" id="{4AB00F8C-881C-3252-AB4F-3CCD94A8C10C}"/>
              </a:ext>
            </a:extLst>
          </p:cNvPr>
          <p:cNvGrpSpPr/>
          <p:nvPr/>
        </p:nvGrpSpPr>
        <p:grpSpPr>
          <a:xfrm>
            <a:off x="2230963" y="4876884"/>
            <a:ext cx="2457659" cy="1325564"/>
            <a:chOff x="1757646" y="4617215"/>
            <a:chExt cx="2457659" cy="1325564"/>
          </a:xfrm>
        </p:grpSpPr>
        <p:pic>
          <p:nvPicPr>
            <p:cNvPr id="16" name="Imagen 15">
              <a:extLst>
                <a:ext uri="{FF2B5EF4-FFF2-40B4-BE49-F238E27FC236}">
                  <a16:creationId xmlns:a16="http://schemas.microsoft.com/office/drawing/2014/main" id="{7B91D69C-CF37-0A32-BDFB-1B309EC8498B}"/>
                </a:ext>
              </a:extLst>
            </p:cNvPr>
            <p:cNvPicPr>
              <a:picLocks noChangeAspect="1"/>
            </p:cNvPicPr>
            <p:nvPr/>
          </p:nvPicPr>
          <p:blipFill>
            <a:blip r:embed="rId4"/>
            <a:stretch>
              <a:fillRect/>
            </a:stretch>
          </p:blipFill>
          <p:spPr>
            <a:xfrm>
              <a:off x="1863763" y="4710313"/>
              <a:ext cx="1174405" cy="1188222"/>
            </a:xfrm>
            <a:prstGeom prst="rect">
              <a:avLst/>
            </a:prstGeom>
          </p:spPr>
        </p:pic>
        <p:sp>
          <p:nvSpPr>
            <p:cNvPr id="17" name="CuadroTexto 16">
              <a:extLst>
                <a:ext uri="{FF2B5EF4-FFF2-40B4-BE49-F238E27FC236}">
                  <a16:creationId xmlns:a16="http://schemas.microsoft.com/office/drawing/2014/main" id="{2FF48C56-5CB6-3936-9796-221B4122AAC5}"/>
                </a:ext>
              </a:extLst>
            </p:cNvPr>
            <p:cNvSpPr txBox="1"/>
            <p:nvPr/>
          </p:nvSpPr>
          <p:spPr>
            <a:xfrm>
              <a:off x="3040900" y="4950481"/>
              <a:ext cx="1174405" cy="707886"/>
            </a:xfrm>
            <a:prstGeom prst="rect">
              <a:avLst/>
            </a:prstGeom>
            <a:noFill/>
          </p:spPr>
          <p:txBody>
            <a:bodyPr wrap="square" rtlCol="0">
              <a:spAutoFit/>
            </a:bodyPr>
            <a:lstStyle/>
            <a:p>
              <a:pPr algn="ctr"/>
              <a:r>
                <a:rPr lang="es-ES" sz="2000" dirty="0"/>
                <a:t>Pacto</a:t>
              </a:r>
            </a:p>
            <a:p>
              <a:pPr algn="ctr"/>
              <a:r>
                <a:rPr lang="es-ES" sz="2000" dirty="0"/>
                <a:t>Mundial</a:t>
              </a:r>
            </a:p>
          </p:txBody>
        </p:sp>
        <p:sp>
          <p:nvSpPr>
            <p:cNvPr id="18" name="Rectángulo 17">
              <a:extLst>
                <a:ext uri="{FF2B5EF4-FFF2-40B4-BE49-F238E27FC236}">
                  <a16:creationId xmlns:a16="http://schemas.microsoft.com/office/drawing/2014/main" id="{00013482-9C3B-99B1-814E-8A5087DA6BC0}"/>
                </a:ext>
              </a:extLst>
            </p:cNvPr>
            <p:cNvSpPr/>
            <p:nvPr/>
          </p:nvSpPr>
          <p:spPr>
            <a:xfrm>
              <a:off x="1757646" y="4617215"/>
              <a:ext cx="2454927" cy="132556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21" name="CuadroTexto 20">
            <a:extLst>
              <a:ext uri="{FF2B5EF4-FFF2-40B4-BE49-F238E27FC236}">
                <a16:creationId xmlns:a16="http://schemas.microsoft.com/office/drawing/2014/main" id="{5E1388F8-0AAE-A1EF-948D-CF8A300266C2}"/>
              </a:ext>
            </a:extLst>
          </p:cNvPr>
          <p:cNvSpPr txBox="1"/>
          <p:nvPr/>
        </p:nvSpPr>
        <p:spPr>
          <a:xfrm>
            <a:off x="5891071" y="4939501"/>
            <a:ext cx="4356053" cy="1200329"/>
          </a:xfrm>
          <a:prstGeom prst="rect">
            <a:avLst/>
          </a:prstGeom>
          <a:solidFill>
            <a:srgbClr val="F2F4FC"/>
          </a:solidFill>
          <a:effectLst>
            <a:outerShdw blurRad="50800" dist="38100" dir="5400000" algn="t" rotWithShape="0">
              <a:prstClr val="black">
                <a:alpha val="40000"/>
              </a:prstClr>
            </a:outerShdw>
          </a:effectLst>
        </p:spPr>
        <p:txBody>
          <a:bodyPr wrap="square" rtlCol="0">
            <a:spAutoFit/>
          </a:bodyPr>
          <a:lstStyle/>
          <a:p>
            <a:pPr algn="just"/>
            <a:r>
              <a:rPr lang="es-ES" dirty="0"/>
              <a:t>Promueve la sostenibilidad en el ámbito empresarial para lograr el cumplimiento de la Agenda 2030 y potenciar los Objetivos de Desarrollo Sostenible.</a:t>
            </a:r>
          </a:p>
        </p:txBody>
      </p:sp>
      <p:cxnSp>
        <p:nvCxnSpPr>
          <p:cNvPr id="23" name="Conector recto 22">
            <a:extLst>
              <a:ext uri="{FF2B5EF4-FFF2-40B4-BE49-F238E27FC236}">
                <a16:creationId xmlns:a16="http://schemas.microsoft.com/office/drawing/2014/main" id="{B231D07D-552D-A3F2-96BB-F65C4ECE64BC}"/>
              </a:ext>
            </a:extLst>
          </p:cNvPr>
          <p:cNvCxnSpPr>
            <a:stCxn id="21" idx="1"/>
          </p:cNvCxnSpPr>
          <p:nvPr/>
        </p:nvCxnSpPr>
        <p:spPr>
          <a:xfrm flipH="1" flipV="1">
            <a:off x="4685890" y="5539665"/>
            <a:ext cx="1205181" cy="1"/>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210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LOS PRINCIPIOS RECTORES DEL PACTO MUNDIAL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0" name="Imagen 9" descr="Diagrama&#10;&#10;Descripción generada automáticamente">
            <a:extLst>
              <a:ext uri="{FF2B5EF4-FFF2-40B4-BE49-F238E27FC236}">
                <a16:creationId xmlns:a16="http://schemas.microsoft.com/office/drawing/2014/main" id="{D7615595-6CC0-7DB6-9CD7-78577BE5F73D}"/>
              </a:ext>
            </a:extLst>
          </p:cNvPr>
          <p:cNvPicPr>
            <a:picLocks noChangeAspect="1"/>
          </p:cNvPicPr>
          <p:nvPr/>
        </p:nvPicPr>
        <p:blipFill>
          <a:blip r:embed="rId3">
            <a:extLst>
              <a:ext uri="{28A0092B-C50C-407E-A947-70E740481C1C}">
                <a14:useLocalDpi xmlns:a14="http://schemas.microsoft.com/office/drawing/2010/main" val="0"/>
              </a:ext>
            </a:extLst>
          </a:blip>
          <a:srcRect r="10929"/>
          <a:stretch/>
        </p:blipFill>
        <p:spPr>
          <a:xfrm>
            <a:off x="699234" y="1412552"/>
            <a:ext cx="7100300" cy="5445445"/>
          </a:xfrm>
          <a:prstGeom prst="rect">
            <a:avLst/>
          </a:prstGeom>
        </p:spPr>
      </p:pic>
      <p:sp>
        <p:nvSpPr>
          <p:cNvPr id="11" name="CuadroTexto 10">
            <a:extLst>
              <a:ext uri="{FF2B5EF4-FFF2-40B4-BE49-F238E27FC236}">
                <a16:creationId xmlns:a16="http://schemas.microsoft.com/office/drawing/2014/main" id="{CEE16261-B245-3BB8-1DF3-AE5A4B17E954}"/>
              </a:ext>
            </a:extLst>
          </p:cNvPr>
          <p:cNvSpPr txBox="1"/>
          <p:nvPr/>
        </p:nvSpPr>
        <p:spPr>
          <a:xfrm>
            <a:off x="8480323" y="3416469"/>
            <a:ext cx="2929116" cy="707886"/>
          </a:xfrm>
          <a:prstGeom prst="rect">
            <a:avLst/>
          </a:prstGeom>
          <a:solidFill>
            <a:schemeClr val="bg1">
              <a:lumMod val="95000"/>
            </a:schemeClr>
          </a:solidFill>
          <a:effectLst>
            <a:glow rad="139700">
              <a:schemeClr val="accent2">
                <a:satMod val="175000"/>
                <a:alpha val="40000"/>
              </a:schemeClr>
            </a:glow>
          </a:effectLst>
        </p:spPr>
        <p:txBody>
          <a:bodyPr wrap="square" rtlCol="0">
            <a:spAutoFit/>
          </a:bodyPr>
          <a:lstStyle/>
          <a:p>
            <a:pPr algn="ctr"/>
            <a:r>
              <a:rPr lang="es-ES" sz="2000" dirty="0"/>
              <a:t>Las empresas deben conocerlos y respetarlos</a:t>
            </a:r>
          </a:p>
        </p:txBody>
      </p:sp>
    </p:spTree>
    <p:extLst>
      <p:ext uri="{BB962C8B-B14F-4D97-AF65-F5344CB8AC3E}">
        <p14:creationId xmlns:p14="http://schemas.microsoft.com/office/powerpoint/2010/main" val="664442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EL ALCANCE DE LA ACTIVIDAD EMPRESARIAL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354983"/>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6" name="Imagen 5" descr="Diagrama&#10;&#10;Descripción generada automáticamente">
            <a:extLst>
              <a:ext uri="{FF2B5EF4-FFF2-40B4-BE49-F238E27FC236}">
                <a16:creationId xmlns:a16="http://schemas.microsoft.com/office/drawing/2014/main" id="{0158F722-F253-B4FC-62F7-AAB61186F9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2681" y="1815910"/>
            <a:ext cx="9970700" cy="4896918"/>
          </a:xfrm>
          <a:prstGeom prst="rect">
            <a:avLst/>
          </a:prstGeom>
        </p:spPr>
      </p:pic>
      <p:sp>
        <p:nvSpPr>
          <p:cNvPr id="4" name="Marcador de contenido 2">
            <a:extLst>
              <a:ext uri="{FF2B5EF4-FFF2-40B4-BE49-F238E27FC236}">
                <a16:creationId xmlns:a16="http://schemas.microsoft.com/office/drawing/2014/main" id="{88BA5F4F-95D1-18D4-8E89-38346F0FABD2}"/>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Rectángulo 7">
            <a:extLst>
              <a:ext uri="{FF2B5EF4-FFF2-40B4-BE49-F238E27FC236}">
                <a16:creationId xmlns:a16="http://schemas.microsoft.com/office/drawing/2014/main" id="{6DB73DD9-12EB-92B4-546C-FDA186676007}"/>
              </a:ext>
            </a:extLst>
          </p:cNvPr>
          <p:cNvSpPr/>
          <p:nvPr/>
        </p:nvSpPr>
        <p:spPr>
          <a:xfrm>
            <a:off x="117988" y="1504335"/>
            <a:ext cx="4321278" cy="1325559"/>
          </a:xfrm>
          <a:prstGeom prst="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Cualquier iniciativa para mejorar la sostenibilidad de una actividad empresarial debe extenderse a todos los niveles de su cadena de suministro</a:t>
            </a:r>
          </a:p>
        </p:txBody>
      </p:sp>
      <p:sp>
        <p:nvSpPr>
          <p:cNvPr id="9" name="CuadroTexto 8">
            <a:extLst>
              <a:ext uri="{FF2B5EF4-FFF2-40B4-BE49-F238E27FC236}">
                <a16:creationId xmlns:a16="http://schemas.microsoft.com/office/drawing/2014/main" id="{E970130C-94DB-D4EF-261E-BE1D6DAAD8AC}"/>
              </a:ext>
            </a:extLst>
          </p:cNvPr>
          <p:cNvSpPr txBox="1"/>
          <p:nvPr/>
        </p:nvSpPr>
        <p:spPr>
          <a:xfrm>
            <a:off x="235978" y="5789498"/>
            <a:ext cx="4188542" cy="923330"/>
          </a:xfrm>
          <a:prstGeom prst="rect">
            <a:avLst/>
          </a:prstGeom>
          <a:solidFill>
            <a:schemeClr val="bg1">
              <a:lumMod val="95000"/>
            </a:schemeClr>
          </a:solidFill>
        </p:spPr>
        <p:txBody>
          <a:bodyPr wrap="square" rtlCol="0">
            <a:spAutoFit/>
          </a:bodyPr>
          <a:lstStyle/>
          <a:p>
            <a:pPr algn="ctr"/>
            <a:r>
              <a:rPr lang="es-ES" dirty="0"/>
              <a:t>El último nivel siempre lo constituyen las materias primas y habrá tantos niveles como sean necesarios para llegar a ellas</a:t>
            </a:r>
          </a:p>
        </p:txBody>
      </p:sp>
    </p:spTree>
    <p:extLst>
      <p:ext uri="{BB962C8B-B14F-4D97-AF65-F5344CB8AC3E}">
        <p14:creationId xmlns:p14="http://schemas.microsoft.com/office/powerpoint/2010/main" val="181425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4.2. CONCEPTO DE ASG O ESG</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570945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TOMA DE CONCIENCIA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5" name="Rectángulo: esquinas superiores cortadas 14">
            <a:extLst>
              <a:ext uri="{FF2B5EF4-FFF2-40B4-BE49-F238E27FC236}">
                <a16:creationId xmlns:a16="http://schemas.microsoft.com/office/drawing/2014/main" id="{B66D4856-1102-7CAA-F3C1-8A4E324E8549}"/>
              </a:ext>
            </a:extLst>
          </p:cNvPr>
          <p:cNvSpPr/>
          <p:nvPr/>
        </p:nvSpPr>
        <p:spPr>
          <a:xfrm>
            <a:off x="1356360" y="1936355"/>
            <a:ext cx="1905000" cy="428470"/>
          </a:xfrm>
          <a:prstGeom prst="snip2Same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Años 1950-60</a:t>
            </a:r>
          </a:p>
        </p:txBody>
      </p:sp>
      <p:sp>
        <p:nvSpPr>
          <p:cNvPr id="19" name="CuadroTexto 18">
            <a:extLst>
              <a:ext uri="{FF2B5EF4-FFF2-40B4-BE49-F238E27FC236}">
                <a16:creationId xmlns:a16="http://schemas.microsoft.com/office/drawing/2014/main" id="{A4207631-23C0-7297-334A-D8D356F93082}"/>
              </a:ext>
            </a:extLst>
          </p:cNvPr>
          <p:cNvSpPr txBox="1"/>
          <p:nvPr/>
        </p:nvSpPr>
        <p:spPr>
          <a:xfrm>
            <a:off x="883920" y="3124200"/>
            <a:ext cx="2849880" cy="1477328"/>
          </a:xfrm>
          <a:prstGeom prst="rect">
            <a:avLst/>
          </a:prstGeom>
          <a:noFill/>
          <a:ln>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p:spPr>
        <p:txBody>
          <a:bodyPr wrap="square" rtlCol="0">
            <a:spAutoFit/>
          </a:bodyPr>
          <a:lstStyle/>
          <a:p>
            <a:pPr algn="ctr"/>
            <a:r>
              <a:rPr lang="es-ES" dirty="0"/>
              <a:t>Algunas empresas adoptan la idea de que tienen la  responsabilidad de tomar decisiones acordes con los valores de la sociedad</a:t>
            </a:r>
          </a:p>
        </p:txBody>
      </p:sp>
      <p:cxnSp>
        <p:nvCxnSpPr>
          <p:cNvPr id="30" name="Conector recto 29">
            <a:extLst>
              <a:ext uri="{FF2B5EF4-FFF2-40B4-BE49-F238E27FC236}">
                <a16:creationId xmlns:a16="http://schemas.microsoft.com/office/drawing/2014/main" id="{2BCD6038-8DEE-A927-952B-D3265298B28B}"/>
              </a:ext>
            </a:extLst>
          </p:cNvPr>
          <p:cNvCxnSpPr>
            <a:stCxn id="15" idx="1"/>
            <a:endCxn id="19" idx="0"/>
          </p:cNvCxnSpPr>
          <p:nvPr/>
        </p:nvCxnSpPr>
        <p:spPr>
          <a:xfrm>
            <a:off x="2308860" y="2364825"/>
            <a:ext cx="0" cy="759375"/>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Rectángulo: esquinas superiores cortadas 30">
            <a:extLst>
              <a:ext uri="{FF2B5EF4-FFF2-40B4-BE49-F238E27FC236}">
                <a16:creationId xmlns:a16="http://schemas.microsoft.com/office/drawing/2014/main" id="{BF0B436C-BF3E-A861-C155-A7DB8296A6E6}"/>
              </a:ext>
            </a:extLst>
          </p:cNvPr>
          <p:cNvSpPr/>
          <p:nvPr/>
        </p:nvSpPr>
        <p:spPr>
          <a:xfrm>
            <a:off x="4869993" y="1936355"/>
            <a:ext cx="1905000" cy="428470"/>
          </a:xfrm>
          <a:prstGeom prst="snip2Same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Años 1980-90</a:t>
            </a:r>
          </a:p>
        </p:txBody>
      </p:sp>
      <p:sp>
        <p:nvSpPr>
          <p:cNvPr id="32" name="CuadroTexto 31">
            <a:extLst>
              <a:ext uri="{FF2B5EF4-FFF2-40B4-BE49-F238E27FC236}">
                <a16:creationId xmlns:a16="http://schemas.microsoft.com/office/drawing/2014/main" id="{3FCF90FA-0659-6DCB-2EC5-1C40C90642DC}"/>
              </a:ext>
            </a:extLst>
          </p:cNvPr>
          <p:cNvSpPr txBox="1"/>
          <p:nvPr/>
        </p:nvSpPr>
        <p:spPr>
          <a:xfrm>
            <a:off x="4397553" y="3124200"/>
            <a:ext cx="2849880" cy="1477328"/>
          </a:xfrm>
          <a:prstGeom prst="rect">
            <a:avLst/>
          </a:prstGeom>
          <a:noFill/>
          <a:ln>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p:spPr>
        <p:txBody>
          <a:bodyPr wrap="square" rtlCol="0">
            <a:spAutoFit/>
          </a:bodyPr>
          <a:lstStyle/>
          <a:p>
            <a:pPr algn="ctr"/>
            <a:r>
              <a:rPr lang="es-ES" dirty="0"/>
              <a:t>Surge en el entorno empresarial la idea de que deben ampliarse los grupos de interés más allá de los clientes y accionistas</a:t>
            </a:r>
          </a:p>
        </p:txBody>
      </p:sp>
      <p:cxnSp>
        <p:nvCxnSpPr>
          <p:cNvPr id="33" name="Conector recto 32">
            <a:extLst>
              <a:ext uri="{FF2B5EF4-FFF2-40B4-BE49-F238E27FC236}">
                <a16:creationId xmlns:a16="http://schemas.microsoft.com/office/drawing/2014/main" id="{DEAB5D20-68E3-8EA1-3565-FF8101FDC82B}"/>
              </a:ext>
            </a:extLst>
          </p:cNvPr>
          <p:cNvCxnSpPr>
            <a:cxnSpLocks/>
            <a:stCxn id="31" idx="1"/>
            <a:endCxn id="32" idx="0"/>
          </p:cNvCxnSpPr>
          <p:nvPr/>
        </p:nvCxnSpPr>
        <p:spPr>
          <a:xfrm>
            <a:off x="5822493" y="2364825"/>
            <a:ext cx="0" cy="759375"/>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Rectángulo: esquinas superiores cortadas 34">
            <a:extLst>
              <a:ext uri="{FF2B5EF4-FFF2-40B4-BE49-F238E27FC236}">
                <a16:creationId xmlns:a16="http://schemas.microsoft.com/office/drawing/2014/main" id="{E840B80C-E9BA-E7F5-9FC6-752079D10CEC}"/>
              </a:ext>
            </a:extLst>
          </p:cNvPr>
          <p:cNvSpPr/>
          <p:nvPr/>
        </p:nvSpPr>
        <p:spPr>
          <a:xfrm>
            <a:off x="8474253" y="1936355"/>
            <a:ext cx="1905000" cy="428470"/>
          </a:xfrm>
          <a:prstGeom prst="snip2Same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Años 2000-20</a:t>
            </a:r>
          </a:p>
        </p:txBody>
      </p:sp>
      <p:sp>
        <p:nvSpPr>
          <p:cNvPr id="36" name="CuadroTexto 35">
            <a:extLst>
              <a:ext uri="{FF2B5EF4-FFF2-40B4-BE49-F238E27FC236}">
                <a16:creationId xmlns:a16="http://schemas.microsoft.com/office/drawing/2014/main" id="{B3D0FA52-F907-CE15-3A4C-8B9D7F4C33E4}"/>
              </a:ext>
            </a:extLst>
          </p:cNvPr>
          <p:cNvSpPr txBox="1"/>
          <p:nvPr/>
        </p:nvSpPr>
        <p:spPr>
          <a:xfrm>
            <a:off x="7941666" y="3124200"/>
            <a:ext cx="2970174" cy="1477328"/>
          </a:xfrm>
          <a:prstGeom prst="rect">
            <a:avLst/>
          </a:prstGeom>
          <a:noFill/>
          <a:ln>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p:spPr>
        <p:txBody>
          <a:bodyPr wrap="square" rtlCol="0">
            <a:spAutoFit/>
          </a:bodyPr>
          <a:lstStyle/>
          <a:p>
            <a:pPr algn="ctr"/>
            <a:r>
              <a:rPr lang="es-ES" dirty="0"/>
              <a:t>Aparece el término de Responsabilidad Social Corporativa (RSC) o Empresarial (RSE) que valora el impacto social y ambiental</a:t>
            </a:r>
          </a:p>
        </p:txBody>
      </p:sp>
      <p:cxnSp>
        <p:nvCxnSpPr>
          <p:cNvPr id="37" name="Conector recto 36">
            <a:extLst>
              <a:ext uri="{FF2B5EF4-FFF2-40B4-BE49-F238E27FC236}">
                <a16:creationId xmlns:a16="http://schemas.microsoft.com/office/drawing/2014/main" id="{6638B1A2-35C4-1ED6-9106-5276FFE6D63B}"/>
              </a:ext>
            </a:extLst>
          </p:cNvPr>
          <p:cNvCxnSpPr>
            <a:cxnSpLocks/>
          </p:cNvCxnSpPr>
          <p:nvPr/>
        </p:nvCxnSpPr>
        <p:spPr>
          <a:xfrm>
            <a:off x="9426347" y="2364825"/>
            <a:ext cx="0" cy="759375"/>
          </a:xfrm>
          <a:prstGeom prst="line">
            <a:avLst/>
          </a:prstGeom>
          <a:ln w="476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Flecha: a la derecha 38">
            <a:extLst>
              <a:ext uri="{FF2B5EF4-FFF2-40B4-BE49-F238E27FC236}">
                <a16:creationId xmlns:a16="http://schemas.microsoft.com/office/drawing/2014/main" id="{81B9EAC7-4716-74EC-8FA5-40B7CA9031F4}"/>
              </a:ext>
            </a:extLst>
          </p:cNvPr>
          <p:cNvSpPr/>
          <p:nvPr/>
        </p:nvSpPr>
        <p:spPr>
          <a:xfrm>
            <a:off x="3753660" y="2078379"/>
            <a:ext cx="528484" cy="169604"/>
          </a:xfrm>
          <a:prstGeom prst="rightArrow">
            <a:avLst>
              <a:gd name="adj1" fmla="val 50000"/>
              <a:gd name="adj2" fmla="val 114567"/>
            </a:avLst>
          </a:prstGeom>
          <a:solidFill>
            <a:srgbClr val="FFC30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Flecha: a la derecha 39">
            <a:extLst>
              <a:ext uri="{FF2B5EF4-FFF2-40B4-BE49-F238E27FC236}">
                <a16:creationId xmlns:a16="http://schemas.microsoft.com/office/drawing/2014/main" id="{4F349955-C427-5C1F-C201-EA48853F8AEA}"/>
              </a:ext>
            </a:extLst>
          </p:cNvPr>
          <p:cNvSpPr/>
          <p:nvPr/>
        </p:nvSpPr>
        <p:spPr>
          <a:xfrm>
            <a:off x="7413183" y="2062251"/>
            <a:ext cx="528484" cy="169604"/>
          </a:xfrm>
          <a:prstGeom prst="rightArrow">
            <a:avLst>
              <a:gd name="adj1" fmla="val 50000"/>
              <a:gd name="adj2" fmla="val 114567"/>
            </a:avLst>
          </a:prstGeom>
          <a:solidFill>
            <a:srgbClr val="FFC30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esquinas superiores cortadas 40">
            <a:extLst>
              <a:ext uri="{FF2B5EF4-FFF2-40B4-BE49-F238E27FC236}">
                <a16:creationId xmlns:a16="http://schemas.microsoft.com/office/drawing/2014/main" id="{A06EA1F5-D42A-FDD7-0B62-346F4A91F098}"/>
              </a:ext>
            </a:extLst>
          </p:cNvPr>
          <p:cNvSpPr/>
          <p:nvPr/>
        </p:nvSpPr>
        <p:spPr>
          <a:xfrm>
            <a:off x="2133600" y="5518721"/>
            <a:ext cx="1539240" cy="428470"/>
          </a:xfrm>
          <a:prstGeom prst="snip2SameRect">
            <a:avLst/>
          </a:prstGeom>
          <a:solidFill>
            <a:srgbClr val="A4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Año 2020</a:t>
            </a:r>
          </a:p>
        </p:txBody>
      </p:sp>
      <p:sp>
        <p:nvSpPr>
          <p:cNvPr id="42" name="CuadroTexto 41">
            <a:extLst>
              <a:ext uri="{FF2B5EF4-FFF2-40B4-BE49-F238E27FC236}">
                <a16:creationId xmlns:a16="http://schemas.microsoft.com/office/drawing/2014/main" id="{40927438-794A-DE3B-C82C-117459BEAB62}"/>
              </a:ext>
            </a:extLst>
          </p:cNvPr>
          <p:cNvSpPr txBox="1"/>
          <p:nvPr/>
        </p:nvSpPr>
        <p:spPr>
          <a:xfrm>
            <a:off x="4495800" y="5071237"/>
            <a:ext cx="3886200" cy="1323439"/>
          </a:xfrm>
          <a:prstGeom prst="rect">
            <a:avLst/>
          </a:prstGeom>
          <a:noFill/>
          <a:ln>
            <a:solidFill>
              <a:srgbClr val="C00000"/>
            </a:solidFill>
          </a:ln>
        </p:spPr>
        <p:txBody>
          <a:bodyPr wrap="square" rtlCol="0">
            <a:spAutoFit/>
          </a:bodyPr>
          <a:lstStyle/>
          <a:p>
            <a:pPr algn="ctr"/>
            <a:r>
              <a:rPr lang="es-ES" sz="2000" dirty="0"/>
              <a:t>Se acuña el término ASG (Ambiental, Social y Gobernanza). En inglés ESG (</a:t>
            </a:r>
            <a:r>
              <a:rPr lang="es-ES" sz="2000" i="1" dirty="0" err="1"/>
              <a:t>Environmental</a:t>
            </a:r>
            <a:r>
              <a:rPr lang="es-ES" sz="2000" i="1" dirty="0"/>
              <a:t>, Social and </a:t>
            </a:r>
            <a:r>
              <a:rPr lang="es-ES" sz="2000" i="1" dirty="0" err="1"/>
              <a:t>Governance</a:t>
            </a:r>
            <a:r>
              <a:rPr lang="es-ES" sz="2000" i="1" dirty="0"/>
              <a:t>) </a:t>
            </a:r>
            <a:endParaRPr lang="es-ES" sz="2000" dirty="0"/>
          </a:p>
        </p:txBody>
      </p:sp>
      <p:cxnSp>
        <p:nvCxnSpPr>
          <p:cNvPr id="44" name="Conector recto 43">
            <a:extLst>
              <a:ext uri="{FF2B5EF4-FFF2-40B4-BE49-F238E27FC236}">
                <a16:creationId xmlns:a16="http://schemas.microsoft.com/office/drawing/2014/main" id="{CACCF567-1A82-BEF5-9F51-415073F0F677}"/>
              </a:ext>
            </a:extLst>
          </p:cNvPr>
          <p:cNvCxnSpPr>
            <a:endCxn id="42" idx="1"/>
          </p:cNvCxnSpPr>
          <p:nvPr/>
        </p:nvCxnSpPr>
        <p:spPr>
          <a:xfrm>
            <a:off x="3558540" y="5730240"/>
            <a:ext cx="937260" cy="2717"/>
          </a:xfrm>
          <a:prstGeom prst="line">
            <a:avLst/>
          </a:prstGeom>
          <a:ln w="50800">
            <a:solidFill>
              <a:srgbClr val="A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158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CONCEPTO DE ASG O ESG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Flecha: a la derecha 2">
            <a:extLst>
              <a:ext uri="{FF2B5EF4-FFF2-40B4-BE49-F238E27FC236}">
                <a16:creationId xmlns:a16="http://schemas.microsoft.com/office/drawing/2014/main" id="{D189E4BC-4053-48BA-908E-B4163F5A09EC}"/>
              </a:ext>
            </a:extLst>
          </p:cNvPr>
          <p:cNvSpPr/>
          <p:nvPr/>
        </p:nvSpPr>
        <p:spPr>
          <a:xfrm>
            <a:off x="454742" y="5362882"/>
            <a:ext cx="11282516" cy="169604"/>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Elipse 5">
            <a:extLst>
              <a:ext uri="{FF2B5EF4-FFF2-40B4-BE49-F238E27FC236}">
                <a16:creationId xmlns:a16="http://schemas.microsoft.com/office/drawing/2014/main" id="{C40D91CE-5161-2249-E0A5-03CCC7C4422C}"/>
              </a:ext>
            </a:extLst>
          </p:cNvPr>
          <p:cNvSpPr/>
          <p:nvPr/>
        </p:nvSpPr>
        <p:spPr>
          <a:xfrm>
            <a:off x="3630179" y="5320957"/>
            <a:ext cx="253455" cy="253455"/>
          </a:xfrm>
          <a:prstGeom prst="ellipse">
            <a:avLst/>
          </a:prstGeom>
          <a:solidFill>
            <a:srgbClr val="C00000"/>
          </a:solidFill>
          <a:effectLst>
            <a:glow rad="101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ipse 7">
            <a:extLst>
              <a:ext uri="{FF2B5EF4-FFF2-40B4-BE49-F238E27FC236}">
                <a16:creationId xmlns:a16="http://schemas.microsoft.com/office/drawing/2014/main" id="{7EA529EA-BCAB-D9E4-48A1-EC874CBE2147}"/>
              </a:ext>
            </a:extLst>
          </p:cNvPr>
          <p:cNvSpPr/>
          <p:nvPr/>
        </p:nvSpPr>
        <p:spPr>
          <a:xfrm>
            <a:off x="7059583" y="5320957"/>
            <a:ext cx="253455" cy="253455"/>
          </a:xfrm>
          <a:prstGeom prst="ellipse">
            <a:avLst/>
          </a:prstGeom>
          <a:solidFill>
            <a:srgbClr val="FFCB25"/>
          </a:solidFill>
          <a:effectLst>
            <a:glow rad="101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Elipse 9">
            <a:extLst>
              <a:ext uri="{FF2B5EF4-FFF2-40B4-BE49-F238E27FC236}">
                <a16:creationId xmlns:a16="http://schemas.microsoft.com/office/drawing/2014/main" id="{ED0AA6B2-9362-B66E-8CFD-9A21B0023592}"/>
              </a:ext>
            </a:extLst>
          </p:cNvPr>
          <p:cNvSpPr/>
          <p:nvPr/>
        </p:nvSpPr>
        <p:spPr>
          <a:xfrm>
            <a:off x="10488988" y="5320957"/>
            <a:ext cx="253455" cy="253455"/>
          </a:xfrm>
          <a:prstGeom prst="ellipse">
            <a:avLst/>
          </a:prstGeom>
          <a:solidFill>
            <a:schemeClr val="accent6">
              <a:lumMod val="75000"/>
            </a:schemeClr>
          </a:solidFill>
          <a:effectLst>
            <a:glow rad="101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9C3F536F-9144-D341-3EE7-DA787119A184}"/>
              </a:ext>
            </a:extLst>
          </p:cNvPr>
          <p:cNvSpPr txBox="1"/>
          <p:nvPr/>
        </p:nvSpPr>
        <p:spPr>
          <a:xfrm>
            <a:off x="3194921" y="5770449"/>
            <a:ext cx="1106129" cy="400110"/>
          </a:xfrm>
          <a:prstGeom prst="rect">
            <a:avLst/>
          </a:prstGeom>
          <a:noFill/>
        </p:spPr>
        <p:txBody>
          <a:bodyPr wrap="square" rtlCol="0">
            <a:spAutoFit/>
          </a:bodyPr>
          <a:lstStyle/>
          <a:p>
            <a:pPr algn="ctr"/>
            <a:r>
              <a:rPr lang="es-ES" sz="2000" dirty="0"/>
              <a:t>2020</a:t>
            </a:r>
          </a:p>
        </p:txBody>
      </p:sp>
      <p:sp>
        <p:nvSpPr>
          <p:cNvPr id="12" name="CuadroTexto 11">
            <a:extLst>
              <a:ext uri="{FF2B5EF4-FFF2-40B4-BE49-F238E27FC236}">
                <a16:creationId xmlns:a16="http://schemas.microsoft.com/office/drawing/2014/main" id="{B873304F-0061-6FDA-9CEA-F1E2BCCF5F20}"/>
              </a:ext>
            </a:extLst>
          </p:cNvPr>
          <p:cNvSpPr txBox="1"/>
          <p:nvPr/>
        </p:nvSpPr>
        <p:spPr>
          <a:xfrm>
            <a:off x="6641676" y="5770449"/>
            <a:ext cx="1106129" cy="400110"/>
          </a:xfrm>
          <a:prstGeom prst="rect">
            <a:avLst/>
          </a:prstGeom>
          <a:noFill/>
        </p:spPr>
        <p:txBody>
          <a:bodyPr wrap="square" rtlCol="0">
            <a:spAutoFit/>
          </a:bodyPr>
          <a:lstStyle/>
          <a:p>
            <a:pPr algn="ctr"/>
            <a:r>
              <a:rPr lang="es-ES" sz="2000" dirty="0"/>
              <a:t>2030</a:t>
            </a:r>
          </a:p>
        </p:txBody>
      </p:sp>
      <p:sp>
        <p:nvSpPr>
          <p:cNvPr id="13" name="CuadroTexto 12">
            <a:extLst>
              <a:ext uri="{FF2B5EF4-FFF2-40B4-BE49-F238E27FC236}">
                <a16:creationId xmlns:a16="http://schemas.microsoft.com/office/drawing/2014/main" id="{C79CC7CC-D3EF-27EE-4F8F-F6C64CF75ED1}"/>
              </a:ext>
            </a:extLst>
          </p:cNvPr>
          <p:cNvSpPr txBox="1"/>
          <p:nvPr/>
        </p:nvSpPr>
        <p:spPr>
          <a:xfrm>
            <a:off x="10062650" y="5779651"/>
            <a:ext cx="1106129" cy="400110"/>
          </a:xfrm>
          <a:prstGeom prst="rect">
            <a:avLst/>
          </a:prstGeom>
          <a:noFill/>
        </p:spPr>
        <p:txBody>
          <a:bodyPr wrap="square" rtlCol="0">
            <a:spAutoFit/>
          </a:bodyPr>
          <a:lstStyle/>
          <a:p>
            <a:pPr algn="ctr"/>
            <a:r>
              <a:rPr lang="es-ES" sz="2000" dirty="0"/>
              <a:t>?</a:t>
            </a:r>
          </a:p>
        </p:txBody>
      </p:sp>
      <p:sp>
        <p:nvSpPr>
          <p:cNvPr id="14" name="Rectángulo: esquinas diagonales redondeadas 13">
            <a:extLst>
              <a:ext uri="{FF2B5EF4-FFF2-40B4-BE49-F238E27FC236}">
                <a16:creationId xmlns:a16="http://schemas.microsoft.com/office/drawing/2014/main" id="{617C0027-0A47-DBF6-FA9B-8297DFE00C33}"/>
              </a:ext>
            </a:extLst>
          </p:cNvPr>
          <p:cNvSpPr/>
          <p:nvPr/>
        </p:nvSpPr>
        <p:spPr>
          <a:xfrm>
            <a:off x="1191665" y="2194104"/>
            <a:ext cx="1952694" cy="824836"/>
          </a:xfrm>
          <a:prstGeom prst="round2Diag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Responsabilidad Social Corporativa (RSC)</a:t>
            </a:r>
          </a:p>
        </p:txBody>
      </p:sp>
      <p:sp>
        <p:nvSpPr>
          <p:cNvPr id="16" name="Rectángulo: esquinas diagonales redondeadas 15">
            <a:extLst>
              <a:ext uri="{FF2B5EF4-FFF2-40B4-BE49-F238E27FC236}">
                <a16:creationId xmlns:a16="http://schemas.microsoft.com/office/drawing/2014/main" id="{B572BC91-88FB-E90E-8DAB-C7F5D9834489}"/>
              </a:ext>
            </a:extLst>
          </p:cNvPr>
          <p:cNvSpPr/>
          <p:nvPr/>
        </p:nvSpPr>
        <p:spPr>
          <a:xfrm>
            <a:off x="4556157" y="2194104"/>
            <a:ext cx="1952694" cy="824836"/>
          </a:xfrm>
          <a:prstGeom prst="round2DiagRect">
            <a:avLst/>
          </a:prstGeom>
          <a:solidFill>
            <a:srgbClr val="FFCB2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Ambiental, Social y Gobernanza (ASG)</a:t>
            </a:r>
          </a:p>
        </p:txBody>
      </p:sp>
      <p:sp>
        <p:nvSpPr>
          <p:cNvPr id="17" name="Rectángulo: esquinas diagonales redondeadas 16">
            <a:extLst>
              <a:ext uri="{FF2B5EF4-FFF2-40B4-BE49-F238E27FC236}">
                <a16:creationId xmlns:a16="http://schemas.microsoft.com/office/drawing/2014/main" id="{832ECB26-8EB0-5660-1808-1082EBD71D12}"/>
              </a:ext>
            </a:extLst>
          </p:cNvPr>
          <p:cNvSpPr/>
          <p:nvPr/>
        </p:nvSpPr>
        <p:spPr>
          <a:xfrm>
            <a:off x="7993563" y="2194104"/>
            <a:ext cx="1952694" cy="824836"/>
          </a:xfrm>
          <a:prstGeom prst="round2Diag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a:t>
            </a:r>
          </a:p>
        </p:txBody>
      </p:sp>
      <p:sp>
        <p:nvSpPr>
          <p:cNvPr id="4" name="CuadroTexto 3">
            <a:extLst>
              <a:ext uri="{FF2B5EF4-FFF2-40B4-BE49-F238E27FC236}">
                <a16:creationId xmlns:a16="http://schemas.microsoft.com/office/drawing/2014/main" id="{CBBAA203-7F67-C22C-1F7C-557302AA4549}"/>
              </a:ext>
            </a:extLst>
          </p:cNvPr>
          <p:cNvSpPr txBox="1"/>
          <p:nvPr/>
        </p:nvSpPr>
        <p:spPr>
          <a:xfrm>
            <a:off x="1002890" y="3324525"/>
            <a:ext cx="2330245" cy="369332"/>
          </a:xfrm>
          <a:prstGeom prst="rect">
            <a:avLst/>
          </a:prstGeom>
          <a:noFill/>
        </p:spPr>
        <p:txBody>
          <a:bodyPr wrap="square" rtlCol="0">
            <a:spAutoFit/>
          </a:bodyPr>
          <a:lstStyle/>
          <a:p>
            <a:pPr algn="ctr"/>
            <a:r>
              <a:rPr lang="es-ES" dirty="0"/>
              <a:t>Toma de conciencia</a:t>
            </a:r>
          </a:p>
        </p:txBody>
      </p:sp>
      <p:sp>
        <p:nvSpPr>
          <p:cNvPr id="18" name="CuadroTexto 17">
            <a:extLst>
              <a:ext uri="{FF2B5EF4-FFF2-40B4-BE49-F238E27FC236}">
                <a16:creationId xmlns:a16="http://schemas.microsoft.com/office/drawing/2014/main" id="{8BC9BD47-D9A4-F196-6A1D-55D4A87AC29A}"/>
              </a:ext>
            </a:extLst>
          </p:cNvPr>
          <p:cNvSpPr txBox="1"/>
          <p:nvPr/>
        </p:nvSpPr>
        <p:spPr>
          <a:xfrm>
            <a:off x="4367382" y="3324525"/>
            <a:ext cx="2330245" cy="369332"/>
          </a:xfrm>
          <a:prstGeom prst="rect">
            <a:avLst/>
          </a:prstGeom>
          <a:noFill/>
        </p:spPr>
        <p:txBody>
          <a:bodyPr wrap="square" rtlCol="0">
            <a:spAutoFit/>
          </a:bodyPr>
          <a:lstStyle/>
          <a:p>
            <a:pPr algn="ctr"/>
            <a:r>
              <a:rPr lang="es-ES" dirty="0"/>
              <a:t>Primeras iniciativas</a:t>
            </a:r>
          </a:p>
        </p:txBody>
      </p:sp>
      <p:sp>
        <p:nvSpPr>
          <p:cNvPr id="20" name="CuadroTexto 19">
            <a:extLst>
              <a:ext uri="{FF2B5EF4-FFF2-40B4-BE49-F238E27FC236}">
                <a16:creationId xmlns:a16="http://schemas.microsoft.com/office/drawing/2014/main" id="{F99C7E6E-F3A0-0035-EEB6-604791FBDED2}"/>
              </a:ext>
            </a:extLst>
          </p:cNvPr>
          <p:cNvSpPr txBox="1"/>
          <p:nvPr/>
        </p:nvSpPr>
        <p:spPr>
          <a:xfrm>
            <a:off x="7804788" y="3186026"/>
            <a:ext cx="2330245" cy="646331"/>
          </a:xfrm>
          <a:prstGeom prst="rect">
            <a:avLst/>
          </a:prstGeom>
          <a:noFill/>
        </p:spPr>
        <p:txBody>
          <a:bodyPr wrap="square" rtlCol="0">
            <a:spAutoFit/>
          </a:bodyPr>
          <a:lstStyle/>
          <a:p>
            <a:pPr algn="ctr"/>
            <a:r>
              <a:rPr lang="es-ES" dirty="0"/>
              <a:t>Consolidación de las prácticas</a:t>
            </a:r>
          </a:p>
        </p:txBody>
      </p:sp>
      <p:sp>
        <p:nvSpPr>
          <p:cNvPr id="21" name="Rectángulo 20">
            <a:extLst>
              <a:ext uri="{FF2B5EF4-FFF2-40B4-BE49-F238E27FC236}">
                <a16:creationId xmlns:a16="http://schemas.microsoft.com/office/drawing/2014/main" id="{EDC6249E-2CB0-0502-1FDD-3C5060FF2B39}"/>
              </a:ext>
            </a:extLst>
          </p:cNvPr>
          <p:cNvSpPr/>
          <p:nvPr/>
        </p:nvSpPr>
        <p:spPr>
          <a:xfrm>
            <a:off x="1122558" y="3965841"/>
            <a:ext cx="2090908" cy="476727"/>
          </a:xfrm>
          <a:prstGeom prst="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Compromiso</a:t>
            </a:r>
          </a:p>
        </p:txBody>
      </p:sp>
      <p:sp>
        <p:nvSpPr>
          <p:cNvPr id="22" name="Rectángulo 21">
            <a:extLst>
              <a:ext uri="{FF2B5EF4-FFF2-40B4-BE49-F238E27FC236}">
                <a16:creationId xmlns:a16="http://schemas.microsoft.com/office/drawing/2014/main" id="{5370CBD1-4BF4-7AB9-CAD6-3709204C3C4D}"/>
              </a:ext>
            </a:extLst>
          </p:cNvPr>
          <p:cNvSpPr/>
          <p:nvPr/>
        </p:nvSpPr>
        <p:spPr>
          <a:xfrm>
            <a:off x="4487050" y="4027446"/>
            <a:ext cx="2090908" cy="476727"/>
          </a:xfrm>
          <a:prstGeom prst="rect">
            <a:avLst/>
          </a:prstGeom>
          <a:solidFill>
            <a:srgbClr val="FFCB2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Desempeño</a:t>
            </a:r>
          </a:p>
        </p:txBody>
      </p:sp>
      <p:sp>
        <p:nvSpPr>
          <p:cNvPr id="23" name="Rectángulo 22">
            <a:extLst>
              <a:ext uri="{FF2B5EF4-FFF2-40B4-BE49-F238E27FC236}">
                <a16:creationId xmlns:a16="http://schemas.microsoft.com/office/drawing/2014/main" id="{F0047E93-328C-2226-DD7D-7429DD181B72}"/>
              </a:ext>
            </a:extLst>
          </p:cNvPr>
          <p:cNvSpPr/>
          <p:nvPr/>
        </p:nvSpPr>
        <p:spPr>
          <a:xfrm>
            <a:off x="7924456" y="4027446"/>
            <a:ext cx="2090908" cy="476727"/>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Consecuencias</a:t>
            </a:r>
          </a:p>
        </p:txBody>
      </p:sp>
      <p:sp>
        <p:nvSpPr>
          <p:cNvPr id="24" name="Flecha: a la derecha 23">
            <a:extLst>
              <a:ext uri="{FF2B5EF4-FFF2-40B4-BE49-F238E27FC236}">
                <a16:creationId xmlns:a16="http://schemas.microsoft.com/office/drawing/2014/main" id="{9372F824-7459-4F0F-5ECE-B8605DD2AED3}"/>
              </a:ext>
            </a:extLst>
          </p:cNvPr>
          <p:cNvSpPr/>
          <p:nvPr/>
        </p:nvSpPr>
        <p:spPr>
          <a:xfrm>
            <a:off x="3630179" y="4179672"/>
            <a:ext cx="528484" cy="169604"/>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Flecha: a la derecha 24">
            <a:extLst>
              <a:ext uri="{FF2B5EF4-FFF2-40B4-BE49-F238E27FC236}">
                <a16:creationId xmlns:a16="http://schemas.microsoft.com/office/drawing/2014/main" id="{1067A255-2FCA-FE65-8C79-391EA8203EA9}"/>
              </a:ext>
            </a:extLst>
          </p:cNvPr>
          <p:cNvSpPr/>
          <p:nvPr/>
        </p:nvSpPr>
        <p:spPr>
          <a:xfrm>
            <a:off x="7000207" y="4179672"/>
            <a:ext cx="528484" cy="169604"/>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uadroTexto 26">
            <a:extLst>
              <a:ext uri="{FF2B5EF4-FFF2-40B4-BE49-F238E27FC236}">
                <a16:creationId xmlns:a16="http://schemas.microsoft.com/office/drawing/2014/main" id="{F9B61101-F777-E214-414F-77C80EFF1421}"/>
              </a:ext>
            </a:extLst>
          </p:cNvPr>
          <p:cNvSpPr txBox="1"/>
          <p:nvPr/>
        </p:nvSpPr>
        <p:spPr>
          <a:xfrm>
            <a:off x="997411" y="4823074"/>
            <a:ext cx="2330245" cy="369332"/>
          </a:xfrm>
          <a:prstGeom prst="rect">
            <a:avLst/>
          </a:prstGeom>
          <a:noFill/>
        </p:spPr>
        <p:txBody>
          <a:bodyPr wrap="square" rtlCol="0">
            <a:spAutoFit/>
          </a:bodyPr>
          <a:lstStyle/>
          <a:p>
            <a:pPr algn="ctr"/>
            <a:r>
              <a:rPr lang="es-ES" dirty="0"/>
              <a:t>Crear Riqueza</a:t>
            </a:r>
          </a:p>
        </p:txBody>
      </p:sp>
      <p:sp>
        <p:nvSpPr>
          <p:cNvPr id="28" name="CuadroTexto 27">
            <a:extLst>
              <a:ext uri="{FF2B5EF4-FFF2-40B4-BE49-F238E27FC236}">
                <a16:creationId xmlns:a16="http://schemas.microsoft.com/office/drawing/2014/main" id="{D5B8ACF3-4BDA-4064-0F00-9AD354A7628C}"/>
              </a:ext>
            </a:extLst>
          </p:cNvPr>
          <p:cNvSpPr txBox="1"/>
          <p:nvPr/>
        </p:nvSpPr>
        <p:spPr>
          <a:xfrm>
            <a:off x="4367382" y="4823074"/>
            <a:ext cx="2330245" cy="369332"/>
          </a:xfrm>
          <a:prstGeom prst="rect">
            <a:avLst/>
          </a:prstGeom>
          <a:noFill/>
        </p:spPr>
        <p:txBody>
          <a:bodyPr wrap="square" rtlCol="0">
            <a:spAutoFit/>
          </a:bodyPr>
          <a:lstStyle/>
          <a:p>
            <a:pPr algn="ctr"/>
            <a:r>
              <a:rPr lang="es-ES" dirty="0"/>
              <a:t>Crear Valor</a:t>
            </a:r>
          </a:p>
        </p:txBody>
      </p:sp>
      <p:sp>
        <p:nvSpPr>
          <p:cNvPr id="29" name="CuadroTexto 28">
            <a:extLst>
              <a:ext uri="{FF2B5EF4-FFF2-40B4-BE49-F238E27FC236}">
                <a16:creationId xmlns:a16="http://schemas.microsoft.com/office/drawing/2014/main" id="{32AFCFEF-7964-626F-039E-D78AACF7CB9E}"/>
              </a:ext>
            </a:extLst>
          </p:cNvPr>
          <p:cNvSpPr txBox="1"/>
          <p:nvPr/>
        </p:nvSpPr>
        <p:spPr>
          <a:xfrm>
            <a:off x="7804788" y="4823074"/>
            <a:ext cx="2330245" cy="369332"/>
          </a:xfrm>
          <a:prstGeom prst="rect">
            <a:avLst/>
          </a:prstGeom>
          <a:noFill/>
        </p:spPr>
        <p:txBody>
          <a:bodyPr wrap="square" rtlCol="0">
            <a:spAutoFit/>
          </a:bodyPr>
          <a:lstStyle/>
          <a:p>
            <a:pPr algn="ctr"/>
            <a:r>
              <a:rPr lang="es-ES" dirty="0"/>
              <a:t>Regenerar Bienestar</a:t>
            </a:r>
          </a:p>
        </p:txBody>
      </p:sp>
    </p:spTree>
    <p:extLst>
      <p:ext uri="{BB962C8B-B14F-4D97-AF65-F5344CB8AC3E}">
        <p14:creationId xmlns:p14="http://schemas.microsoft.com/office/powerpoint/2010/main" val="459264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CONCEPTO DE ASG O ESG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33" name="Grupo 32">
            <a:extLst>
              <a:ext uri="{FF2B5EF4-FFF2-40B4-BE49-F238E27FC236}">
                <a16:creationId xmlns:a16="http://schemas.microsoft.com/office/drawing/2014/main" id="{4A83F6E5-CFF1-EDBB-2D26-FF69CC059BC5}"/>
              </a:ext>
            </a:extLst>
          </p:cNvPr>
          <p:cNvGrpSpPr/>
          <p:nvPr/>
        </p:nvGrpSpPr>
        <p:grpSpPr>
          <a:xfrm>
            <a:off x="575494" y="1640274"/>
            <a:ext cx="5730240" cy="5046995"/>
            <a:chOff x="2831690" y="2030898"/>
            <a:chExt cx="3897583" cy="3567981"/>
          </a:xfrm>
        </p:grpSpPr>
        <p:sp>
          <p:nvSpPr>
            <p:cNvPr id="30" name="Elipse 29">
              <a:extLst>
                <a:ext uri="{FF2B5EF4-FFF2-40B4-BE49-F238E27FC236}">
                  <a16:creationId xmlns:a16="http://schemas.microsoft.com/office/drawing/2014/main" id="{299B0E16-7CAB-8913-A3A1-9E9498AEBBDD}"/>
                </a:ext>
              </a:extLst>
            </p:cNvPr>
            <p:cNvSpPr/>
            <p:nvPr/>
          </p:nvSpPr>
          <p:spPr>
            <a:xfrm>
              <a:off x="2831690" y="2030898"/>
              <a:ext cx="2477729" cy="2477729"/>
            </a:xfrm>
            <a:prstGeom prst="ellipse">
              <a:avLst/>
            </a:prstGeom>
            <a:solidFill>
              <a:schemeClr val="accent6">
                <a:lumMod val="75000"/>
                <a:alpha val="7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Elipse 30">
              <a:extLst>
                <a:ext uri="{FF2B5EF4-FFF2-40B4-BE49-F238E27FC236}">
                  <a16:creationId xmlns:a16="http://schemas.microsoft.com/office/drawing/2014/main" id="{17F402F6-09C9-5DBB-99C1-907733FB9067}"/>
                </a:ext>
              </a:extLst>
            </p:cNvPr>
            <p:cNvSpPr/>
            <p:nvPr/>
          </p:nvSpPr>
          <p:spPr>
            <a:xfrm>
              <a:off x="4251544" y="2030898"/>
              <a:ext cx="2477729" cy="2477729"/>
            </a:xfrm>
            <a:prstGeom prst="ellipse">
              <a:avLst/>
            </a:prstGeom>
            <a:solidFill>
              <a:srgbClr val="C0000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Elipse 31">
              <a:extLst>
                <a:ext uri="{FF2B5EF4-FFF2-40B4-BE49-F238E27FC236}">
                  <a16:creationId xmlns:a16="http://schemas.microsoft.com/office/drawing/2014/main" id="{54AD2A45-FC22-D65B-B55B-94E2DD392BBB}"/>
                </a:ext>
              </a:extLst>
            </p:cNvPr>
            <p:cNvSpPr/>
            <p:nvPr/>
          </p:nvSpPr>
          <p:spPr>
            <a:xfrm>
              <a:off x="3541617" y="3121150"/>
              <a:ext cx="2477729" cy="2477729"/>
            </a:xfrm>
            <a:prstGeom prst="ellipse">
              <a:avLst/>
            </a:prstGeom>
            <a:solidFill>
              <a:schemeClr val="accent1">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34" name="CuadroTexto 33">
            <a:extLst>
              <a:ext uri="{FF2B5EF4-FFF2-40B4-BE49-F238E27FC236}">
                <a16:creationId xmlns:a16="http://schemas.microsoft.com/office/drawing/2014/main" id="{0977326E-28E1-345F-A515-BBD5047C1027}"/>
              </a:ext>
            </a:extLst>
          </p:cNvPr>
          <p:cNvSpPr txBox="1"/>
          <p:nvPr/>
        </p:nvSpPr>
        <p:spPr>
          <a:xfrm>
            <a:off x="636454" y="2965837"/>
            <a:ext cx="1996440" cy="369332"/>
          </a:xfrm>
          <a:prstGeom prst="rect">
            <a:avLst/>
          </a:prstGeom>
          <a:noFill/>
        </p:spPr>
        <p:txBody>
          <a:bodyPr wrap="square" rtlCol="0">
            <a:spAutoFit/>
          </a:bodyPr>
          <a:lstStyle/>
          <a:p>
            <a:pPr algn="ctr"/>
            <a:r>
              <a:rPr lang="es-ES" b="1" dirty="0"/>
              <a:t>MEDIOAMBIENTE</a:t>
            </a:r>
          </a:p>
        </p:txBody>
      </p:sp>
      <p:sp>
        <p:nvSpPr>
          <p:cNvPr id="35" name="CuadroTexto 34">
            <a:extLst>
              <a:ext uri="{FF2B5EF4-FFF2-40B4-BE49-F238E27FC236}">
                <a16:creationId xmlns:a16="http://schemas.microsoft.com/office/drawing/2014/main" id="{0C27FCC3-D8AA-9D0A-C24B-EF57A4339228}"/>
              </a:ext>
            </a:extLst>
          </p:cNvPr>
          <p:cNvSpPr txBox="1"/>
          <p:nvPr/>
        </p:nvSpPr>
        <p:spPr>
          <a:xfrm>
            <a:off x="4263777" y="2965837"/>
            <a:ext cx="1996440" cy="369332"/>
          </a:xfrm>
          <a:prstGeom prst="rect">
            <a:avLst/>
          </a:prstGeom>
          <a:noFill/>
        </p:spPr>
        <p:txBody>
          <a:bodyPr wrap="square" rtlCol="0">
            <a:spAutoFit/>
          </a:bodyPr>
          <a:lstStyle/>
          <a:p>
            <a:pPr algn="ctr"/>
            <a:r>
              <a:rPr lang="es-ES" b="1" dirty="0"/>
              <a:t>SOCIAL</a:t>
            </a:r>
          </a:p>
        </p:txBody>
      </p:sp>
      <p:sp>
        <p:nvSpPr>
          <p:cNvPr id="36" name="CuadroTexto 35">
            <a:extLst>
              <a:ext uri="{FF2B5EF4-FFF2-40B4-BE49-F238E27FC236}">
                <a16:creationId xmlns:a16="http://schemas.microsoft.com/office/drawing/2014/main" id="{67B21289-5AE1-1728-1AA9-C62AE0E4D95F}"/>
              </a:ext>
            </a:extLst>
          </p:cNvPr>
          <p:cNvSpPr txBox="1"/>
          <p:nvPr/>
        </p:nvSpPr>
        <p:spPr>
          <a:xfrm>
            <a:off x="2442394" y="5457332"/>
            <a:ext cx="1996440" cy="369332"/>
          </a:xfrm>
          <a:prstGeom prst="rect">
            <a:avLst/>
          </a:prstGeom>
          <a:noFill/>
        </p:spPr>
        <p:txBody>
          <a:bodyPr wrap="square" rtlCol="0">
            <a:spAutoFit/>
          </a:bodyPr>
          <a:lstStyle/>
          <a:p>
            <a:pPr algn="ctr"/>
            <a:r>
              <a:rPr lang="es-ES" b="1" dirty="0"/>
              <a:t>GOBERNANZA</a:t>
            </a:r>
          </a:p>
        </p:txBody>
      </p:sp>
      <p:sp>
        <p:nvSpPr>
          <p:cNvPr id="37" name="CuadroTexto 36">
            <a:extLst>
              <a:ext uri="{FF2B5EF4-FFF2-40B4-BE49-F238E27FC236}">
                <a16:creationId xmlns:a16="http://schemas.microsoft.com/office/drawing/2014/main" id="{441947BE-CF79-E2E5-A2CB-265A69434886}"/>
              </a:ext>
            </a:extLst>
          </p:cNvPr>
          <p:cNvSpPr txBox="1"/>
          <p:nvPr/>
        </p:nvSpPr>
        <p:spPr>
          <a:xfrm>
            <a:off x="2487911" y="3583043"/>
            <a:ext cx="1996440" cy="523220"/>
          </a:xfrm>
          <a:prstGeom prst="rect">
            <a:avLst/>
          </a:prstGeom>
          <a:noFill/>
        </p:spPr>
        <p:txBody>
          <a:bodyPr wrap="square" rtlCol="0">
            <a:spAutoFit/>
          </a:bodyPr>
          <a:lstStyle/>
          <a:p>
            <a:pPr algn="ctr"/>
            <a:r>
              <a:rPr lang="es-ES" sz="2800" b="1" dirty="0"/>
              <a:t>ASG</a:t>
            </a:r>
          </a:p>
        </p:txBody>
      </p:sp>
      <p:sp>
        <p:nvSpPr>
          <p:cNvPr id="38" name="Rectángulo: esquinas diagonales redondeadas 37">
            <a:extLst>
              <a:ext uri="{FF2B5EF4-FFF2-40B4-BE49-F238E27FC236}">
                <a16:creationId xmlns:a16="http://schemas.microsoft.com/office/drawing/2014/main" id="{08C80684-68AE-966D-342F-204BB1FCAF21}"/>
              </a:ext>
            </a:extLst>
          </p:cNvPr>
          <p:cNvSpPr/>
          <p:nvPr/>
        </p:nvSpPr>
        <p:spPr>
          <a:xfrm>
            <a:off x="8016240" y="2225040"/>
            <a:ext cx="2834640" cy="548640"/>
          </a:xfrm>
          <a:prstGeom prst="round2DiagRect">
            <a:avLst>
              <a:gd name="adj1" fmla="val 33334"/>
              <a:gd name="adj2" fmla="val 0"/>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TRIPLE BALANCE</a:t>
            </a:r>
          </a:p>
        </p:txBody>
      </p:sp>
      <p:sp>
        <p:nvSpPr>
          <p:cNvPr id="39" name="Flecha: hacia abajo 38">
            <a:extLst>
              <a:ext uri="{FF2B5EF4-FFF2-40B4-BE49-F238E27FC236}">
                <a16:creationId xmlns:a16="http://schemas.microsoft.com/office/drawing/2014/main" id="{72A87712-E396-6559-5FB9-1C4544B28505}"/>
              </a:ext>
            </a:extLst>
          </p:cNvPr>
          <p:cNvSpPr/>
          <p:nvPr/>
        </p:nvSpPr>
        <p:spPr>
          <a:xfrm>
            <a:off x="9218184" y="3008859"/>
            <a:ext cx="430752" cy="617206"/>
          </a:xfrm>
          <a:prstGeom prst="downArrow">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CuadroTexto 39">
            <a:extLst>
              <a:ext uri="{FF2B5EF4-FFF2-40B4-BE49-F238E27FC236}">
                <a16:creationId xmlns:a16="http://schemas.microsoft.com/office/drawing/2014/main" id="{6FB9C665-2412-D121-A64E-A85E6F268A49}"/>
              </a:ext>
            </a:extLst>
          </p:cNvPr>
          <p:cNvSpPr txBox="1"/>
          <p:nvPr/>
        </p:nvSpPr>
        <p:spPr>
          <a:xfrm>
            <a:off x="8016240" y="3844653"/>
            <a:ext cx="2834640" cy="1015663"/>
          </a:xfrm>
          <a:prstGeom prst="rect">
            <a:avLst/>
          </a:prstGeom>
          <a:noFill/>
        </p:spPr>
        <p:txBody>
          <a:bodyPr wrap="square" rtlCol="0">
            <a:spAutoFit/>
          </a:bodyPr>
          <a:lstStyle/>
          <a:p>
            <a:pPr algn="ctr"/>
            <a:r>
              <a:rPr lang="es-ES" sz="2000" dirty="0"/>
              <a:t>Las empresas son valoradas por criterios no financieros</a:t>
            </a:r>
          </a:p>
        </p:txBody>
      </p:sp>
    </p:spTree>
    <p:extLst>
      <p:ext uri="{BB962C8B-B14F-4D97-AF65-F5344CB8AC3E}">
        <p14:creationId xmlns:p14="http://schemas.microsoft.com/office/powerpoint/2010/main" val="240648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CONCEPTO DE ASG O ESG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4" name="Imagen 3" descr="Forma&#10;&#10;Descripción generada automáticamente">
            <a:extLst>
              <a:ext uri="{FF2B5EF4-FFF2-40B4-BE49-F238E27FC236}">
                <a16:creationId xmlns:a16="http://schemas.microsoft.com/office/drawing/2014/main" id="{15301B45-7D62-D41C-5CA8-14408C1F04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50" y="1325881"/>
            <a:ext cx="8873352" cy="5288918"/>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6" name="Rectángulo: esquinas diagonales redondeadas 5">
            <a:extLst>
              <a:ext uri="{FF2B5EF4-FFF2-40B4-BE49-F238E27FC236}">
                <a16:creationId xmlns:a16="http://schemas.microsoft.com/office/drawing/2014/main" id="{8841F569-B459-EC3E-6A63-AE33A3FF06AA}"/>
              </a:ext>
            </a:extLst>
          </p:cNvPr>
          <p:cNvSpPr/>
          <p:nvPr/>
        </p:nvSpPr>
        <p:spPr>
          <a:xfrm>
            <a:off x="8854440" y="2225040"/>
            <a:ext cx="2834640" cy="548640"/>
          </a:xfrm>
          <a:prstGeom prst="round2DiagRect">
            <a:avLst>
              <a:gd name="adj1" fmla="val 33334"/>
              <a:gd name="adj2" fmla="val 0"/>
            </a:avLst>
          </a:prstGeom>
          <a:solidFill>
            <a:schemeClr val="tx1">
              <a:lumMod val="75000"/>
              <a:lumOff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ASG / ODS</a:t>
            </a:r>
          </a:p>
        </p:txBody>
      </p:sp>
      <p:sp>
        <p:nvSpPr>
          <p:cNvPr id="8" name="Flecha: hacia abajo 7">
            <a:extLst>
              <a:ext uri="{FF2B5EF4-FFF2-40B4-BE49-F238E27FC236}">
                <a16:creationId xmlns:a16="http://schemas.microsoft.com/office/drawing/2014/main" id="{7185B21D-E3C9-514C-B451-29EB35B39417}"/>
              </a:ext>
            </a:extLst>
          </p:cNvPr>
          <p:cNvSpPr/>
          <p:nvPr/>
        </p:nvSpPr>
        <p:spPr>
          <a:xfrm>
            <a:off x="10056384" y="3008859"/>
            <a:ext cx="430752" cy="617206"/>
          </a:xfrm>
          <a:prstGeom prst="downArrow">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DD13F515-5F97-AFF3-3CD3-B60E16F17C45}"/>
              </a:ext>
            </a:extLst>
          </p:cNvPr>
          <p:cNvSpPr txBox="1"/>
          <p:nvPr/>
        </p:nvSpPr>
        <p:spPr>
          <a:xfrm>
            <a:off x="8854440" y="3844653"/>
            <a:ext cx="2834640" cy="1631216"/>
          </a:xfrm>
          <a:prstGeom prst="rect">
            <a:avLst/>
          </a:prstGeom>
          <a:noFill/>
        </p:spPr>
        <p:txBody>
          <a:bodyPr wrap="square" rtlCol="0">
            <a:spAutoFit/>
          </a:bodyPr>
          <a:lstStyle/>
          <a:p>
            <a:pPr algn="ctr"/>
            <a:r>
              <a:rPr lang="es-ES" sz="2000" dirty="0"/>
              <a:t>Los criterios ASG o ESG son la forma en cómo las empresas pueden contribuir a la consecución de los ODS</a:t>
            </a:r>
          </a:p>
        </p:txBody>
      </p:sp>
    </p:spTree>
    <p:extLst>
      <p:ext uri="{BB962C8B-B14F-4D97-AF65-F5344CB8AC3E}">
        <p14:creationId xmlns:p14="http://schemas.microsoft.com/office/powerpoint/2010/main" val="1977031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CONCEPTO DE ASG O ESG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3" name="Imagen 2">
            <a:extLst>
              <a:ext uri="{FF2B5EF4-FFF2-40B4-BE49-F238E27FC236}">
                <a16:creationId xmlns:a16="http://schemas.microsoft.com/office/drawing/2014/main" id="{BEDFE7AF-5969-32A3-74D3-5CEDBC09613C}"/>
              </a:ext>
            </a:extLst>
          </p:cNvPr>
          <p:cNvPicPr>
            <a:picLocks noChangeAspect="1"/>
          </p:cNvPicPr>
          <p:nvPr/>
        </p:nvPicPr>
        <p:blipFill>
          <a:blip r:embed="rId4"/>
          <a:stretch>
            <a:fillRect/>
          </a:stretch>
        </p:blipFill>
        <p:spPr>
          <a:xfrm>
            <a:off x="777240" y="3084457"/>
            <a:ext cx="1608503" cy="2295174"/>
          </a:xfrm>
          <a:prstGeom prst="rect">
            <a:avLst/>
          </a:prstGeom>
        </p:spPr>
      </p:pic>
      <p:sp>
        <p:nvSpPr>
          <p:cNvPr id="11" name="CuadroTexto 10">
            <a:extLst>
              <a:ext uri="{FF2B5EF4-FFF2-40B4-BE49-F238E27FC236}">
                <a16:creationId xmlns:a16="http://schemas.microsoft.com/office/drawing/2014/main" id="{4644A025-96BE-FDBF-1BA7-E1696D67DBB7}"/>
              </a:ext>
            </a:extLst>
          </p:cNvPr>
          <p:cNvSpPr txBox="1"/>
          <p:nvPr/>
        </p:nvSpPr>
        <p:spPr>
          <a:xfrm>
            <a:off x="781391" y="5551313"/>
            <a:ext cx="1600200" cy="400110"/>
          </a:xfrm>
          <a:prstGeom prst="rect">
            <a:avLst/>
          </a:prstGeom>
          <a:noFill/>
        </p:spPr>
        <p:txBody>
          <a:bodyPr wrap="square" rtlCol="0">
            <a:spAutoFit/>
          </a:bodyPr>
          <a:lstStyle/>
          <a:p>
            <a:pPr algn="ctr"/>
            <a:r>
              <a:rPr lang="es-ES" sz="2000" b="1" dirty="0"/>
              <a:t>EMPRESAS</a:t>
            </a:r>
          </a:p>
        </p:txBody>
      </p:sp>
      <p:sp>
        <p:nvSpPr>
          <p:cNvPr id="12" name="Abrir llave 11">
            <a:extLst>
              <a:ext uri="{FF2B5EF4-FFF2-40B4-BE49-F238E27FC236}">
                <a16:creationId xmlns:a16="http://schemas.microsoft.com/office/drawing/2014/main" id="{94170BD3-6C57-2661-1F97-3B051E996C4D}"/>
              </a:ext>
            </a:extLst>
          </p:cNvPr>
          <p:cNvSpPr/>
          <p:nvPr/>
        </p:nvSpPr>
        <p:spPr>
          <a:xfrm>
            <a:off x="2445733" y="2788920"/>
            <a:ext cx="1082040" cy="2817333"/>
          </a:xfrm>
          <a:prstGeom prst="leftBrace">
            <a:avLst>
              <a:gd name="adj1" fmla="val 29460"/>
              <a:gd name="adj2" fmla="val 50000"/>
            </a:avLst>
          </a:prstGeom>
          <a:ln w="444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3" name="CuadroTexto 12">
            <a:extLst>
              <a:ext uri="{FF2B5EF4-FFF2-40B4-BE49-F238E27FC236}">
                <a16:creationId xmlns:a16="http://schemas.microsoft.com/office/drawing/2014/main" id="{786DFEA5-074D-24C4-C34B-09CA910F9065}"/>
              </a:ext>
            </a:extLst>
          </p:cNvPr>
          <p:cNvSpPr txBox="1"/>
          <p:nvPr/>
        </p:nvSpPr>
        <p:spPr>
          <a:xfrm>
            <a:off x="3526802" y="2935137"/>
            <a:ext cx="3825240" cy="2554545"/>
          </a:xfrm>
          <a:prstGeom prst="rect">
            <a:avLst/>
          </a:prstGeom>
          <a:noFill/>
        </p:spPr>
        <p:txBody>
          <a:bodyPr wrap="square" rtlCol="0">
            <a:spAutoFit/>
          </a:bodyPr>
          <a:lstStyle/>
          <a:p>
            <a:pPr marL="285750" indent="-285750">
              <a:buFont typeface="Arial" panose="020B0604020202020204" pitchFamily="34" charset="0"/>
              <a:buChar char="•"/>
            </a:pPr>
            <a:r>
              <a:rPr lang="es-ES" sz="2000" dirty="0"/>
              <a:t>Seleccionar los ODS que más encajen en su área de negocio.</a:t>
            </a:r>
          </a:p>
          <a:p>
            <a:pPr marL="285750" indent="-285750">
              <a:buFont typeface="Arial" panose="020B0604020202020204" pitchFamily="34" charset="0"/>
              <a:buChar char="•"/>
            </a:pPr>
            <a:endParaRPr lang="es-ES" sz="2000" dirty="0"/>
          </a:p>
          <a:p>
            <a:pPr marL="285750" indent="-285750">
              <a:buFont typeface="Arial" panose="020B0604020202020204" pitchFamily="34" charset="0"/>
              <a:buChar char="•"/>
            </a:pPr>
            <a:r>
              <a:rPr lang="es-ES" sz="2000" dirty="0"/>
              <a:t>Rediseñar estrategias para dirigirlas a más grupos de interés</a:t>
            </a:r>
          </a:p>
          <a:p>
            <a:pPr marL="285750" indent="-285750">
              <a:buFont typeface="Arial" panose="020B0604020202020204" pitchFamily="34" charset="0"/>
              <a:buChar char="•"/>
            </a:pPr>
            <a:endParaRPr lang="es-ES" sz="2000" dirty="0"/>
          </a:p>
          <a:p>
            <a:pPr marL="285750" indent="-285750">
              <a:buFont typeface="Arial" panose="020B0604020202020204" pitchFamily="34" charset="0"/>
              <a:buChar char="•"/>
            </a:pPr>
            <a:r>
              <a:rPr lang="es-ES" sz="2000" dirty="0"/>
              <a:t>Generar valor compartido</a:t>
            </a:r>
          </a:p>
        </p:txBody>
      </p:sp>
      <p:sp>
        <p:nvSpPr>
          <p:cNvPr id="14" name="Rectángulo: esquinas diagonales redondeadas 13">
            <a:extLst>
              <a:ext uri="{FF2B5EF4-FFF2-40B4-BE49-F238E27FC236}">
                <a16:creationId xmlns:a16="http://schemas.microsoft.com/office/drawing/2014/main" id="{1017DC01-E87C-C0CD-D184-619457D7E342}"/>
              </a:ext>
            </a:extLst>
          </p:cNvPr>
          <p:cNvSpPr/>
          <p:nvPr/>
        </p:nvSpPr>
        <p:spPr>
          <a:xfrm>
            <a:off x="4022102" y="1651012"/>
            <a:ext cx="2834640" cy="726423"/>
          </a:xfrm>
          <a:prstGeom prst="round2DiagRect">
            <a:avLst>
              <a:gd name="adj1" fmla="val 33334"/>
              <a:gd name="adj2" fmla="val 0"/>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Sostenibilidad Empresarial</a:t>
            </a:r>
          </a:p>
        </p:txBody>
      </p:sp>
      <p:pic>
        <p:nvPicPr>
          <p:cNvPr id="16" name="Gráfico 15" descr="Lupa con relleno sólido">
            <a:extLst>
              <a:ext uri="{FF2B5EF4-FFF2-40B4-BE49-F238E27FC236}">
                <a16:creationId xmlns:a16="http://schemas.microsoft.com/office/drawing/2014/main" id="{21275F6B-56F0-9487-5B21-B320F27F5E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50206" y="3165741"/>
            <a:ext cx="1996061" cy="1996061"/>
          </a:xfrm>
          <a:prstGeom prst="rect">
            <a:avLst/>
          </a:prstGeom>
        </p:spPr>
      </p:pic>
      <p:sp>
        <p:nvSpPr>
          <p:cNvPr id="17" name="CuadroTexto 16">
            <a:extLst>
              <a:ext uri="{FF2B5EF4-FFF2-40B4-BE49-F238E27FC236}">
                <a16:creationId xmlns:a16="http://schemas.microsoft.com/office/drawing/2014/main" id="{86CA0D9B-C144-198A-9405-4C25A3D1A2A4}"/>
              </a:ext>
            </a:extLst>
          </p:cNvPr>
          <p:cNvSpPr txBox="1"/>
          <p:nvPr/>
        </p:nvSpPr>
        <p:spPr>
          <a:xfrm>
            <a:off x="9782014" y="3359495"/>
            <a:ext cx="1627425" cy="1015663"/>
          </a:xfrm>
          <a:prstGeom prst="rect">
            <a:avLst/>
          </a:prstGeom>
          <a:noFill/>
        </p:spPr>
        <p:txBody>
          <a:bodyPr wrap="square" rtlCol="0">
            <a:spAutoFit/>
          </a:bodyPr>
          <a:lstStyle/>
          <a:p>
            <a:r>
              <a:rPr lang="es-ES" sz="2000" dirty="0">
                <a:solidFill>
                  <a:schemeClr val="accent1">
                    <a:lumMod val="50000"/>
                  </a:schemeClr>
                </a:solidFill>
              </a:rPr>
              <a:t>CLIENTES</a:t>
            </a:r>
          </a:p>
          <a:p>
            <a:endParaRPr lang="es-ES" sz="2000" dirty="0">
              <a:solidFill>
                <a:schemeClr val="accent1">
                  <a:lumMod val="50000"/>
                </a:schemeClr>
              </a:solidFill>
            </a:endParaRPr>
          </a:p>
          <a:p>
            <a:r>
              <a:rPr lang="es-ES" sz="2000" dirty="0">
                <a:solidFill>
                  <a:schemeClr val="accent1">
                    <a:lumMod val="50000"/>
                  </a:schemeClr>
                </a:solidFill>
              </a:rPr>
              <a:t>INVERSORES</a:t>
            </a:r>
          </a:p>
        </p:txBody>
      </p:sp>
      <p:sp>
        <p:nvSpPr>
          <p:cNvPr id="18" name="Flecha: a la derecha 17">
            <a:extLst>
              <a:ext uri="{FF2B5EF4-FFF2-40B4-BE49-F238E27FC236}">
                <a16:creationId xmlns:a16="http://schemas.microsoft.com/office/drawing/2014/main" id="{35DD0218-3DE5-C063-AC5F-F45FF39FBB31}"/>
              </a:ext>
            </a:extLst>
          </p:cNvPr>
          <p:cNvSpPr/>
          <p:nvPr/>
        </p:nvSpPr>
        <p:spPr>
          <a:xfrm>
            <a:off x="7359052" y="1828790"/>
            <a:ext cx="1125208" cy="370867"/>
          </a:xfrm>
          <a:prstGeom prst="rightArrow">
            <a:avLst/>
          </a:prstGeom>
          <a:solidFill>
            <a:schemeClr val="tx1">
              <a:lumMod val="65000"/>
              <a:lumOff val="3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CFEF87C1-1EC6-B3B8-CBB8-D429721F0B2D}"/>
              </a:ext>
            </a:extLst>
          </p:cNvPr>
          <p:cNvSpPr txBox="1"/>
          <p:nvPr/>
        </p:nvSpPr>
        <p:spPr>
          <a:xfrm>
            <a:off x="8664606" y="1691058"/>
            <a:ext cx="3032094" cy="646331"/>
          </a:xfrm>
          <a:prstGeom prst="rect">
            <a:avLst/>
          </a:prstGeom>
          <a:noFill/>
        </p:spPr>
        <p:txBody>
          <a:bodyPr wrap="square" rtlCol="0">
            <a:spAutoFit/>
          </a:bodyPr>
          <a:lstStyle/>
          <a:p>
            <a:pPr algn="ctr"/>
            <a:r>
              <a:rPr lang="es-ES" b="1" dirty="0">
                <a:solidFill>
                  <a:schemeClr val="accent1">
                    <a:lumMod val="50000"/>
                  </a:schemeClr>
                </a:solidFill>
              </a:rPr>
              <a:t>SUPERVIVENCIA DE LA EMPRESA A LARGO PLAZO</a:t>
            </a:r>
          </a:p>
        </p:txBody>
      </p:sp>
    </p:spTree>
    <p:extLst>
      <p:ext uri="{BB962C8B-B14F-4D97-AF65-F5344CB8AC3E}">
        <p14:creationId xmlns:p14="http://schemas.microsoft.com/office/powerpoint/2010/main" val="28645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CONCEPTO DE ASG O ESG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6" name="Imagen 5" descr="Diagrama&#10;&#10;Descripción generada automáticamente">
            <a:extLst>
              <a:ext uri="{FF2B5EF4-FFF2-40B4-BE49-F238E27FC236}">
                <a16:creationId xmlns:a16="http://schemas.microsoft.com/office/drawing/2014/main" id="{2A24B523-555B-DBDF-4950-9752E1F3BC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814" y="1344367"/>
            <a:ext cx="10862866" cy="5315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927569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4.3. ASPECTOS AMBIENTALES</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248436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PROTECCIÓN DE LA BIODIVERSIDAD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redondeadas 2">
            <a:extLst>
              <a:ext uri="{FF2B5EF4-FFF2-40B4-BE49-F238E27FC236}">
                <a16:creationId xmlns:a16="http://schemas.microsoft.com/office/drawing/2014/main" id="{6528390F-E4F2-C2FC-417A-7A1E035752D1}"/>
              </a:ext>
            </a:extLst>
          </p:cNvPr>
          <p:cNvSpPr/>
          <p:nvPr/>
        </p:nvSpPr>
        <p:spPr>
          <a:xfrm>
            <a:off x="914400" y="2036147"/>
            <a:ext cx="10287000" cy="1127667"/>
          </a:xfrm>
          <a:prstGeom prst="round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La situación de la biodiversidad actualmente es de alto riesgo. Sin embargo, las empresas que no están en contacto con el medio natural la consideran un tema tangencial </a:t>
            </a:r>
          </a:p>
        </p:txBody>
      </p:sp>
      <p:sp>
        <p:nvSpPr>
          <p:cNvPr id="4" name="Flecha: a la derecha con muesca 3">
            <a:extLst>
              <a:ext uri="{FF2B5EF4-FFF2-40B4-BE49-F238E27FC236}">
                <a16:creationId xmlns:a16="http://schemas.microsoft.com/office/drawing/2014/main" id="{CD0A97AE-B6A8-1FBA-F5EB-2006BC548DD0}"/>
              </a:ext>
            </a:extLst>
          </p:cNvPr>
          <p:cNvSpPr/>
          <p:nvPr/>
        </p:nvSpPr>
        <p:spPr>
          <a:xfrm rot="5400000">
            <a:off x="5227208" y="3775068"/>
            <a:ext cx="1661385" cy="792432"/>
          </a:xfrm>
          <a:prstGeom prst="notchedRightArrow">
            <a:avLst/>
          </a:prstGeom>
          <a:solidFill>
            <a:schemeClr val="bg2">
              <a:lumMod val="1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esquinas redondeadas 7">
            <a:extLst>
              <a:ext uri="{FF2B5EF4-FFF2-40B4-BE49-F238E27FC236}">
                <a16:creationId xmlns:a16="http://schemas.microsoft.com/office/drawing/2014/main" id="{72DFCEFE-352D-325E-52A2-77F799C2285D}"/>
              </a:ext>
            </a:extLst>
          </p:cNvPr>
          <p:cNvSpPr/>
          <p:nvPr/>
        </p:nvSpPr>
        <p:spPr>
          <a:xfrm>
            <a:off x="3078480" y="5187262"/>
            <a:ext cx="5958840" cy="1119468"/>
          </a:xfrm>
          <a:prstGeom prst="round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Son medias de adaptación y mitigación del cambio climático y una fuente de riqueza económica</a:t>
            </a:r>
          </a:p>
        </p:txBody>
      </p:sp>
      <p:pic>
        <p:nvPicPr>
          <p:cNvPr id="13" name="Imagen 12">
            <a:extLst>
              <a:ext uri="{FF2B5EF4-FFF2-40B4-BE49-F238E27FC236}">
                <a16:creationId xmlns:a16="http://schemas.microsoft.com/office/drawing/2014/main" id="{37A88E67-4635-8571-3E99-160889B86C95}"/>
              </a:ext>
            </a:extLst>
          </p:cNvPr>
          <p:cNvPicPr>
            <a:picLocks noChangeAspect="1"/>
          </p:cNvPicPr>
          <p:nvPr/>
        </p:nvPicPr>
        <p:blipFill>
          <a:blip r:embed="rId4"/>
          <a:stretch>
            <a:fillRect/>
          </a:stretch>
        </p:blipFill>
        <p:spPr>
          <a:xfrm>
            <a:off x="6729273" y="3213583"/>
            <a:ext cx="1396483" cy="1929970"/>
          </a:xfrm>
          <a:prstGeom prst="rect">
            <a:avLst/>
          </a:prstGeom>
        </p:spPr>
      </p:pic>
    </p:spTree>
    <p:extLst>
      <p:ext uri="{BB962C8B-B14F-4D97-AF65-F5344CB8AC3E}">
        <p14:creationId xmlns:p14="http://schemas.microsoft.com/office/powerpoint/2010/main" val="1339293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PROTECCIÓN DE LA BIODIVERSIDAD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7D67D01C-E5BB-F966-FD34-582601EF5E17}"/>
              </a:ext>
            </a:extLst>
          </p:cNvPr>
          <p:cNvPicPr>
            <a:picLocks noChangeAspect="1"/>
          </p:cNvPicPr>
          <p:nvPr/>
        </p:nvPicPr>
        <p:blipFill>
          <a:blip r:embed="rId4"/>
          <a:stretch>
            <a:fillRect/>
          </a:stretch>
        </p:blipFill>
        <p:spPr>
          <a:xfrm>
            <a:off x="548640" y="2703457"/>
            <a:ext cx="1608503" cy="2295174"/>
          </a:xfrm>
          <a:prstGeom prst="rect">
            <a:avLst/>
          </a:prstGeom>
        </p:spPr>
      </p:pic>
      <p:sp>
        <p:nvSpPr>
          <p:cNvPr id="10" name="CuadroTexto 9">
            <a:extLst>
              <a:ext uri="{FF2B5EF4-FFF2-40B4-BE49-F238E27FC236}">
                <a16:creationId xmlns:a16="http://schemas.microsoft.com/office/drawing/2014/main" id="{38BA02C1-18A4-BBC2-CB31-060BC2E34E4D}"/>
              </a:ext>
            </a:extLst>
          </p:cNvPr>
          <p:cNvSpPr txBox="1"/>
          <p:nvPr/>
        </p:nvSpPr>
        <p:spPr>
          <a:xfrm>
            <a:off x="552791" y="5170313"/>
            <a:ext cx="1600200" cy="400110"/>
          </a:xfrm>
          <a:prstGeom prst="rect">
            <a:avLst/>
          </a:prstGeom>
          <a:noFill/>
        </p:spPr>
        <p:txBody>
          <a:bodyPr wrap="square" rtlCol="0">
            <a:spAutoFit/>
          </a:bodyPr>
          <a:lstStyle/>
          <a:p>
            <a:pPr algn="ctr"/>
            <a:r>
              <a:rPr lang="es-ES" sz="2000" b="1" dirty="0"/>
              <a:t>EMPRESAS</a:t>
            </a:r>
          </a:p>
        </p:txBody>
      </p:sp>
      <p:sp>
        <p:nvSpPr>
          <p:cNvPr id="11" name="CuadroTexto 10">
            <a:extLst>
              <a:ext uri="{FF2B5EF4-FFF2-40B4-BE49-F238E27FC236}">
                <a16:creationId xmlns:a16="http://schemas.microsoft.com/office/drawing/2014/main" id="{B9584BCD-3CCB-518E-7488-EB2A350F85CC}"/>
              </a:ext>
            </a:extLst>
          </p:cNvPr>
          <p:cNvSpPr txBox="1"/>
          <p:nvPr/>
        </p:nvSpPr>
        <p:spPr>
          <a:xfrm>
            <a:off x="2764500" y="3151022"/>
            <a:ext cx="2316480" cy="1477328"/>
          </a:xfrm>
          <a:prstGeom prst="rect">
            <a:avLst/>
          </a:prstGeom>
          <a:noFill/>
          <a:ln w="31750">
            <a:solidFill>
              <a:schemeClr val="bg2">
                <a:lumMod val="50000"/>
              </a:schemeClr>
            </a:solidFill>
          </a:ln>
        </p:spPr>
        <p:txBody>
          <a:bodyPr wrap="square" rtlCol="0">
            <a:spAutoFit/>
          </a:bodyPr>
          <a:lstStyle/>
          <a:p>
            <a:pPr algn="ctr"/>
            <a:r>
              <a:rPr lang="es-ES" dirty="0"/>
              <a:t>Asignar responsabilidad sobre biodiversidad a un miembro de su equipo de administración</a:t>
            </a:r>
          </a:p>
        </p:txBody>
      </p:sp>
      <p:pic>
        <p:nvPicPr>
          <p:cNvPr id="14" name="Imagen 13">
            <a:extLst>
              <a:ext uri="{FF2B5EF4-FFF2-40B4-BE49-F238E27FC236}">
                <a16:creationId xmlns:a16="http://schemas.microsoft.com/office/drawing/2014/main" id="{E95CBDB4-2C11-C871-A25F-6E4BBC78EF49}"/>
              </a:ext>
            </a:extLst>
          </p:cNvPr>
          <p:cNvPicPr>
            <a:picLocks noChangeAspect="1"/>
          </p:cNvPicPr>
          <p:nvPr/>
        </p:nvPicPr>
        <p:blipFill>
          <a:blip r:embed="rId5"/>
          <a:stretch>
            <a:fillRect/>
          </a:stretch>
        </p:blipFill>
        <p:spPr>
          <a:xfrm>
            <a:off x="3493709" y="1768524"/>
            <a:ext cx="834155" cy="1325563"/>
          </a:xfrm>
          <a:prstGeom prst="rect">
            <a:avLst/>
          </a:prstGeom>
        </p:spPr>
      </p:pic>
      <p:sp>
        <p:nvSpPr>
          <p:cNvPr id="15" name="Flecha: a la derecha 14">
            <a:extLst>
              <a:ext uri="{FF2B5EF4-FFF2-40B4-BE49-F238E27FC236}">
                <a16:creationId xmlns:a16="http://schemas.microsoft.com/office/drawing/2014/main" id="{BA353F79-632D-5532-BD00-79EDB18BBAD1}"/>
              </a:ext>
            </a:extLst>
          </p:cNvPr>
          <p:cNvSpPr/>
          <p:nvPr/>
        </p:nvSpPr>
        <p:spPr>
          <a:xfrm>
            <a:off x="2152991" y="3804884"/>
            <a:ext cx="528484" cy="169604"/>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573628F5-95E6-B976-1235-ABDFEB8E6559}"/>
              </a:ext>
            </a:extLst>
          </p:cNvPr>
          <p:cNvSpPr txBox="1"/>
          <p:nvPr/>
        </p:nvSpPr>
        <p:spPr>
          <a:xfrm>
            <a:off x="5775514" y="3151022"/>
            <a:ext cx="2316480" cy="1477328"/>
          </a:xfrm>
          <a:prstGeom prst="rect">
            <a:avLst/>
          </a:prstGeom>
          <a:noFill/>
          <a:ln w="31750">
            <a:solidFill>
              <a:schemeClr val="bg2">
                <a:lumMod val="50000"/>
              </a:schemeClr>
            </a:solidFill>
          </a:ln>
        </p:spPr>
        <p:txBody>
          <a:bodyPr wrap="square" rtlCol="0">
            <a:spAutoFit/>
          </a:bodyPr>
          <a:lstStyle/>
          <a:p>
            <a:pPr algn="ctr"/>
            <a:r>
              <a:rPr lang="es-ES" dirty="0"/>
              <a:t>Adoptar políticas de gestión sostenible para los recursos naturales que consumen</a:t>
            </a:r>
          </a:p>
        </p:txBody>
      </p:sp>
      <p:sp>
        <p:nvSpPr>
          <p:cNvPr id="17" name="Flecha: a la derecha 16">
            <a:extLst>
              <a:ext uri="{FF2B5EF4-FFF2-40B4-BE49-F238E27FC236}">
                <a16:creationId xmlns:a16="http://schemas.microsoft.com/office/drawing/2014/main" id="{C6CF3E47-6467-A5DE-75BC-842F7BE011BD}"/>
              </a:ext>
            </a:extLst>
          </p:cNvPr>
          <p:cNvSpPr/>
          <p:nvPr/>
        </p:nvSpPr>
        <p:spPr>
          <a:xfrm>
            <a:off x="5164005" y="3804884"/>
            <a:ext cx="528484" cy="169604"/>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9" name="Imagen 18">
            <a:extLst>
              <a:ext uri="{FF2B5EF4-FFF2-40B4-BE49-F238E27FC236}">
                <a16:creationId xmlns:a16="http://schemas.microsoft.com/office/drawing/2014/main" id="{3CAB1B5A-6E28-EFD2-C19B-B0953F120F5B}"/>
              </a:ext>
            </a:extLst>
          </p:cNvPr>
          <p:cNvPicPr>
            <a:picLocks noChangeAspect="1"/>
          </p:cNvPicPr>
          <p:nvPr/>
        </p:nvPicPr>
        <p:blipFill>
          <a:blip r:embed="rId6"/>
          <a:stretch>
            <a:fillRect/>
          </a:stretch>
        </p:blipFill>
        <p:spPr>
          <a:xfrm>
            <a:off x="6260397" y="1602660"/>
            <a:ext cx="1300520" cy="1477328"/>
          </a:xfrm>
          <a:prstGeom prst="rect">
            <a:avLst/>
          </a:prstGeom>
        </p:spPr>
      </p:pic>
      <p:sp>
        <p:nvSpPr>
          <p:cNvPr id="20" name="CuadroTexto 19">
            <a:extLst>
              <a:ext uri="{FF2B5EF4-FFF2-40B4-BE49-F238E27FC236}">
                <a16:creationId xmlns:a16="http://schemas.microsoft.com/office/drawing/2014/main" id="{EC02245F-B47B-31FF-990B-6F88E7B5DDA2}"/>
              </a:ext>
            </a:extLst>
          </p:cNvPr>
          <p:cNvSpPr txBox="1"/>
          <p:nvPr/>
        </p:nvSpPr>
        <p:spPr>
          <a:xfrm>
            <a:off x="8786526" y="3151022"/>
            <a:ext cx="2316480" cy="1477328"/>
          </a:xfrm>
          <a:prstGeom prst="rect">
            <a:avLst/>
          </a:prstGeom>
          <a:noFill/>
          <a:ln w="31750">
            <a:solidFill>
              <a:schemeClr val="bg2">
                <a:lumMod val="50000"/>
              </a:schemeClr>
            </a:solidFill>
          </a:ln>
        </p:spPr>
        <p:txBody>
          <a:bodyPr wrap="square" rtlCol="0">
            <a:spAutoFit/>
          </a:bodyPr>
          <a:lstStyle/>
          <a:p>
            <a:pPr algn="ctr"/>
            <a:r>
              <a:rPr lang="es-ES" dirty="0"/>
              <a:t>Apoyar programas de conservación y recuperación de espacios naturales, con alianzas.</a:t>
            </a:r>
          </a:p>
        </p:txBody>
      </p:sp>
      <p:pic>
        <p:nvPicPr>
          <p:cNvPr id="22" name="Imagen 21">
            <a:extLst>
              <a:ext uri="{FF2B5EF4-FFF2-40B4-BE49-F238E27FC236}">
                <a16:creationId xmlns:a16="http://schemas.microsoft.com/office/drawing/2014/main" id="{87E5ED8F-0D73-73F4-044C-90432BF23914}"/>
              </a:ext>
            </a:extLst>
          </p:cNvPr>
          <p:cNvPicPr>
            <a:picLocks noChangeAspect="1"/>
          </p:cNvPicPr>
          <p:nvPr/>
        </p:nvPicPr>
        <p:blipFill>
          <a:blip r:embed="rId7"/>
          <a:stretch>
            <a:fillRect/>
          </a:stretch>
        </p:blipFill>
        <p:spPr>
          <a:xfrm>
            <a:off x="9240473" y="1773704"/>
            <a:ext cx="1365104" cy="1211376"/>
          </a:xfrm>
          <a:prstGeom prst="rect">
            <a:avLst/>
          </a:prstGeom>
        </p:spPr>
      </p:pic>
      <p:sp>
        <p:nvSpPr>
          <p:cNvPr id="23" name="Flecha: a la derecha 22">
            <a:extLst>
              <a:ext uri="{FF2B5EF4-FFF2-40B4-BE49-F238E27FC236}">
                <a16:creationId xmlns:a16="http://schemas.microsoft.com/office/drawing/2014/main" id="{A308E92F-7DD8-554F-0B13-34EEE42C15F4}"/>
              </a:ext>
            </a:extLst>
          </p:cNvPr>
          <p:cNvSpPr/>
          <p:nvPr/>
        </p:nvSpPr>
        <p:spPr>
          <a:xfrm>
            <a:off x="8175019" y="3804884"/>
            <a:ext cx="528484" cy="169604"/>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Flecha: a la derecha 23">
            <a:extLst>
              <a:ext uri="{FF2B5EF4-FFF2-40B4-BE49-F238E27FC236}">
                <a16:creationId xmlns:a16="http://schemas.microsoft.com/office/drawing/2014/main" id="{732AC0A4-80E3-9D77-8643-0EBC0E38B10B}"/>
              </a:ext>
            </a:extLst>
          </p:cNvPr>
          <p:cNvSpPr/>
          <p:nvPr/>
        </p:nvSpPr>
        <p:spPr>
          <a:xfrm rot="7548091">
            <a:off x="6017031" y="4952923"/>
            <a:ext cx="972595" cy="302952"/>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uadroTexto 24">
            <a:extLst>
              <a:ext uri="{FF2B5EF4-FFF2-40B4-BE49-F238E27FC236}">
                <a16:creationId xmlns:a16="http://schemas.microsoft.com/office/drawing/2014/main" id="{FA7B98FB-7A38-0F71-60B8-419356BBD518}"/>
              </a:ext>
            </a:extLst>
          </p:cNvPr>
          <p:cNvSpPr txBox="1"/>
          <p:nvPr/>
        </p:nvSpPr>
        <p:spPr>
          <a:xfrm>
            <a:off x="5080980" y="5589616"/>
            <a:ext cx="1378815" cy="646331"/>
          </a:xfrm>
          <a:prstGeom prst="rect">
            <a:avLst/>
          </a:prstGeom>
          <a:noFill/>
          <a:ln w="31750">
            <a:solidFill>
              <a:schemeClr val="bg2">
                <a:lumMod val="50000"/>
              </a:schemeClr>
            </a:solidFill>
          </a:ln>
        </p:spPr>
        <p:txBody>
          <a:bodyPr wrap="square" rtlCol="0">
            <a:spAutoFit/>
          </a:bodyPr>
          <a:lstStyle/>
          <a:p>
            <a:pPr algn="ctr"/>
            <a:r>
              <a:rPr lang="es-ES" dirty="0"/>
              <a:t>Innovar en el diseño</a:t>
            </a:r>
          </a:p>
        </p:txBody>
      </p:sp>
      <p:sp>
        <p:nvSpPr>
          <p:cNvPr id="26" name="Flecha: a la derecha 25">
            <a:extLst>
              <a:ext uri="{FF2B5EF4-FFF2-40B4-BE49-F238E27FC236}">
                <a16:creationId xmlns:a16="http://schemas.microsoft.com/office/drawing/2014/main" id="{78098E58-FB91-7B26-9E60-BF85457FBE8B}"/>
              </a:ext>
            </a:extLst>
          </p:cNvPr>
          <p:cNvSpPr/>
          <p:nvPr/>
        </p:nvSpPr>
        <p:spPr>
          <a:xfrm rot="14051909" flipH="1">
            <a:off x="6870471" y="4968163"/>
            <a:ext cx="972595" cy="302952"/>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F3548EAA-8202-2412-9C03-8ED6CC256891}"/>
              </a:ext>
            </a:extLst>
          </p:cNvPr>
          <p:cNvSpPr txBox="1"/>
          <p:nvPr/>
        </p:nvSpPr>
        <p:spPr>
          <a:xfrm>
            <a:off x="7356768" y="5589616"/>
            <a:ext cx="1378815" cy="646331"/>
          </a:xfrm>
          <a:prstGeom prst="rect">
            <a:avLst/>
          </a:prstGeom>
          <a:noFill/>
          <a:ln w="31750">
            <a:solidFill>
              <a:schemeClr val="bg2">
                <a:lumMod val="50000"/>
              </a:schemeClr>
            </a:solidFill>
          </a:ln>
        </p:spPr>
        <p:txBody>
          <a:bodyPr wrap="square" rtlCol="0">
            <a:spAutoFit/>
          </a:bodyPr>
          <a:lstStyle/>
          <a:p>
            <a:pPr algn="ctr"/>
            <a:r>
              <a:rPr lang="es-ES" dirty="0"/>
              <a:t>Nuevos proveedores</a:t>
            </a:r>
          </a:p>
        </p:txBody>
      </p:sp>
    </p:spTree>
    <p:extLst>
      <p:ext uri="{BB962C8B-B14F-4D97-AF65-F5344CB8AC3E}">
        <p14:creationId xmlns:p14="http://schemas.microsoft.com/office/powerpoint/2010/main" val="2943867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PROTECCIÓN DE LA BIODIVERSIDAD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8" name="Imagen 7">
            <a:extLst>
              <a:ext uri="{FF2B5EF4-FFF2-40B4-BE49-F238E27FC236}">
                <a16:creationId xmlns:a16="http://schemas.microsoft.com/office/drawing/2014/main" id="{0A976824-0AC3-0E24-B085-40608AC2672A}"/>
              </a:ext>
            </a:extLst>
          </p:cNvPr>
          <p:cNvPicPr>
            <a:picLocks noChangeAspect="1"/>
          </p:cNvPicPr>
          <p:nvPr/>
        </p:nvPicPr>
        <p:blipFill>
          <a:blip r:embed="rId4"/>
          <a:stretch>
            <a:fillRect/>
          </a:stretch>
        </p:blipFill>
        <p:spPr>
          <a:xfrm>
            <a:off x="405170" y="2835367"/>
            <a:ext cx="11004269" cy="1601240"/>
          </a:xfrm>
          <a:prstGeom prst="rect">
            <a:avLst/>
          </a:prstGeom>
        </p:spPr>
      </p:pic>
      <p:sp>
        <p:nvSpPr>
          <p:cNvPr id="10" name="CuadroTexto 9">
            <a:extLst>
              <a:ext uri="{FF2B5EF4-FFF2-40B4-BE49-F238E27FC236}">
                <a16:creationId xmlns:a16="http://schemas.microsoft.com/office/drawing/2014/main" id="{46CD2D18-885B-D3EF-A303-1B5B7EF96896}"/>
              </a:ext>
            </a:extLst>
          </p:cNvPr>
          <p:cNvSpPr txBox="1"/>
          <p:nvPr/>
        </p:nvSpPr>
        <p:spPr>
          <a:xfrm>
            <a:off x="588050" y="4682923"/>
            <a:ext cx="2033230" cy="923330"/>
          </a:xfrm>
          <a:prstGeom prst="rect">
            <a:avLst/>
          </a:prstGeom>
          <a:noFill/>
        </p:spPr>
        <p:txBody>
          <a:bodyPr wrap="square" rtlCol="0">
            <a:spAutoFit/>
          </a:bodyPr>
          <a:lstStyle/>
          <a:p>
            <a:pPr algn="ctr"/>
            <a:r>
              <a:rPr lang="es-ES" dirty="0"/>
              <a:t>De la actividad de la empresa sobre el medio natural</a:t>
            </a:r>
          </a:p>
        </p:txBody>
      </p:sp>
      <p:sp>
        <p:nvSpPr>
          <p:cNvPr id="11" name="CuadroTexto 10">
            <a:extLst>
              <a:ext uri="{FF2B5EF4-FFF2-40B4-BE49-F238E27FC236}">
                <a16:creationId xmlns:a16="http://schemas.microsoft.com/office/drawing/2014/main" id="{831ED998-443D-6AF0-95D7-0278419C9A2E}"/>
              </a:ext>
            </a:extLst>
          </p:cNvPr>
          <p:cNvSpPr txBox="1"/>
          <p:nvPr/>
        </p:nvSpPr>
        <p:spPr>
          <a:xfrm>
            <a:off x="2621280" y="1738463"/>
            <a:ext cx="2033230" cy="1200329"/>
          </a:xfrm>
          <a:prstGeom prst="rect">
            <a:avLst/>
          </a:prstGeom>
          <a:noFill/>
        </p:spPr>
        <p:txBody>
          <a:bodyPr wrap="square" rtlCol="0">
            <a:spAutoFit/>
          </a:bodyPr>
          <a:lstStyle/>
          <a:p>
            <a:pPr algn="ctr"/>
            <a:r>
              <a:rPr lang="es-ES" dirty="0"/>
              <a:t>Actuaciones respaldadas por la ciencia para reparar los daños</a:t>
            </a:r>
          </a:p>
        </p:txBody>
      </p:sp>
      <p:sp>
        <p:nvSpPr>
          <p:cNvPr id="12" name="CuadroTexto 11">
            <a:extLst>
              <a:ext uri="{FF2B5EF4-FFF2-40B4-BE49-F238E27FC236}">
                <a16:creationId xmlns:a16="http://schemas.microsoft.com/office/drawing/2014/main" id="{4E09E4CE-B843-B34D-32C0-A94C7EB23F64}"/>
              </a:ext>
            </a:extLst>
          </p:cNvPr>
          <p:cNvSpPr txBox="1"/>
          <p:nvPr/>
        </p:nvSpPr>
        <p:spPr>
          <a:xfrm>
            <a:off x="4654510" y="4701433"/>
            <a:ext cx="2033230" cy="1200329"/>
          </a:xfrm>
          <a:prstGeom prst="rect">
            <a:avLst/>
          </a:prstGeom>
          <a:noFill/>
        </p:spPr>
        <p:txBody>
          <a:bodyPr wrap="square" rtlCol="0">
            <a:spAutoFit/>
          </a:bodyPr>
          <a:lstStyle/>
          <a:p>
            <a:pPr algn="ctr"/>
            <a:r>
              <a:rPr lang="es-ES" dirty="0"/>
              <a:t>Cuando no se puede mitigar el daño, se restaura el ecosistema</a:t>
            </a:r>
          </a:p>
        </p:txBody>
      </p:sp>
      <p:sp>
        <p:nvSpPr>
          <p:cNvPr id="14" name="CuadroTexto 13">
            <a:extLst>
              <a:ext uri="{FF2B5EF4-FFF2-40B4-BE49-F238E27FC236}">
                <a16:creationId xmlns:a16="http://schemas.microsoft.com/office/drawing/2014/main" id="{45EBA5C2-6A5F-50A6-9BEC-9354870FF51D}"/>
              </a:ext>
            </a:extLst>
          </p:cNvPr>
          <p:cNvSpPr txBox="1"/>
          <p:nvPr/>
        </p:nvSpPr>
        <p:spPr>
          <a:xfrm>
            <a:off x="6729273" y="1461464"/>
            <a:ext cx="2033230" cy="1477328"/>
          </a:xfrm>
          <a:prstGeom prst="rect">
            <a:avLst/>
          </a:prstGeom>
          <a:noFill/>
        </p:spPr>
        <p:txBody>
          <a:bodyPr wrap="square" rtlCol="0">
            <a:spAutoFit/>
          </a:bodyPr>
          <a:lstStyle/>
          <a:p>
            <a:pPr algn="ctr"/>
            <a:r>
              <a:rPr lang="es-ES" dirty="0"/>
              <a:t>En otros ecosistemas por no haber podido restaurar completamente</a:t>
            </a:r>
          </a:p>
        </p:txBody>
      </p:sp>
      <p:sp>
        <p:nvSpPr>
          <p:cNvPr id="15" name="Flecha: hacia abajo 14">
            <a:extLst>
              <a:ext uri="{FF2B5EF4-FFF2-40B4-BE49-F238E27FC236}">
                <a16:creationId xmlns:a16="http://schemas.microsoft.com/office/drawing/2014/main" id="{E5ABD712-9124-B29B-CEF9-711F0DBAEC44}"/>
              </a:ext>
            </a:extLst>
          </p:cNvPr>
          <p:cNvSpPr/>
          <p:nvPr/>
        </p:nvSpPr>
        <p:spPr>
          <a:xfrm>
            <a:off x="9998548" y="4404661"/>
            <a:ext cx="430752" cy="617206"/>
          </a:xfrm>
          <a:prstGeom prst="downArrow">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02E0F3B6-4ADB-41E0-D12A-D473706F7F96}"/>
              </a:ext>
            </a:extLst>
          </p:cNvPr>
          <p:cNvSpPr txBox="1"/>
          <p:nvPr/>
        </p:nvSpPr>
        <p:spPr>
          <a:xfrm>
            <a:off x="9197309" y="5083895"/>
            <a:ext cx="2033230" cy="1323439"/>
          </a:xfrm>
          <a:prstGeom prst="rect">
            <a:avLst/>
          </a:prstGeom>
          <a:solidFill>
            <a:srgbClr val="D5EEAC"/>
          </a:solidFill>
        </p:spPr>
        <p:txBody>
          <a:bodyPr wrap="square" rtlCol="0">
            <a:spAutoFit/>
          </a:bodyPr>
          <a:lstStyle/>
          <a:p>
            <a:pPr algn="ctr"/>
            <a:r>
              <a:rPr lang="es-ES" sz="2000" dirty="0"/>
              <a:t>Si las medidas producen beneficios para el medio natural</a:t>
            </a:r>
          </a:p>
        </p:txBody>
      </p:sp>
    </p:spTree>
    <p:extLst>
      <p:ext uri="{BB962C8B-B14F-4D97-AF65-F5344CB8AC3E}">
        <p14:creationId xmlns:p14="http://schemas.microsoft.com/office/powerpoint/2010/main" val="289377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PROTECCIÓN DE LA BIODIVERSIDAD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B6851585-A390-C60A-87D0-6F63BCB17BA5}"/>
              </a:ext>
            </a:extLst>
          </p:cNvPr>
          <p:cNvPicPr>
            <a:picLocks noChangeAspect="1"/>
          </p:cNvPicPr>
          <p:nvPr/>
        </p:nvPicPr>
        <p:blipFill>
          <a:blip r:embed="rId5"/>
          <a:stretch>
            <a:fillRect/>
          </a:stretch>
        </p:blipFill>
        <p:spPr>
          <a:xfrm>
            <a:off x="1850167" y="1275154"/>
            <a:ext cx="8491665" cy="4203946"/>
          </a:xfrm>
          <a:prstGeom prst="rect">
            <a:avLst/>
          </a:prstGeom>
        </p:spPr>
      </p:pic>
      <p:sp>
        <p:nvSpPr>
          <p:cNvPr id="8" name="CuadroTexto 7">
            <a:extLst>
              <a:ext uri="{FF2B5EF4-FFF2-40B4-BE49-F238E27FC236}">
                <a16:creationId xmlns:a16="http://schemas.microsoft.com/office/drawing/2014/main" id="{7970A5F5-CDB5-78F5-AB54-CE52B5E1B319}"/>
              </a:ext>
            </a:extLst>
          </p:cNvPr>
          <p:cNvSpPr txBox="1"/>
          <p:nvPr/>
        </p:nvSpPr>
        <p:spPr>
          <a:xfrm>
            <a:off x="309716" y="5496898"/>
            <a:ext cx="6754761" cy="1200329"/>
          </a:xfrm>
          <a:prstGeom prst="rect">
            <a:avLst/>
          </a:prstGeom>
          <a:solidFill>
            <a:schemeClr val="accent6">
              <a:lumMod val="20000"/>
              <a:lumOff val="80000"/>
            </a:schemeClr>
          </a:solidFill>
        </p:spPr>
        <p:txBody>
          <a:bodyPr wrap="square" rtlCol="0">
            <a:spAutoFit/>
          </a:bodyPr>
          <a:lstStyle/>
          <a:p>
            <a:pPr algn="just"/>
            <a:r>
              <a:rPr lang="es-ES" dirty="0"/>
              <a:t>Las empresas españolas cuentan tanto con la </a:t>
            </a:r>
            <a:r>
              <a:rPr lang="es-ES" dirty="0">
                <a:hlinkClick r:id="rId6"/>
              </a:rPr>
              <a:t>Fundación Biodiversidad </a:t>
            </a:r>
            <a:r>
              <a:rPr lang="es-ES" dirty="0"/>
              <a:t>como la </a:t>
            </a:r>
            <a:r>
              <a:rPr lang="es-ES" dirty="0">
                <a:hlinkClick r:id="rId4"/>
              </a:rPr>
              <a:t>Iniciativa Española Empresa y Biodiversidad</a:t>
            </a:r>
            <a:r>
              <a:rPr lang="es-ES" dirty="0"/>
              <a:t>, plataforma de colaboración pública-privada para la integración en la estrategia empresarial la biodiversidad</a:t>
            </a:r>
          </a:p>
        </p:txBody>
      </p:sp>
      <p:sp>
        <p:nvSpPr>
          <p:cNvPr id="3" name="CuadroTexto 2">
            <a:extLst>
              <a:ext uri="{FF2B5EF4-FFF2-40B4-BE49-F238E27FC236}">
                <a16:creationId xmlns:a16="http://schemas.microsoft.com/office/drawing/2014/main" id="{EF5978F9-FD6C-A01C-28C9-26ABF3BAE062}"/>
              </a:ext>
            </a:extLst>
          </p:cNvPr>
          <p:cNvSpPr txBox="1"/>
          <p:nvPr/>
        </p:nvSpPr>
        <p:spPr>
          <a:xfrm>
            <a:off x="10529994" y="1275154"/>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SOPORTE</a:t>
            </a:r>
          </a:p>
        </p:txBody>
      </p:sp>
    </p:spTree>
    <p:extLst>
      <p:ext uri="{BB962C8B-B14F-4D97-AF65-F5344CB8AC3E}">
        <p14:creationId xmlns:p14="http://schemas.microsoft.com/office/powerpoint/2010/main" val="3075518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PROTECCIÓN DE LA BIODIVERSIDAD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C769D557-05B7-874F-E9D7-AC37C41D1762}"/>
              </a:ext>
            </a:extLst>
          </p:cNvPr>
          <p:cNvPicPr>
            <a:picLocks noChangeAspect="1"/>
          </p:cNvPicPr>
          <p:nvPr/>
        </p:nvPicPr>
        <p:blipFill>
          <a:blip r:embed="rId5"/>
          <a:stretch>
            <a:fillRect/>
          </a:stretch>
        </p:blipFill>
        <p:spPr>
          <a:xfrm>
            <a:off x="944091" y="1376977"/>
            <a:ext cx="8834090" cy="5038823"/>
          </a:xfrm>
          <a:prstGeom prst="rect">
            <a:avLst/>
          </a:prstGeom>
        </p:spPr>
      </p:pic>
      <p:sp>
        <p:nvSpPr>
          <p:cNvPr id="8" name="CuadroTexto 7">
            <a:extLst>
              <a:ext uri="{FF2B5EF4-FFF2-40B4-BE49-F238E27FC236}">
                <a16:creationId xmlns:a16="http://schemas.microsoft.com/office/drawing/2014/main" id="{D3E8B801-AF92-9CA1-03CD-B044E8384DD7}"/>
              </a:ext>
            </a:extLst>
          </p:cNvPr>
          <p:cNvSpPr txBox="1"/>
          <p:nvPr/>
        </p:nvSpPr>
        <p:spPr>
          <a:xfrm>
            <a:off x="10146536" y="3429000"/>
            <a:ext cx="1622677" cy="923330"/>
          </a:xfrm>
          <a:prstGeom prst="rect">
            <a:avLst/>
          </a:prstGeom>
          <a:noFill/>
        </p:spPr>
        <p:txBody>
          <a:bodyPr wrap="square" rtlCol="0">
            <a:spAutoFit/>
          </a:bodyPr>
          <a:lstStyle/>
          <a:p>
            <a:pPr algn="ctr"/>
            <a:r>
              <a:rPr lang="es-ES" dirty="0">
                <a:hlinkClick r:id="rId6"/>
              </a:rPr>
              <a:t>Vídeo Explicativo del proyecto</a:t>
            </a:r>
            <a:endParaRPr lang="es-ES" dirty="0"/>
          </a:p>
        </p:txBody>
      </p:sp>
      <p:sp>
        <p:nvSpPr>
          <p:cNvPr id="11" name="CuadroTexto 10">
            <a:extLst>
              <a:ext uri="{FF2B5EF4-FFF2-40B4-BE49-F238E27FC236}">
                <a16:creationId xmlns:a16="http://schemas.microsoft.com/office/drawing/2014/main" id="{0FA7A567-4F36-6FD7-0AD3-E6E3EB1BC6F6}"/>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Tree>
    <p:extLst>
      <p:ext uri="{BB962C8B-B14F-4D97-AF65-F5344CB8AC3E}">
        <p14:creationId xmlns:p14="http://schemas.microsoft.com/office/powerpoint/2010/main" val="1521522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EMISIONES GEI Y CAMBIO CLIMÁTICO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17" name="Grupo 16">
            <a:extLst>
              <a:ext uri="{FF2B5EF4-FFF2-40B4-BE49-F238E27FC236}">
                <a16:creationId xmlns:a16="http://schemas.microsoft.com/office/drawing/2014/main" id="{5EA94ED3-94A2-26FE-F592-4F1FE97C3A3E}"/>
              </a:ext>
            </a:extLst>
          </p:cNvPr>
          <p:cNvGrpSpPr/>
          <p:nvPr/>
        </p:nvGrpSpPr>
        <p:grpSpPr>
          <a:xfrm>
            <a:off x="3637414" y="1750188"/>
            <a:ext cx="4879073" cy="2099079"/>
            <a:chOff x="3457207" y="1578738"/>
            <a:chExt cx="4879073" cy="2099079"/>
          </a:xfrm>
        </p:grpSpPr>
        <p:pic>
          <p:nvPicPr>
            <p:cNvPr id="10" name="Imagen 9">
              <a:extLst>
                <a:ext uri="{FF2B5EF4-FFF2-40B4-BE49-F238E27FC236}">
                  <a16:creationId xmlns:a16="http://schemas.microsoft.com/office/drawing/2014/main" id="{F766414B-5E0F-0544-758D-4FC8D6998699}"/>
                </a:ext>
              </a:extLst>
            </p:cNvPr>
            <p:cNvPicPr>
              <a:picLocks noChangeAspect="1"/>
            </p:cNvPicPr>
            <p:nvPr/>
          </p:nvPicPr>
          <p:blipFill>
            <a:blip r:embed="rId4"/>
            <a:stretch>
              <a:fillRect/>
            </a:stretch>
          </p:blipFill>
          <p:spPr>
            <a:xfrm>
              <a:off x="3457207" y="1578739"/>
              <a:ext cx="2638793" cy="2076740"/>
            </a:xfrm>
            <a:prstGeom prst="rect">
              <a:avLst/>
            </a:prstGeom>
          </p:spPr>
        </p:pic>
        <p:sp>
          <p:nvSpPr>
            <p:cNvPr id="12" name="Rectángulo 11">
              <a:extLst>
                <a:ext uri="{FF2B5EF4-FFF2-40B4-BE49-F238E27FC236}">
                  <a16:creationId xmlns:a16="http://schemas.microsoft.com/office/drawing/2014/main" id="{E1038B1A-04ED-C495-16CB-962DFEF61D65}"/>
                </a:ext>
              </a:extLst>
            </p:cNvPr>
            <p:cNvSpPr/>
            <p:nvPr/>
          </p:nvSpPr>
          <p:spPr>
            <a:xfrm>
              <a:off x="6096000" y="1578738"/>
              <a:ext cx="2240280" cy="209907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Descarbonizar la economía en 2050</a:t>
              </a:r>
            </a:p>
          </p:txBody>
        </p:sp>
        <p:sp>
          <p:nvSpPr>
            <p:cNvPr id="14" name="Rectángulo 13">
              <a:extLst>
                <a:ext uri="{FF2B5EF4-FFF2-40B4-BE49-F238E27FC236}">
                  <a16:creationId xmlns:a16="http://schemas.microsoft.com/office/drawing/2014/main" id="{A3C6B24B-09DE-9D41-4C44-4D3D3E209DF9}"/>
                </a:ext>
              </a:extLst>
            </p:cNvPr>
            <p:cNvSpPr/>
            <p:nvPr/>
          </p:nvSpPr>
          <p:spPr>
            <a:xfrm>
              <a:off x="3457207" y="1578738"/>
              <a:ext cx="2638793" cy="209907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6" name="Flecha: hacia abajo 15">
            <a:extLst>
              <a:ext uri="{FF2B5EF4-FFF2-40B4-BE49-F238E27FC236}">
                <a16:creationId xmlns:a16="http://schemas.microsoft.com/office/drawing/2014/main" id="{D9888DF5-B980-1821-D232-D539D5C486E7}"/>
              </a:ext>
            </a:extLst>
          </p:cNvPr>
          <p:cNvSpPr/>
          <p:nvPr/>
        </p:nvSpPr>
        <p:spPr>
          <a:xfrm>
            <a:off x="5690124" y="4176257"/>
            <a:ext cx="773652" cy="617206"/>
          </a:xfrm>
          <a:prstGeom prst="downArrow">
            <a:avLst/>
          </a:prstGeom>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D62A8AA8-1F89-14D9-3EBB-539E1222F7E2}"/>
              </a:ext>
            </a:extLst>
          </p:cNvPr>
          <p:cNvSpPr/>
          <p:nvPr/>
        </p:nvSpPr>
        <p:spPr>
          <a:xfrm>
            <a:off x="2876550" y="4983963"/>
            <a:ext cx="6400800" cy="1238538"/>
          </a:xfrm>
          <a:prstGeom prst="rect">
            <a:avLst/>
          </a:prstGeom>
          <a:noFill/>
          <a:ln w="476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dirty="0">
                <a:solidFill>
                  <a:schemeClr val="tx1"/>
                </a:solidFill>
              </a:rPr>
              <a:t>Las empresas deben avanzar hacia su neutralidad climática en toda su cadena de suministro</a:t>
            </a:r>
          </a:p>
        </p:txBody>
      </p:sp>
    </p:spTree>
    <p:extLst>
      <p:ext uri="{BB962C8B-B14F-4D97-AF65-F5344CB8AC3E}">
        <p14:creationId xmlns:p14="http://schemas.microsoft.com/office/powerpoint/2010/main" val="240650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EMISIONES GEI Y CAMBIO CLIMÁTICO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descr="Diagrama&#10;&#10;Descripción generada automáticamente">
            <a:extLst>
              <a:ext uri="{FF2B5EF4-FFF2-40B4-BE49-F238E27FC236}">
                <a16:creationId xmlns:a16="http://schemas.microsoft.com/office/drawing/2014/main" id="{20288F2C-3EDA-21A9-3155-F9021B5A94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1355" y="1395011"/>
            <a:ext cx="8062913" cy="5073162"/>
          </a:xfrm>
          <a:prstGeom prst="rect">
            <a:avLst/>
          </a:prstGeom>
        </p:spPr>
      </p:pic>
      <p:sp>
        <p:nvSpPr>
          <p:cNvPr id="3" name="CuadroTexto 2">
            <a:extLst>
              <a:ext uri="{FF2B5EF4-FFF2-40B4-BE49-F238E27FC236}">
                <a16:creationId xmlns:a16="http://schemas.microsoft.com/office/drawing/2014/main" id="{ACB98D98-7915-63B2-B687-BA12B8CCC547}"/>
              </a:ext>
            </a:extLst>
          </p:cNvPr>
          <p:cNvSpPr txBox="1"/>
          <p:nvPr/>
        </p:nvSpPr>
        <p:spPr>
          <a:xfrm>
            <a:off x="246355" y="4927317"/>
            <a:ext cx="2324100" cy="923330"/>
          </a:xfrm>
          <a:prstGeom prst="rect">
            <a:avLst/>
          </a:prstGeom>
          <a:noFill/>
        </p:spPr>
        <p:txBody>
          <a:bodyPr wrap="square" rtlCol="0">
            <a:spAutoFit/>
          </a:bodyPr>
          <a:lstStyle/>
          <a:p>
            <a:r>
              <a:rPr lang="es-ES" dirty="0"/>
              <a:t>Las empresas calculan la huella de carbono en todos sus alcances</a:t>
            </a:r>
          </a:p>
        </p:txBody>
      </p:sp>
      <p:sp>
        <p:nvSpPr>
          <p:cNvPr id="6" name="CuadroTexto 5">
            <a:extLst>
              <a:ext uri="{FF2B5EF4-FFF2-40B4-BE49-F238E27FC236}">
                <a16:creationId xmlns:a16="http://schemas.microsoft.com/office/drawing/2014/main" id="{75131989-BC67-FE4E-B3B7-C8AAB656B48C}"/>
              </a:ext>
            </a:extLst>
          </p:cNvPr>
          <p:cNvSpPr txBox="1"/>
          <p:nvPr/>
        </p:nvSpPr>
        <p:spPr>
          <a:xfrm>
            <a:off x="7524750" y="4133850"/>
            <a:ext cx="4002673" cy="1200329"/>
          </a:xfrm>
          <a:prstGeom prst="rect">
            <a:avLst/>
          </a:prstGeom>
          <a:noFill/>
        </p:spPr>
        <p:txBody>
          <a:bodyPr wrap="square" rtlCol="0">
            <a:spAutoFit/>
          </a:bodyPr>
          <a:lstStyle/>
          <a:p>
            <a:r>
              <a:rPr lang="es-ES" dirty="0"/>
              <a:t>Deben reducir sus emisiones GEI recurriendo a fuentes de energía renovables, electrificación de los procesos, innovación, etc. </a:t>
            </a:r>
          </a:p>
        </p:txBody>
      </p:sp>
      <p:sp>
        <p:nvSpPr>
          <p:cNvPr id="8" name="CuadroTexto 7">
            <a:extLst>
              <a:ext uri="{FF2B5EF4-FFF2-40B4-BE49-F238E27FC236}">
                <a16:creationId xmlns:a16="http://schemas.microsoft.com/office/drawing/2014/main" id="{79FF54C7-1C1C-CC37-A5D0-4F27956B19ED}"/>
              </a:ext>
            </a:extLst>
          </p:cNvPr>
          <p:cNvSpPr txBox="1"/>
          <p:nvPr/>
        </p:nvSpPr>
        <p:spPr>
          <a:xfrm>
            <a:off x="9906000" y="1859370"/>
            <a:ext cx="2152650" cy="1477328"/>
          </a:xfrm>
          <a:prstGeom prst="rect">
            <a:avLst/>
          </a:prstGeom>
          <a:noFill/>
        </p:spPr>
        <p:txBody>
          <a:bodyPr wrap="square" rtlCol="0">
            <a:spAutoFit/>
          </a:bodyPr>
          <a:lstStyle/>
          <a:p>
            <a:r>
              <a:rPr lang="es-ES" dirty="0"/>
              <a:t>Compensar las emisiones que no han podido reducir hasta llegar a la neutralidad</a:t>
            </a:r>
          </a:p>
        </p:txBody>
      </p:sp>
    </p:spTree>
    <p:extLst>
      <p:ext uri="{BB962C8B-B14F-4D97-AF65-F5344CB8AC3E}">
        <p14:creationId xmlns:p14="http://schemas.microsoft.com/office/powerpoint/2010/main" val="1356031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EMISIONES GEI Y CAMBIO CLIMÁTICO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FA7A567-4F36-6FD7-0AD3-E6E3EB1BC6F6}"/>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SOPORTE</a:t>
            </a:r>
          </a:p>
        </p:txBody>
      </p:sp>
      <p:pic>
        <p:nvPicPr>
          <p:cNvPr id="6" name="Imagen 5">
            <a:hlinkClick r:id="rId4"/>
            <a:extLst>
              <a:ext uri="{FF2B5EF4-FFF2-40B4-BE49-F238E27FC236}">
                <a16:creationId xmlns:a16="http://schemas.microsoft.com/office/drawing/2014/main" id="{71074DB4-20E8-0433-9984-73A81EF1B944}"/>
              </a:ext>
            </a:extLst>
          </p:cNvPr>
          <p:cNvPicPr>
            <a:picLocks noChangeAspect="1"/>
          </p:cNvPicPr>
          <p:nvPr/>
        </p:nvPicPr>
        <p:blipFill>
          <a:blip r:embed="rId5"/>
          <a:stretch>
            <a:fillRect/>
          </a:stretch>
        </p:blipFill>
        <p:spPr>
          <a:xfrm>
            <a:off x="161097" y="2181803"/>
            <a:ext cx="8503509" cy="4128911"/>
          </a:xfrm>
          <a:prstGeom prst="rect">
            <a:avLst/>
          </a:prstGeom>
        </p:spPr>
      </p:pic>
      <p:sp>
        <p:nvSpPr>
          <p:cNvPr id="13" name="CuadroTexto 12">
            <a:extLst>
              <a:ext uri="{FF2B5EF4-FFF2-40B4-BE49-F238E27FC236}">
                <a16:creationId xmlns:a16="http://schemas.microsoft.com/office/drawing/2014/main" id="{5F46F759-18D8-B5E7-81B2-6EE29CBE39EB}"/>
              </a:ext>
            </a:extLst>
          </p:cNvPr>
          <p:cNvSpPr txBox="1"/>
          <p:nvPr/>
        </p:nvSpPr>
        <p:spPr>
          <a:xfrm>
            <a:off x="8316625" y="3092096"/>
            <a:ext cx="3583859" cy="1754326"/>
          </a:xfrm>
          <a:prstGeom prst="rect">
            <a:avLst/>
          </a:prstGeom>
          <a:solidFill>
            <a:schemeClr val="accent6">
              <a:lumMod val="20000"/>
              <a:lumOff val="80000"/>
            </a:schemeClr>
          </a:solidFill>
        </p:spPr>
        <p:txBody>
          <a:bodyPr wrap="square" rtlCol="0">
            <a:spAutoFit/>
          </a:bodyPr>
          <a:lstStyle/>
          <a:p>
            <a:pPr algn="just"/>
            <a:r>
              <a:rPr lang="es-ES" dirty="0"/>
              <a:t>Las </a:t>
            </a:r>
            <a:r>
              <a:rPr lang="es-ES" dirty="0">
                <a:hlinkClick r:id="rId4"/>
              </a:rPr>
              <a:t>Cámara de Comercio Internacional de España</a:t>
            </a:r>
            <a:r>
              <a:rPr lang="es-ES" dirty="0"/>
              <a:t> ha creado la PYMES SME </a:t>
            </a:r>
            <a:r>
              <a:rPr lang="es-ES" dirty="0" err="1"/>
              <a:t>Climate</a:t>
            </a:r>
            <a:r>
              <a:rPr lang="es-ES" dirty="0"/>
              <a:t> Hub, una plataforma gratuita que ayuda a las pequeñas empresas a alcanzar el objetivo </a:t>
            </a:r>
            <a:r>
              <a:rPr lang="es-ES" i="1" dirty="0"/>
              <a:t>NET Zero</a:t>
            </a:r>
            <a:r>
              <a:rPr lang="es-ES" dirty="0"/>
              <a:t>.</a:t>
            </a:r>
          </a:p>
        </p:txBody>
      </p:sp>
    </p:spTree>
    <p:extLst>
      <p:ext uri="{BB962C8B-B14F-4D97-AF65-F5344CB8AC3E}">
        <p14:creationId xmlns:p14="http://schemas.microsoft.com/office/powerpoint/2010/main" val="40189711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EMISIONES GEI Y CAMBIO CLIMÁTICO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FA7A567-4F36-6FD7-0AD3-E6E3EB1BC6F6}"/>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
        <p:nvSpPr>
          <p:cNvPr id="13" name="CuadroTexto 12">
            <a:extLst>
              <a:ext uri="{FF2B5EF4-FFF2-40B4-BE49-F238E27FC236}">
                <a16:creationId xmlns:a16="http://schemas.microsoft.com/office/drawing/2014/main" id="{5F46F759-18D8-B5E7-81B2-6EE29CBE39EB}"/>
              </a:ext>
            </a:extLst>
          </p:cNvPr>
          <p:cNvSpPr txBox="1"/>
          <p:nvPr/>
        </p:nvSpPr>
        <p:spPr>
          <a:xfrm>
            <a:off x="9527458" y="3092096"/>
            <a:ext cx="2373026" cy="2308324"/>
          </a:xfrm>
          <a:prstGeom prst="rect">
            <a:avLst/>
          </a:prstGeom>
          <a:solidFill>
            <a:schemeClr val="accent6">
              <a:lumMod val="20000"/>
              <a:lumOff val="80000"/>
            </a:schemeClr>
          </a:solidFill>
        </p:spPr>
        <p:txBody>
          <a:bodyPr wrap="square" rtlCol="0">
            <a:spAutoFit/>
          </a:bodyPr>
          <a:lstStyle/>
          <a:p>
            <a:pPr algn="just"/>
            <a:r>
              <a:rPr lang="es-ES" dirty="0"/>
              <a:t>CO2Revolution es una pequeña empresa que calcula la huella de carbono de otras empresas y compensan las emisiones hasta que lleguen a tener un impacto positivo.</a:t>
            </a:r>
          </a:p>
        </p:txBody>
      </p:sp>
      <p:pic>
        <p:nvPicPr>
          <p:cNvPr id="4" name="Imagen 3">
            <a:hlinkClick r:id="rId4"/>
            <a:extLst>
              <a:ext uri="{FF2B5EF4-FFF2-40B4-BE49-F238E27FC236}">
                <a16:creationId xmlns:a16="http://schemas.microsoft.com/office/drawing/2014/main" id="{D1D4C114-3AA8-11EA-813B-A9AF95AF70BA}"/>
              </a:ext>
            </a:extLst>
          </p:cNvPr>
          <p:cNvPicPr>
            <a:picLocks noChangeAspect="1"/>
          </p:cNvPicPr>
          <p:nvPr/>
        </p:nvPicPr>
        <p:blipFill>
          <a:blip r:embed="rId5"/>
          <a:stretch>
            <a:fillRect/>
          </a:stretch>
        </p:blipFill>
        <p:spPr>
          <a:xfrm>
            <a:off x="239539" y="1859370"/>
            <a:ext cx="8673484" cy="4401356"/>
          </a:xfrm>
          <a:prstGeom prst="rect">
            <a:avLst/>
          </a:prstGeom>
        </p:spPr>
      </p:pic>
    </p:spTree>
    <p:extLst>
      <p:ext uri="{BB962C8B-B14F-4D97-AF65-F5344CB8AC3E}">
        <p14:creationId xmlns:p14="http://schemas.microsoft.com/office/powerpoint/2010/main" val="369279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latin typeface="Calibri" panose="020F0502020204030204" pitchFamily="34" charset="0"/>
                <a:ea typeface="Times New Roman" panose="02020603050405020304" pitchFamily="18" charset="0"/>
                <a:cs typeface="Times New Roman" panose="02020603050405020304" pitchFamily="18" charset="0"/>
              </a:rPr>
              <a:t>ENERGÍAS RENOVABLES Y EFICIENCIA ENERGÉTICA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14" name="Grupo 13">
            <a:extLst>
              <a:ext uri="{FF2B5EF4-FFF2-40B4-BE49-F238E27FC236}">
                <a16:creationId xmlns:a16="http://schemas.microsoft.com/office/drawing/2014/main" id="{8FCC1F3F-6D67-D5F3-260B-87E8EF1D61AF}"/>
              </a:ext>
            </a:extLst>
          </p:cNvPr>
          <p:cNvGrpSpPr/>
          <p:nvPr/>
        </p:nvGrpSpPr>
        <p:grpSpPr>
          <a:xfrm>
            <a:off x="1009651" y="1333502"/>
            <a:ext cx="6381750" cy="5142244"/>
            <a:chOff x="4404064" y="2266950"/>
            <a:chExt cx="4938573" cy="3912781"/>
          </a:xfrm>
        </p:grpSpPr>
        <p:sp>
          <p:nvSpPr>
            <p:cNvPr id="8" name="Flecha: pentágono 7">
              <a:extLst>
                <a:ext uri="{FF2B5EF4-FFF2-40B4-BE49-F238E27FC236}">
                  <a16:creationId xmlns:a16="http://schemas.microsoft.com/office/drawing/2014/main" id="{DA072E97-B053-3D0B-1ABC-95CDAA4C616B}"/>
                </a:ext>
              </a:extLst>
            </p:cNvPr>
            <p:cNvSpPr/>
            <p:nvPr/>
          </p:nvSpPr>
          <p:spPr>
            <a:xfrm flipH="1">
              <a:off x="4404064" y="4998631"/>
              <a:ext cx="4938573" cy="1181100"/>
            </a:xfrm>
            <a:prstGeom prst="homePlate">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Medidas de Ahorro y Eficiencia Energética</a:t>
              </a:r>
            </a:p>
          </p:txBody>
        </p:sp>
        <p:sp>
          <p:nvSpPr>
            <p:cNvPr id="10" name="Flecha: pentágono 9">
              <a:extLst>
                <a:ext uri="{FF2B5EF4-FFF2-40B4-BE49-F238E27FC236}">
                  <a16:creationId xmlns:a16="http://schemas.microsoft.com/office/drawing/2014/main" id="{6F5F6394-D408-932F-D5C3-64A0615EC693}"/>
                </a:ext>
              </a:extLst>
            </p:cNvPr>
            <p:cNvSpPr/>
            <p:nvPr/>
          </p:nvSpPr>
          <p:spPr>
            <a:xfrm flipH="1">
              <a:off x="5848349" y="3800459"/>
              <a:ext cx="3494286" cy="1181100"/>
            </a:xfrm>
            <a:prstGeom prst="homePlate">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Energía Eléctrica de Origen Renovable</a:t>
              </a:r>
            </a:p>
          </p:txBody>
        </p:sp>
        <p:sp>
          <p:nvSpPr>
            <p:cNvPr id="12" name="Elipse 11">
              <a:extLst>
                <a:ext uri="{FF2B5EF4-FFF2-40B4-BE49-F238E27FC236}">
                  <a16:creationId xmlns:a16="http://schemas.microsoft.com/office/drawing/2014/main" id="{50331FC9-8722-9FFE-A677-789686870D5D}"/>
                </a:ext>
              </a:extLst>
            </p:cNvPr>
            <p:cNvSpPr/>
            <p:nvPr/>
          </p:nvSpPr>
          <p:spPr>
            <a:xfrm>
              <a:off x="7620000" y="2266950"/>
              <a:ext cx="1543050" cy="1543050"/>
            </a:xfrm>
            <a:prstGeom prst="ellipse">
              <a:avLst/>
            </a:prstGeom>
            <a:solidFill>
              <a:schemeClr val="accent6">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solidFill>
                    <a:schemeClr val="bg1"/>
                  </a:solidFill>
                </a:rPr>
                <a:t>NET ZERO</a:t>
              </a:r>
            </a:p>
          </p:txBody>
        </p:sp>
      </p:grpSp>
      <p:sp>
        <p:nvSpPr>
          <p:cNvPr id="15" name="CuadroTexto 14">
            <a:extLst>
              <a:ext uri="{FF2B5EF4-FFF2-40B4-BE49-F238E27FC236}">
                <a16:creationId xmlns:a16="http://schemas.microsoft.com/office/drawing/2014/main" id="{377D95A8-BEBF-217A-AAA1-E42989B9D1D1}"/>
              </a:ext>
            </a:extLst>
          </p:cNvPr>
          <p:cNvSpPr txBox="1"/>
          <p:nvPr/>
        </p:nvSpPr>
        <p:spPr>
          <a:xfrm>
            <a:off x="7658100" y="5127804"/>
            <a:ext cx="3276600" cy="1200329"/>
          </a:xfrm>
          <a:prstGeom prst="rect">
            <a:avLst/>
          </a:prstGeom>
          <a:noFill/>
        </p:spPr>
        <p:txBody>
          <a:bodyPr wrap="square" rtlCol="0">
            <a:spAutoFit/>
          </a:bodyPr>
          <a:lstStyle/>
          <a:p>
            <a:pPr marL="285750" indent="-285750">
              <a:buFont typeface="Arial" panose="020B0604020202020204" pitchFamily="34" charset="0"/>
              <a:buChar char="•"/>
            </a:pPr>
            <a:r>
              <a:rPr lang="es-ES" dirty="0"/>
              <a:t>Análisis de procesos</a:t>
            </a:r>
          </a:p>
          <a:p>
            <a:pPr marL="285750" indent="-285750">
              <a:buFont typeface="Arial" panose="020B0604020202020204" pitchFamily="34" charset="0"/>
              <a:buChar char="•"/>
            </a:pPr>
            <a:r>
              <a:rPr lang="es-ES" dirty="0"/>
              <a:t>Adecuación de espacios</a:t>
            </a:r>
          </a:p>
          <a:p>
            <a:pPr marL="285750" indent="-285750">
              <a:buFont typeface="Arial" panose="020B0604020202020204" pitchFamily="34" charset="0"/>
              <a:buChar char="•"/>
            </a:pPr>
            <a:r>
              <a:rPr lang="es-ES" dirty="0"/>
              <a:t>Sustitución de tecnología</a:t>
            </a:r>
          </a:p>
          <a:p>
            <a:pPr marL="285750" indent="-285750">
              <a:buFont typeface="Arial" panose="020B0604020202020204" pitchFamily="34" charset="0"/>
              <a:buChar char="•"/>
            </a:pPr>
            <a:r>
              <a:rPr lang="es-ES" dirty="0"/>
              <a:t>Gestión de consumos</a:t>
            </a:r>
          </a:p>
        </p:txBody>
      </p:sp>
      <p:sp>
        <p:nvSpPr>
          <p:cNvPr id="16" name="CuadroTexto 15">
            <a:extLst>
              <a:ext uri="{FF2B5EF4-FFF2-40B4-BE49-F238E27FC236}">
                <a16:creationId xmlns:a16="http://schemas.microsoft.com/office/drawing/2014/main" id="{C8EAFECE-155D-236F-CF72-0AD87D17EFA5}"/>
              </a:ext>
            </a:extLst>
          </p:cNvPr>
          <p:cNvSpPr txBox="1"/>
          <p:nvPr/>
        </p:nvSpPr>
        <p:spPr>
          <a:xfrm>
            <a:off x="7658100" y="3524812"/>
            <a:ext cx="3276600" cy="1200329"/>
          </a:xfrm>
          <a:prstGeom prst="rect">
            <a:avLst/>
          </a:prstGeom>
          <a:noFill/>
        </p:spPr>
        <p:txBody>
          <a:bodyPr wrap="square" rtlCol="0">
            <a:spAutoFit/>
          </a:bodyPr>
          <a:lstStyle/>
          <a:p>
            <a:pPr marL="285750" indent="-285750">
              <a:buFont typeface="Arial" panose="020B0604020202020204" pitchFamily="34" charset="0"/>
              <a:buChar char="•"/>
            </a:pPr>
            <a:r>
              <a:rPr lang="es-ES" dirty="0"/>
              <a:t>Eólica</a:t>
            </a:r>
          </a:p>
          <a:p>
            <a:pPr marL="285750" indent="-285750">
              <a:buFont typeface="Arial" panose="020B0604020202020204" pitchFamily="34" charset="0"/>
              <a:buChar char="•"/>
            </a:pPr>
            <a:r>
              <a:rPr lang="es-ES" dirty="0"/>
              <a:t>Fotovoltaica</a:t>
            </a:r>
          </a:p>
          <a:p>
            <a:pPr marL="285750" indent="-285750">
              <a:buFont typeface="Arial" panose="020B0604020202020204" pitchFamily="34" charset="0"/>
              <a:buChar char="•"/>
            </a:pPr>
            <a:r>
              <a:rPr lang="es-ES" dirty="0"/>
              <a:t>Hidrógeno verde</a:t>
            </a:r>
          </a:p>
          <a:p>
            <a:pPr marL="285750" indent="-285750">
              <a:buFont typeface="Arial" panose="020B0604020202020204" pitchFamily="34" charset="0"/>
              <a:buChar char="•"/>
            </a:pPr>
            <a:r>
              <a:rPr lang="es-ES" dirty="0"/>
              <a:t>Etc.</a:t>
            </a:r>
          </a:p>
        </p:txBody>
      </p:sp>
      <p:pic>
        <p:nvPicPr>
          <p:cNvPr id="18" name="Imagen 17">
            <a:extLst>
              <a:ext uri="{FF2B5EF4-FFF2-40B4-BE49-F238E27FC236}">
                <a16:creationId xmlns:a16="http://schemas.microsoft.com/office/drawing/2014/main" id="{E7FD42EA-9F9E-DFF4-BC6C-4BECB49646C1}"/>
              </a:ext>
            </a:extLst>
          </p:cNvPr>
          <p:cNvPicPr>
            <a:picLocks noChangeAspect="1"/>
          </p:cNvPicPr>
          <p:nvPr/>
        </p:nvPicPr>
        <p:blipFill>
          <a:blip r:embed="rId4"/>
          <a:stretch>
            <a:fillRect/>
          </a:stretch>
        </p:blipFill>
        <p:spPr>
          <a:xfrm>
            <a:off x="9108489" y="1270737"/>
            <a:ext cx="3045945" cy="2499712"/>
          </a:xfrm>
          <a:prstGeom prst="rect">
            <a:avLst/>
          </a:prstGeom>
        </p:spPr>
      </p:pic>
      <p:pic>
        <p:nvPicPr>
          <p:cNvPr id="20" name="Imagen 19">
            <a:extLst>
              <a:ext uri="{FF2B5EF4-FFF2-40B4-BE49-F238E27FC236}">
                <a16:creationId xmlns:a16="http://schemas.microsoft.com/office/drawing/2014/main" id="{8FFF03A2-18FB-E28E-24B2-CA2E3F6938E5}"/>
              </a:ext>
            </a:extLst>
          </p:cNvPr>
          <p:cNvPicPr>
            <a:picLocks noChangeAspect="1"/>
          </p:cNvPicPr>
          <p:nvPr/>
        </p:nvPicPr>
        <p:blipFill>
          <a:blip r:embed="rId5"/>
          <a:stretch>
            <a:fillRect/>
          </a:stretch>
        </p:blipFill>
        <p:spPr>
          <a:xfrm>
            <a:off x="323305" y="1747127"/>
            <a:ext cx="2129149" cy="1746459"/>
          </a:xfrm>
          <a:prstGeom prst="rect">
            <a:avLst/>
          </a:prstGeom>
        </p:spPr>
      </p:pic>
    </p:spTree>
    <p:extLst>
      <p:ext uri="{BB962C8B-B14F-4D97-AF65-F5344CB8AC3E}">
        <p14:creationId xmlns:p14="http://schemas.microsoft.com/office/powerpoint/2010/main" val="23889898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latin typeface="Calibri" panose="020F0502020204030204" pitchFamily="34" charset="0"/>
                <a:ea typeface="Times New Roman" panose="02020603050405020304" pitchFamily="18" charset="0"/>
                <a:cs typeface="Times New Roman" panose="02020603050405020304" pitchFamily="18" charset="0"/>
              </a:rPr>
              <a:t>ENERGÍAS RENOVABLES Y EFICIENCIA ENERGÉTICA</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FA7A567-4F36-6FD7-0AD3-E6E3EB1BC6F6}"/>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
        <p:nvSpPr>
          <p:cNvPr id="13" name="CuadroTexto 12">
            <a:extLst>
              <a:ext uri="{FF2B5EF4-FFF2-40B4-BE49-F238E27FC236}">
                <a16:creationId xmlns:a16="http://schemas.microsoft.com/office/drawing/2014/main" id="{5F46F759-18D8-B5E7-81B2-6EE29CBE39EB}"/>
              </a:ext>
            </a:extLst>
          </p:cNvPr>
          <p:cNvSpPr txBox="1"/>
          <p:nvPr/>
        </p:nvSpPr>
        <p:spPr>
          <a:xfrm>
            <a:off x="9527458" y="3092096"/>
            <a:ext cx="2373026" cy="1477328"/>
          </a:xfrm>
          <a:prstGeom prst="rect">
            <a:avLst/>
          </a:prstGeom>
          <a:solidFill>
            <a:schemeClr val="accent6">
              <a:lumMod val="20000"/>
              <a:lumOff val="80000"/>
            </a:schemeClr>
          </a:solidFill>
        </p:spPr>
        <p:txBody>
          <a:bodyPr wrap="square" rtlCol="0">
            <a:spAutoFit/>
          </a:bodyPr>
          <a:lstStyle/>
          <a:p>
            <a:pPr algn="just"/>
            <a:r>
              <a:rPr lang="es-ES" dirty="0"/>
              <a:t>Este hotel apuesta, entre otras cosas, por el ahorro energético y el empleo de las renovables.</a:t>
            </a:r>
          </a:p>
        </p:txBody>
      </p:sp>
      <p:pic>
        <p:nvPicPr>
          <p:cNvPr id="6" name="Imagen 5">
            <a:hlinkClick r:id="rId4"/>
            <a:extLst>
              <a:ext uri="{FF2B5EF4-FFF2-40B4-BE49-F238E27FC236}">
                <a16:creationId xmlns:a16="http://schemas.microsoft.com/office/drawing/2014/main" id="{20286ED9-8C13-37AD-D8D3-3FB0B109B739}"/>
              </a:ext>
            </a:extLst>
          </p:cNvPr>
          <p:cNvPicPr>
            <a:picLocks noChangeAspect="1"/>
          </p:cNvPicPr>
          <p:nvPr/>
        </p:nvPicPr>
        <p:blipFill>
          <a:blip r:embed="rId5"/>
          <a:stretch>
            <a:fillRect/>
          </a:stretch>
        </p:blipFill>
        <p:spPr>
          <a:xfrm>
            <a:off x="1175651" y="1519084"/>
            <a:ext cx="8027345" cy="4934525"/>
          </a:xfrm>
          <a:prstGeom prst="rect">
            <a:avLst/>
          </a:prstGeom>
        </p:spPr>
      </p:pic>
    </p:spTree>
    <p:extLst>
      <p:ext uri="{BB962C8B-B14F-4D97-AF65-F5344CB8AC3E}">
        <p14:creationId xmlns:p14="http://schemas.microsoft.com/office/powerpoint/2010/main" val="10378648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100" b="1" kern="0" dirty="0">
                <a:latin typeface="Calibri" panose="020F0502020204030204" pitchFamily="34" charset="0"/>
                <a:ea typeface="Times New Roman" panose="02020603050405020304" pitchFamily="18" charset="0"/>
                <a:cs typeface="Times New Roman" panose="02020603050405020304" pitchFamily="18" charset="0"/>
              </a:rPr>
              <a:t>GESTIÓN DEL AGUA Y CONTROL DE LA CONTAMINACIÓN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aphicFrame>
        <p:nvGraphicFramePr>
          <p:cNvPr id="3" name="Diagrama 2">
            <a:extLst>
              <a:ext uri="{FF2B5EF4-FFF2-40B4-BE49-F238E27FC236}">
                <a16:creationId xmlns:a16="http://schemas.microsoft.com/office/drawing/2014/main" id="{D5804B37-2C25-6365-0638-2B570AB25099}"/>
              </a:ext>
            </a:extLst>
          </p:cNvPr>
          <p:cNvGraphicFramePr/>
          <p:nvPr>
            <p:extLst>
              <p:ext uri="{D42A27DB-BD31-4B8C-83A1-F6EECF244321}">
                <p14:modId xmlns:p14="http://schemas.microsoft.com/office/powerpoint/2010/main" val="2335087739"/>
              </p:ext>
            </p:extLst>
          </p:nvPr>
        </p:nvGraphicFramePr>
        <p:xfrm>
          <a:off x="838200" y="2729861"/>
          <a:ext cx="5765800" cy="25672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ángulo: esquinas redondeadas 5">
            <a:extLst>
              <a:ext uri="{FF2B5EF4-FFF2-40B4-BE49-F238E27FC236}">
                <a16:creationId xmlns:a16="http://schemas.microsoft.com/office/drawing/2014/main" id="{AEB25F08-5EF7-232A-34E5-367233261579}"/>
              </a:ext>
            </a:extLst>
          </p:cNvPr>
          <p:cNvSpPr/>
          <p:nvPr/>
        </p:nvSpPr>
        <p:spPr>
          <a:xfrm>
            <a:off x="1987006" y="5606253"/>
            <a:ext cx="3468188" cy="787562"/>
          </a:xfrm>
          <a:prstGeom prst="roundRect">
            <a:avLst/>
          </a:prstGeom>
          <a:solidFill>
            <a:schemeClr val="accent5">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Las medias deben afectar a toda la cadena de valor</a:t>
            </a:r>
          </a:p>
        </p:txBody>
      </p:sp>
      <p:pic>
        <p:nvPicPr>
          <p:cNvPr id="10" name="Imagen 9">
            <a:extLst>
              <a:ext uri="{FF2B5EF4-FFF2-40B4-BE49-F238E27FC236}">
                <a16:creationId xmlns:a16="http://schemas.microsoft.com/office/drawing/2014/main" id="{6162F484-B79E-13B2-43AC-105DBB2C9281}"/>
              </a:ext>
            </a:extLst>
          </p:cNvPr>
          <p:cNvPicPr>
            <a:picLocks noChangeAspect="1"/>
          </p:cNvPicPr>
          <p:nvPr/>
        </p:nvPicPr>
        <p:blipFill>
          <a:blip r:embed="rId9"/>
          <a:stretch>
            <a:fillRect/>
          </a:stretch>
        </p:blipFill>
        <p:spPr>
          <a:xfrm>
            <a:off x="341642" y="1368612"/>
            <a:ext cx="1352880" cy="1606915"/>
          </a:xfrm>
          <a:prstGeom prst="rect">
            <a:avLst/>
          </a:prstGeom>
        </p:spPr>
      </p:pic>
      <p:sp>
        <p:nvSpPr>
          <p:cNvPr id="12" name="CuadroTexto 11">
            <a:extLst>
              <a:ext uri="{FF2B5EF4-FFF2-40B4-BE49-F238E27FC236}">
                <a16:creationId xmlns:a16="http://schemas.microsoft.com/office/drawing/2014/main" id="{DD7B1B3A-F06D-CEF7-632D-FB3626B37965}"/>
              </a:ext>
            </a:extLst>
          </p:cNvPr>
          <p:cNvSpPr txBox="1"/>
          <p:nvPr/>
        </p:nvSpPr>
        <p:spPr>
          <a:xfrm>
            <a:off x="1478280" y="1859370"/>
            <a:ext cx="3398520" cy="523220"/>
          </a:xfrm>
          <a:prstGeom prst="rect">
            <a:avLst/>
          </a:prstGeom>
          <a:noFill/>
        </p:spPr>
        <p:txBody>
          <a:bodyPr wrap="square" rtlCol="0">
            <a:spAutoFit/>
          </a:bodyPr>
          <a:lstStyle/>
          <a:p>
            <a:r>
              <a:rPr lang="es-ES" sz="2800" b="1" dirty="0">
                <a:solidFill>
                  <a:schemeClr val="accent1">
                    <a:lumMod val="50000"/>
                  </a:schemeClr>
                </a:solidFill>
              </a:rPr>
              <a:t>GESTIÓN DEL AGUA</a:t>
            </a:r>
          </a:p>
        </p:txBody>
      </p:sp>
      <p:sp>
        <p:nvSpPr>
          <p:cNvPr id="15" name="Flecha: a la derecha 14">
            <a:extLst>
              <a:ext uri="{FF2B5EF4-FFF2-40B4-BE49-F238E27FC236}">
                <a16:creationId xmlns:a16="http://schemas.microsoft.com/office/drawing/2014/main" id="{230DE6F2-59FA-ED26-4238-1BB0E9F7A8D8}"/>
              </a:ext>
            </a:extLst>
          </p:cNvPr>
          <p:cNvSpPr/>
          <p:nvPr/>
        </p:nvSpPr>
        <p:spPr>
          <a:xfrm>
            <a:off x="6729273" y="2975528"/>
            <a:ext cx="1820367" cy="623086"/>
          </a:xfrm>
          <a:prstGeom prst="rightArrow">
            <a:avLst/>
          </a:prstGeom>
          <a:solidFill>
            <a:schemeClr val="accent6">
              <a:lumMod val="5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BENEFICIOS</a:t>
            </a:r>
          </a:p>
        </p:txBody>
      </p:sp>
      <p:sp>
        <p:nvSpPr>
          <p:cNvPr id="16" name="CuadroTexto 15">
            <a:extLst>
              <a:ext uri="{FF2B5EF4-FFF2-40B4-BE49-F238E27FC236}">
                <a16:creationId xmlns:a16="http://schemas.microsoft.com/office/drawing/2014/main" id="{49AF5E31-CEB4-18EC-6811-4E92F64DC0CA}"/>
              </a:ext>
            </a:extLst>
          </p:cNvPr>
          <p:cNvSpPr txBox="1"/>
          <p:nvPr/>
        </p:nvSpPr>
        <p:spPr>
          <a:xfrm>
            <a:off x="9022080" y="2686906"/>
            <a:ext cx="2743200" cy="1200329"/>
          </a:xfrm>
          <a:prstGeom prst="rect">
            <a:avLst/>
          </a:prstGeom>
          <a:noFill/>
        </p:spPr>
        <p:txBody>
          <a:bodyPr wrap="square" rtlCol="0">
            <a:spAutoFit/>
          </a:bodyPr>
          <a:lstStyle/>
          <a:p>
            <a:r>
              <a:rPr lang="es-ES" dirty="0"/>
              <a:t>Menor impacto ambiental</a:t>
            </a:r>
          </a:p>
          <a:p>
            <a:endParaRPr lang="es-ES" dirty="0"/>
          </a:p>
          <a:p>
            <a:endParaRPr lang="es-ES" dirty="0"/>
          </a:p>
          <a:p>
            <a:r>
              <a:rPr lang="es-ES" dirty="0"/>
              <a:t>Reducción de costes</a:t>
            </a:r>
          </a:p>
        </p:txBody>
      </p:sp>
      <p:sp>
        <p:nvSpPr>
          <p:cNvPr id="17" name="Abrir llave 16">
            <a:extLst>
              <a:ext uri="{FF2B5EF4-FFF2-40B4-BE49-F238E27FC236}">
                <a16:creationId xmlns:a16="http://schemas.microsoft.com/office/drawing/2014/main" id="{13E0E032-DACF-C87E-667B-F078C1BE901E}"/>
              </a:ext>
            </a:extLst>
          </p:cNvPr>
          <p:cNvSpPr/>
          <p:nvPr/>
        </p:nvSpPr>
        <p:spPr>
          <a:xfrm>
            <a:off x="8664606" y="2499360"/>
            <a:ext cx="494634" cy="1606915"/>
          </a:xfrm>
          <a:prstGeom prst="leftBrace">
            <a:avLst>
              <a:gd name="adj1" fmla="val 51468"/>
              <a:gd name="adj2" fmla="val 50000"/>
            </a:avLst>
          </a:prstGeom>
          <a:ln w="476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pic>
        <p:nvPicPr>
          <p:cNvPr id="18" name="Imagen 17">
            <a:extLst>
              <a:ext uri="{FF2B5EF4-FFF2-40B4-BE49-F238E27FC236}">
                <a16:creationId xmlns:a16="http://schemas.microsoft.com/office/drawing/2014/main" id="{E99F59B0-A4F2-5565-667E-8BDC867D5EF3}"/>
              </a:ext>
            </a:extLst>
          </p:cNvPr>
          <p:cNvPicPr>
            <a:picLocks noChangeAspect="1"/>
          </p:cNvPicPr>
          <p:nvPr/>
        </p:nvPicPr>
        <p:blipFill>
          <a:blip r:embed="rId10"/>
          <a:stretch>
            <a:fillRect/>
          </a:stretch>
        </p:blipFill>
        <p:spPr>
          <a:xfrm>
            <a:off x="7371610" y="4435648"/>
            <a:ext cx="3875510" cy="1776885"/>
          </a:xfrm>
          <a:prstGeom prst="rect">
            <a:avLst/>
          </a:prstGeom>
        </p:spPr>
      </p:pic>
    </p:spTree>
    <p:extLst>
      <p:ext uri="{BB962C8B-B14F-4D97-AF65-F5344CB8AC3E}">
        <p14:creationId xmlns:p14="http://schemas.microsoft.com/office/powerpoint/2010/main" val="21021881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100" b="1" kern="0" dirty="0">
                <a:latin typeface="Calibri" panose="020F0502020204030204" pitchFamily="34" charset="0"/>
                <a:ea typeface="Times New Roman" panose="02020603050405020304" pitchFamily="18" charset="0"/>
                <a:cs typeface="Times New Roman" panose="02020603050405020304" pitchFamily="18" charset="0"/>
              </a:rPr>
              <a:t>GESTIÓN DEL AGUA Y CONTROL DE LA CONTAMINACIÓN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FA7A567-4F36-6FD7-0AD3-E6E3EB1BC6F6}"/>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
        <p:nvSpPr>
          <p:cNvPr id="13" name="CuadroTexto 12">
            <a:extLst>
              <a:ext uri="{FF2B5EF4-FFF2-40B4-BE49-F238E27FC236}">
                <a16:creationId xmlns:a16="http://schemas.microsoft.com/office/drawing/2014/main" id="{5F46F759-18D8-B5E7-81B2-6EE29CBE39EB}"/>
              </a:ext>
            </a:extLst>
          </p:cNvPr>
          <p:cNvSpPr txBox="1"/>
          <p:nvPr/>
        </p:nvSpPr>
        <p:spPr>
          <a:xfrm>
            <a:off x="8790039" y="3092096"/>
            <a:ext cx="3110445" cy="2031325"/>
          </a:xfrm>
          <a:prstGeom prst="rect">
            <a:avLst/>
          </a:prstGeom>
          <a:solidFill>
            <a:schemeClr val="accent6">
              <a:lumMod val="20000"/>
              <a:lumOff val="80000"/>
            </a:schemeClr>
          </a:solidFill>
        </p:spPr>
        <p:txBody>
          <a:bodyPr wrap="square" rtlCol="0">
            <a:spAutoFit/>
          </a:bodyPr>
          <a:lstStyle/>
          <a:p>
            <a:pPr algn="just"/>
            <a:r>
              <a:rPr lang="es-ES" dirty="0"/>
              <a:t>La cervecera Estrella Damm ha tomado varias iniciativas relacionadas con la sostenibilidad, entre ellas el cálculo de su huella hídrica para reducir su consumo de agua.</a:t>
            </a:r>
          </a:p>
        </p:txBody>
      </p:sp>
      <p:pic>
        <p:nvPicPr>
          <p:cNvPr id="4" name="Imagen 3">
            <a:hlinkClick r:id="rId4"/>
            <a:extLst>
              <a:ext uri="{FF2B5EF4-FFF2-40B4-BE49-F238E27FC236}">
                <a16:creationId xmlns:a16="http://schemas.microsoft.com/office/drawing/2014/main" id="{5BD342CB-6F2D-8087-DB42-74D0BB371E82}"/>
              </a:ext>
            </a:extLst>
          </p:cNvPr>
          <p:cNvPicPr>
            <a:picLocks noChangeAspect="1"/>
          </p:cNvPicPr>
          <p:nvPr/>
        </p:nvPicPr>
        <p:blipFill>
          <a:blip r:embed="rId5"/>
          <a:stretch>
            <a:fillRect/>
          </a:stretch>
        </p:blipFill>
        <p:spPr>
          <a:xfrm>
            <a:off x="291516" y="3730270"/>
            <a:ext cx="7494665" cy="2737903"/>
          </a:xfrm>
          <a:prstGeom prst="rect">
            <a:avLst/>
          </a:prstGeom>
        </p:spPr>
      </p:pic>
      <p:pic>
        <p:nvPicPr>
          <p:cNvPr id="14" name="Imagen 13">
            <a:extLst>
              <a:ext uri="{FF2B5EF4-FFF2-40B4-BE49-F238E27FC236}">
                <a16:creationId xmlns:a16="http://schemas.microsoft.com/office/drawing/2014/main" id="{D47D8323-8C21-B0D5-0732-178EBA424BF3}"/>
              </a:ext>
            </a:extLst>
          </p:cNvPr>
          <p:cNvPicPr>
            <a:picLocks noChangeAspect="1"/>
          </p:cNvPicPr>
          <p:nvPr/>
        </p:nvPicPr>
        <p:blipFill>
          <a:blip r:embed="rId6"/>
          <a:stretch>
            <a:fillRect/>
          </a:stretch>
        </p:blipFill>
        <p:spPr>
          <a:xfrm>
            <a:off x="291516" y="1407386"/>
            <a:ext cx="4147749" cy="2273005"/>
          </a:xfrm>
          <a:prstGeom prst="rect">
            <a:avLst/>
          </a:prstGeom>
        </p:spPr>
      </p:pic>
    </p:spTree>
    <p:extLst>
      <p:ext uri="{BB962C8B-B14F-4D97-AF65-F5344CB8AC3E}">
        <p14:creationId xmlns:p14="http://schemas.microsoft.com/office/powerpoint/2010/main" val="320410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100" b="1" kern="0" dirty="0">
                <a:latin typeface="Calibri" panose="020F0502020204030204" pitchFamily="34" charset="0"/>
                <a:ea typeface="Times New Roman" panose="02020603050405020304" pitchFamily="18" charset="0"/>
                <a:cs typeface="Times New Roman" panose="02020603050405020304" pitchFamily="18" charset="0"/>
              </a:rPr>
              <a:t>GESTIÓN DEL AGUA Y CONTROL DE LA CONTAMINACIÓN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823AFE9B-A844-861D-9D58-D84799AD55B6}"/>
              </a:ext>
            </a:extLst>
          </p:cNvPr>
          <p:cNvPicPr>
            <a:picLocks noChangeAspect="1"/>
          </p:cNvPicPr>
          <p:nvPr/>
        </p:nvPicPr>
        <p:blipFill>
          <a:blip r:embed="rId4"/>
          <a:stretch>
            <a:fillRect/>
          </a:stretch>
        </p:blipFill>
        <p:spPr>
          <a:xfrm>
            <a:off x="7528774" y="1284307"/>
            <a:ext cx="4331665" cy="1748990"/>
          </a:xfrm>
          <a:prstGeom prst="rect">
            <a:avLst/>
          </a:prstGeom>
        </p:spPr>
      </p:pic>
      <p:sp>
        <p:nvSpPr>
          <p:cNvPr id="3" name="Rectángulo: esquinas diagonales redondeadas 2">
            <a:extLst>
              <a:ext uri="{FF2B5EF4-FFF2-40B4-BE49-F238E27FC236}">
                <a16:creationId xmlns:a16="http://schemas.microsoft.com/office/drawing/2014/main" id="{29424BAB-949D-3DB8-9E1C-B9C52BF82300}"/>
              </a:ext>
            </a:extLst>
          </p:cNvPr>
          <p:cNvSpPr/>
          <p:nvPr/>
        </p:nvSpPr>
        <p:spPr>
          <a:xfrm>
            <a:off x="3819832" y="2033356"/>
            <a:ext cx="3465872" cy="999941"/>
          </a:xfrm>
          <a:prstGeom prst="round2Diag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Política de sostenibilidad de la empresa sobre contaminación</a:t>
            </a:r>
          </a:p>
        </p:txBody>
      </p:sp>
      <p:sp>
        <p:nvSpPr>
          <p:cNvPr id="4" name="Flecha: hacia abajo 3">
            <a:extLst>
              <a:ext uri="{FF2B5EF4-FFF2-40B4-BE49-F238E27FC236}">
                <a16:creationId xmlns:a16="http://schemas.microsoft.com/office/drawing/2014/main" id="{9AB4DBA3-A1DA-7093-C829-177C0299EE9F}"/>
              </a:ext>
            </a:extLst>
          </p:cNvPr>
          <p:cNvSpPr/>
          <p:nvPr/>
        </p:nvSpPr>
        <p:spPr>
          <a:xfrm>
            <a:off x="5346291" y="3191420"/>
            <a:ext cx="412955" cy="926368"/>
          </a:xfrm>
          <a:prstGeom prst="downArrow">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0BF70996-55D0-4539-571C-0E50D8539A0B}"/>
              </a:ext>
            </a:extLst>
          </p:cNvPr>
          <p:cNvSpPr txBox="1"/>
          <p:nvPr/>
        </p:nvSpPr>
        <p:spPr>
          <a:xfrm>
            <a:off x="4632224" y="4270663"/>
            <a:ext cx="1843549" cy="400110"/>
          </a:xfrm>
          <a:prstGeom prst="rect">
            <a:avLst/>
          </a:prstGeom>
          <a:solidFill>
            <a:schemeClr val="accent4">
              <a:lumMod val="40000"/>
              <a:lumOff val="60000"/>
            </a:schemeClr>
          </a:solidFill>
        </p:spPr>
        <p:txBody>
          <a:bodyPr wrap="square" rtlCol="0">
            <a:spAutoFit/>
          </a:bodyPr>
          <a:lstStyle/>
          <a:p>
            <a:pPr algn="ctr"/>
            <a:r>
              <a:rPr lang="es-ES" sz="2000" b="1" dirty="0"/>
              <a:t>REDUCIR</a:t>
            </a:r>
          </a:p>
        </p:txBody>
      </p:sp>
      <p:sp>
        <p:nvSpPr>
          <p:cNvPr id="10" name="CuadroTexto 9">
            <a:extLst>
              <a:ext uri="{FF2B5EF4-FFF2-40B4-BE49-F238E27FC236}">
                <a16:creationId xmlns:a16="http://schemas.microsoft.com/office/drawing/2014/main" id="{714EF6E6-C06D-B17F-2465-F35147CFDEC0}"/>
              </a:ext>
            </a:extLst>
          </p:cNvPr>
          <p:cNvSpPr txBox="1"/>
          <p:nvPr/>
        </p:nvSpPr>
        <p:spPr>
          <a:xfrm>
            <a:off x="4630994" y="5966223"/>
            <a:ext cx="1843549" cy="400110"/>
          </a:xfrm>
          <a:prstGeom prst="rect">
            <a:avLst/>
          </a:prstGeom>
          <a:solidFill>
            <a:schemeClr val="accent4">
              <a:lumMod val="40000"/>
              <a:lumOff val="60000"/>
            </a:schemeClr>
          </a:solidFill>
        </p:spPr>
        <p:txBody>
          <a:bodyPr wrap="square" rtlCol="0">
            <a:spAutoFit/>
          </a:bodyPr>
          <a:lstStyle/>
          <a:p>
            <a:pPr algn="ctr"/>
            <a:r>
              <a:rPr lang="es-ES" sz="2000" b="1" dirty="0"/>
              <a:t>ELIMINAR</a:t>
            </a:r>
          </a:p>
        </p:txBody>
      </p:sp>
      <p:sp>
        <p:nvSpPr>
          <p:cNvPr id="11" name="Flecha: hacia abajo 10">
            <a:extLst>
              <a:ext uri="{FF2B5EF4-FFF2-40B4-BE49-F238E27FC236}">
                <a16:creationId xmlns:a16="http://schemas.microsoft.com/office/drawing/2014/main" id="{391F8ADA-226F-8A3A-B65E-FB424041606D}"/>
              </a:ext>
            </a:extLst>
          </p:cNvPr>
          <p:cNvSpPr/>
          <p:nvPr/>
        </p:nvSpPr>
        <p:spPr>
          <a:xfrm>
            <a:off x="5346291" y="4865869"/>
            <a:ext cx="412955" cy="926368"/>
          </a:xfrm>
          <a:prstGeom prst="downArrow">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9751FE8B-4462-FF30-CFDD-C73A1085B6F1}"/>
              </a:ext>
            </a:extLst>
          </p:cNvPr>
          <p:cNvSpPr txBox="1"/>
          <p:nvPr/>
        </p:nvSpPr>
        <p:spPr>
          <a:xfrm>
            <a:off x="1472383" y="3655110"/>
            <a:ext cx="1932039" cy="1631216"/>
          </a:xfrm>
          <a:prstGeom prst="rect">
            <a:avLst/>
          </a:prstGeom>
          <a:solidFill>
            <a:schemeClr val="accent4">
              <a:lumMod val="20000"/>
              <a:lumOff val="80000"/>
            </a:schemeClr>
          </a:solidFill>
        </p:spPr>
        <p:txBody>
          <a:bodyPr wrap="square" rtlCol="0">
            <a:spAutoFit/>
          </a:bodyPr>
          <a:lstStyle/>
          <a:p>
            <a:r>
              <a:rPr lang="es-ES" sz="2000" dirty="0"/>
              <a:t>Contaminación:</a:t>
            </a:r>
          </a:p>
          <a:p>
            <a:pPr marL="285750" indent="-285750">
              <a:buFont typeface="Arial" panose="020B0604020202020204" pitchFamily="34" charset="0"/>
              <a:buChar char="•"/>
            </a:pPr>
            <a:r>
              <a:rPr lang="es-ES" sz="2000" dirty="0"/>
              <a:t>Suelo</a:t>
            </a:r>
          </a:p>
          <a:p>
            <a:pPr marL="285750" indent="-285750">
              <a:buFont typeface="Arial" panose="020B0604020202020204" pitchFamily="34" charset="0"/>
              <a:buChar char="•"/>
            </a:pPr>
            <a:r>
              <a:rPr lang="es-ES" sz="2000" dirty="0"/>
              <a:t>Aire</a:t>
            </a:r>
          </a:p>
          <a:p>
            <a:pPr marL="285750" indent="-285750">
              <a:buFont typeface="Arial" panose="020B0604020202020204" pitchFamily="34" charset="0"/>
              <a:buChar char="•"/>
            </a:pPr>
            <a:r>
              <a:rPr lang="es-ES" sz="2000" dirty="0"/>
              <a:t>Agua</a:t>
            </a:r>
          </a:p>
          <a:p>
            <a:pPr marL="285750" indent="-285750">
              <a:buFont typeface="Arial" panose="020B0604020202020204" pitchFamily="34" charset="0"/>
              <a:buChar char="•"/>
            </a:pPr>
            <a:r>
              <a:rPr lang="es-ES" sz="2000" dirty="0"/>
              <a:t>Por ondas</a:t>
            </a:r>
          </a:p>
        </p:txBody>
      </p:sp>
      <p:sp>
        <p:nvSpPr>
          <p:cNvPr id="13" name="CuadroTexto 12">
            <a:extLst>
              <a:ext uri="{FF2B5EF4-FFF2-40B4-BE49-F238E27FC236}">
                <a16:creationId xmlns:a16="http://schemas.microsoft.com/office/drawing/2014/main" id="{1FD1D71F-95E2-38F8-CD5A-D54AB54A33FF}"/>
              </a:ext>
            </a:extLst>
          </p:cNvPr>
          <p:cNvSpPr txBox="1"/>
          <p:nvPr/>
        </p:nvSpPr>
        <p:spPr>
          <a:xfrm>
            <a:off x="7703575" y="3962887"/>
            <a:ext cx="1932039" cy="1015663"/>
          </a:xfrm>
          <a:prstGeom prst="rect">
            <a:avLst/>
          </a:prstGeom>
          <a:solidFill>
            <a:schemeClr val="accent4">
              <a:lumMod val="20000"/>
              <a:lumOff val="80000"/>
            </a:schemeClr>
          </a:solidFill>
          <a:effectLst>
            <a:glow rad="228600">
              <a:schemeClr val="accent3">
                <a:satMod val="175000"/>
                <a:alpha val="40000"/>
              </a:schemeClr>
            </a:glow>
          </a:effectLst>
        </p:spPr>
        <p:txBody>
          <a:bodyPr wrap="square" rtlCol="0">
            <a:spAutoFit/>
          </a:bodyPr>
          <a:lstStyle/>
          <a:p>
            <a:pPr algn="ctr"/>
            <a:r>
              <a:rPr lang="es-ES" sz="2000" dirty="0"/>
              <a:t>Respeto a la normativa vigente</a:t>
            </a:r>
          </a:p>
        </p:txBody>
      </p:sp>
      <p:pic>
        <p:nvPicPr>
          <p:cNvPr id="15" name="Imagen 14">
            <a:extLst>
              <a:ext uri="{FF2B5EF4-FFF2-40B4-BE49-F238E27FC236}">
                <a16:creationId xmlns:a16="http://schemas.microsoft.com/office/drawing/2014/main" id="{687D8BAD-923B-AAA4-D9CF-1EEBE2AE1BA9}"/>
              </a:ext>
            </a:extLst>
          </p:cNvPr>
          <p:cNvPicPr>
            <a:picLocks noChangeAspect="1"/>
          </p:cNvPicPr>
          <p:nvPr/>
        </p:nvPicPr>
        <p:blipFill>
          <a:blip r:embed="rId5"/>
          <a:stretch>
            <a:fillRect/>
          </a:stretch>
        </p:blipFill>
        <p:spPr>
          <a:xfrm>
            <a:off x="601433" y="1595161"/>
            <a:ext cx="2569470" cy="1438136"/>
          </a:xfrm>
          <a:prstGeom prst="rect">
            <a:avLst/>
          </a:prstGeom>
        </p:spPr>
      </p:pic>
    </p:spTree>
    <p:extLst>
      <p:ext uri="{BB962C8B-B14F-4D97-AF65-F5344CB8AC3E}">
        <p14:creationId xmlns:p14="http://schemas.microsoft.com/office/powerpoint/2010/main" val="2592903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100" b="1" kern="0" dirty="0">
                <a:latin typeface="Calibri" panose="020F0502020204030204" pitchFamily="34" charset="0"/>
                <a:ea typeface="Times New Roman" panose="02020603050405020304" pitchFamily="18" charset="0"/>
                <a:cs typeface="Times New Roman" panose="02020603050405020304" pitchFamily="18" charset="0"/>
              </a:rPr>
              <a:t>GESTIÓN DEL AGUA Y CONTROL DE LA CONTAMINACIÓN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FA7A567-4F36-6FD7-0AD3-E6E3EB1BC6F6}"/>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
        <p:nvSpPr>
          <p:cNvPr id="13" name="CuadroTexto 12">
            <a:extLst>
              <a:ext uri="{FF2B5EF4-FFF2-40B4-BE49-F238E27FC236}">
                <a16:creationId xmlns:a16="http://schemas.microsoft.com/office/drawing/2014/main" id="{5F46F759-18D8-B5E7-81B2-6EE29CBE39EB}"/>
              </a:ext>
            </a:extLst>
          </p:cNvPr>
          <p:cNvSpPr txBox="1"/>
          <p:nvPr/>
        </p:nvSpPr>
        <p:spPr>
          <a:xfrm>
            <a:off x="9792929" y="3092096"/>
            <a:ext cx="2107555" cy="2031325"/>
          </a:xfrm>
          <a:prstGeom prst="rect">
            <a:avLst/>
          </a:prstGeom>
          <a:solidFill>
            <a:schemeClr val="accent6">
              <a:lumMod val="20000"/>
              <a:lumOff val="80000"/>
            </a:schemeClr>
          </a:solidFill>
        </p:spPr>
        <p:txBody>
          <a:bodyPr wrap="square" rtlCol="0">
            <a:spAutoFit/>
          </a:bodyPr>
          <a:lstStyle/>
          <a:p>
            <a:pPr algn="just"/>
            <a:r>
              <a:rPr lang="es-ES" dirty="0"/>
              <a:t>Esta empresa ha desarrollado un biocida natural, biodegradable que sustituye a biocidas químicos altamente contaminantes.</a:t>
            </a:r>
          </a:p>
        </p:txBody>
      </p:sp>
      <p:pic>
        <p:nvPicPr>
          <p:cNvPr id="6" name="Imagen 5">
            <a:hlinkClick r:id="rId4"/>
            <a:extLst>
              <a:ext uri="{FF2B5EF4-FFF2-40B4-BE49-F238E27FC236}">
                <a16:creationId xmlns:a16="http://schemas.microsoft.com/office/drawing/2014/main" id="{ADF35482-1AB5-8C13-41F6-87D64DED4A2B}"/>
              </a:ext>
            </a:extLst>
          </p:cNvPr>
          <p:cNvPicPr>
            <a:picLocks noChangeAspect="1"/>
          </p:cNvPicPr>
          <p:nvPr/>
        </p:nvPicPr>
        <p:blipFill>
          <a:blip r:embed="rId5"/>
          <a:stretch>
            <a:fillRect/>
          </a:stretch>
        </p:blipFill>
        <p:spPr>
          <a:xfrm>
            <a:off x="105237" y="1455406"/>
            <a:ext cx="9196829" cy="4620919"/>
          </a:xfrm>
          <a:prstGeom prst="rect">
            <a:avLst/>
          </a:prstGeom>
        </p:spPr>
      </p:pic>
    </p:spTree>
    <p:extLst>
      <p:ext uri="{BB962C8B-B14F-4D97-AF65-F5344CB8AC3E}">
        <p14:creationId xmlns:p14="http://schemas.microsoft.com/office/powerpoint/2010/main" val="11889623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GESTIÓN DE RESIDUOS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4" name="Imagen 3">
            <a:extLst>
              <a:ext uri="{FF2B5EF4-FFF2-40B4-BE49-F238E27FC236}">
                <a16:creationId xmlns:a16="http://schemas.microsoft.com/office/drawing/2014/main" id="{8A6E2887-3BD2-8E70-0EB3-0C5B04B445EB}"/>
              </a:ext>
            </a:extLst>
          </p:cNvPr>
          <p:cNvPicPr>
            <a:picLocks noChangeAspect="1"/>
          </p:cNvPicPr>
          <p:nvPr/>
        </p:nvPicPr>
        <p:blipFill>
          <a:blip r:embed="rId4"/>
          <a:stretch>
            <a:fillRect/>
          </a:stretch>
        </p:blipFill>
        <p:spPr>
          <a:xfrm>
            <a:off x="3565713" y="4541520"/>
            <a:ext cx="4758433" cy="2121230"/>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diagonales redondeadas 2">
            <a:extLst>
              <a:ext uri="{FF2B5EF4-FFF2-40B4-BE49-F238E27FC236}">
                <a16:creationId xmlns:a16="http://schemas.microsoft.com/office/drawing/2014/main" id="{8D5E4B93-0E61-8B9A-E352-99F2FD12F241}"/>
              </a:ext>
            </a:extLst>
          </p:cNvPr>
          <p:cNvSpPr/>
          <p:nvPr/>
        </p:nvSpPr>
        <p:spPr>
          <a:xfrm>
            <a:off x="1575829" y="1749223"/>
            <a:ext cx="3465872" cy="588861"/>
          </a:xfrm>
          <a:prstGeom prst="round2DiagRect">
            <a:avLst>
              <a:gd name="adj1" fmla="val 16667"/>
              <a:gd name="adj2" fmla="val 28644"/>
            </a:avLst>
          </a:prstGeom>
          <a:solidFill>
            <a:schemeClr val="accent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RECOGIDA DE RESIDUOS</a:t>
            </a:r>
          </a:p>
        </p:txBody>
      </p:sp>
      <p:sp>
        <p:nvSpPr>
          <p:cNvPr id="6" name="Rectángulo: esquinas diagonales redondeadas 5">
            <a:extLst>
              <a:ext uri="{FF2B5EF4-FFF2-40B4-BE49-F238E27FC236}">
                <a16:creationId xmlns:a16="http://schemas.microsoft.com/office/drawing/2014/main" id="{805842F2-1FF6-FF06-6E8C-1A882A43B6DE}"/>
              </a:ext>
            </a:extLst>
          </p:cNvPr>
          <p:cNvSpPr/>
          <p:nvPr/>
        </p:nvSpPr>
        <p:spPr>
          <a:xfrm>
            <a:off x="6931670" y="1749222"/>
            <a:ext cx="3465872" cy="588861"/>
          </a:xfrm>
          <a:prstGeom prst="round2DiagRect">
            <a:avLst>
              <a:gd name="adj1" fmla="val 16667"/>
              <a:gd name="adj2" fmla="val 28644"/>
            </a:avLst>
          </a:prstGeom>
          <a:solidFill>
            <a:schemeClr val="accent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REDUCCIÓN DE RESIDUOS</a:t>
            </a:r>
          </a:p>
        </p:txBody>
      </p:sp>
      <p:pic>
        <p:nvPicPr>
          <p:cNvPr id="10" name="Imagen 9">
            <a:extLst>
              <a:ext uri="{FF2B5EF4-FFF2-40B4-BE49-F238E27FC236}">
                <a16:creationId xmlns:a16="http://schemas.microsoft.com/office/drawing/2014/main" id="{7D4A2222-AC81-D7D2-F0CB-504D9291BE8C}"/>
              </a:ext>
            </a:extLst>
          </p:cNvPr>
          <p:cNvPicPr>
            <a:picLocks noChangeAspect="1"/>
          </p:cNvPicPr>
          <p:nvPr/>
        </p:nvPicPr>
        <p:blipFill>
          <a:blip r:embed="rId5"/>
          <a:stretch>
            <a:fillRect/>
          </a:stretch>
        </p:blipFill>
        <p:spPr>
          <a:xfrm>
            <a:off x="78652" y="3098916"/>
            <a:ext cx="1372413" cy="1134047"/>
          </a:xfrm>
          <a:prstGeom prst="rect">
            <a:avLst/>
          </a:prstGeom>
        </p:spPr>
      </p:pic>
      <p:sp>
        <p:nvSpPr>
          <p:cNvPr id="11" name="Rectángulo 10">
            <a:extLst>
              <a:ext uri="{FF2B5EF4-FFF2-40B4-BE49-F238E27FC236}">
                <a16:creationId xmlns:a16="http://schemas.microsoft.com/office/drawing/2014/main" id="{6BE19A2C-F0AF-6C79-B825-231F949AAD98}"/>
              </a:ext>
            </a:extLst>
          </p:cNvPr>
          <p:cNvSpPr/>
          <p:nvPr/>
        </p:nvSpPr>
        <p:spPr>
          <a:xfrm>
            <a:off x="1575829" y="2898036"/>
            <a:ext cx="3465872" cy="1528218"/>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Las empresas deben implementar un sistema de recogida para mantener la circularidad de los productos</a:t>
            </a:r>
          </a:p>
        </p:txBody>
      </p:sp>
      <p:cxnSp>
        <p:nvCxnSpPr>
          <p:cNvPr id="13" name="Conector recto 12">
            <a:extLst>
              <a:ext uri="{FF2B5EF4-FFF2-40B4-BE49-F238E27FC236}">
                <a16:creationId xmlns:a16="http://schemas.microsoft.com/office/drawing/2014/main" id="{9BF31692-E3B2-85F2-FC2F-407DFA3FBA60}"/>
              </a:ext>
            </a:extLst>
          </p:cNvPr>
          <p:cNvCxnSpPr>
            <a:stCxn id="3" idx="1"/>
            <a:endCxn id="11" idx="0"/>
          </p:cNvCxnSpPr>
          <p:nvPr/>
        </p:nvCxnSpPr>
        <p:spPr>
          <a:xfrm>
            <a:off x="3308765" y="2338084"/>
            <a:ext cx="0" cy="559952"/>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ángulo 13">
            <a:extLst>
              <a:ext uri="{FF2B5EF4-FFF2-40B4-BE49-F238E27FC236}">
                <a16:creationId xmlns:a16="http://schemas.microsoft.com/office/drawing/2014/main" id="{1298AB5E-1612-C0AA-72AA-CF64DC17F0F4}"/>
              </a:ext>
            </a:extLst>
          </p:cNvPr>
          <p:cNvSpPr/>
          <p:nvPr/>
        </p:nvSpPr>
        <p:spPr>
          <a:xfrm>
            <a:off x="6931670" y="2874910"/>
            <a:ext cx="3465872" cy="1528218"/>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Se deben desarrollar políticas para minimizar la producción de residuos y mejorar la eficiencia</a:t>
            </a:r>
          </a:p>
        </p:txBody>
      </p:sp>
      <p:cxnSp>
        <p:nvCxnSpPr>
          <p:cNvPr id="15" name="Conector recto 14">
            <a:extLst>
              <a:ext uri="{FF2B5EF4-FFF2-40B4-BE49-F238E27FC236}">
                <a16:creationId xmlns:a16="http://schemas.microsoft.com/office/drawing/2014/main" id="{03ADD5AE-BD22-3AA9-3F5A-6AB1E9BE8BB1}"/>
              </a:ext>
            </a:extLst>
          </p:cNvPr>
          <p:cNvCxnSpPr>
            <a:endCxn id="14" idx="0"/>
          </p:cNvCxnSpPr>
          <p:nvPr/>
        </p:nvCxnSpPr>
        <p:spPr>
          <a:xfrm>
            <a:off x="8664606" y="2314958"/>
            <a:ext cx="0" cy="559952"/>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Imagen 16">
            <a:extLst>
              <a:ext uri="{FF2B5EF4-FFF2-40B4-BE49-F238E27FC236}">
                <a16:creationId xmlns:a16="http://schemas.microsoft.com/office/drawing/2014/main" id="{82942B6F-3D66-2B11-422D-8678FB40DE70}"/>
              </a:ext>
            </a:extLst>
          </p:cNvPr>
          <p:cNvPicPr>
            <a:picLocks noChangeAspect="1"/>
          </p:cNvPicPr>
          <p:nvPr/>
        </p:nvPicPr>
        <p:blipFill>
          <a:blip r:embed="rId6"/>
          <a:stretch>
            <a:fillRect/>
          </a:stretch>
        </p:blipFill>
        <p:spPr>
          <a:xfrm>
            <a:off x="10539971" y="2909502"/>
            <a:ext cx="1585905" cy="1459033"/>
          </a:xfrm>
          <a:prstGeom prst="rect">
            <a:avLst/>
          </a:prstGeom>
        </p:spPr>
      </p:pic>
    </p:spTree>
    <p:extLst>
      <p:ext uri="{BB962C8B-B14F-4D97-AF65-F5344CB8AC3E}">
        <p14:creationId xmlns:p14="http://schemas.microsoft.com/office/powerpoint/2010/main" val="4323688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b="1" kern="0" dirty="0">
                <a:latin typeface="Calibri" panose="020F0502020204030204" pitchFamily="34" charset="0"/>
                <a:ea typeface="Times New Roman" panose="02020603050405020304" pitchFamily="18" charset="0"/>
                <a:cs typeface="Times New Roman" panose="02020603050405020304" pitchFamily="18" charset="0"/>
              </a:rPr>
              <a:t>GESTIÓN DE RESIDUOS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FA7A567-4F36-6FD7-0AD3-E6E3EB1BC6F6}"/>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
        <p:nvSpPr>
          <p:cNvPr id="13" name="CuadroTexto 12">
            <a:extLst>
              <a:ext uri="{FF2B5EF4-FFF2-40B4-BE49-F238E27FC236}">
                <a16:creationId xmlns:a16="http://schemas.microsoft.com/office/drawing/2014/main" id="{5F46F759-18D8-B5E7-81B2-6EE29CBE39EB}"/>
              </a:ext>
            </a:extLst>
          </p:cNvPr>
          <p:cNvSpPr txBox="1"/>
          <p:nvPr/>
        </p:nvSpPr>
        <p:spPr>
          <a:xfrm>
            <a:off x="9527458" y="3092096"/>
            <a:ext cx="2373026" cy="1754326"/>
          </a:xfrm>
          <a:prstGeom prst="rect">
            <a:avLst/>
          </a:prstGeom>
          <a:solidFill>
            <a:schemeClr val="accent6">
              <a:lumMod val="20000"/>
              <a:lumOff val="80000"/>
            </a:schemeClr>
          </a:solidFill>
        </p:spPr>
        <p:txBody>
          <a:bodyPr wrap="square" rtlCol="0">
            <a:spAutoFit/>
          </a:bodyPr>
          <a:lstStyle/>
          <a:p>
            <a:pPr algn="just"/>
            <a:r>
              <a:rPr lang="es-ES" dirty="0"/>
              <a:t>Esta empresa ayuda a otras a que gestionen adecuadamente sus residuos para aproximarlos a la economía circular.</a:t>
            </a:r>
          </a:p>
        </p:txBody>
      </p:sp>
      <p:pic>
        <p:nvPicPr>
          <p:cNvPr id="6" name="Imagen 5">
            <a:hlinkClick r:id="rId4"/>
            <a:extLst>
              <a:ext uri="{FF2B5EF4-FFF2-40B4-BE49-F238E27FC236}">
                <a16:creationId xmlns:a16="http://schemas.microsoft.com/office/drawing/2014/main" id="{A09CB534-9163-FA80-A510-994AB7BECA6E}"/>
              </a:ext>
            </a:extLst>
          </p:cNvPr>
          <p:cNvPicPr>
            <a:picLocks noChangeAspect="1"/>
          </p:cNvPicPr>
          <p:nvPr/>
        </p:nvPicPr>
        <p:blipFill>
          <a:blip r:embed="rId5"/>
          <a:stretch>
            <a:fillRect/>
          </a:stretch>
        </p:blipFill>
        <p:spPr>
          <a:xfrm>
            <a:off x="162232" y="1561643"/>
            <a:ext cx="9134860" cy="4664116"/>
          </a:xfrm>
          <a:prstGeom prst="rect">
            <a:avLst/>
          </a:prstGeom>
        </p:spPr>
      </p:pic>
    </p:spTree>
    <p:extLst>
      <p:ext uri="{BB962C8B-B14F-4D97-AF65-F5344CB8AC3E}">
        <p14:creationId xmlns:p14="http://schemas.microsoft.com/office/powerpoint/2010/main" val="14092093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4.4. ASPECTOS SOCIALES</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4869000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782561" y="409944"/>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ASPECTOS SOCIALES</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6" name="Rectángulo: una sola esquina cortada 5">
            <a:extLst>
              <a:ext uri="{FF2B5EF4-FFF2-40B4-BE49-F238E27FC236}">
                <a16:creationId xmlns:a16="http://schemas.microsoft.com/office/drawing/2014/main" id="{E67DCEAB-35C6-B037-4313-B9056E7238FE}"/>
              </a:ext>
            </a:extLst>
          </p:cNvPr>
          <p:cNvSpPr/>
          <p:nvPr/>
        </p:nvSpPr>
        <p:spPr>
          <a:xfrm>
            <a:off x="1584960" y="5331933"/>
            <a:ext cx="5044440" cy="944880"/>
          </a:xfrm>
          <a:prstGeom prst="snip1Rect">
            <a:avLst>
              <a:gd name="adj" fmla="val 50000"/>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PROTEGER</a:t>
            </a:r>
          </a:p>
        </p:txBody>
      </p:sp>
      <p:sp>
        <p:nvSpPr>
          <p:cNvPr id="8" name="Rectángulo: una sola esquina cortada 7">
            <a:extLst>
              <a:ext uri="{FF2B5EF4-FFF2-40B4-BE49-F238E27FC236}">
                <a16:creationId xmlns:a16="http://schemas.microsoft.com/office/drawing/2014/main" id="{5DF8C4E3-4A72-5210-0E63-85E532F8B393}"/>
              </a:ext>
            </a:extLst>
          </p:cNvPr>
          <p:cNvSpPr/>
          <p:nvPr/>
        </p:nvSpPr>
        <p:spPr>
          <a:xfrm>
            <a:off x="1584960" y="4387053"/>
            <a:ext cx="4175760" cy="944880"/>
          </a:xfrm>
          <a:prstGeom prst="snip1Rect">
            <a:avLst>
              <a:gd name="adj" fmla="val 50000"/>
            </a:avLst>
          </a:prstGeom>
          <a:solidFill>
            <a:schemeClr val="accent1">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RESPETAR</a:t>
            </a:r>
          </a:p>
        </p:txBody>
      </p:sp>
      <p:sp>
        <p:nvSpPr>
          <p:cNvPr id="10" name="Rectángulo: una sola esquina cortada 9">
            <a:extLst>
              <a:ext uri="{FF2B5EF4-FFF2-40B4-BE49-F238E27FC236}">
                <a16:creationId xmlns:a16="http://schemas.microsoft.com/office/drawing/2014/main" id="{EA9465CC-00B3-4E0D-E876-8133C596327D}"/>
              </a:ext>
            </a:extLst>
          </p:cNvPr>
          <p:cNvSpPr/>
          <p:nvPr/>
        </p:nvSpPr>
        <p:spPr>
          <a:xfrm>
            <a:off x="1584960" y="3442173"/>
            <a:ext cx="3215640" cy="944880"/>
          </a:xfrm>
          <a:prstGeom prst="snip1Rect">
            <a:avLst>
              <a:gd name="adj" fmla="val 50000"/>
            </a:avLst>
          </a:prstGeom>
          <a:solidFill>
            <a:schemeClr val="accent5">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REPARAR</a:t>
            </a:r>
          </a:p>
        </p:txBody>
      </p:sp>
      <p:pic>
        <p:nvPicPr>
          <p:cNvPr id="1026" name="Picture 2" descr="United Nations Guiding Principles On Business And Human Rights">
            <a:extLst>
              <a:ext uri="{FF2B5EF4-FFF2-40B4-BE49-F238E27FC236}">
                <a16:creationId xmlns:a16="http://schemas.microsoft.com/office/drawing/2014/main" id="{F0CD1E2A-766F-BBE4-FBBE-4B468492DB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 y="1282010"/>
            <a:ext cx="3418663" cy="1203964"/>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6FC46E7E-C83B-ACD4-3E13-B0131823DDBB}"/>
              </a:ext>
            </a:extLst>
          </p:cNvPr>
          <p:cNvSpPr txBox="1"/>
          <p:nvPr/>
        </p:nvSpPr>
        <p:spPr>
          <a:xfrm>
            <a:off x="7879080" y="5876703"/>
            <a:ext cx="2621280" cy="400110"/>
          </a:xfrm>
          <a:prstGeom prst="rect">
            <a:avLst/>
          </a:prstGeom>
          <a:noFill/>
        </p:spPr>
        <p:txBody>
          <a:bodyPr wrap="square" rtlCol="0">
            <a:spAutoFit/>
          </a:bodyPr>
          <a:lstStyle/>
          <a:p>
            <a:r>
              <a:rPr lang="es-ES" sz="2000" b="1" dirty="0"/>
              <a:t>ESTADOS</a:t>
            </a:r>
          </a:p>
        </p:txBody>
      </p:sp>
      <p:sp>
        <p:nvSpPr>
          <p:cNvPr id="13" name="CuadroTexto 12">
            <a:extLst>
              <a:ext uri="{FF2B5EF4-FFF2-40B4-BE49-F238E27FC236}">
                <a16:creationId xmlns:a16="http://schemas.microsoft.com/office/drawing/2014/main" id="{F39D90B2-1F8B-A0D9-F584-7090FBF53DBA}"/>
              </a:ext>
            </a:extLst>
          </p:cNvPr>
          <p:cNvSpPr txBox="1"/>
          <p:nvPr/>
        </p:nvSpPr>
        <p:spPr>
          <a:xfrm>
            <a:off x="7889289" y="4910646"/>
            <a:ext cx="2621280" cy="400110"/>
          </a:xfrm>
          <a:prstGeom prst="rect">
            <a:avLst/>
          </a:prstGeom>
          <a:noFill/>
        </p:spPr>
        <p:txBody>
          <a:bodyPr wrap="square" rtlCol="0">
            <a:spAutoFit/>
          </a:bodyPr>
          <a:lstStyle/>
          <a:p>
            <a:r>
              <a:rPr lang="es-ES" sz="2000" b="1" dirty="0"/>
              <a:t>EMPRESAS</a:t>
            </a:r>
          </a:p>
        </p:txBody>
      </p:sp>
      <p:sp>
        <p:nvSpPr>
          <p:cNvPr id="15" name="CuadroTexto 14">
            <a:extLst>
              <a:ext uri="{FF2B5EF4-FFF2-40B4-BE49-F238E27FC236}">
                <a16:creationId xmlns:a16="http://schemas.microsoft.com/office/drawing/2014/main" id="{4949C774-1C55-8B06-5F73-8A6FB8C0ED02}"/>
              </a:ext>
            </a:extLst>
          </p:cNvPr>
          <p:cNvSpPr txBox="1"/>
          <p:nvPr/>
        </p:nvSpPr>
        <p:spPr>
          <a:xfrm>
            <a:off x="7879080" y="3869370"/>
            <a:ext cx="2621280" cy="400110"/>
          </a:xfrm>
          <a:prstGeom prst="rect">
            <a:avLst/>
          </a:prstGeom>
          <a:noFill/>
        </p:spPr>
        <p:txBody>
          <a:bodyPr wrap="square" rtlCol="0">
            <a:spAutoFit/>
          </a:bodyPr>
          <a:lstStyle/>
          <a:p>
            <a:r>
              <a:rPr lang="es-ES" sz="2000" b="1" dirty="0"/>
              <a:t>ESTADOS Y EMPRESAS</a:t>
            </a:r>
          </a:p>
        </p:txBody>
      </p:sp>
      <p:sp>
        <p:nvSpPr>
          <p:cNvPr id="16" name="Flecha: hacia la izquierda 15">
            <a:extLst>
              <a:ext uri="{FF2B5EF4-FFF2-40B4-BE49-F238E27FC236}">
                <a16:creationId xmlns:a16="http://schemas.microsoft.com/office/drawing/2014/main" id="{F0FF0763-38CD-B97B-273E-252BA5633E22}"/>
              </a:ext>
            </a:extLst>
          </p:cNvPr>
          <p:cNvSpPr/>
          <p:nvPr/>
        </p:nvSpPr>
        <p:spPr>
          <a:xfrm>
            <a:off x="5257801" y="3929943"/>
            <a:ext cx="2438400" cy="400110"/>
          </a:xfrm>
          <a:prstGeom prst="leftArrow">
            <a:avLst/>
          </a:prstGeom>
          <a:solidFill>
            <a:schemeClr val="accent1">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Flecha: hacia la izquierda 16">
            <a:extLst>
              <a:ext uri="{FF2B5EF4-FFF2-40B4-BE49-F238E27FC236}">
                <a16:creationId xmlns:a16="http://schemas.microsoft.com/office/drawing/2014/main" id="{ADF9A0B2-B500-8C28-6BD0-DE9EA1FDBBEF}"/>
              </a:ext>
            </a:extLst>
          </p:cNvPr>
          <p:cNvSpPr/>
          <p:nvPr/>
        </p:nvSpPr>
        <p:spPr>
          <a:xfrm>
            <a:off x="6187441" y="4910646"/>
            <a:ext cx="1508760" cy="400110"/>
          </a:xfrm>
          <a:prstGeom prst="leftArrow">
            <a:avLst/>
          </a:prstGeom>
          <a:solidFill>
            <a:schemeClr val="accent1">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Flecha: hacia la izquierda 18">
            <a:extLst>
              <a:ext uri="{FF2B5EF4-FFF2-40B4-BE49-F238E27FC236}">
                <a16:creationId xmlns:a16="http://schemas.microsoft.com/office/drawing/2014/main" id="{CAF5D481-A387-A5EF-FE76-6B1F88C5FB8E}"/>
              </a:ext>
            </a:extLst>
          </p:cNvPr>
          <p:cNvSpPr/>
          <p:nvPr/>
        </p:nvSpPr>
        <p:spPr>
          <a:xfrm>
            <a:off x="6820713" y="5856148"/>
            <a:ext cx="875487" cy="400110"/>
          </a:xfrm>
          <a:prstGeom prst="leftArrow">
            <a:avLst/>
          </a:prstGeom>
          <a:solidFill>
            <a:schemeClr val="accent1">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FE5E7845-63BB-3713-D41B-B0ED84452C8A}"/>
              </a:ext>
            </a:extLst>
          </p:cNvPr>
          <p:cNvSpPr txBox="1"/>
          <p:nvPr/>
        </p:nvSpPr>
        <p:spPr>
          <a:xfrm>
            <a:off x="5745481" y="1628827"/>
            <a:ext cx="5605064" cy="1323439"/>
          </a:xfrm>
          <a:prstGeom prst="rect">
            <a:avLst/>
          </a:prstGeom>
          <a:noFill/>
        </p:spPr>
        <p:txBody>
          <a:bodyPr wrap="square" rtlCol="0">
            <a:spAutoFit/>
          </a:bodyPr>
          <a:lstStyle/>
          <a:p>
            <a:pPr algn="just"/>
            <a:r>
              <a:rPr lang="es-ES" sz="2000" dirty="0"/>
              <a:t>Los Principios Rectores constituyen un marco mundial para prevenir y abordar las violaciones de los DDHH y reconocen la responsabilidad de las empresas sobre las comunidades en  las que operan</a:t>
            </a:r>
          </a:p>
        </p:txBody>
      </p:sp>
      <p:sp>
        <p:nvSpPr>
          <p:cNvPr id="21" name="Rectángulo: esquinas redondeadas 20">
            <a:extLst>
              <a:ext uri="{FF2B5EF4-FFF2-40B4-BE49-F238E27FC236}">
                <a16:creationId xmlns:a16="http://schemas.microsoft.com/office/drawing/2014/main" id="{AD5A8985-7FAC-EFA8-14FF-1550A9C2B4EC}"/>
              </a:ext>
            </a:extLst>
          </p:cNvPr>
          <p:cNvSpPr/>
          <p:nvPr/>
        </p:nvSpPr>
        <p:spPr>
          <a:xfrm>
            <a:off x="9464040" y="4770120"/>
            <a:ext cx="2270760" cy="656777"/>
          </a:xfrm>
          <a:prstGeom prst="roundRect">
            <a:avLst/>
          </a:prstGeom>
          <a:solidFill>
            <a:srgbClr val="8A0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Diligencia Debida </a:t>
            </a:r>
          </a:p>
        </p:txBody>
      </p:sp>
    </p:spTree>
    <p:extLst>
      <p:ext uri="{BB962C8B-B14F-4D97-AF65-F5344CB8AC3E}">
        <p14:creationId xmlns:p14="http://schemas.microsoft.com/office/powerpoint/2010/main" val="3468360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782561" y="409944"/>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ASPECTOS SOCIALES</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21" name="Rectángulo: esquinas redondeadas 20">
            <a:extLst>
              <a:ext uri="{FF2B5EF4-FFF2-40B4-BE49-F238E27FC236}">
                <a16:creationId xmlns:a16="http://schemas.microsoft.com/office/drawing/2014/main" id="{AD5A8985-7FAC-EFA8-14FF-1550A9C2B4EC}"/>
              </a:ext>
            </a:extLst>
          </p:cNvPr>
          <p:cNvSpPr/>
          <p:nvPr/>
        </p:nvSpPr>
        <p:spPr>
          <a:xfrm>
            <a:off x="335280" y="1479856"/>
            <a:ext cx="4381500" cy="656777"/>
          </a:xfrm>
          <a:prstGeom prst="roundRect">
            <a:avLst/>
          </a:prstGeom>
          <a:solidFill>
            <a:srgbClr val="8A0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Diligencia Debida en materia de DDHH </a:t>
            </a:r>
          </a:p>
        </p:txBody>
      </p:sp>
      <p:sp>
        <p:nvSpPr>
          <p:cNvPr id="4" name="Flecha: a la derecha con muesca 3">
            <a:extLst>
              <a:ext uri="{FF2B5EF4-FFF2-40B4-BE49-F238E27FC236}">
                <a16:creationId xmlns:a16="http://schemas.microsoft.com/office/drawing/2014/main" id="{77EFD1FB-6DF3-DD94-BE41-55E0ADF00ADA}"/>
              </a:ext>
            </a:extLst>
          </p:cNvPr>
          <p:cNvSpPr/>
          <p:nvPr/>
        </p:nvSpPr>
        <p:spPr>
          <a:xfrm>
            <a:off x="929640" y="3078479"/>
            <a:ext cx="8921115" cy="2909463"/>
          </a:xfrm>
          <a:prstGeom prst="notchedRightArrow">
            <a:avLst>
              <a:gd name="adj1" fmla="val 69178"/>
              <a:gd name="adj2" fmla="val 50000"/>
            </a:avLst>
          </a:prstGeom>
          <a:solidFill>
            <a:schemeClr val="accent5">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cheurón 10">
            <a:extLst>
              <a:ext uri="{FF2B5EF4-FFF2-40B4-BE49-F238E27FC236}">
                <a16:creationId xmlns:a16="http://schemas.microsoft.com/office/drawing/2014/main" id="{AC734CC3-816A-A74C-91DD-67866DB5D99E}"/>
              </a:ext>
            </a:extLst>
          </p:cNvPr>
          <p:cNvSpPr/>
          <p:nvPr/>
        </p:nvSpPr>
        <p:spPr>
          <a:xfrm>
            <a:off x="1310640" y="3725656"/>
            <a:ext cx="2438400" cy="1615440"/>
          </a:xfrm>
          <a:prstGeom prst="chevron">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4" name="CuadroTexto 13">
            <a:extLst>
              <a:ext uri="{FF2B5EF4-FFF2-40B4-BE49-F238E27FC236}">
                <a16:creationId xmlns:a16="http://schemas.microsoft.com/office/drawing/2014/main" id="{4085E66A-5C0B-353C-3FE1-065C105AD026}"/>
              </a:ext>
            </a:extLst>
          </p:cNvPr>
          <p:cNvSpPr txBox="1"/>
          <p:nvPr/>
        </p:nvSpPr>
        <p:spPr>
          <a:xfrm>
            <a:off x="1535430" y="3817476"/>
            <a:ext cx="1897380" cy="1477328"/>
          </a:xfrm>
          <a:prstGeom prst="rect">
            <a:avLst/>
          </a:prstGeom>
          <a:noFill/>
        </p:spPr>
        <p:txBody>
          <a:bodyPr wrap="square" rtlCol="0">
            <a:spAutoFit/>
          </a:bodyPr>
          <a:lstStyle/>
          <a:p>
            <a:pPr algn="ctr"/>
            <a:r>
              <a:rPr lang="es-ES" b="1" dirty="0">
                <a:solidFill>
                  <a:schemeClr val="bg1"/>
                </a:solidFill>
              </a:rPr>
              <a:t>Identificación</a:t>
            </a:r>
          </a:p>
          <a:p>
            <a:pPr algn="ctr"/>
            <a:r>
              <a:rPr lang="es-ES" b="1" dirty="0">
                <a:solidFill>
                  <a:schemeClr val="bg1"/>
                </a:solidFill>
              </a:rPr>
              <a:t>y </a:t>
            </a:r>
          </a:p>
          <a:p>
            <a:pPr algn="ctr"/>
            <a:r>
              <a:rPr lang="es-ES" b="1" dirty="0">
                <a:solidFill>
                  <a:schemeClr val="bg1"/>
                </a:solidFill>
              </a:rPr>
              <a:t>            evaluación</a:t>
            </a:r>
          </a:p>
          <a:p>
            <a:pPr algn="ctr"/>
            <a:r>
              <a:rPr lang="es-ES" b="1" dirty="0">
                <a:solidFill>
                  <a:schemeClr val="bg1"/>
                </a:solidFill>
              </a:rPr>
              <a:t> de </a:t>
            </a:r>
          </a:p>
          <a:p>
            <a:pPr algn="ctr"/>
            <a:r>
              <a:rPr lang="es-ES" b="1" dirty="0">
                <a:solidFill>
                  <a:schemeClr val="bg1"/>
                </a:solidFill>
              </a:rPr>
              <a:t>impactos</a:t>
            </a:r>
          </a:p>
        </p:txBody>
      </p:sp>
      <p:sp>
        <p:nvSpPr>
          <p:cNvPr id="18" name="Flecha: cheurón 17">
            <a:extLst>
              <a:ext uri="{FF2B5EF4-FFF2-40B4-BE49-F238E27FC236}">
                <a16:creationId xmlns:a16="http://schemas.microsoft.com/office/drawing/2014/main" id="{02E8B66F-7C1A-B299-9FF2-EB7F7EDCC661}"/>
              </a:ext>
            </a:extLst>
          </p:cNvPr>
          <p:cNvSpPr/>
          <p:nvPr/>
        </p:nvSpPr>
        <p:spPr>
          <a:xfrm>
            <a:off x="3268980" y="3725656"/>
            <a:ext cx="2438400" cy="1615440"/>
          </a:xfrm>
          <a:prstGeom prst="chevron">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2" name="Flecha: cheurón 21">
            <a:extLst>
              <a:ext uri="{FF2B5EF4-FFF2-40B4-BE49-F238E27FC236}">
                <a16:creationId xmlns:a16="http://schemas.microsoft.com/office/drawing/2014/main" id="{2D355EF1-AC17-9B57-E66B-5F7461680D37}"/>
              </a:ext>
            </a:extLst>
          </p:cNvPr>
          <p:cNvSpPr/>
          <p:nvPr/>
        </p:nvSpPr>
        <p:spPr>
          <a:xfrm>
            <a:off x="5242560" y="3725656"/>
            <a:ext cx="2438400" cy="1615440"/>
          </a:xfrm>
          <a:prstGeom prst="chevron">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3" name="Flecha: cheurón 22">
            <a:extLst>
              <a:ext uri="{FF2B5EF4-FFF2-40B4-BE49-F238E27FC236}">
                <a16:creationId xmlns:a16="http://schemas.microsoft.com/office/drawing/2014/main" id="{74A6B20D-DA83-BCEA-53F4-DD27BB63DFA3}"/>
              </a:ext>
            </a:extLst>
          </p:cNvPr>
          <p:cNvSpPr/>
          <p:nvPr/>
        </p:nvSpPr>
        <p:spPr>
          <a:xfrm>
            <a:off x="7189470" y="3725656"/>
            <a:ext cx="2438400" cy="1615440"/>
          </a:xfrm>
          <a:prstGeom prst="chevron">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4" name="CuadroTexto 23">
            <a:extLst>
              <a:ext uri="{FF2B5EF4-FFF2-40B4-BE49-F238E27FC236}">
                <a16:creationId xmlns:a16="http://schemas.microsoft.com/office/drawing/2014/main" id="{C6B70F6E-76FA-F1A2-E99B-459FE679978B}"/>
              </a:ext>
            </a:extLst>
          </p:cNvPr>
          <p:cNvSpPr txBox="1"/>
          <p:nvPr/>
        </p:nvSpPr>
        <p:spPr>
          <a:xfrm>
            <a:off x="3585210" y="3794712"/>
            <a:ext cx="1897380" cy="1477328"/>
          </a:xfrm>
          <a:prstGeom prst="rect">
            <a:avLst/>
          </a:prstGeom>
          <a:noFill/>
        </p:spPr>
        <p:txBody>
          <a:bodyPr wrap="square" rtlCol="0">
            <a:spAutoFit/>
          </a:bodyPr>
          <a:lstStyle/>
          <a:p>
            <a:pPr algn="ctr"/>
            <a:r>
              <a:rPr lang="es-ES" b="1" dirty="0">
                <a:solidFill>
                  <a:schemeClr val="bg1"/>
                </a:solidFill>
              </a:rPr>
              <a:t>Adopción</a:t>
            </a:r>
          </a:p>
          <a:p>
            <a:pPr algn="ctr"/>
            <a:r>
              <a:rPr lang="es-ES" b="1" dirty="0">
                <a:solidFill>
                  <a:schemeClr val="bg1"/>
                </a:solidFill>
              </a:rPr>
              <a:t>de</a:t>
            </a:r>
          </a:p>
          <a:p>
            <a:pPr algn="ctr"/>
            <a:r>
              <a:rPr lang="es-ES" b="1" dirty="0">
                <a:solidFill>
                  <a:schemeClr val="bg1"/>
                </a:solidFill>
              </a:rPr>
              <a:t>           estrategias</a:t>
            </a:r>
          </a:p>
          <a:p>
            <a:pPr algn="ctr"/>
            <a:r>
              <a:rPr lang="es-ES" b="1" dirty="0">
                <a:solidFill>
                  <a:schemeClr val="bg1"/>
                </a:solidFill>
              </a:rPr>
              <a:t>de</a:t>
            </a:r>
          </a:p>
          <a:p>
            <a:r>
              <a:rPr lang="es-ES" b="1" dirty="0">
                <a:solidFill>
                  <a:schemeClr val="bg1"/>
                </a:solidFill>
              </a:rPr>
              <a:t>      prevención</a:t>
            </a:r>
          </a:p>
        </p:txBody>
      </p:sp>
      <p:sp>
        <p:nvSpPr>
          <p:cNvPr id="25" name="CuadroTexto 24">
            <a:extLst>
              <a:ext uri="{FF2B5EF4-FFF2-40B4-BE49-F238E27FC236}">
                <a16:creationId xmlns:a16="http://schemas.microsoft.com/office/drawing/2014/main" id="{04543008-C352-7807-ED03-53A5F2A71150}"/>
              </a:ext>
            </a:extLst>
          </p:cNvPr>
          <p:cNvSpPr txBox="1"/>
          <p:nvPr/>
        </p:nvSpPr>
        <p:spPr>
          <a:xfrm>
            <a:off x="5604510" y="3936783"/>
            <a:ext cx="1897380" cy="1200329"/>
          </a:xfrm>
          <a:prstGeom prst="rect">
            <a:avLst/>
          </a:prstGeom>
          <a:noFill/>
        </p:spPr>
        <p:txBody>
          <a:bodyPr wrap="square" rtlCol="0">
            <a:spAutoFit/>
          </a:bodyPr>
          <a:lstStyle/>
          <a:p>
            <a:pPr algn="ctr"/>
            <a:r>
              <a:rPr lang="es-ES" b="1" dirty="0">
                <a:solidFill>
                  <a:schemeClr val="bg1"/>
                </a:solidFill>
              </a:rPr>
              <a:t>Seguimiento</a:t>
            </a:r>
          </a:p>
          <a:p>
            <a:pPr algn="ctr"/>
            <a:r>
              <a:rPr lang="es-ES" b="1" dirty="0">
                <a:solidFill>
                  <a:schemeClr val="bg1"/>
                </a:solidFill>
              </a:rPr>
              <a:t>de</a:t>
            </a:r>
          </a:p>
          <a:p>
            <a:pPr algn="ctr"/>
            <a:r>
              <a:rPr lang="es-ES" b="1" dirty="0">
                <a:solidFill>
                  <a:schemeClr val="bg1"/>
                </a:solidFill>
              </a:rPr>
              <a:t>medidas adoptadas</a:t>
            </a:r>
          </a:p>
        </p:txBody>
      </p:sp>
      <p:sp>
        <p:nvSpPr>
          <p:cNvPr id="26" name="CuadroTexto 25">
            <a:extLst>
              <a:ext uri="{FF2B5EF4-FFF2-40B4-BE49-F238E27FC236}">
                <a16:creationId xmlns:a16="http://schemas.microsoft.com/office/drawing/2014/main" id="{4CAE77F2-2BD3-2491-F62D-95703E6A1A4E}"/>
              </a:ext>
            </a:extLst>
          </p:cNvPr>
          <p:cNvSpPr txBox="1"/>
          <p:nvPr/>
        </p:nvSpPr>
        <p:spPr>
          <a:xfrm>
            <a:off x="7690485" y="3933211"/>
            <a:ext cx="1897380" cy="1200329"/>
          </a:xfrm>
          <a:prstGeom prst="rect">
            <a:avLst/>
          </a:prstGeom>
          <a:noFill/>
        </p:spPr>
        <p:txBody>
          <a:bodyPr wrap="square" rtlCol="0">
            <a:spAutoFit/>
          </a:bodyPr>
          <a:lstStyle/>
          <a:p>
            <a:r>
              <a:rPr lang="es-ES" b="1" dirty="0">
                <a:solidFill>
                  <a:schemeClr val="bg1"/>
                </a:solidFill>
              </a:rPr>
              <a:t>Mecanismos </a:t>
            </a:r>
          </a:p>
          <a:p>
            <a:pPr algn="ctr"/>
            <a:r>
              <a:rPr lang="es-ES" b="1" dirty="0">
                <a:solidFill>
                  <a:schemeClr val="bg1"/>
                </a:solidFill>
              </a:rPr>
              <a:t>de </a:t>
            </a:r>
          </a:p>
          <a:p>
            <a:pPr algn="ctr"/>
            <a:r>
              <a:rPr lang="es-ES" b="1" dirty="0">
                <a:solidFill>
                  <a:schemeClr val="bg1"/>
                </a:solidFill>
              </a:rPr>
              <a:t>  compensación</a:t>
            </a:r>
          </a:p>
          <a:p>
            <a:r>
              <a:rPr lang="es-ES" b="1" dirty="0">
                <a:solidFill>
                  <a:schemeClr val="bg1"/>
                </a:solidFill>
              </a:rPr>
              <a:t>   y reparación</a:t>
            </a:r>
          </a:p>
        </p:txBody>
      </p:sp>
      <p:sp>
        <p:nvSpPr>
          <p:cNvPr id="27" name="Rectángulo: esquinas redondeadas 26">
            <a:extLst>
              <a:ext uri="{FF2B5EF4-FFF2-40B4-BE49-F238E27FC236}">
                <a16:creationId xmlns:a16="http://schemas.microsoft.com/office/drawing/2014/main" id="{6AA5FD90-D11A-E2AB-EBA1-95ECE5B405A4}"/>
              </a:ext>
            </a:extLst>
          </p:cNvPr>
          <p:cNvSpPr/>
          <p:nvPr/>
        </p:nvSpPr>
        <p:spPr>
          <a:xfrm>
            <a:off x="335280" y="2804160"/>
            <a:ext cx="1337310" cy="427098"/>
          </a:xfrm>
          <a:prstGeom prst="roundRect">
            <a:avLst/>
          </a:prstGeom>
          <a:solidFill>
            <a:schemeClr val="accent1">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Real</a:t>
            </a:r>
          </a:p>
        </p:txBody>
      </p:sp>
      <p:sp>
        <p:nvSpPr>
          <p:cNvPr id="28" name="Rectángulo: esquinas redondeadas 27">
            <a:extLst>
              <a:ext uri="{FF2B5EF4-FFF2-40B4-BE49-F238E27FC236}">
                <a16:creationId xmlns:a16="http://schemas.microsoft.com/office/drawing/2014/main" id="{9A73F113-8977-9DCB-6349-B02EBB63FB55}"/>
              </a:ext>
            </a:extLst>
          </p:cNvPr>
          <p:cNvSpPr/>
          <p:nvPr/>
        </p:nvSpPr>
        <p:spPr>
          <a:xfrm>
            <a:off x="2411730" y="2804160"/>
            <a:ext cx="1337310" cy="427098"/>
          </a:xfrm>
          <a:prstGeom prst="roundRect">
            <a:avLst/>
          </a:prstGeom>
          <a:solidFill>
            <a:schemeClr val="accent1">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Potencial</a:t>
            </a:r>
          </a:p>
        </p:txBody>
      </p:sp>
      <p:cxnSp>
        <p:nvCxnSpPr>
          <p:cNvPr id="30" name="Conector recto de flecha 29">
            <a:extLst>
              <a:ext uri="{FF2B5EF4-FFF2-40B4-BE49-F238E27FC236}">
                <a16:creationId xmlns:a16="http://schemas.microsoft.com/office/drawing/2014/main" id="{81BDD4D1-BA33-2C21-1F8D-00477924A8C9}"/>
              </a:ext>
            </a:extLst>
          </p:cNvPr>
          <p:cNvCxnSpPr>
            <a:stCxn id="11" idx="0"/>
            <a:endCxn id="27" idx="2"/>
          </p:cNvCxnSpPr>
          <p:nvPr/>
        </p:nvCxnSpPr>
        <p:spPr>
          <a:xfrm flipH="1" flipV="1">
            <a:off x="1003935" y="3231258"/>
            <a:ext cx="1122045" cy="49439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3836247A-DF6B-54FF-8113-0F352A7A65B5}"/>
              </a:ext>
            </a:extLst>
          </p:cNvPr>
          <p:cNvCxnSpPr>
            <a:cxnSpLocks/>
            <a:stCxn id="11" idx="0"/>
            <a:endCxn id="28" idx="2"/>
          </p:cNvCxnSpPr>
          <p:nvPr/>
        </p:nvCxnSpPr>
        <p:spPr>
          <a:xfrm flipV="1">
            <a:off x="2125980" y="3231258"/>
            <a:ext cx="954405" cy="49439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Rectángulo: esquinas redondeadas 33">
            <a:extLst>
              <a:ext uri="{FF2B5EF4-FFF2-40B4-BE49-F238E27FC236}">
                <a16:creationId xmlns:a16="http://schemas.microsoft.com/office/drawing/2014/main" id="{FCE0051D-F2B9-6E89-2CB3-983B635443B7}"/>
              </a:ext>
            </a:extLst>
          </p:cNvPr>
          <p:cNvSpPr/>
          <p:nvPr/>
        </p:nvSpPr>
        <p:spPr>
          <a:xfrm>
            <a:off x="335280" y="5874448"/>
            <a:ext cx="1337310" cy="427098"/>
          </a:xfrm>
          <a:prstGeom prst="roundRect">
            <a:avLst/>
          </a:prstGeom>
          <a:solidFill>
            <a:schemeClr val="accent1">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Directos</a:t>
            </a:r>
          </a:p>
        </p:txBody>
      </p:sp>
      <p:sp>
        <p:nvSpPr>
          <p:cNvPr id="35" name="Rectángulo: esquinas redondeadas 34">
            <a:extLst>
              <a:ext uri="{FF2B5EF4-FFF2-40B4-BE49-F238E27FC236}">
                <a16:creationId xmlns:a16="http://schemas.microsoft.com/office/drawing/2014/main" id="{B2D846D2-282D-2027-717B-E0CE47351AE2}"/>
              </a:ext>
            </a:extLst>
          </p:cNvPr>
          <p:cNvSpPr/>
          <p:nvPr/>
        </p:nvSpPr>
        <p:spPr>
          <a:xfrm>
            <a:off x="2484120" y="5874448"/>
            <a:ext cx="1337310" cy="427098"/>
          </a:xfrm>
          <a:prstGeom prst="roundRect">
            <a:avLst/>
          </a:prstGeom>
          <a:solidFill>
            <a:schemeClr val="accent1">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Indirectos</a:t>
            </a:r>
          </a:p>
        </p:txBody>
      </p:sp>
      <p:cxnSp>
        <p:nvCxnSpPr>
          <p:cNvPr id="36" name="Conector recto de flecha 35">
            <a:extLst>
              <a:ext uri="{FF2B5EF4-FFF2-40B4-BE49-F238E27FC236}">
                <a16:creationId xmlns:a16="http://schemas.microsoft.com/office/drawing/2014/main" id="{D16D435B-C3B2-7C8A-9A8B-A934F1EE5AC2}"/>
              </a:ext>
            </a:extLst>
          </p:cNvPr>
          <p:cNvCxnSpPr>
            <a:cxnSpLocks/>
            <a:endCxn id="34" idx="0"/>
          </p:cNvCxnSpPr>
          <p:nvPr/>
        </p:nvCxnSpPr>
        <p:spPr>
          <a:xfrm flipH="1">
            <a:off x="1003935" y="5317950"/>
            <a:ext cx="1268731" cy="55649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86D93F63-2188-51B1-E350-6986DB459F7E}"/>
              </a:ext>
            </a:extLst>
          </p:cNvPr>
          <p:cNvCxnSpPr>
            <a:cxnSpLocks/>
            <a:endCxn id="35" idx="0"/>
          </p:cNvCxnSpPr>
          <p:nvPr/>
        </p:nvCxnSpPr>
        <p:spPr>
          <a:xfrm>
            <a:off x="2341245" y="5317950"/>
            <a:ext cx="811530" cy="55649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1" name="Octágono 40">
            <a:extLst>
              <a:ext uri="{FF2B5EF4-FFF2-40B4-BE49-F238E27FC236}">
                <a16:creationId xmlns:a16="http://schemas.microsoft.com/office/drawing/2014/main" id="{4EE3B8DC-2BF3-2F55-3694-29A8A52E89F3}"/>
              </a:ext>
            </a:extLst>
          </p:cNvPr>
          <p:cNvSpPr/>
          <p:nvPr/>
        </p:nvSpPr>
        <p:spPr>
          <a:xfrm>
            <a:off x="9908806" y="4156812"/>
            <a:ext cx="2179320" cy="722646"/>
          </a:xfrm>
          <a:prstGeom prst="octagon">
            <a:avLst/>
          </a:prstGeom>
          <a:solidFill>
            <a:srgbClr val="8A0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TRANSPARENCIA</a:t>
            </a:r>
          </a:p>
        </p:txBody>
      </p:sp>
      <p:sp>
        <p:nvSpPr>
          <p:cNvPr id="42" name="CuadroTexto 41">
            <a:extLst>
              <a:ext uri="{FF2B5EF4-FFF2-40B4-BE49-F238E27FC236}">
                <a16:creationId xmlns:a16="http://schemas.microsoft.com/office/drawing/2014/main" id="{AA7C3D10-50C2-3DB1-6801-7054FC4313D5}"/>
              </a:ext>
            </a:extLst>
          </p:cNvPr>
          <p:cNvSpPr txBox="1"/>
          <p:nvPr/>
        </p:nvSpPr>
        <p:spPr>
          <a:xfrm>
            <a:off x="6096000" y="1509760"/>
            <a:ext cx="5699760" cy="1015663"/>
          </a:xfrm>
          <a:prstGeom prst="rect">
            <a:avLst/>
          </a:prstGeom>
          <a:noFill/>
        </p:spPr>
        <p:txBody>
          <a:bodyPr wrap="square" rtlCol="0">
            <a:spAutoFit/>
          </a:bodyPr>
          <a:lstStyle/>
          <a:p>
            <a:pPr algn="just"/>
            <a:r>
              <a:rPr lang="es-ES" sz="2000" dirty="0"/>
              <a:t>El proceso de Diligencia Debida permite identificar riesgos y definir un proceso para combatir la vulneración de los DDHH, que debe ser transparente</a:t>
            </a:r>
          </a:p>
        </p:txBody>
      </p:sp>
    </p:spTree>
    <p:extLst>
      <p:ext uri="{BB962C8B-B14F-4D97-AF65-F5344CB8AC3E}">
        <p14:creationId xmlns:p14="http://schemas.microsoft.com/office/powerpoint/2010/main" val="19800050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782561" y="409944"/>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ASPECTOS SOCIALES</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4" name="Imagen 3" descr="Diagrama&#10;&#10;Descripción generada automáticamente">
            <a:extLst>
              <a:ext uri="{FF2B5EF4-FFF2-40B4-BE49-F238E27FC236}">
                <a16:creationId xmlns:a16="http://schemas.microsoft.com/office/drawing/2014/main" id="{BED6C4DA-38F9-2C67-54D9-51EFB11349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705" y="1621308"/>
            <a:ext cx="9942589" cy="4961065"/>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5376044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782561" y="409944"/>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ASPECTOS SOCIALES</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1" name="Imagen 10">
            <a:hlinkClick r:id="rId4"/>
            <a:extLst>
              <a:ext uri="{FF2B5EF4-FFF2-40B4-BE49-F238E27FC236}">
                <a16:creationId xmlns:a16="http://schemas.microsoft.com/office/drawing/2014/main" id="{FF17F016-4BA9-F749-4502-1555F5D53EBD}"/>
              </a:ext>
            </a:extLst>
          </p:cNvPr>
          <p:cNvPicPr>
            <a:picLocks noChangeAspect="1"/>
          </p:cNvPicPr>
          <p:nvPr/>
        </p:nvPicPr>
        <p:blipFill>
          <a:blip r:embed="rId5"/>
          <a:stretch>
            <a:fillRect/>
          </a:stretch>
        </p:blipFill>
        <p:spPr>
          <a:xfrm>
            <a:off x="456309" y="1449295"/>
            <a:ext cx="7680375" cy="4926091"/>
          </a:xfrm>
          <a:prstGeom prst="rect">
            <a:avLst/>
          </a:prstGeom>
        </p:spPr>
      </p:pic>
      <p:sp>
        <p:nvSpPr>
          <p:cNvPr id="14" name="CuadroTexto 13">
            <a:extLst>
              <a:ext uri="{FF2B5EF4-FFF2-40B4-BE49-F238E27FC236}">
                <a16:creationId xmlns:a16="http://schemas.microsoft.com/office/drawing/2014/main" id="{45790E16-B2F7-34BE-82D0-A0B0F90B0581}"/>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SOPORTE</a:t>
            </a:r>
          </a:p>
        </p:txBody>
      </p:sp>
      <p:sp>
        <p:nvSpPr>
          <p:cNvPr id="18" name="CuadroTexto 17">
            <a:extLst>
              <a:ext uri="{FF2B5EF4-FFF2-40B4-BE49-F238E27FC236}">
                <a16:creationId xmlns:a16="http://schemas.microsoft.com/office/drawing/2014/main" id="{5AA78C25-0347-0147-F62D-DC7D1E4D6102}"/>
              </a:ext>
            </a:extLst>
          </p:cNvPr>
          <p:cNvSpPr txBox="1"/>
          <p:nvPr/>
        </p:nvSpPr>
        <p:spPr>
          <a:xfrm>
            <a:off x="8922775" y="3092096"/>
            <a:ext cx="2977710" cy="2308324"/>
          </a:xfrm>
          <a:prstGeom prst="rect">
            <a:avLst/>
          </a:prstGeom>
          <a:solidFill>
            <a:schemeClr val="accent6">
              <a:lumMod val="20000"/>
              <a:lumOff val="80000"/>
            </a:schemeClr>
          </a:solidFill>
        </p:spPr>
        <p:txBody>
          <a:bodyPr wrap="square" rtlCol="0">
            <a:spAutoFit/>
          </a:bodyPr>
          <a:lstStyle/>
          <a:p>
            <a:pPr algn="just"/>
            <a:r>
              <a:rPr lang="es-ES" dirty="0"/>
              <a:t>España cuenta con el </a:t>
            </a:r>
            <a:r>
              <a:rPr lang="es-ES" dirty="0">
                <a:hlinkClick r:id="rId6"/>
              </a:rPr>
              <a:t>Plan Nacional de Empresas y  Derechos Humanos</a:t>
            </a:r>
            <a:r>
              <a:rPr lang="es-ES" dirty="0"/>
              <a:t> que se establece para lograr la aplicación de los Principios Rectores del Pacto Mundial de Naciones Unidas en nuestro país.</a:t>
            </a:r>
          </a:p>
        </p:txBody>
      </p:sp>
    </p:spTree>
    <p:extLst>
      <p:ext uri="{BB962C8B-B14F-4D97-AF65-F5344CB8AC3E}">
        <p14:creationId xmlns:p14="http://schemas.microsoft.com/office/powerpoint/2010/main" val="26067631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782561" y="409944"/>
            <a:ext cx="9202445" cy="1325563"/>
          </a:xfrm>
        </p:spPr>
        <p:txBody>
          <a:bodyPr>
            <a:normAutofit/>
          </a:bodyPr>
          <a:lstStyle/>
          <a:p>
            <a:r>
              <a:rPr lang="es-ES" sz="3200" b="1" kern="0" dirty="0">
                <a:effectLst/>
                <a:latin typeface="Calibri" panose="020F0502020204030204" pitchFamily="34" charset="0"/>
                <a:ea typeface="Times New Roman" panose="02020603050405020304" pitchFamily="18" charset="0"/>
                <a:cs typeface="Times New Roman" panose="02020603050405020304" pitchFamily="18" charset="0"/>
              </a:rPr>
              <a:t>CONDICIONES LABORALES Y DERECHOS HUMANOS</a:t>
            </a:r>
            <a:endParaRPr lang="es-ES" sz="32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3" name="Imagen 2">
            <a:extLst>
              <a:ext uri="{FF2B5EF4-FFF2-40B4-BE49-F238E27FC236}">
                <a16:creationId xmlns:a16="http://schemas.microsoft.com/office/drawing/2014/main" id="{C2134401-10E9-DD14-5549-EAC67533F176}"/>
              </a:ext>
            </a:extLst>
          </p:cNvPr>
          <p:cNvPicPr>
            <a:picLocks noChangeAspect="1"/>
          </p:cNvPicPr>
          <p:nvPr/>
        </p:nvPicPr>
        <p:blipFill>
          <a:blip r:embed="rId4"/>
          <a:stretch>
            <a:fillRect/>
          </a:stretch>
        </p:blipFill>
        <p:spPr>
          <a:xfrm>
            <a:off x="5070300" y="1618405"/>
            <a:ext cx="1608503" cy="2295174"/>
          </a:xfrm>
          <a:prstGeom prst="rect">
            <a:avLst/>
          </a:prstGeom>
        </p:spPr>
      </p:pic>
      <p:grpSp>
        <p:nvGrpSpPr>
          <p:cNvPr id="17" name="Grupo 16">
            <a:extLst>
              <a:ext uri="{FF2B5EF4-FFF2-40B4-BE49-F238E27FC236}">
                <a16:creationId xmlns:a16="http://schemas.microsoft.com/office/drawing/2014/main" id="{D15E0E7C-E1FE-06FB-0D40-1236BAF47080}"/>
              </a:ext>
            </a:extLst>
          </p:cNvPr>
          <p:cNvGrpSpPr/>
          <p:nvPr/>
        </p:nvGrpSpPr>
        <p:grpSpPr>
          <a:xfrm>
            <a:off x="2825595" y="2467186"/>
            <a:ext cx="1460091" cy="1097158"/>
            <a:chOff x="2448231" y="2331842"/>
            <a:chExt cx="1460091" cy="1097158"/>
          </a:xfrm>
        </p:grpSpPr>
        <p:sp>
          <p:nvSpPr>
            <p:cNvPr id="4" name="Flecha: doblada hacia arriba 3">
              <a:extLst>
                <a:ext uri="{FF2B5EF4-FFF2-40B4-BE49-F238E27FC236}">
                  <a16:creationId xmlns:a16="http://schemas.microsoft.com/office/drawing/2014/main" id="{48D3FF09-BB18-C2E2-7264-06F70B2E2877}"/>
                </a:ext>
              </a:extLst>
            </p:cNvPr>
            <p:cNvSpPr/>
            <p:nvPr/>
          </p:nvSpPr>
          <p:spPr>
            <a:xfrm flipH="1" flipV="1">
              <a:off x="2448231" y="2389239"/>
              <a:ext cx="1460091" cy="1039761"/>
            </a:xfrm>
            <a:prstGeom prst="bentUpArrow">
              <a:avLst/>
            </a:prstGeom>
            <a:solidFill>
              <a:schemeClr val="accent1">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 name="CuadroTexto 5">
              <a:extLst>
                <a:ext uri="{FF2B5EF4-FFF2-40B4-BE49-F238E27FC236}">
                  <a16:creationId xmlns:a16="http://schemas.microsoft.com/office/drawing/2014/main" id="{DA92516A-677C-BD6C-F38E-50A1A8CE482D}"/>
                </a:ext>
              </a:extLst>
            </p:cNvPr>
            <p:cNvSpPr txBox="1"/>
            <p:nvPr/>
          </p:nvSpPr>
          <p:spPr>
            <a:xfrm>
              <a:off x="2781300" y="2331842"/>
              <a:ext cx="1127022" cy="369332"/>
            </a:xfrm>
            <a:prstGeom prst="rect">
              <a:avLst/>
            </a:prstGeom>
            <a:noFill/>
          </p:spPr>
          <p:txBody>
            <a:bodyPr wrap="square" rtlCol="0">
              <a:spAutoFit/>
            </a:bodyPr>
            <a:lstStyle/>
            <a:p>
              <a:pPr algn="ctr"/>
              <a:r>
                <a:rPr lang="es-ES" b="1" dirty="0">
                  <a:solidFill>
                    <a:schemeClr val="bg1"/>
                  </a:solidFill>
                </a:rPr>
                <a:t>DEBEN</a:t>
              </a:r>
            </a:p>
          </p:txBody>
        </p:sp>
      </p:grpSp>
      <p:pic>
        <p:nvPicPr>
          <p:cNvPr id="10" name="Imagen 9">
            <a:extLst>
              <a:ext uri="{FF2B5EF4-FFF2-40B4-BE49-F238E27FC236}">
                <a16:creationId xmlns:a16="http://schemas.microsoft.com/office/drawing/2014/main" id="{AB24272B-D286-90EA-171F-DA94FE4B2D97}"/>
              </a:ext>
            </a:extLst>
          </p:cNvPr>
          <p:cNvPicPr>
            <a:picLocks noChangeAspect="1"/>
          </p:cNvPicPr>
          <p:nvPr/>
        </p:nvPicPr>
        <p:blipFill>
          <a:blip r:embed="rId5"/>
          <a:stretch>
            <a:fillRect/>
          </a:stretch>
        </p:blipFill>
        <p:spPr>
          <a:xfrm>
            <a:off x="847039" y="3580320"/>
            <a:ext cx="1056684" cy="1254426"/>
          </a:xfrm>
          <a:prstGeom prst="rect">
            <a:avLst/>
          </a:prstGeom>
        </p:spPr>
      </p:pic>
      <p:sp>
        <p:nvSpPr>
          <p:cNvPr id="11" name="CuadroTexto 10">
            <a:extLst>
              <a:ext uri="{FF2B5EF4-FFF2-40B4-BE49-F238E27FC236}">
                <a16:creationId xmlns:a16="http://schemas.microsoft.com/office/drawing/2014/main" id="{ED111271-DE57-7E1F-93D9-E106975B9FC6}"/>
              </a:ext>
            </a:extLst>
          </p:cNvPr>
          <p:cNvSpPr txBox="1"/>
          <p:nvPr/>
        </p:nvSpPr>
        <p:spPr>
          <a:xfrm>
            <a:off x="1978917" y="3676753"/>
            <a:ext cx="2214336" cy="1200329"/>
          </a:xfrm>
          <a:prstGeom prst="rect">
            <a:avLst/>
          </a:prstGeom>
          <a:noFill/>
        </p:spPr>
        <p:txBody>
          <a:bodyPr wrap="square" rtlCol="0">
            <a:spAutoFit/>
          </a:bodyPr>
          <a:lstStyle/>
          <a:p>
            <a:pPr algn="ctr"/>
            <a:r>
              <a:rPr lang="es-ES" dirty="0"/>
              <a:t>Respetar la normativa laboral, cumplir los convenios colectivos, etc.</a:t>
            </a:r>
          </a:p>
        </p:txBody>
      </p:sp>
      <p:grpSp>
        <p:nvGrpSpPr>
          <p:cNvPr id="18" name="Grupo 17">
            <a:extLst>
              <a:ext uri="{FF2B5EF4-FFF2-40B4-BE49-F238E27FC236}">
                <a16:creationId xmlns:a16="http://schemas.microsoft.com/office/drawing/2014/main" id="{D6671BB0-BB12-3A1F-EA64-0548D934A21A}"/>
              </a:ext>
            </a:extLst>
          </p:cNvPr>
          <p:cNvGrpSpPr/>
          <p:nvPr/>
        </p:nvGrpSpPr>
        <p:grpSpPr>
          <a:xfrm>
            <a:off x="7170637" y="2467186"/>
            <a:ext cx="1871333" cy="1113133"/>
            <a:chOff x="6793273" y="2278504"/>
            <a:chExt cx="1871333" cy="1113133"/>
          </a:xfrm>
        </p:grpSpPr>
        <p:sp>
          <p:nvSpPr>
            <p:cNvPr id="12" name="Flecha: doblada hacia arriba 11">
              <a:extLst>
                <a:ext uri="{FF2B5EF4-FFF2-40B4-BE49-F238E27FC236}">
                  <a16:creationId xmlns:a16="http://schemas.microsoft.com/office/drawing/2014/main" id="{2E16C9FC-02E9-87E8-A0E0-E10A50F087BD}"/>
                </a:ext>
              </a:extLst>
            </p:cNvPr>
            <p:cNvSpPr/>
            <p:nvPr/>
          </p:nvSpPr>
          <p:spPr>
            <a:xfrm flipV="1">
              <a:off x="6840110" y="2351876"/>
              <a:ext cx="1824496" cy="1039761"/>
            </a:xfrm>
            <a:prstGeom prst="bentUpArrow">
              <a:avLst/>
            </a:prstGeom>
            <a:solidFill>
              <a:schemeClr val="accent1">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 name="CuadroTexto 12">
              <a:extLst>
                <a:ext uri="{FF2B5EF4-FFF2-40B4-BE49-F238E27FC236}">
                  <a16:creationId xmlns:a16="http://schemas.microsoft.com/office/drawing/2014/main" id="{75E7B18A-0C85-C847-1700-6C5B690A2AD9}"/>
                </a:ext>
              </a:extLst>
            </p:cNvPr>
            <p:cNvSpPr txBox="1"/>
            <p:nvPr/>
          </p:nvSpPr>
          <p:spPr>
            <a:xfrm>
              <a:off x="6793273" y="2278504"/>
              <a:ext cx="1712096" cy="369332"/>
            </a:xfrm>
            <a:prstGeom prst="rect">
              <a:avLst/>
            </a:prstGeom>
            <a:noFill/>
          </p:spPr>
          <p:txBody>
            <a:bodyPr wrap="square" rtlCol="0">
              <a:spAutoFit/>
            </a:bodyPr>
            <a:lstStyle/>
            <a:p>
              <a:pPr algn="ctr"/>
              <a:r>
                <a:rPr lang="es-ES" b="1" dirty="0">
                  <a:solidFill>
                    <a:schemeClr val="bg1"/>
                  </a:solidFill>
                </a:rPr>
                <a:t>SE BENEFICIAN</a:t>
              </a:r>
            </a:p>
          </p:txBody>
        </p:sp>
      </p:grpSp>
      <p:pic>
        <p:nvPicPr>
          <p:cNvPr id="15" name="Imagen 14">
            <a:extLst>
              <a:ext uri="{FF2B5EF4-FFF2-40B4-BE49-F238E27FC236}">
                <a16:creationId xmlns:a16="http://schemas.microsoft.com/office/drawing/2014/main" id="{546B8D02-4E5F-81F2-BA9F-0072EE115204}"/>
              </a:ext>
            </a:extLst>
          </p:cNvPr>
          <p:cNvPicPr>
            <a:picLocks noChangeAspect="1"/>
          </p:cNvPicPr>
          <p:nvPr/>
        </p:nvPicPr>
        <p:blipFill>
          <a:blip r:embed="rId6"/>
          <a:stretch>
            <a:fillRect/>
          </a:stretch>
        </p:blipFill>
        <p:spPr>
          <a:xfrm>
            <a:off x="10000471" y="3194381"/>
            <a:ext cx="1410520" cy="1438396"/>
          </a:xfrm>
          <a:prstGeom prst="rect">
            <a:avLst/>
          </a:prstGeom>
        </p:spPr>
      </p:pic>
      <p:sp>
        <p:nvSpPr>
          <p:cNvPr id="16" name="CuadroTexto 15">
            <a:extLst>
              <a:ext uri="{FF2B5EF4-FFF2-40B4-BE49-F238E27FC236}">
                <a16:creationId xmlns:a16="http://schemas.microsoft.com/office/drawing/2014/main" id="{05C8A251-5C30-84E9-DC16-243F87A96950}"/>
              </a:ext>
            </a:extLst>
          </p:cNvPr>
          <p:cNvSpPr txBox="1"/>
          <p:nvPr/>
        </p:nvSpPr>
        <p:spPr>
          <a:xfrm>
            <a:off x="7675337" y="3676753"/>
            <a:ext cx="2214336" cy="923330"/>
          </a:xfrm>
          <a:prstGeom prst="rect">
            <a:avLst/>
          </a:prstGeom>
          <a:noFill/>
        </p:spPr>
        <p:txBody>
          <a:bodyPr wrap="square" rtlCol="0">
            <a:spAutoFit/>
          </a:bodyPr>
          <a:lstStyle/>
          <a:p>
            <a:pPr algn="ctr"/>
            <a:r>
              <a:rPr lang="es-ES" dirty="0"/>
              <a:t>De ofrecer un entorno de trabajo agradable </a:t>
            </a:r>
          </a:p>
        </p:txBody>
      </p:sp>
      <p:sp>
        <p:nvSpPr>
          <p:cNvPr id="19" name="Rectángulo: esquinas redondeadas 18">
            <a:extLst>
              <a:ext uri="{FF2B5EF4-FFF2-40B4-BE49-F238E27FC236}">
                <a16:creationId xmlns:a16="http://schemas.microsoft.com/office/drawing/2014/main" id="{5FE66C25-53B9-2D63-3D41-0A68E8192703}"/>
              </a:ext>
            </a:extLst>
          </p:cNvPr>
          <p:cNvSpPr/>
          <p:nvPr/>
        </p:nvSpPr>
        <p:spPr>
          <a:xfrm>
            <a:off x="7882620" y="5546315"/>
            <a:ext cx="1799771" cy="802814"/>
          </a:xfrm>
          <a:prstGeom prst="roundRect">
            <a:avLst>
              <a:gd name="adj" fmla="val 26099"/>
            </a:avLst>
          </a:prstGeom>
          <a:solidFill>
            <a:srgbClr val="8A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Retener el talento</a:t>
            </a:r>
          </a:p>
        </p:txBody>
      </p:sp>
      <p:sp>
        <p:nvSpPr>
          <p:cNvPr id="20" name="Flecha: hacia abajo 19">
            <a:extLst>
              <a:ext uri="{FF2B5EF4-FFF2-40B4-BE49-F238E27FC236}">
                <a16:creationId xmlns:a16="http://schemas.microsoft.com/office/drawing/2014/main" id="{498484A7-8031-85EC-8FAA-F67B7F5B70B0}"/>
              </a:ext>
            </a:extLst>
          </p:cNvPr>
          <p:cNvSpPr/>
          <p:nvPr/>
        </p:nvSpPr>
        <p:spPr>
          <a:xfrm>
            <a:off x="8543704" y="4719127"/>
            <a:ext cx="477602" cy="673015"/>
          </a:xfrm>
          <a:prstGeom prst="downArrow">
            <a:avLst/>
          </a:prstGeom>
          <a:solidFill>
            <a:schemeClr val="accent1">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esquinas redondeadas 20">
            <a:extLst>
              <a:ext uri="{FF2B5EF4-FFF2-40B4-BE49-F238E27FC236}">
                <a16:creationId xmlns:a16="http://schemas.microsoft.com/office/drawing/2014/main" id="{40C10C50-E52F-E22C-C450-CC56287E2610}"/>
              </a:ext>
            </a:extLst>
          </p:cNvPr>
          <p:cNvSpPr/>
          <p:nvPr/>
        </p:nvSpPr>
        <p:spPr>
          <a:xfrm>
            <a:off x="1305073" y="5546315"/>
            <a:ext cx="3644296" cy="802814"/>
          </a:xfrm>
          <a:prstGeom prst="roundRect">
            <a:avLst>
              <a:gd name="adj" fmla="val 26099"/>
            </a:avLst>
          </a:prstGeom>
          <a:solidFill>
            <a:srgbClr val="8A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Combatir la sobreexplotación y los trabajos forzados</a:t>
            </a:r>
          </a:p>
        </p:txBody>
      </p:sp>
      <p:sp>
        <p:nvSpPr>
          <p:cNvPr id="22" name="Flecha: hacia abajo 21">
            <a:extLst>
              <a:ext uri="{FF2B5EF4-FFF2-40B4-BE49-F238E27FC236}">
                <a16:creationId xmlns:a16="http://schemas.microsoft.com/office/drawing/2014/main" id="{1BB32C1F-0686-AFA8-E4DC-4D766CE773D2}"/>
              </a:ext>
            </a:extLst>
          </p:cNvPr>
          <p:cNvSpPr/>
          <p:nvPr/>
        </p:nvSpPr>
        <p:spPr>
          <a:xfrm>
            <a:off x="2847284" y="4913914"/>
            <a:ext cx="477602" cy="478228"/>
          </a:xfrm>
          <a:prstGeom prst="downArrow">
            <a:avLst/>
          </a:prstGeom>
          <a:solidFill>
            <a:schemeClr val="accent1">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804693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782561" y="409944"/>
            <a:ext cx="9202445" cy="1325563"/>
          </a:xfrm>
        </p:spPr>
        <p:txBody>
          <a:bodyPr>
            <a:normAutofit/>
          </a:bodyPr>
          <a:lstStyle/>
          <a:p>
            <a:r>
              <a:rPr lang="es-ES" sz="3200" b="1" kern="0" dirty="0">
                <a:effectLst/>
                <a:latin typeface="Calibri" panose="020F0502020204030204" pitchFamily="34" charset="0"/>
                <a:ea typeface="Times New Roman" panose="02020603050405020304" pitchFamily="18" charset="0"/>
                <a:cs typeface="Times New Roman" panose="02020603050405020304" pitchFamily="18" charset="0"/>
              </a:rPr>
              <a:t>CONDICIONES LABORALES Y DERECHOS HUMANOS</a:t>
            </a:r>
            <a:endParaRPr lang="es-ES" sz="32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4" name="Imagen 13">
            <a:extLst>
              <a:ext uri="{FF2B5EF4-FFF2-40B4-BE49-F238E27FC236}">
                <a16:creationId xmlns:a16="http://schemas.microsoft.com/office/drawing/2014/main" id="{369C0016-0688-EE2D-CA69-67A0FC504598}"/>
              </a:ext>
            </a:extLst>
          </p:cNvPr>
          <p:cNvPicPr>
            <a:picLocks noChangeAspect="1"/>
          </p:cNvPicPr>
          <p:nvPr/>
        </p:nvPicPr>
        <p:blipFill>
          <a:blip r:embed="rId4"/>
          <a:stretch>
            <a:fillRect/>
          </a:stretch>
        </p:blipFill>
        <p:spPr>
          <a:xfrm>
            <a:off x="9747601" y="1072725"/>
            <a:ext cx="2057687" cy="1790950"/>
          </a:xfrm>
          <a:prstGeom prst="rect">
            <a:avLst/>
          </a:prstGeom>
        </p:spPr>
      </p:pic>
      <p:sp>
        <p:nvSpPr>
          <p:cNvPr id="23" name="Rectángulo: esquinas redondeadas 22">
            <a:extLst>
              <a:ext uri="{FF2B5EF4-FFF2-40B4-BE49-F238E27FC236}">
                <a16:creationId xmlns:a16="http://schemas.microsoft.com/office/drawing/2014/main" id="{E9CB0CE0-F453-17FE-3188-4752FA6152CB}"/>
              </a:ext>
            </a:extLst>
          </p:cNvPr>
          <p:cNvSpPr/>
          <p:nvPr/>
        </p:nvSpPr>
        <p:spPr>
          <a:xfrm>
            <a:off x="3948708" y="1648088"/>
            <a:ext cx="3644296" cy="658597"/>
          </a:xfrm>
          <a:prstGeom prst="roundRect">
            <a:avLst>
              <a:gd name="adj" fmla="val 26099"/>
            </a:avLst>
          </a:prstGeom>
          <a:solidFill>
            <a:srgbClr val="317B5D"/>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Entornos agradables de trabajo</a:t>
            </a:r>
          </a:p>
        </p:txBody>
      </p:sp>
      <p:sp>
        <p:nvSpPr>
          <p:cNvPr id="24" name="CuadroTexto 23">
            <a:extLst>
              <a:ext uri="{FF2B5EF4-FFF2-40B4-BE49-F238E27FC236}">
                <a16:creationId xmlns:a16="http://schemas.microsoft.com/office/drawing/2014/main" id="{5F1BFB11-4562-4323-D132-AC366E9B5738}"/>
              </a:ext>
            </a:extLst>
          </p:cNvPr>
          <p:cNvSpPr txBox="1"/>
          <p:nvPr/>
        </p:nvSpPr>
        <p:spPr>
          <a:xfrm>
            <a:off x="3129252" y="2757710"/>
            <a:ext cx="5254173" cy="369332"/>
          </a:xfrm>
          <a:prstGeom prst="rect">
            <a:avLst/>
          </a:prstGeom>
          <a:solidFill>
            <a:srgbClr val="C3E7D8"/>
          </a:solidFill>
        </p:spPr>
        <p:txBody>
          <a:bodyPr wrap="square" rtlCol="0">
            <a:spAutoFit/>
          </a:bodyPr>
          <a:lstStyle/>
          <a:p>
            <a:r>
              <a:rPr lang="es-ES" dirty="0"/>
              <a:t>Salario digno</a:t>
            </a:r>
          </a:p>
        </p:txBody>
      </p:sp>
      <p:sp>
        <p:nvSpPr>
          <p:cNvPr id="25" name="CuadroTexto 24">
            <a:extLst>
              <a:ext uri="{FF2B5EF4-FFF2-40B4-BE49-F238E27FC236}">
                <a16:creationId xmlns:a16="http://schemas.microsoft.com/office/drawing/2014/main" id="{EF6C0C92-717A-4333-BB3F-2F0D637C4277}"/>
              </a:ext>
            </a:extLst>
          </p:cNvPr>
          <p:cNvSpPr txBox="1"/>
          <p:nvPr/>
        </p:nvSpPr>
        <p:spPr>
          <a:xfrm>
            <a:off x="3129252" y="3371567"/>
            <a:ext cx="5254173" cy="369332"/>
          </a:xfrm>
          <a:prstGeom prst="rect">
            <a:avLst/>
          </a:prstGeom>
          <a:solidFill>
            <a:srgbClr val="C3E7D8"/>
          </a:solidFill>
        </p:spPr>
        <p:txBody>
          <a:bodyPr wrap="square" rtlCol="0">
            <a:spAutoFit/>
          </a:bodyPr>
          <a:lstStyle/>
          <a:p>
            <a:r>
              <a:rPr lang="es-ES" dirty="0"/>
              <a:t>Facilidades de conciliación</a:t>
            </a:r>
          </a:p>
        </p:txBody>
      </p:sp>
      <p:sp>
        <p:nvSpPr>
          <p:cNvPr id="26" name="CuadroTexto 25">
            <a:extLst>
              <a:ext uri="{FF2B5EF4-FFF2-40B4-BE49-F238E27FC236}">
                <a16:creationId xmlns:a16="http://schemas.microsoft.com/office/drawing/2014/main" id="{C42D0316-E60E-37B0-46D4-FFCF96660B35}"/>
              </a:ext>
            </a:extLst>
          </p:cNvPr>
          <p:cNvSpPr txBox="1"/>
          <p:nvPr/>
        </p:nvSpPr>
        <p:spPr>
          <a:xfrm>
            <a:off x="3129252" y="3985424"/>
            <a:ext cx="5254173" cy="369332"/>
          </a:xfrm>
          <a:prstGeom prst="rect">
            <a:avLst/>
          </a:prstGeom>
          <a:solidFill>
            <a:srgbClr val="C3E7D8"/>
          </a:solidFill>
        </p:spPr>
        <p:txBody>
          <a:bodyPr wrap="square" rtlCol="0">
            <a:spAutoFit/>
          </a:bodyPr>
          <a:lstStyle/>
          <a:p>
            <a:r>
              <a:rPr lang="es-ES" dirty="0"/>
              <a:t>Formación y desarrollo</a:t>
            </a:r>
          </a:p>
        </p:txBody>
      </p:sp>
      <p:sp>
        <p:nvSpPr>
          <p:cNvPr id="27" name="CuadroTexto 26">
            <a:extLst>
              <a:ext uri="{FF2B5EF4-FFF2-40B4-BE49-F238E27FC236}">
                <a16:creationId xmlns:a16="http://schemas.microsoft.com/office/drawing/2014/main" id="{FC44D735-CC2B-4020-F5FA-F4C7FF6B39B4}"/>
              </a:ext>
            </a:extLst>
          </p:cNvPr>
          <p:cNvSpPr txBox="1"/>
          <p:nvPr/>
        </p:nvSpPr>
        <p:spPr>
          <a:xfrm>
            <a:off x="3129252" y="4599281"/>
            <a:ext cx="5254173" cy="369332"/>
          </a:xfrm>
          <a:prstGeom prst="rect">
            <a:avLst/>
          </a:prstGeom>
          <a:solidFill>
            <a:srgbClr val="C3E7D8"/>
          </a:solidFill>
        </p:spPr>
        <p:txBody>
          <a:bodyPr wrap="square" rtlCol="0">
            <a:spAutoFit/>
          </a:bodyPr>
          <a:lstStyle/>
          <a:p>
            <a:r>
              <a:rPr lang="es-ES" dirty="0"/>
              <a:t>Posibilidades de promoción y reconocimiento</a:t>
            </a:r>
          </a:p>
        </p:txBody>
      </p:sp>
      <p:sp>
        <p:nvSpPr>
          <p:cNvPr id="28" name="CuadroTexto 27">
            <a:extLst>
              <a:ext uri="{FF2B5EF4-FFF2-40B4-BE49-F238E27FC236}">
                <a16:creationId xmlns:a16="http://schemas.microsoft.com/office/drawing/2014/main" id="{EE82FCA0-BA0D-FBCA-48CF-075C35059A9E}"/>
              </a:ext>
            </a:extLst>
          </p:cNvPr>
          <p:cNvSpPr txBox="1"/>
          <p:nvPr/>
        </p:nvSpPr>
        <p:spPr>
          <a:xfrm>
            <a:off x="3129252" y="5213139"/>
            <a:ext cx="5254173" cy="369332"/>
          </a:xfrm>
          <a:prstGeom prst="rect">
            <a:avLst/>
          </a:prstGeom>
          <a:solidFill>
            <a:srgbClr val="C3E7D8"/>
          </a:solidFill>
        </p:spPr>
        <p:txBody>
          <a:bodyPr wrap="square" rtlCol="0">
            <a:spAutoFit/>
          </a:bodyPr>
          <a:lstStyle/>
          <a:p>
            <a:r>
              <a:rPr lang="es-ES" dirty="0"/>
              <a:t>Medidas para favorecer el bienestar físico y mental</a:t>
            </a:r>
          </a:p>
        </p:txBody>
      </p:sp>
      <p:pic>
        <p:nvPicPr>
          <p:cNvPr id="30" name="Imagen 29">
            <a:extLst>
              <a:ext uri="{FF2B5EF4-FFF2-40B4-BE49-F238E27FC236}">
                <a16:creationId xmlns:a16="http://schemas.microsoft.com/office/drawing/2014/main" id="{E3954173-117F-0C0B-7BD2-B45C547F69E1}"/>
              </a:ext>
            </a:extLst>
          </p:cNvPr>
          <p:cNvPicPr>
            <a:picLocks noChangeAspect="1"/>
          </p:cNvPicPr>
          <p:nvPr/>
        </p:nvPicPr>
        <p:blipFill>
          <a:blip r:embed="rId5"/>
          <a:stretch>
            <a:fillRect/>
          </a:stretch>
        </p:blipFill>
        <p:spPr>
          <a:xfrm>
            <a:off x="1238261" y="2160411"/>
            <a:ext cx="1244799" cy="1211156"/>
          </a:xfrm>
          <a:prstGeom prst="rect">
            <a:avLst/>
          </a:prstGeom>
        </p:spPr>
      </p:pic>
      <p:pic>
        <p:nvPicPr>
          <p:cNvPr id="32" name="Imagen 31">
            <a:extLst>
              <a:ext uri="{FF2B5EF4-FFF2-40B4-BE49-F238E27FC236}">
                <a16:creationId xmlns:a16="http://schemas.microsoft.com/office/drawing/2014/main" id="{90728C98-B6EE-87F4-F11B-87D20BC6CA73}"/>
              </a:ext>
            </a:extLst>
          </p:cNvPr>
          <p:cNvPicPr>
            <a:picLocks noChangeAspect="1"/>
          </p:cNvPicPr>
          <p:nvPr/>
        </p:nvPicPr>
        <p:blipFill>
          <a:blip r:embed="rId6"/>
          <a:stretch>
            <a:fillRect/>
          </a:stretch>
        </p:blipFill>
        <p:spPr>
          <a:xfrm>
            <a:off x="8737176" y="3027103"/>
            <a:ext cx="1244799" cy="1139108"/>
          </a:xfrm>
          <a:prstGeom prst="rect">
            <a:avLst/>
          </a:prstGeom>
        </p:spPr>
      </p:pic>
      <p:pic>
        <p:nvPicPr>
          <p:cNvPr id="34" name="Imagen 33">
            <a:extLst>
              <a:ext uri="{FF2B5EF4-FFF2-40B4-BE49-F238E27FC236}">
                <a16:creationId xmlns:a16="http://schemas.microsoft.com/office/drawing/2014/main" id="{E0718FC0-4DBE-BB9B-A026-EF4495A2936C}"/>
              </a:ext>
            </a:extLst>
          </p:cNvPr>
          <p:cNvPicPr>
            <a:picLocks noChangeAspect="1"/>
          </p:cNvPicPr>
          <p:nvPr/>
        </p:nvPicPr>
        <p:blipFill>
          <a:blip r:embed="rId7"/>
          <a:stretch>
            <a:fillRect/>
          </a:stretch>
        </p:blipFill>
        <p:spPr>
          <a:xfrm>
            <a:off x="1236481" y="3605217"/>
            <a:ext cx="1248359" cy="994064"/>
          </a:xfrm>
          <a:prstGeom prst="rect">
            <a:avLst/>
          </a:prstGeom>
        </p:spPr>
      </p:pic>
      <p:pic>
        <p:nvPicPr>
          <p:cNvPr id="36" name="Imagen 35">
            <a:extLst>
              <a:ext uri="{FF2B5EF4-FFF2-40B4-BE49-F238E27FC236}">
                <a16:creationId xmlns:a16="http://schemas.microsoft.com/office/drawing/2014/main" id="{BB2C60B4-B3A1-60BD-1946-93ED57A70088}"/>
              </a:ext>
            </a:extLst>
          </p:cNvPr>
          <p:cNvPicPr>
            <a:picLocks noChangeAspect="1"/>
          </p:cNvPicPr>
          <p:nvPr/>
        </p:nvPicPr>
        <p:blipFill>
          <a:blip r:embed="rId8"/>
          <a:stretch>
            <a:fillRect/>
          </a:stretch>
        </p:blipFill>
        <p:spPr>
          <a:xfrm>
            <a:off x="8912819" y="4315839"/>
            <a:ext cx="947054" cy="791933"/>
          </a:xfrm>
          <a:prstGeom prst="rect">
            <a:avLst/>
          </a:prstGeom>
        </p:spPr>
      </p:pic>
      <p:pic>
        <p:nvPicPr>
          <p:cNvPr id="38" name="Imagen 37">
            <a:extLst>
              <a:ext uri="{FF2B5EF4-FFF2-40B4-BE49-F238E27FC236}">
                <a16:creationId xmlns:a16="http://schemas.microsoft.com/office/drawing/2014/main" id="{89B22551-9D59-3885-5377-86CA348398AC}"/>
              </a:ext>
            </a:extLst>
          </p:cNvPr>
          <p:cNvPicPr>
            <a:picLocks noChangeAspect="1"/>
          </p:cNvPicPr>
          <p:nvPr/>
        </p:nvPicPr>
        <p:blipFill>
          <a:blip r:embed="rId9"/>
          <a:stretch>
            <a:fillRect/>
          </a:stretch>
        </p:blipFill>
        <p:spPr>
          <a:xfrm>
            <a:off x="1381962" y="5044825"/>
            <a:ext cx="957396" cy="857370"/>
          </a:xfrm>
          <a:prstGeom prst="rect">
            <a:avLst/>
          </a:prstGeom>
        </p:spPr>
      </p:pic>
      <p:sp>
        <p:nvSpPr>
          <p:cNvPr id="39" name="CuadroTexto 38">
            <a:extLst>
              <a:ext uri="{FF2B5EF4-FFF2-40B4-BE49-F238E27FC236}">
                <a16:creationId xmlns:a16="http://schemas.microsoft.com/office/drawing/2014/main" id="{C27CA496-D505-868B-7B3C-088000AF03DE}"/>
              </a:ext>
            </a:extLst>
          </p:cNvPr>
          <p:cNvSpPr txBox="1"/>
          <p:nvPr/>
        </p:nvSpPr>
        <p:spPr>
          <a:xfrm>
            <a:off x="3129251" y="5832792"/>
            <a:ext cx="5254173" cy="369332"/>
          </a:xfrm>
          <a:prstGeom prst="rect">
            <a:avLst/>
          </a:prstGeom>
          <a:solidFill>
            <a:srgbClr val="C3E7D8"/>
          </a:solidFill>
        </p:spPr>
        <p:txBody>
          <a:bodyPr wrap="square" rtlCol="0">
            <a:spAutoFit/>
          </a:bodyPr>
          <a:lstStyle/>
          <a:p>
            <a:r>
              <a:rPr lang="es-ES" dirty="0"/>
              <a:t>Canales seguros para denunciar irregularidades</a:t>
            </a:r>
          </a:p>
        </p:txBody>
      </p:sp>
    </p:spTree>
    <p:extLst>
      <p:ext uri="{BB962C8B-B14F-4D97-AF65-F5344CB8AC3E}">
        <p14:creationId xmlns:p14="http://schemas.microsoft.com/office/powerpoint/2010/main" val="32109315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ASPECTOS SOCIALES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B216F542-9755-A4DE-9314-BF7B2C79CDDC}"/>
              </a:ext>
            </a:extLst>
          </p:cNvPr>
          <p:cNvPicPr>
            <a:picLocks noChangeAspect="1"/>
          </p:cNvPicPr>
          <p:nvPr/>
        </p:nvPicPr>
        <p:blipFill>
          <a:blip r:embed="rId5"/>
          <a:stretch>
            <a:fillRect/>
          </a:stretch>
        </p:blipFill>
        <p:spPr>
          <a:xfrm>
            <a:off x="440202" y="1859370"/>
            <a:ext cx="8224404" cy="4305193"/>
          </a:xfrm>
          <a:prstGeom prst="rect">
            <a:avLst/>
          </a:prstGeom>
        </p:spPr>
      </p:pic>
      <p:sp>
        <p:nvSpPr>
          <p:cNvPr id="6" name="CuadroTexto 5">
            <a:extLst>
              <a:ext uri="{FF2B5EF4-FFF2-40B4-BE49-F238E27FC236}">
                <a16:creationId xmlns:a16="http://schemas.microsoft.com/office/drawing/2014/main" id="{446FD082-41BC-CEC5-E773-24EBDF018B0A}"/>
              </a:ext>
            </a:extLst>
          </p:cNvPr>
          <p:cNvSpPr txBox="1"/>
          <p:nvPr/>
        </p:nvSpPr>
        <p:spPr>
          <a:xfrm>
            <a:off x="8922775" y="3092096"/>
            <a:ext cx="2977710" cy="2308324"/>
          </a:xfrm>
          <a:prstGeom prst="rect">
            <a:avLst/>
          </a:prstGeom>
          <a:solidFill>
            <a:schemeClr val="accent6">
              <a:lumMod val="20000"/>
              <a:lumOff val="80000"/>
            </a:schemeClr>
          </a:solidFill>
        </p:spPr>
        <p:txBody>
          <a:bodyPr wrap="square" rtlCol="0">
            <a:spAutoFit/>
          </a:bodyPr>
          <a:lstStyle/>
          <a:p>
            <a:pPr algn="just"/>
            <a:r>
              <a:rPr lang="es-ES" dirty="0"/>
              <a:t>Las grandes multinacionales tienen un impacto muy importante sobre sus cadenas de valor, dadas las dimensiones de negocio. La empresa Nestlé ha apostado por el respecto de los DDHH en su política empresarial.</a:t>
            </a:r>
          </a:p>
        </p:txBody>
      </p:sp>
      <p:sp>
        <p:nvSpPr>
          <p:cNvPr id="8" name="CuadroTexto 7">
            <a:extLst>
              <a:ext uri="{FF2B5EF4-FFF2-40B4-BE49-F238E27FC236}">
                <a16:creationId xmlns:a16="http://schemas.microsoft.com/office/drawing/2014/main" id="{9CF9291A-8566-249A-5140-24999C292B84}"/>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Tree>
    <p:extLst>
      <p:ext uri="{BB962C8B-B14F-4D97-AF65-F5344CB8AC3E}">
        <p14:creationId xmlns:p14="http://schemas.microsoft.com/office/powerpoint/2010/main" val="30857111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CONDICIONES LABORALES Y DERECHOS HUMANOS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E5081093-6D95-7B50-A616-61D15B5C0CB2}"/>
              </a:ext>
            </a:extLst>
          </p:cNvPr>
          <p:cNvPicPr>
            <a:picLocks noChangeAspect="1"/>
          </p:cNvPicPr>
          <p:nvPr/>
        </p:nvPicPr>
        <p:blipFill>
          <a:blip r:embed="rId4"/>
          <a:stretch>
            <a:fillRect/>
          </a:stretch>
        </p:blipFill>
        <p:spPr>
          <a:xfrm>
            <a:off x="269400" y="1563329"/>
            <a:ext cx="7815848" cy="5083865"/>
          </a:xfrm>
          <a:prstGeom prst="rect">
            <a:avLst/>
          </a:prstGeom>
        </p:spPr>
      </p:pic>
      <p:sp>
        <p:nvSpPr>
          <p:cNvPr id="11" name="CuadroTexto 10">
            <a:extLst>
              <a:ext uri="{FF2B5EF4-FFF2-40B4-BE49-F238E27FC236}">
                <a16:creationId xmlns:a16="http://schemas.microsoft.com/office/drawing/2014/main" id="{0AA882BD-AC57-3D4F-089C-92355280F9F2}"/>
              </a:ext>
            </a:extLst>
          </p:cNvPr>
          <p:cNvSpPr txBox="1"/>
          <p:nvPr/>
        </p:nvSpPr>
        <p:spPr>
          <a:xfrm>
            <a:off x="8922775" y="3092096"/>
            <a:ext cx="2977710" cy="2308324"/>
          </a:xfrm>
          <a:prstGeom prst="rect">
            <a:avLst/>
          </a:prstGeom>
          <a:solidFill>
            <a:schemeClr val="accent6">
              <a:lumMod val="20000"/>
              <a:lumOff val="80000"/>
            </a:schemeClr>
          </a:solidFill>
        </p:spPr>
        <p:txBody>
          <a:bodyPr wrap="square" rtlCol="0">
            <a:spAutoFit/>
          </a:bodyPr>
          <a:lstStyle/>
          <a:p>
            <a:pPr algn="just"/>
            <a:r>
              <a:rPr lang="es-ES" dirty="0"/>
              <a:t>Este laboratorio farmacéutico que dispone de medidas para fomentar la salud de sus trabajadores (fruta gratuita, fisioterapeuta, jornada intensiva todo el año, etc.) y es una de las PYME preferidas para trabajar.</a:t>
            </a:r>
          </a:p>
        </p:txBody>
      </p:sp>
      <p:sp>
        <p:nvSpPr>
          <p:cNvPr id="12" name="CuadroTexto 11">
            <a:extLst>
              <a:ext uri="{FF2B5EF4-FFF2-40B4-BE49-F238E27FC236}">
                <a16:creationId xmlns:a16="http://schemas.microsoft.com/office/drawing/2014/main" id="{7E844138-590D-F9BD-1219-ED37F74CCC91}"/>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Tree>
    <p:extLst>
      <p:ext uri="{BB962C8B-B14F-4D97-AF65-F5344CB8AC3E}">
        <p14:creationId xmlns:p14="http://schemas.microsoft.com/office/powerpoint/2010/main" val="36956635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PARTICIPACIÓN EN LA COMUNIDAD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redondeadas 2">
            <a:extLst>
              <a:ext uri="{FF2B5EF4-FFF2-40B4-BE49-F238E27FC236}">
                <a16:creationId xmlns:a16="http://schemas.microsoft.com/office/drawing/2014/main" id="{B3B733B4-CBE7-CE74-8AEC-794E214B3D91}"/>
              </a:ext>
            </a:extLst>
          </p:cNvPr>
          <p:cNvSpPr/>
          <p:nvPr/>
        </p:nvSpPr>
        <p:spPr>
          <a:xfrm>
            <a:off x="4310740" y="1772286"/>
            <a:ext cx="3396342" cy="1325558"/>
          </a:xfrm>
          <a:prstGeom prst="roundRect">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VINCULAR EL NEGOCIO CON LA CONTIBUCIÓN POSITIVA A LA COMUNIDAD</a:t>
            </a:r>
          </a:p>
        </p:txBody>
      </p:sp>
      <p:sp>
        <p:nvSpPr>
          <p:cNvPr id="6" name="Rectángulo: esquinas redondeadas 5">
            <a:extLst>
              <a:ext uri="{FF2B5EF4-FFF2-40B4-BE49-F238E27FC236}">
                <a16:creationId xmlns:a16="http://schemas.microsoft.com/office/drawing/2014/main" id="{941AAF37-61B4-CBE7-7A8C-4F1853A7C596}"/>
              </a:ext>
            </a:extLst>
          </p:cNvPr>
          <p:cNvSpPr/>
          <p:nvPr/>
        </p:nvSpPr>
        <p:spPr>
          <a:xfrm>
            <a:off x="562435" y="3965761"/>
            <a:ext cx="2392850" cy="1325558"/>
          </a:xfrm>
          <a:prstGeom prst="roundRect">
            <a:avLst/>
          </a:prstGeom>
          <a:solidFill>
            <a:srgbClr val="8A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Beneficio para el área geográfica</a:t>
            </a:r>
          </a:p>
        </p:txBody>
      </p:sp>
      <p:sp>
        <p:nvSpPr>
          <p:cNvPr id="8" name="Rectángulo: esquinas redondeadas 7">
            <a:extLst>
              <a:ext uri="{FF2B5EF4-FFF2-40B4-BE49-F238E27FC236}">
                <a16:creationId xmlns:a16="http://schemas.microsoft.com/office/drawing/2014/main" id="{6D118985-29FB-8094-4B02-91EDF1C9D45B}"/>
              </a:ext>
            </a:extLst>
          </p:cNvPr>
          <p:cNvSpPr/>
          <p:nvPr/>
        </p:nvSpPr>
        <p:spPr>
          <a:xfrm>
            <a:off x="3425904" y="3965761"/>
            <a:ext cx="2392850" cy="1325558"/>
          </a:xfrm>
          <a:prstGeom prst="roundRect">
            <a:avLst/>
          </a:prstGeom>
          <a:solidFill>
            <a:srgbClr val="8A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Mejor relación con entrono y aumento de reputación</a:t>
            </a:r>
          </a:p>
        </p:txBody>
      </p:sp>
      <p:sp>
        <p:nvSpPr>
          <p:cNvPr id="13" name="Rectángulo: esquinas redondeadas 12">
            <a:extLst>
              <a:ext uri="{FF2B5EF4-FFF2-40B4-BE49-F238E27FC236}">
                <a16:creationId xmlns:a16="http://schemas.microsoft.com/office/drawing/2014/main" id="{2924D817-43ED-440A-BC00-80A41148F269}"/>
              </a:ext>
            </a:extLst>
          </p:cNvPr>
          <p:cNvSpPr/>
          <p:nvPr/>
        </p:nvSpPr>
        <p:spPr>
          <a:xfrm>
            <a:off x="6289373" y="3965761"/>
            <a:ext cx="2392850" cy="1325558"/>
          </a:xfrm>
          <a:prstGeom prst="roundRect">
            <a:avLst/>
          </a:prstGeom>
          <a:solidFill>
            <a:srgbClr val="8A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Retención de talento</a:t>
            </a:r>
          </a:p>
        </p:txBody>
      </p:sp>
      <p:sp>
        <p:nvSpPr>
          <p:cNvPr id="14" name="Rectángulo: esquinas redondeadas 13">
            <a:extLst>
              <a:ext uri="{FF2B5EF4-FFF2-40B4-BE49-F238E27FC236}">
                <a16:creationId xmlns:a16="http://schemas.microsoft.com/office/drawing/2014/main" id="{FE7F1348-C2D3-8BFE-8ED9-DDBCA6B1C888}"/>
              </a:ext>
            </a:extLst>
          </p:cNvPr>
          <p:cNvSpPr/>
          <p:nvPr/>
        </p:nvSpPr>
        <p:spPr>
          <a:xfrm>
            <a:off x="9152843" y="3965761"/>
            <a:ext cx="2392850" cy="1325558"/>
          </a:xfrm>
          <a:prstGeom prst="roundRect">
            <a:avLst/>
          </a:prstGeom>
          <a:solidFill>
            <a:srgbClr val="8A0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Mayor sostenibilidad económica en el tiempo</a:t>
            </a:r>
          </a:p>
        </p:txBody>
      </p:sp>
      <p:sp>
        <p:nvSpPr>
          <p:cNvPr id="15" name="Cerrar llave 14">
            <a:extLst>
              <a:ext uri="{FF2B5EF4-FFF2-40B4-BE49-F238E27FC236}">
                <a16:creationId xmlns:a16="http://schemas.microsoft.com/office/drawing/2014/main" id="{01E9D034-9FA8-E494-6EB0-532336BE26CE}"/>
              </a:ext>
            </a:extLst>
          </p:cNvPr>
          <p:cNvSpPr/>
          <p:nvPr/>
        </p:nvSpPr>
        <p:spPr>
          <a:xfrm rot="16200000">
            <a:off x="5712274" y="-1951532"/>
            <a:ext cx="743086" cy="11091500"/>
          </a:xfrm>
          <a:custGeom>
            <a:avLst/>
            <a:gdLst>
              <a:gd name="connsiteX0" fmla="*/ 0 w 743086"/>
              <a:gd name="connsiteY0" fmla="*/ 0 h 11091500"/>
              <a:gd name="connsiteX1" fmla="*/ 371543 w 743086"/>
              <a:gd name="connsiteY1" fmla="*/ 337695 h 11091500"/>
              <a:gd name="connsiteX2" fmla="*/ 371543 w 743086"/>
              <a:gd name="connsiteY2" fmla="*/ 5208055 h 11091500"/>
              <a:gd name="connsiteX3" fmla="*/ 743086 w 743086"/>
              <a:gd name="connsiteY3" fmla="*/ 5545750 h 11091500"/>
              <a:gd name="connsiteX4" fmla="*/ 371543 w 743086"/>
              <a:gd name="connsiteY4" fmla="*/ 5883445 h 11091500"/>
              <a:gd name="connsiteX5" fmla="*/ 371543 w 743086"/>
              <a:gd name="connsiteY5" fmla="*/ 10753805 h 11091500"/>
              <a:gd name="connsiteX6" fmla="*/ 0 w 743086"/>
              <a:gd name="connsiteY6" fmla="*/ 11091500 h 11091500"/>
              <a:gd name="connsiteX7" fmla="*/ 0 w 743086"/>
              <a:gd name="connsiteY7" fmla="*/ 0 h 11091500"/>
              <a:gd name="connsiteX0" fmla="*/ 0 w 743086"/>
              <a:gd name="connsiteY0" fmla="*/ 0 h 11091500"/>
              <a:gd name="connsiteX1" fmla="*/ 371543 w 743086"/>
              <a:gd name="connsiteY1" fmla="*/ 337695 h 11091500"/>
              <a:gd name="connsiteX2" fmla="*/ 371543 w 743086"/>
              <a:gd name="connsiteY2" fmla="*/ 5208055 h 11091500"/>
              <a:gd name="connsiteX3" fmla="*/ 743086 w 743086"/>
              <a:gd name="connsiteY3" fmla="*/ 5545750 h 11091500"/>
              <a:gd name="connsiteX4" fmla="*/ 371543 w 743086"/>
              <a:gd name="connsiteY4" fmla="*/ 5883445 h 11091500"/>
              <a:gd name="connsiteX5" fmla="*/ 371543 w 743086"/>
              <a:gd name="connsiteY5" fmla="*/ 10753805 h 11091500"/>
              <a:gd name="connsiteX6" fmla="*/ 0 w 743086"/>
              <a:gd name="connsiteY6" fmla="*/ 11091500 h 1109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3086" h="11091500" stroke="0" extrusionOk="0">
                <a:moveTo>
                  <a:pt x="0" y="0"/>
                </a:moveTo>
                <a:cubicBezTo>
                  <a:pt x="189182" y="-9879"/>
                  <a:pt x="347996" y="160029"/>
                  <a:pt x="371543" y="337695"/>
                </a:cubicBezTo>
                <a:cubicBezTo>
                  <a:pt x="238661" y="2635878"/>
                  <a:pt x="456494" y="2834183"/>
                  <a:pt x="371543" y="5208055"/>
                </a:cubicBezTo>
                <a:cubicBezTo>
                  <a:pt x="367490" y="5398517"/>
                  <a:pt x="536589" y="5552929"/>
                  <a:pt x="743086" y="5545750"/>
                </a:cubicBezTo>
                <a:cubicBezTo>
                  <a:pt x="535809" y="5544612"/>
                  <a:pt x="402393" y="5711681"/>
                  <a:pt x="371543" y="5883445"/>
                </a:cubicBezTo>
                <a:cubicBezTo>
                  <a:pt x="421076" y="7110274"/>
                  <a:pt x="386352" y="9260358"/>
                  <a:pt x="371543" y="10753805"/>
                </a:cubicBezTo>
                <a:cubicBezTo>
                  <a:pt x="361554" y="10938779"/>
                  <a:pt x="200698" y="11095737"/>
                  <a:pt x="0" y="11091500"/>
                </a:cubicBezTo>
                <a:cubicBezTo>
                  <a:pt x="48231" y="6158219"/>
                  <a:pt x="-84455" y="1222682"/>
                  <a:pt x="0" y="0"/>
                </a:cubicBezTo>
                <a:close/>
              </a:path>
              <a:path w="743086" h="11091500" fill="none" extrusionOk="0">
                <a:moveTo>
                  <a:pt x="0" y="0"/>
                </a:moveTo>
                <a:cubicBezTo>
                  <a:pt x="172833" y="-2297"/>
                  <a:pt x="357891" y="123362"/>
                  <a:pt x="371543" y="337695"/>
                </a:cubicBezTo>
                <a:cubicBezTo>
                  <a:pt x="439474" y="1011151"/>
                  <a:pt x="225973" y="3407212"/>
                  <a:pt x="371543" y="5208055"/>
                </a:cubicBezTo>
                <a:cubicBezTo>
                  <a:pt x="356424" y="5421592"/>
                  <a:pt x="551572" y="5555919"/>
                  <a:pt x="743086" y="5545750"/>
                </a:cubicBezTo>
                <a:cubicBezTo>
                  <a:pt x="537773" y="5548494"/>
                  <a:pt x="375406" y="5694650"/>
                  <a:pt x="371543" y="5883445"/>
                </a:cubicBezTo>
                <a:cubicBezTo>
                  <a:pt x="357596" y="7058844"/>
                  <a:pt x="423276" y="10120097"/>
                  <a:pt x="371543" y="10753805"/>
                </a:cubicBezTo>
                <a:cubicBezTo>
                  <a:pt x="375008" y="10947169"/>
                  <a:pt x="179325" y="11105144"/>
                  <a:pt x="0" y="11091500"/>
                </a:cubicBezTo>
              </a:path>
              <a:path w="743086" h="11091500" fill="none" stroke="0" extrusionOk="0">
                <a:moveTo>
                  <a:pt x="0" y="0"/>
                </a:moveTo>
                <a:cubicBezTo>
                  <a:pt x="226980" y="12194"/>
                  <a:pt x="373741" y="151720"/>
                  <a:pt x="371543" y="337695"/>
                </a:cubicBezTo>
                <a:cubicBezTo>
                  <a:pt x="533740" y="2673503"/>
                  <a:pt x="443705" y="3047774"/>
                  <a:pt x="371543" y="5208055"/>
                </a:cubicBezTo>
                <a:cubicBezTo>
                  <a:pt x="391560" y="5424356"/>
                  <a:pt x="541292" y="5581000"/>
                  <a:pt x="743086" y="5545750"/>
                </a:cubicBezTo>
                <a:cubicBezTo>
                  <a:pt x="540912" y="5550407"/>
                  <a:pt x="383945" y="5712133"/>
                  <a:pt x="371543" y="5883445"/>
                </a:cubicBezTo>
                <a:cubicBezTo>
                  <a:pt x="221104" y="7227620"/>
                  <a:pt x="457422" y="9903729"/>
                  <a:pt x="371543" y="10753805"/>
                </a:cubicBezTo>
                <a:cubicBezTo>
                  <a:pt x="336113" y="10946127"/>
                  <a:pt x="171847" y="11068488"/>
                  <a:pt x="0" y="11091500"/>
                </a:cubicBezTo>
              </a:path>
            </a:pathLst>
          </a:custGeom>
          <a:ln w="31750">
            <a:solidFill>
              <a:schemeClr val="bg2">
                <a:lumMod val="25000"/>
              </a:schemeClr>
            </a:solidFill>
            <a:extLst>
              <a:ext uri="{C807C97D-BFC1-408E-A445-0C87EB9F89A2}">
                <ask:lineSketchStyleProps xmlns:ask="http://schemas.microsoft.com/office/drawing/2018/sketchyshapes" sd="1219033472">
                  <a:prstGeom prst="rightBrace">
                    <a:avLst>
                      <a:gd name="adj1" fmla="val 45445"/>
                      <a:gd name="adj2" fmla="val 50000"/>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17789242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PARTICIPACIÓN EN LA COMUNIDAD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8717787" y="2723386"/>
            <a:ext cx="2977710" cy="2585323"/>
          </a:xfrm>
          <a:prstGeom prst="rect">
            <a:avLst/>
          </a:prstGeom>
          <a:solidFill>
            <a:schemeClr val="accent6">
              <a:lumMod val="20000"/>
              <a:lumOff val="80000"/>
            </a:schemeClr>
          </a:solidFill>
        </p:spPr>
        <p:txBody>
          <a:bodyPr wrap="square" rtlCol="0">
            <a:spAutoFit/>
          </a:bodyPr>
          <a:lstStyle/>
          <a:p>
            <a:pPr algn="just"/>
            <a:r>
              <a:rPr lang="es-ES" dirty="0"/>
              <a:t>Esta empresa trata de transformar el modelo energético ayudando a las personas a apostar por el autoconsumo, las comunidades energéticas, etc. buscando el desarrollo local y contribuyendo a la mejora de la sociedad.</a:t>
            </a:r>
          </a:p>
        </p:txBody>
      </p:sp>
      <p:pic>
        <p:nvPicPr>
          <p:cNvPr id="4" name="Imagen 3">
            <a:hlinkClick r:id="rId4"/>
            <a:extLst>
              <a:ext uri="{FF2B5EF4-FFF2-40B4-BE49-F238E27FC236}">
                <a16:creationId xmlns:a16="http://schemas.microsoft.com/office/drawing/2014/main" id="{62CC333A-F949-5F32-AFDF-AC8E14F9284D}"/>
              </a:ext>
            </a:extLst>
          </p:cNvPr>
          <p:cNvPicPr>
            <a:picLocks noChangeAspect="1"/>
          </p:cNvPicPr>
          <p:nvPr/>
        </p:nvPicPr>
        <p:blipFill>
          <a:blip r:embed="rId5"/>
          <a:stretch>
            <a:fillRect/>
          </a:stretch>
        </p:blipFill>
        <p:spPr>
          <a:xfrm>
            <a:off x="291515" y="1613673"/>
            <a:ext cx="7841061" cy="3346573"/>
          </a:xfrm>
          <a:prstGeom prst="rect">
            <a:avLst/>
          </a:prstGeom>
        </p:spPr>
      </p:pic>
      <p:pic>
        <p:nvPicPr>
          <p:cNvPr id="10" name="Imagen 9">
            <a:extLst>
              <a:ext uri="{FF2B5EF4-FFF2-40B4-BE49-F238E27FC236}">
                <a16:creationId xmlns:a16="http://schemas.microsoft.com/office/drawing/2014/main" id="{382E2944-FF4D-418A-FCA5-6A251C0214EB}"/>
              </a:ext>
            </a:extLst>
          </p:cNvPr>
          <p:cNvPicPr>
            <a:picLocks noChangeAspect="1"/>
          </p:cNvPicPr>
          <p:nvPr/>
        </p:nvPicPr>
        <p:blipFill>
          <a:blip r:embed="rId6"/>
          <a:stretch>
            <a:fillRect/>
          </a:stretch>
        </p:blipFill>
        <p:spPr>
          <a:xfrm>
            <a:off x="2178236" y="4960246"/>
            <a:ext cx="4155937" cy="1780657"/>
          </a:xfrm>
          <a:prstGeom prst="rect">
            <a:avLst/>
          </a:prstGeom>
        </p:spPr>
      </p:pic>
      <p:sp>
        <p:nvSpPr>
          <p:cNvPr id="12" name="CuadroTexto 11">
            <a:extLst>
              <a:ext uri="{FF2B5EF4-FFF2-40B4-BE49-F238E27FC236}">
                <a16:creationId xmlns:a16="http://schemas.microsoft.com/office/drawing/2014/main" id="{5DD029A0-532B-388C-52F4-443ACDDEB30F}"/>
              </a:ext>
            </a:extLst>
          </p:cNvPr>
          <p:cNvSpPr txBox="1"/>
          <p:nvPr/>
        </p:nvSpPr>
        <p:spPr>
          <a:xfrm>
            <a:off x="9536057" y="1661811"/>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Tree>
    <p:extLst>
      <p:ext uri="{BB962C8B-B14F-4D97-AF65-F5344CB8AC3E}">
        <p14:creationId xmlns:p14="http://schemas.microsoft.com/office/powerpoint/2010/main" val="16549662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PARTICIPACIÓN EN LA COMUNIDAD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hlinkClick r:id="rId4"/>
            <a:extLst>
              <a:ext uri="{FF2B5EF4-FFF2-40B4-BE49-F238E27FC236}">
                <a16:creationId xmlns:a16="http://schemas.microsoft.com/office/drawing/2014/main" id="{07A865DA-EC46-63B3-C8B2-E1BDB46CFE56}"/>
              </a:ext>
            </a:extLst>
          </p:cNvPr>
          <p:cNvPicPr>
            <a:picLocks noChangeAspect="1"/>
          </p:cNvPicPr>
          <p:nvPr/>
        </p:nvPicPr>
        <p:blipFill>
          <a:blip r:embed="rId5"/>
          <a:stretch>
            <a:fillRect/>
          </a:stretch>
        </p:blipFill>
        <p:spPr>
          <a:xfrm>
            <a:off x="1084737" y="1371689"/>
            <a:ext cx="10022526" cy="3465659"/>
          </a:xfrm>
          <a:prstGeom prst="rect">
            <a:avLst/>
          </a:prstGeom>
        </p:spPr>
      </p:pic>
      <p:sp>
        <p:nvSpPr>
          <p:cNvPr id="3" name="CuadroTexto 2">
            <a:extLst>
              <a:ext uri="{FF2B5EF4-FFF2-40B4-BE49-F238E27FC236}">
                <a16:creationId xmlns:a16="http://schemas.microsoft.com/office/drawing/2014/main" id="{318744B6-5CE7-36DF-862A-EA0C2B87899C}"/>
              </a:ext>
            </a:extLst>
          </p:cNvPr>
          <p:cNvSpPr txBox="1"/>
          <p:nvPr/>
        </p:nvSpPr>
        <p:spPr>
          <a:xfrm>
            <a:off x="5842530" y="5075065"/>
            <a:ext cx="4266025" cy="1200329"/>
          </a:xfrm>
          <a:prstGeom prst="rect">
            <a:avLst/>
          </a:prstGeom>
          <a:solidFill>
            <a:schemeClr val="accent6">
              <a:lumMod val="20000"/>
              <a:lumOff val="80000"/>
            </a:schemeClr>
          </a:solidFill>
        </p:spPr>
        <p:txBody>
          <a:bodyPr wrap="square" rtlCol="0">
            <a:spAutoFit/>
          </a:bodyPr>
          <a:lstStyle/>
          <a:p>
            <a:pPr algn="just"/>
            <a:r>
              <a:rPr lang="es-ES" dirty="0"/>
              <a:t>Esta organización también alinea sus objetivos estratégicos con lograr una contribución positiva a la sociedad en la que opera</a:t>
            </a:r>
          </a:p>
        </p:txBody>
      </p:sp>
      <p:sp>
        <p:nvSpPr>
          <p:cNvPr id="4" name="CuadroTexto 3">
            <a:extLst>
              <a:ext uri="{FF2B5EF4-FFF2-40B4-BE49-F238E27FC236}">
                <a16:creationId xmlns:a16="http://schemas.microsoft.com/office/drawing/2014/main" id="{670C862F-8CE9-571B-3120-9B4C9FD8A822}"/>
              </a:ext>
            </a:extLst>
          </p:cNvPr>
          <p:cNvSpPr txBox="1"/>
          <p:nvPr/>
        </p:nvSpPr>
        <p:spPr>
          <a:xfrm>
            <a:off x="2850420" y="5490563"/>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Tree>
    <p:extLst>
      <p:ext uri="{BB962C8B-B14F-4D97-AF65-F5344CB8AC3E}">
        <p14:creationId xmlns:p14="http://schemas.microsoft.com/office/powerpoint/2010/main" val="41373413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DIVERSIDAD, EQUIDAD E INCLUSIÓN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Onda 2">
            <a:extLst>
              <a:ext uri="{FF2B5EF4-FFF2-40B4-BE49-F238E27FC236}">
                <a16:creationId xmlns:a16="http://schemas.microsoft.com/office/drawing/2014/main" id="{5BAF11E0-0E20-8A28-411A-2D65058C7E4D}"/>
              </a:ext>
            </a:extLst>
          </p:cNvPr>
          <p:cNvSpPr/>
          <p:nvPr/>
        </p:nvSpPr>
        <p:spPr>
          <a:xfrm>
            <a:off x="4655457" y="1914824"/>
            <a:ext cx="2525486" cy="1028968"/>
          </a:xfrm>
          <a:prstGeom prst="wave">
            <a:avLst/>
          </a:prstGeom>
          <a:solidFill>
            <a:srgbClr val="38890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ESTRATÉGICO</a:t>
            </a:r>
          </a:p>
        </p:txBody>
      </p:sp>
      <p:sp>
        <p:nvSpPr>
          <p:cNvPr id="4" name="Rectángulo 3">
            <a:extLst>
              <a:ext uri="{FF2B5EF4-FFF2-40B4-BE49-F238E27FC236}">
                <a16:creationId xmlns:a16="http://schemas.microsoft.com/office/drawing/2014/main" id="{1D24ACF5-5387-852B-B6B4-E61F45120A5E}"/>
              </a:ext>
            </a:extLst>
          </p:cNvPr>
          <p:cNvSpPr/>
          <p:nvPr/>
        </p:nvSpPr>
        <p:spPr>
          <a:xfrm>
            <a:off x="867227" y="4101185"/>
            <a:ext cx="2743200" cy="1897741"/>
          </a:xfrm>
          <a:prstGeom prst="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Fomento de la diversidad en toda su cadena de valor, proveedores, comunidad y grupos de interés</a:t>
            </a:r>
          </a:p>
        </p:txBody>
      </p:sp>
      <p:sp>
        <p:nvSpPr>
          <p:cNvPr id="10" name="CuadroTexto 9">
            <a:extLst>
              <a:ext uri="{FF2B5EF4-FFF2-40B4-BE49-F238E27FC236}">
                <a16:creationId xmlns:a16="http://schemas.microsoft.com/office/drawing/2014/main" id="{8A4B767A-A3D4-9F50-0376-DF2A97F2CF64}"/>
              </a:ext>
            </a:extLst>
          </p:cNvPr>
          <p:cNvSpPr txBox="1"/>
          <p:nvPr/>
        </p:nvSpPr>
        <p:spPr>
          <a:xfrm>
            <a:off x="8327571" y="1690644"/>
            <a:ext cx="2950029" cy="1477328"/>
          </a:xfrm>
          <a:prstGeom prst="rect">
            <a:avLst/>
          </a:prstGeom>
          <a:solidFill>
            <a:srgbClr val="D0FEB0"/>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just"/>
            <a:r>
              <a:rPr lang="es-ES" dirty="0"/>
              <a:t>Las empresas gozan de la capacidad de poder transformar la sociedad con la promoción y el fomento de una cultura de diversidad</a:t>
            </a:r>
          </a:p>
        </p:txBody>
      </p:sp>
      <p:cxnSp>
        <p:nvCxnSpPr>
          <p:cNvPr id="13" name="Conector recto 12">
            <a:extLst>
              <a:ext uri="{FF2B5EF4-FFF2-40B4-BE49-F238E27FC236}">
                <a16:creationId xmlns:a16="http://schemas.microsoft.com/office/drawing/2014/main" id="{2E0902EE-2B0B-9BBD-B6AE-A2939557EC6F}"/>
              </a:ext>
            </a:extLst>
          </p:cNvPr>
          <p:cNvCxnSpPr>
            <a:cxnSpLocks/>
            <a:stCxn id="10" idx="1"/>
            <a:endCxn id="3" idx="3"/>
          </p:cNvCxnSpPr>
          <p:nvPr/>
        </p:nvCxnSpPr>
        <p:spPr>
          <a:xfrm flipH="1">
            <a:off x="7180943" y="2429308"/>
            <a:ext cx="1146628" cy="0"/>
          </a:xfrm>
          <a:prstGeom prst="line">
            <a:avLst/>
          </a:prstGeom>
          <a:ln w="444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4" name="Rectángulo 13">
            <a:extLst>
              <a:ext uri="{FF2B5EF4-FFF2-40B4-BE49-F238E27FC236}">
                <a16:creationId xmlns:a16="http://schemas.microsoft.com/office/drawing/2014/main" id="{1587463D-AFF5-50A6-6EDF-5A3D3C2139B8}"/>
              </a:ext>
            </a:extLst>
          </p:cNvPr>
          <p:cNvSpPr/>
          <p:nvPr/>
        </p:nvSpPr>
        <p:spPr>
          <a:xfrm>
            <a:off x="4517957" y="4101185"/>
            <a:ext cx="2743200" cy="1897740"/>
          </a:xfrm>
          <a:prstGeom prst="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Combatir la brecha salarial de género, desigualdad estructural</a:t>
            </a:r>
          </a:p>
        </p:txBody>
      </p:sp>
      <p:sp>
        <p:nvSpPr>
          <p:cNvPr id="15" name="Rectángulo 14">
            <a:extLst>
              <a:ext uri="{FF2B5EF4-FFF2-40B4-BE49-F238E27FC236}">
                <a16:creationId xmlns:a16="http://schemas.microsoft.com/office/drawing/2014/main" id="{61D6FA7A-3173-D899-16DA-E0A74DB08B72}"/>
              </a:ext>
            </a:extLst>
          </p:cNvPr>
          <p:cNvSpPr/>
          <p:nvPr/>
        </p:nvSpPr>
        <p:spPr>
          <a:xfrm>
            <a:off x="8168687" y="4111678"/>
            <a:ext cx="2743200" cy="1876754"/>
          </a:xfrm>
          <a:prstGeom prst="rect">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Descartar cualquier tipo de discriminación hacia un colectivo por razones de raza, religión, etc.</a:t>
            </a:r>
          </a:p>
        </p:txBody>
      </p:sp>
      <p:pic>
        <p:nvPicPr>
          <p:cNvPr id="8" name="Imagen 7">
            <a:extLst>
              <a:ext uri="{FF2B5EF4-FFF2-40B4-BE49-F238E27FC236}">
                <a16:creationId xmlns:a16="http://schemas.microsoft.com/office/drawing/2014/main" id="{E7018503-729F-CBB4-246F-C67AA791E610}"/>
              </a:ext>
            </a:extLst>
          </p:cNvPr>
          <p:cNvPicPr>
            <a:picLocks noChangeAspect="1"/>
          </p:cNvPicPr>
          <p:nvPr/>
        </p:nvPicPr>
        <p:blipFill>
          <a:blip r:embed="rId4"/>
          <a:stretch>
            <a:fillRect/>
          </a:stretch>
        </p:blipFill>
        <p:spPr>
          <a:xfrm>
            <a:off x="675302" y="1690644"/>
            <a:ext cx="2743200" cy="1463860"/>
          </a:xfrm>
          <a:prstGeom prst="rect">
            <a:avLst/>
          </a:prstGeom>
        </p:spPr>
      </p:pic>
    </p:spTree>
    <p:extLst>
      <p:ext uri="{BB962C8B-B14F-4D97-AF65-F5344CB8AC3E}">
        <p14:creationId xmlns:p14="http://schemas.microsoft.com/office/powerpoint/2010/main" val="42625695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DIVERSIDAD, EQUIDAD E INCLUSIÓN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8717787" y="2723386"/>
            <a:ext cx="2977710" cy="2031325"/>
          </a:xfrm>
          <a:prstGeom prst="rect">
            <a:avLst/>
          </a:prstGeom>
          <a:solidFill>
            <a:schemeClr val="accent6">
              <a:lumMod val="20000"/>
              <a:lumOff val="80000"/>
            </a:schemeClr>
          </a:solidFill>
        </p:spPr>
        <p:txBody>
          <a:bodyPr wrap="square" rtlCol="0">
            <a:spAutoFit/>
          </a:bodyPr>
          <a:lstStyle/>
          <a:p>
            <a:pPr algn="just"/>
            <a:r>
              <a:rPr lang="es-ES" dirty="0"/>
              <a:t>La empresa textil “A puntadas” recibió el premio en la categoría PYME de la.</a:t>
            </a:r>
            <a:r>
              <a:rPr lang="es-ES" dirty="0">
                <a:hlinkClick r:id="rId4"/>
              </a:rPr>
              <a:t> fundación diversidad </a:t>
            </a:r>
            <a:r>
              <a:rPr lang="es-ES" dirty="0"/>
              <a:t>por contribuir a la inserción laboral de personas en riesgo de exclusión.</a:t>
            </a:r>
          </a:p>
        </p:txBody>
      </p:sp>
      <p:pic>
        <p:nvPicPr>
          <p:cNvPr id="6" name="Imagen 5">
            <a:hlinkClick r:id="rId5"/>
            <a:extLst>
              <a:ext uri="{FF2B5EF4-FFF2-40B4-BE49-F238E27FC236}">
                <a16:creationId xmlns:a16="http://schemas.microsoft.com/office/drawing/2014/main" id="{8B0FFCBC-74E6-B93C-51FD-6FFF60ED8AFF}"/>
              </a:ext>
            </a:extLst>
          </p:cNvPr>
          <p:cNvPicPr>
            <a:picLocks noChangeAspect="1"/>
          </p:cNvPicPr>
          <p:nvPr/>
        </p:nvPicPr>
        <p:blipFill>
          <a:blip r:embed="rId6"/>
          <a:stretch>
            <a:fillRect/>
          </a:stretch>
        </p:blipFill>
        <p:spPr>
          <a:xfrm>
            <a:off x="0" y="1532045"/>
            <a:ext cx="8235211" cy="4792148"/>
          </a:xfrm>
          <a:prstGeom prst="rect">
            <a:avLst/>
          </a:prstGeom>
        </p:spPr>
      </p:pic>
      <p:sp>
        <p:nvSpPr>
          <p:cNvPr id="8" name="CuadroTexto 7">
            <a:extLst>
              <a:ext uri="{FF2B5EF4-FFF2-40B4-BE49-F238E27FC236}">
                <a16:creationId xmlns:a16="http://schemas.microsoft.com/office/drawing/2014/main" id="{7E34474A-A358-1D87-FAD5-0C5F3ECFA291}"/>
              </a:ext>
            </a:extLst>
          </p:cNvPr>
          <p:cNvSpPr txBox="1"/>
          <p:nvPr/>
        </p:nvSpPr>
        <p:spPr>
          <a:xfrm>
            <a:off x="9546554" y="1634018"/>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Tree>
    <p:extLst>
      <p:ext uri="{BB962C8B-B14F-4D97-AF65-F5344CB8AC3E}">
        <p14:creationId xmlns:p14="http://schemas.microsoft.com/office/powerpoint/2010/main" val="26282304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DIVERSIDAD, EQUIDAD E INCLUSIÓN</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8717787" y="2723386"/>
            <a:ext cx="2977710" cy="2862322"/>
          </a:xfrm>
          <a:prstGeom prst="rect">
            <a:avLst/>
          </a:prstGeom>
          <a:solidFill>
            <a:schemeClr val="accent6">
              <a:lumMod val="20000"/>
              <a:lumOff val="80000"/>
            </a:schemeClr>
          </a:solidFill>
        </p:spPr>
        <p:txBody>
          <a:bodyPr wrap="square" rtlCol="0">
            <a:spAutoFit/>
          </a:bodyPr>
          <a:lstStyle/>
          <a:p>
            <a:pPr algn="just"/>
            <a:r>
              <a:rPr lang="es-ES" dirty="0"/>
              <a:t>El sector de la ingeniería está muy masculinizado, cuando sus retribuciones medias son más elevadas que en otros sectores de mayor presencia femenina. Esta ingeniería trata de fomentar la vocación STEM en las mujeres como medida para combatir la brecha de género</a:t>
            </a:r>
          </a:p>
        </p:txBody>
      </p:sp>
      <p:sp>
        <p:nvSpPr>
          <p:cNvPr id="8" name="CuadroTexto 7">
            <a:extLst>
              <a:ext uri="{FF2B5EF4-FFF2-40B4-BE49-F238E27FC236}">
                <a16:creationId xmlns:a16="http://schemas.microsoft.com/office/drawing/2014/main" id="{7E34474A-A358-1D87-FAD5-0C5F3ECFA291}"/>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4" name="Imagen 3">
            <a:hlinkClick r:id="rId4"/>
            <a:extLst>
              <a:ext uri="{FF2B5EF4-FFF2-40B4-BE49-F238E27FC236}">
                <a16:creationId xmlns:a16="http://schemas.microsoft.com/office/drawing/2014/main" id="{45609311-AA8A-BD09-F6D9-A054643FAD1B}"/>
              </a:ext>
            </a:extLst>
          </p:cNvPr>
          <p:cNvPicPr>
            <a:picLocks noChangeAspect="1"/>
          </p:cNvPicPr>
          <p:nvPr/>
        </p:nvPicPr>
        <p:blipFill>
          <a:blip r:embed="rId5"/>
          <a:srcRect l="16432"/>
          <a:stretch/>
        </p:blipFill>
        <p:spPr>
          <a:xfrm>
            <a:off x="274319" y="1561643"/>
            <a:ext cx="7741921" cy="4710072"/>
          </a:xfrm>
          <a:prstGeom prst="rect">
            <a:avLst/>
          </a:prstGeom>
        </p:spPr>
      </p:pic>
    </p:spTree>
    <p:extLst>
      <p:ext uri="{BB962C8B-B14F-4D97-AF65-F5344CB8AC3E}">
        <p14:creationId xmlns:p14="http://schemas.microsoft.com/office/powerpoint/2010/main" val="10111923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24466" y="533807"/>
            <a:ext cx="9716180" cy="1325563"/>
          </a:xfrm>
        </p:spPr>
        <p:txBody>
          <a:bodyPr>
            <a:normAutofit/>
          </a:bodyPr>
          <a:lstStyle/>
          <a:p>
            <a:r>
              <a:rPr lang="es-ES" sz="2800" b="1" kern="0" dirty="0">
                <a:effectLst/>
                <a:latin typeface="Calibri" panose="020F0502020204030204" pitchFamily="34" charset="0"/>
                <a:ea typeface="Times New Roman" panose="02020603050405020304" pitchFamily="18" charset="0"/>
                <a:cs typeface="Times New Roman" panose="02020603050405020304" pitchFamily="18" charset="0"/>
              </a:rPr>
              <a:t>SEGURIDAD DEL PRODUCTO Y PROTECCIÓN DE CONSUMIDORES</a:t>
            </a:r>
            <a:br>
              <a:rPr lang="es-ES" sz="28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sz="28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redondeadas 2">
            <a:extLst>
              <a:ext uri="{FF2B5EF4-FFF2-40B4-BE49-F238E27FC236}">
                <a16:creationId xmlns:a16="http://schemas.microsoft.com/office/drawing/2014/main" id="{342881EF-1C61-B6E2-483F-975888D07F1A}"/>
              </a:ext>
            </a:extLst>
          </p:cNvPr>
          <p:cNvSpPr/>
          <p:nvPr/>
        </p:nvSpPr>
        <p:spPr>
          <a:xfrm>
            <a:off x="1028700" y="2143131"/>
            <a:ext cx="3851614" cy="1325563"/>
          </a:xfrm>
          <a:prstGeom prst="roundRect">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Servicios y productos seguros, no perjudiciales para la salud y el medio ambiente y de calidad</a:t>
            </a:r>
          </a:p>
        </p:txBody>
      </p:sp>
      <p:sp>
        <p:nvSpPr>
          <p:cNvPr id="6" name="Flecha: a la derecha 5">
            <a:extLst>
              <a:ext uri="{FF2B5EF4-FFF2-40B4-BE49-F238E27FC236}">
                <a16:creationId xmlns:a16="http://schemas.microsoft.com/office/drawing/2014/main" id="{8FA486BC-E4DA-7C8A-E8FE-406BB220EC13}"/>
              </a:ext>
            </a:extLst>
          </p:cNvPr>
          <p:cNvSpPr/>
          <p:nvPr/>
        </p:nvSpPr>
        <p:spPr>
          <a:xfrm>
            <a:off x="5276850" y="2491587"/>
            <a:ext cx="2004873" cy="628650"/>
          </a:xfrm>
          <a:prstGeom prst="rightArrow">
            <a:avLst/>
          </a:prstGeom>
          <a:solidFill>
            <a:srgbClr val="FFC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esquinas redondeadas 11">
            <a:extLst>
              <a:ext uri="{FF2B5EF4-FFF2-40B4-BE49-F238E27FC236}">
                <a16:creationId xmlns:a16="http://schemas.microsoft.com/office/drawing/2014/main" id="{C7F68986-9379-8808-5459-8237F2D8FDB3}"/>
              </a:ext>
            </a:extLst>
          </p:cNvPr>
          <p:cNvSpPr/>
          <p:nvPr/>
        </p:nvSpPr>
        <p:spPr>
          <a:xfrm>
            <a:off x="7678259" y="2143131"/>
            <a:ext cx="3396342" cy="1325563"/>
          </a:xfrm>
          <a:prstGeom prst="roundRect">
            <a:avLst/>
          </a:prstGeom>
          <a:solidFill>
            <a:schemeClr val="tx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Necesario para la sostenibilidad de la empresa en el tiempo</a:t>
            </a:r>
          </a:p>
        </p:txBody>
      </p:sp>
      <p:sp>
        <p:nvSpPr>
          <p:cNvPr id="13" name="Flecha: doblada 12">
            <a:extLst>
              <a:ext uri="{FF2B5EF4-FFF2-40B4-BE49-F238E27FC236}">
                <a16:creationId xmlns:a16="http://schemas.microsoft.com/office/drawing/2014/main" id="{9B10093F-265D-24CD-ED15-6BF0307D1E4E}"/>
              </a:ext>
            </a:extLst>
          </p:cNvPr>
          <p:cNvSpPr/>
          <p:nvPr/>
        </p:nvSpPr>
        <p:spPr>
          <a:xfrm flipV="1">
            <a:off x="2705100" y="3943350"/>
            <a:ext cx="1600200" cy="1581150"/>
          </a:xfrm>
          <a:prstGeom prst="bentArrow">
            <a:avLst/>
          </a:prstGeom>
          <a:solidFill>
            <a:srgbClr val="FFC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4" name="Abrir llave 13">
            <a:extLst>
              <a:ext uri="{FF2B5EF4-FFF2-40B4-BE49-F238E27FC236}">
                <a16:creationId xmlns:a16="http://schemas.microsoft.com/office/drawing/2014/main" id="{73349196-FD9F-4173-EB1F-DDAA10FC0634}"/>
              </a:ext>
            </a:extLst>
          </p:cNvPr>
          <p:cNvSpPr/>
          <p:nvPr/>
        </p:nvSpPr>
        <p:spPr>
          <a:xfrm>
            <a:off x="4438650" y="4191000"/>
            <a:ext cx="838200" cy="1943100"/>
          </a:xfrm>
          <a:prstGeom prst="leftBrace">
            <a:avLst>
              <a:gd name="adj1" fmla="val 15151"/>
              <a:gd name="adj2" fmla="val 50000"/>
            </a:avLst>
          </a:prstGeom>
          <a:ln w="381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5" name="CuadroTexto 14">
            <a:extLst>
              <a:ext uri="{FF2B5EF4-FFF2-40B4-BE49-F238E27FC236}">
                <a16:creationId xmlns:a16="http://schemas.microsoft.com/office/drawing/2014/main" id="{63665713-DACE-DDDB-3BB1-30F1E34DCE3E}"/>
              </a:ext>
            </a:extLst>
          </p:cNvPr>
          <p:cNvSpPr txBox="1"/>
          <p:nvPr/>
        </p:nvSpPr>
        <p:spPr>
          <a:xfrm>
            <a:off x="5276850" y="4343400"/>
            <a:ext cx="3009900" cy="1631216"/>
          </a:xfrm>
          <a:prstGeom prst="rect">
            <a:avLst/>
          </a:prstGeom>
          <a:noFill/>
        </p:spPr>
        <p:txBody>
          <a:bodyPr wrap="square" rtlCol="0">
            <a:spAutoFit/>
          </a:bodyPr>
          <a:lstStyle/>
          <a:p>
            <a:pPr marL="285750" indent="-285750">
              <a:buFont typeface="Arial" panose="020B0604020202020204" pitchFamily="34" charset="0"/>
              <a:buChar char="•"/>
            </a:pPr>
            <a:r>
              <a:rPr lang="es-ES" sz="2000" dirty="0"/>
              <a:t>Políticas de sustitución y reparación</a:t>
            </a:r>
          </a:p>
          <a:p>
            <a:endParaRPr lang="es-ES" sz="2000" dirty="0"/>
          </a:p>
          <a:p>
            <a:pPr marL="285750" indent="-285750">
              <a:buFont typeface="Arial" panose="020B0604020202020204" pitchFamily="34" charset="0"/>
              <a:buChar char="•"/>
            </a:pPr>
            <a:r>
              <a:rPr lang="es-ES" sz="2000" dirty="0"/>
              <a:t>Medidas de protección de los consumidores</a:t>
            </a:r>
          </a:p>
        </p:txBody>
      </p:sp>
      <p:pic>
        <p:nvPicPr>
          <p:cNvPr id="8" name="Imagen 7">
            <a:extLst>
              <a:ext uri="{FF2B5EF4-FFF2-40B4-BE49-F238E27FC236}">
                <a16:creationId xmlns:a16="http://schemas.microsoft.com/office/drawing/2014/main" id="{EA41A898-2A9A-CF42-3F38-A4197BCE3D22}"/>
              </a:ext>
            </a:extLst>
          </p:cNvPr>
          <p:cNvPicPr>
            <a:picLocks noChangeAspect="1"/>
          </p:cNvPicPr>
          <p:nvPr/>
        </p:nvPicPr>
        <p:blipFill>
          <a:blip r:embed="rId4"/>
          <a:stretch>
            <a:fillRect/>
          </a:stretch>
        </p:blipFill>
        <p:spPr>
          <a:xfrm>
            <a:off x="8987100" y="4189771"/>
            <a:ext cx="1771897" cy="1886213"/>
          </a:xfrm>
          <a:prstGeom prst="rect">
            <a:avLst/>
          </a:prstGeom>
        </p:spPr>
      </p:pic>
    </p:spTree>
    <p:extLst>
      <p:ext uri="{BB962C8B-B14F-4D97-AF65-F5344CB8AC3E}">
        <p14:creationId xmlns:p14="http://schemas.microsoft.com/office/powerpoint/2010/main" val="3730746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24466" y="533807"/>
            <a:ext cx="9716180" cy="1325563"/>
          </a:xfrm>
        </p:spPr>
        <p:txBody>
          <a:bodyPr>
            <a:normAutofit/>
          </a:bodyPr>
          <a:lstStyle/>
          <a:p>
            <a:r>
              <a:rPr lang="es-ES" sz="2800" b="1" kern="0" dirty="0">
                <a:effectLst/>
                <a:latin typeface="Calibri" panose="020F0502020204030204" pitchFamily="34" charset="0"/>
                <a:ea typeface="Times New Roman" panose="02020603050405020304" pitchFamily="18" charset="0"/>
                <a:cs typeface="Times New Roman" panose="02020603050405020304" pitchFamily="18" charset="0"/>
              </a:rPr>
              <a:t>SEGURIDAD DEL PRODUCTO Y PROTECCIÓN DE CONSUMIDORES</a:t>
            </a:r>
            <a:br>
              <a:rPr lang="es-ES" sz="28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sz="28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8096317" y="2050560"/>
            <a:ext cx="3888657" cy="3970318"/>
          </a:xfrm>
          <a:prstGeom prst="rect">
            <a:avLst/>
          </a:prstGeom>
          <a:solidFill>
            <a:schemeClr val="accent6">
              <a:lumMod val="20000"/>
              <a:lumOff val="80000"/>
            </a:schemeClr>
          </a:solidFill>
        </p:spPr>
        <p:txBody>
          <a:bodyPr wrap="square" rtlCol="0">
            <a:spAutoFit/>
          </a:bodyPr>
          <a:lstStyle/>
          <a:p>
            <a:pPr algn="just"/>
            <a:r>
              <a:rPr lang="es-ES" dirty="0" err="1"/>
              <a:t>Naturavía</a:t>
            </a:r>
            <a:r>
              <a:rPr lang="es-ES" dirty="0"/>
              <a:t> es una empresa de cosmética natural que ofrece una política de protección de los consumidores,  permitiendo devoluciones si el cliente no queda satisfecho. Además, mantienen un contacto cercano y directo con los consumidores a través de atención personalizada. La seguridad es una prioridad, utilizando ingredientes ecológicos y naturales que han pasado pruebas de seguridad para evitar efectos adversos. También tienen certificaciones que avalan la seguridad y calidad de sus productos.</a:t>
            </a:r>
          </a:p>
        </p:txBody>
      </p:sp>
      <p:pic>
        <p:nvPicPr>
          <p:cNvPr id="4" name="Imagen 3">
            <a:extLst>
              <a:ext uri="{FF2B5EF4-FFF2-40B4-BE49-F238E27FC236}">
                <a16:creationId xmlns:a16="http://schemas.microsoft.com/office/drawing/2014/main" id="{5E0D5EA1-8499-C94F-9E34-ABBF8A243761}"/>
              </a:ext>
            </a:extLst>
          </p:cNvPr>
          <p:cNvPicPr>
            <a:picLocks noChangeAspect="1"/>
          </p:cNvPicPr>
          <p:nvPr/>
        </p:nvPicPr>
        <p:blipFill>
          <a:blip r:embed="rId4"/>
          <a:stretch>
            <a:fillRect/>
          </a:stretch>
        </p:blipFill>
        <p:spPr>
          <a:xfrm>
            <a:off x="207026" y="2576403"/>
            <a:ext cx="7677600" cy="3084102"/>
          </a:xfrm>
          <a:prstGeom prst="rect">
            <a:avLst/>
          </a:prstGeom>
        </p:spPr>
      </p:pic>
      <p:sp>
        <p:nvSpPr>
          <p:cNvPr id="8" name="CuadroTexto 7">
            <a:extLst>
              <a:ext uri="{FF2B5EF4-FFF2-40B4-BE49-F238E27FC236}">
                <a16:creationId xmlns:a16="http://schemas.microsoft.com/office/drawing/2014/main" id="{43B6BA30-DE66-FD13-79F7-1957299C4D43}"/>
              </a:ext>
            </a:extLst>
          </p:cNvPr>
          <p:cNvSpPr txBox="1"/>
          <p:nvPr/>
        </p:nvSpPr>
        <p:spPr>
          <a:xfrm>
            <a:off x="10146536"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Tree>
    <p:extLst>
      <p:ext uri="{BB962C8B-B14F-4D97-AF65-F5344CB8AC3E}">
        <p14:creationId xmlns:p14="http://schemas.microsoft.com/office/powerpoint/2010/main" val="40201558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COMPROMISO CON LOS PROVEEDORES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diagonales redondeadas 2">
            <a:extLst>
              <a:ext uri="{FF2B5EF4-FFF2-40B4-BE49-F238E27FC236}">
                <a16:creationId xmlns:a16="http://schemas.microsoft.com/office/drawing/2014/main" id="{EC2F1F32-49C8-AC65-E656-A4BA4BAD2BE4}"/>
              </a:ext>
            </a:extLst>
          </p:cNvPr>
          <p:cNvSpPr/>
          <p:nvPr/>
        </p:nvSpPr>
        <p:spPr>
          <a:xfrm>
            <a:off x="2274329" y="2798652"/>
            <a:ext cx="2386571" cy="588861"/>
          </a:xfrm>
          <a:prstGeom prst="round2DiagRect">
            <a:avLst>
              <a:gd name="adj1" fmla="val 16667"/>
              <a:gd name="adj2" fmla="val 28644"/>
            </a:avLst>
          </a:prstGeom>
          <a:solidFill>
            <a:schemeClr val="tx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EMPRESAS</a:t>
            </a:r>
          </a:p>
        </p:txBody>
      </p:sp>
      <p:sp>
        <p:nvSpPr>
          <p:cNvPr id="4" name="Rectángulo: esquinas diagonales redondeadas 3">
            <a:extLst>
              <a:ext uri="{FF2B5EF4-FFF2-40B4-BE49-F238E27FC236}">
                <a16:creationId xmlns:a16="http://schemas.microsoft.com/office/drawing/2014/main" id="{FAEEC862-FFA4-AC9A-69BD-E294B04D333D}"/>
              </a:ext>
            </a:extLst>
          </p:cNvPr>
          <p:cNvSpPr/>
          <p:nvPr/>
        </p:nvSpPr>
        <p:spPr>
          <a:xfrm>
            <a:off x="7427773" y="2798652"/>
            <a:ext cx="2386571" cy="588861"/>
          </a:xfrm>
          <a:prstGeom prst="round2DiagRect">
            <a:avLst>
              <a:gd name="adj1" fmla="val 16667"/>
              <a:gd name="adj2" fmla="val 28644"/>
            </a:avLst>
          </a:prstGeom>
          <a:solidFill>
            <a:schemeClr val="tx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PROVEEDORES</a:t>
            </a:r>
          </a:p>
        </p:txBody>
      </p:sp>
      <p:pic>
        <p:nvPicPr>
          <p:cNvPr id="8" name="Imagen 7">
            <a:extLst>
              <a:ext uri="{FF2B5EF4-FFF2-40B4-BE49-F238E27FC236}">
                <a16:creationId xmlns:a16="http://schemas.microsoft.com/office/drawing/2014/main" id="{4228EA86-2222-5A55-C5C4-D5583CBA94E6}"/>
              </a:ext>
            </a:extLst>
          </p:cNvPr>
          <p:cNvPicPr>
            <a:picLocks noChangeAspect="1"/>
          </p:cNvPicPr>
          <p:nvPr/>
        </p:nvPicPr>
        <p:blipFill>
          <a:blip r:embed="rId4"/>
          <a:stretch>
            <a:fillRect/>
          </a:stretch>
        </p:blipFill>
        <p:spPr>
          <a:xfrm>
            <a:off x="5135818" y="2042441"/>
            <a:ext cx="1667557" cy="1846224"/>
          </a:xfrm>
          <a:prstGeom prst="rect">
            <a:avLst/>
          </a:prstGeom>
        </p:spPr>
      </p:pic>
      <p:sp>
        <p:nvSpPr>
          <p:cNvPr id="10" name="Rectángulo: esquinas diagonales redondeadas 9">
            <a:extLst>
              <a:ext uri="{FF2B5EF4-FFF2-40B4-BE49-F238E27FC236}">
                <a16:creationId xmlns:a16="http://schemas.microsoft.com/office/drawing/2014/main" id="{D44786F2-8BCD-B694-CF5C-1C848C518441}"/>
              </a:ext>
            </a:extLst>
          </p:cNvPr>
          <p:cNvSpPr/>
          <p:nvPr/>
        </p:nvSpPr>
        <p:spPr>
          <a:xfrm>
            <a:off x="4254500" y="3841954"/>
            <a:ext cx="3644900" cy="1220675"/>
          </a:xfrm>
          <a:prstGeom prst="round2DiagRect">
            <a:avLst>
              <a:gd name="adj1" fmla="val 16667"/>
              <a:gd name="adj2" fmla="val 28644"/>
            </a:avLst>
          </a:prstGeom>
          <a:solidFill>
            <a:srgbClr val="A6B4C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Deben compartir los mismos criterios ESG ya que el impacto social-ambiental es común</a:t>
            </a:r>
          </a:p>
        </p:txBody>
      </p:sp>
      <p:sp>
        <p:nvSpPr>
          <p:cNvPr id="6" name="Flecha: curvada hacia abajo 5">
            <a:extLst>
              <a:ext uri="{FF2B5EF4-FFF2-40B4-BE49-F238E27FC236}">
                <a16:creationId xmlns:a16="http://schemas.microsoft.com/office/drawing/2014/main" id="{BCF1A75F-ECA3-4770-249A-6D160ADDCB5D}"/>
              </a:ext>
            </a:extLst>
          </p:cNvPr>
          <p:cNvSpPr/>
          <p:nvPr/>
        </p:nvSpPr>
        <p:spPr>
          <a:xfrm>
            <a:off x="3352800" y="2005701"/>
            <a:ext cx="5486400" cy="792952"/>
          </a:xfrm>
          <a:prstGeom prst="curvedDownArrow">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2" name="CuadroTexto 11">
            <a:extLst>
              <a:ext uri="{FF2B5EF4-FFF2-40B4-BE49-F238E27FC236}">
                <a16:creationId xmlns:a16="http://schemas.microsoft.com/office/drawing/2014/main" id="{D1D5E8FB-BCC0-604A-BC1E-3205394B829B}"/>
              </a:ext>
            </a:extLst>
          </p:cNvPr>
          <p:cNvSpPr txBox="1"/>
          <p:nvPr/>
        </p:nvSpPr>
        <p:spPr>
          <a:xfrm>
            <a:off x="5086947" y="1605591"/>
            <a:ext cx="1765300" cy="400110"/>
          </a:xfrm>
          <a:prstGeom prst="rect">
            <a:avLst/>
          </a:prstGeom>
          <a:noFill/>
        </p:spPr>
        <p:txBody>
          <a:bodyPr wrap="square" rtlCol="0">
            <a:spAutoFit/>
          </a:bodyPr>
          <a:lstStyle/>
          <a:p>
            <a:pPr algn="ctr"/>
            <a:r>
              <a:rPr lang="es-ES" sz="2000" b="1" dirty="0"/>
              <a:t>ÉTICA</a:t>
            </a:r>
          </a:p>
        </p:txBody>
      </p:sp>
      <p:sp>
        <p:nvSpPr>
          <p:cNvPr id="14" name="Flecha: curvada hacia abajo 13">
            <a:extLst>
              <a:ext uri="{FF2B5EF4-FFF2-40B4-BE49-F238E27FC236}">
                <a16:creationId xmlns:a16="http://schemas.microsoft.com/office/drawing/2014/main" id="{168A7932-672D-AAE2-C904-9294B50BA172}"/>
              </a:ext>
            </a:extLst>
          </p:cNvPr>
          <p:cNvSpPr/>
          <p:nvPr/>
        </p:nvSpPr>
        <p:spPr>
          <a:xfrm flipH="1" flipV="1">
            <a:off x="3073400" y="4515876"/>
            <a:ext cx="5981700" cy="1408207"/>
          </a:xfrm>
          <a:prstGeom prst="curvedDownArrow">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5" name="CuadroTexto 14">
            <a:extLst>
              <a:ext uri="{FF2B5EF4-FFF2-40B4-BE49-F238E27FC236}">
                <a16:creationId xmlns:a16="http://schemas.microsoft.com/office/drawing/2014/main" id="{28BAD2FA-9278-D616-01C3-0F5D807F75A7}"/>
              </a:ext>
            </a:extLst>
          </p:cNvPr>
          <p:cNvSpPr txBox="1"/>
          <p:nvPr/>
        </p:nvSpPr>
        <p:spPr>
          <a:xfrm>
            <a:off x="4895295" y="5924083"/>
            <a:ext cx="2401409" cy="400110"/>
          </a:xfrm>
          <a:prstGeom prst="rect">
            <a:avLst/>
          </a:prstGeom>
          <a:noFill/>
        </p:spPr>
        <p:txBody>
          <a:bodyPr wrap="square" rtlCol="0">
            <a:spAutoFit/>
          </a:bodyPr>
          <a:lstStyle/>
          <a:p>
            <a:pPr algn="ctr"/>
            <a:r>
              <a:rPr lang="es-ES" sz="2000" b="1" dirty="0"/>
              <a:t>HOMOLOGACIÓN</a:t>
            </a:r>
          </a:p>
        </p:txBody>
      </p:sp>
    </p:spTree>
    <p:extLst>
      <p:ext uri="{BB962C8B-B14F-4D97-AF65-F5344CB8AC3E}">
        <p14:creationId xmlns:p14="http://schemas.microsoft.com/office/powerpoint/2010/main" val="13624805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COMPROMISO CON LOS PROVEEDORES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7905135" y="1504224"/>
            <a:ext cx="4046897" cy="4801314"/>
          </a:xfrm>
          <a:prstGeom prst="rect">
            <a:avLst/>
          </a:prstGeom>
          <a:solidFill>
            <a:schemeClr val="accent6">
              <a:lumMod val="20000"/>
              <a:lumOff val="80000"/>
            </a:schemeClr>
          </a:solidFill>
        </p:spPr>
        <p:txBody>
          <a:bodyPr wrap="square" rtlCol="0">
            <a:spAutoFit/>
          </a:bodyPr>
          <a:lstStyle/>
          <a:p>
            <a:r>
              <a:rPr lang="es-ES" dirty="0"/>
              <a:t>AUARA es una empresa social española que vende agua embotellada en envases 100% reciclados y destina el 100% de sus dividendos a financiar proyectos para llevar agua potable a comunidades necesitadas. AUARA trabaja de manera ética con sus proveedores para garantizar que sus prácticas estén alineadas con sus principios de sostenibilidad y economía circular. Colaboran principalmente con pequeñas empresas y cooperativas de reciclaje, garantizando un </a:t>
            </a:r>
            <a:r>
              <a:rPr lang="es-ES" b="1" dirty="0"/>
              <a:t>impacto social positivo</a:t>
            </a:r>
            <a:r>
              <a:rPr lang="es-ES" dirty="0"/>
              <a:t> en cada eslabón de la cadena. </a:t>
            </a:r>
            <a:r>
              <a:rPr lang="es-ES" b="1" dirty="0"/>
              <a:t>Premio SERES a la Innovación y el Compromiso Social de la Empresa</a:t>
            </a:r>
            <a:r>
              <a:rPr lang="es-ES" dirty="0"/>
              <a:t> (2017), además de tener la certificación </a:t>
            </a:r>
            <a:r>
              <a:rPr lang="es-ES" dirty="0" err="1"/>
              <a:t>BCorp</a:t>
            </a:r>
            <a:endParaRPr lang="es-ES" dirty="0"/>
          </a:p>
        </p:txBody>
      </p:sp>
      <p:pic>
        <p:nvPicPr>
          <p:cNvPr id="13" name="Imagen 12">
            <a:hlinkClick r:id="rId4"/>
            <a:extLst>
              <a:ext uri="{FF2B5EF4-FFF2-40B4-BE49-F238E27FC236}">
                <a16:creationId xmlns:a16="http://schemas.microsoft.com/office/drawing/2014/main" id="{929A17D0-6A55-FAFE-B044-83409D3227E8}"/>
              </a:ext>
            </a:extLst>
          </p:cNvPr>
          <p:cNvPicPr>
            <a:picLocks noChangeAspect="1"/>
          </p:cNvPicPr>
          <p:nvPr/>
        </p:nvPicPr>
        <p:blipFill>
          <a:blip r:embed="rId5"/>
          <a:stretch>
            <a:fillRect/>
          </a:stretch>
        </p:blipFill>
        <p:spPr>
          <a:xfrm>
            <a:off x="211224" y="1859370"/>
            <a:ext cx="7610337" cy="4356323"/>
          </a:xfrm>
          <a:prstGeom prst="rect">
            <a:avLst/>
          </a:prstGeom>
        </p:spPr>
      </p:pic>
    </p:spTree>
    <p:extLst>
      <p:ext uri="{BB962C8B-B14F-4D97-AF65-F5344CB8AC3E}">
        <p14:creationId xmlns:p14="http://schemas.microsoft.com/office/powerpoint/2010/main" val="13781886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4.5. ASPECTOS DE GOBERNANZA</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28562607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GOBIERNO CORPORATIVO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6" name="Imagen 15">
            <a:extLst>
              <a:ext uri="{FF2B5EF4-FFF2-40B4-BE49-F238E27FC236}">
                <a16:creationId xmlns:a16="http://schemas.microsoft.com/office/drawing/2014/main" id="{A43C3739-5182-20CE-CE18-E912FDD4E3C4}"/>
              </a:ext>
            </a:extLst>
          </p:cNvPr>
          <p:cNvPicPr>
            <a:picLocks noChangeAspect="1"/>
          </p:cNvPicPr>
          <p:nvPr/>
        </p:nvPicPr>
        <p:blipFill>
          <a:blip r:embed="rId4"/>
          <a:stretch>
            <a:fillRect/>
          </a:stretch>
        </p:blipFill>
        <p:spPr>
          <a:xfrm>
            <a:off x="5167169" y="2942968"/>
            <a:ext cx="2048161" cy="1838582"/>
          </a:xfrm>
          <a:prstGeom prst="rect">
            <a:avLst/>
          </a:prstGeom>
        </p:spPr>
      </p:pic>
      <p:sp>
        <p:nvSpPr>
          <p:cNvPr id="17" name="CuadroTexto 16">
            <a:extLst>
              <a:ext uri="{FF2B5EF4-FFF2-40B4-BE49-F238E27FC236}">
                <a16:creationId xmlns:a16="http://schemas.microsoft.com/office/drawing/2014/main" id="{AFBEB17C-945C-E839-CF13-9EA25368244C}"/>
              </a:ext>
            </a:extLst>
          </p:cNvPr>
          <p:cNvSpPr txBox="1"/>
          <p:nvPr/>
        </p:nvSpPr>
        <p:spPr>
          <a:xfrm>
            <a:off x="4876800" y="4781550"/>
            <a:ext cx="2433780" cy="400110"/>
          </a:xfrm>
          <a:prstGeom prst="rect">
            <a:avLst/>
          </a:prstGeom>
          <a:noFill/>
        </p:spPr>
        <p:txBody>
          <a:bodyPr wrap="square" rtlCol="0">
            <a:spAutoFit/>
          </a:bodyPr>
          <a:lstStyle/>
          <a:p>
            <a:pPr algn="ctr"/>
            <a:r>
              <a:rPr lang="es-ES" sz="2000" b="1" dirty="0"/>
              <a:t>ALTA DIRECCIÓN</a:t>
            </a:r>
          </a:p>
        </p:txBody>
      </p:sp>
      <p:sp>
        <p:nvSpPr>
          <p:cNvPr id="18" name="Rectángulo: esquinas superiores, una redondeada y la otra cortada 17">
            <a:extLst>
              <a:ext uri="{FF2B5EF4-FFF2-40B4-BE49-F238E27FC236}">
                <a16:creationId xmlns:a16="http://schemas.microsoft.com/office/drawing/2014/main" id="{85CB0A3C-DAC3-1A67-D733-1CDFC3A64FFF}"/>
              </a:ext>
            </a:extLst>
          </p:cNvPr>
          <p:cNvSpPr/>
          <p:nvPr/>
        </p:nvSpPr>
        <p:spPr>
          <a:xfrm>
            <a:off x="756017" y="5468539"/>
            <a:ext cx="3333750" cy="781050"/>
          </a:xfrm>
          <a:prstGeom prst="snipRoundRect">
            <a:avLst/>
          </a:prstGeom>
          <a:solidFill>
            <a:srgbClr val="EAB2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Apostar por los criterios </a:t>
            </a:r>
            <a:r>
              <a:rPr lang="es-ES" sz="2800" b="1" dirty="0"/>
              <a:t>ESG</a:t>
            </a:r>
          </a:p>
        </p:txBody>
      </p:sp>
      <p:sp>
        <p:nvSpPr>
          <p:cNvPr id="19" name="Flecha: doblada 18">
            <a:extLst>
              <a:ext uri="{FF2B5EF4-FFF2-40B4-BE49-F238E27FC236}">
                <a16:creationId xmlns:a16="http://schemas.microsoft.com/office/drawing/2014/main" id="{6A6DCE4A-8387-2F25-57FA-92FEFCBB2735}"/>
              </a:ext>
            </a:extLst>
          </p:cNvPr>
          <p:cNvSpPr/>
          <p:nvPr/>
        </p:nvSpPr>
        <p:spPr>
          <a:xfrm rot="5400000" flipV="1">
            <a:off x="2779264" y="3235341"/>
            <a:ext cx="1500578" cy="2889617"/>
          </a:xfrm>
          <a:prstGeom prst="bentArrow">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0" name="CuadroTexto 19">
            <a:extLst>
              <a:ext uri="{FF2B5EF4-FFF2-40B4-BE49-F238E27FC236}">
                <a16:creationId xmlns:a16="http://schemas.microsoft.com/office/drawing/2014/main" id="{6275E718-29F3-F076-7492-52E91B8C720F}"/>
              </a:ext>
            </a:extLst>
          </p:cNvPr>
          <p:cNvSpPr txBox="1"/>
          <p:nvPr/>
        </p:nvSpPr>
        <p:spPr>
          <a:xfrm>
            <a:off x="2251442" y="3523719"/>
            <a:ext cx="2889617" cy="400110"/>
          </a:xfrm>
          <a:prstGeom prst="rect">
            <a:avLst/>
          </a:prstGeom>
          <a:noFill/>
        </p:spPr>
        <p:txBody>
          <a:bodyPr wrap="square" rtlCol="0">
            <a:spAutoFit/>
          </a:bodyPr>
          <a:lstStyle/>
          <a:p>
            <a:r>
              <a:rPr lang="es-ES" sz="2000" b="1" dirty="0"/>
              <a:t>CAPACIDAD DE DECISIÓN</a:t>
            </a:r>
          </a:p>
        </p:txBody>
      </p:sp>
      <p:sp>
        <p:nvSpPr>
          <p:cNvPr id="21" name="Abrir llave 20">
            <a:extLst>
              <a:ext uri="{FF2B5EF4-FFF2-40B4-BE49-F238E27FC236}">
                <a16:creationId xmlns:a16="http://schemas.microsoft.com/office/drawing/2014/main" id="{9E859537-F80A-4EF0-2F30-EF4792E39286}"/>
              </a:ext>
            </a:extLst>
          </p:cNvPr>
          <p:cNvSpPr/>
          <p:nvPr/>
        </p:nvSpPr>
        <p:spPr>
          <a:xfrm>
            <a:off x="7215330" y="2404316"/>
            <a:ext cx="478563" cy="3163489"/>
          </a:xfrm>
          <a:prstGeom prst="leftBrace">
            <a:avLst>
              <a:gd name="adj1" fmla="val 72024"/>
              <a:gd name="adj2" fmla="val 50000"/>
            </a:avLst>
          </a:prstGeom>
          <a:ln w="508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2" name="CuadroTexto 21">
            <a:extLst>
              <a:ext uri="{FF2B5EF4-FFF2-40B4-BE49-F238E27FC236}">
                <a16:creationId xmlns:a16="http://schemas.microsoft.com/office/drawing/2014/main" id="{A4A78CAA-74D2-A9D0-C4A6-12A9C89F8E52}"/>
              </a:ext>
            </a:extLst>
          </p:cNvPr>
          <p:cNvSpPr txBox="1"/>
          <p:nvPr/>
        </p:nvSpPr>
        <p:spPr>
          <a:xfrm>
            <a:off x="7791450" y="2471404"/>
            <a:ext cx="3159992" cy="3170099"/>
          </a:xfrm>
          <a:prstGeom prst="rect">
            <a:avLst/>
          </a:prstGeom>
          <a:noFill/>
        </p:spPr>
        <p:txBody>
          <a:bodyPr wrap="square" rtlCol="0">
            <a:spAutoFit/>
          </a:bodyPr>
          <a:lstStyle/>
          <a:p>
            <a:pPr marL="285750" indent="-285750">
              <a:buFont typeface="Arial" panose="020B0604020202020204" pitchFamily="34" charset="0"/>
              <a:buChar char="•"/>
            </a:pPr>
            <a:r>
              <a:rPr lang="es-ES" sz="2000" dirty="0"/>
              <a:t>Fuerte</a:t>
            </a:r>
          </a:p>
          <a:p>
            <a:pPr marL="285750" indent="-285750">
              <a:buFont typeface="Arial" panose="020B0604020202020204" pitchFamily="34" charset="0"/>
              <a:buChar char="•"/>
            </a:pPr>
            <a:r>
              <a:rPr lang="es-ES" sz="2000" dirty="0"/>
              <a:t>Comprometida</a:t>
            </a:r>
          </a:p>
          <a:p>
            <a:pPr marL="285750" indent="-285750">
              <a:buFont typeface="Arial" panose="020B0604020202020204" pitchFamily="34" charset="0"/>
              <a:buChar char="•"/>
            </a:pPr>
            <a:r>
              <a:rPr lang="es-ES" sz="2000" dirty="0"/>
              <a:t>Capaz</a:t>
            </a:r>
          </a:p>
          <a:p>
            <a:pPr marL="285750" indent="-285750">
              <a:buFont typeface="Arial" panose="020B0604020202020204" pitchFamily="34" charset="0"/>
              <a:buChar char="•"/>
            </a:pPr>
            <a:r>
              <a:rPr lang="es-ES" sz="2000" dirty="0"/>
              <a:t>Responsabilidad social y medioambiental</a:t>
            </a:r>
          </a:p>
          <a:p>
            <a:pPr marL="285750" indent="-285750">
              <a:buFont typeface="Arial" panose="020B0604020202020204" pitchFamily="34" charset="0"/>
              <a:buChar char="•"/>
            </a:pPr>
            <a:r>
              <a:rPr lang="es-ES" sz="2000" dirty="0"/>
              <a:t>Integridad y comportamiento ético</a:t>
            </a:r>
          </a:p>
          <a:p>
            <a:pPr marL="285750" indent="-285750">
              <a:buFont typeface="Arial" panose="020B0604020202020204" pitchFamily="34" charset="0"/>
              <a:buChar char="•"/>
            </a:pPr>
            <a:r>
              <a:rPr lang="es-ES" sz="2000" dirty="0"/>
              <a:t>Respuesta equilibrada a los distintos grupos de interés</a:t>
            </a:r>
          </a:p>
        </p:txBody>
      </p:sp>
      <p:sp>
        <p:nvSpPr>
          <p:cNvPr id="23" name="Rectángulo: esquinas superiores, una redondeada y la otra cortada 22">
            <a:extLst>
              <a:ext uri="{FF2B5EF4-FFF2-40B4-BE49-F238E27FC236}">
                <a16:creationId xmlns:a16="http://schemas.microsoft.com/office/drawing/2014/main" id="{F3774B3C-BBD4-4B81-0CBD-997688806298}"/>
              </a:ext>
            </a:extLst>
          </p:cNvPr>
          <p:cNvSpPr/>
          <p:nvPr/>
        </p:nvSpPr>
        <p:spPr>
          <a:xfrm>
            <a:off x="7791450" y="1489890"/>
            <a:ext cx="3333750" cy="722646"/>
          </a:xfrm>
          <a:prstGeom prst="snipRoundRect">
            <a:avLst/>
          </a:prstGeom>
          <a:solidFill>
            <a:srgbClr val="EAB2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Cualidades necesarias para la sostenibilidad empresarial</a:t>
            </a:r>
          </a:p>
        </p:txBody>
      </p:sp>
      <p:sp>
        <p:nvSpPr>
          <p:cNvPr id="24" name="Bocadillo nube: nube 23">
            <a:extLst>
              <a:ext uri="{FF2B5EF4-FFF2-40B4-BE49-F238E27FC236}">
                <a16:creationId xmlns:a16="http://schemas.microsoft.com/office/drawing/2014/main" id="{CFF22921-3876-1CBB-F4F8-61451C7D4865}"/>
              </a:ext>
            </a:extLst>
          </p:cNvPr>
          <p:cNvSpPr/>
          <p:nvPr/>
        </p:nvSpPr>
        <p:spPr>
          <a:xfrm>
            <a:off x="4974362" y="1676340"/>
            <a:ext cx="2336218" cy="795051"/>
          </a:xfrm>
          <a:prstGeom prst="cloudCallout">
            <a:avLst>
              <a:gd name="adj1" fmla="val -26541"/>
              <a:gd name="adj2" fmla="val 28261"/>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Liderazgo más humano</a:t>
            </a:r>
          </a:p>
        </p:txBody>
      </p:sp>
    </p:spTree>
    <p:extLst>
      <p:ext uri="{BB962C8B-B14F-4D97-AF65-F5344CB8AC3E}">
        <p14:creationId xmlns:p14="http://schemas.microsoft.com/office/powerpoint/2010/main" val="1181590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GOBIERNO CORPORATIVO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412956" y="5205103"/>
            <a:ext cx="4513006" cy="1477328"/>
          </a:xfrm>
          <a:prstGeom prst="rect">
            <a:avLst/>
          </a:prstGeom>
          <a:solidFill>
            <a:schemeClr val="accent6">
              <a:lumMod val="20000"/>
              <a:lumOff val="80000"/>
            </a:schemeClr>
          </a:solidFill>
        </p:spPr>
        <p:txBody>
          <a:bodyPr wrap="square" rtlCol="0">
            <a:spAutoFit/>
          </a:bodyPr>
          <a:lstStyle/>
          <a:p>
            <a:r>
              <a:rPr lang="es-ES" dirty="0" err="1">
                <a:hlinkClick r:id="rId4"/>
              </a:rPr>
              <a:t>Ecoalf</a:t>
            </a:r>
            <a:r>
              <a:rPr lang="es-ES" dirty="0"/>
              <a:t> cuenta con el compromiso por la sostenibilidad de su alta dirección, lo que le ha servido para innovar y ser reconocida como una de las empresas que más apuestan por la sostenibilidad en nuestro país.</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10566372" y="287913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6" name="Imagen 5">
            <a:hlinkClick r:id="rId5"/>
            <a:extLst>
              <a:ext uri="{FF2B5EF4-FFF2-40B4-BE49-F238E27FC236}">
                <a16:creationId xmlns:a16="http://schemas.microsoft.com/office/drawing/2014/main" id="{710FB1CD-BC5A-DECF-9489-97C822626B07}"/>
              </a:ext>
            </a:extLst>
          </p:cNvPr>
          <p:cNvPicPr>
            <a:picLocks noChangeAspect="1"/>
          </p:cNvPicPr>
          <p:nvPr/>
        </p:nvPicPr>
        <p:blipFill>
          <a:blip r:embed="rId6"/>
          <a:stretch>
            <a:fillRect/>
          </a:stretch>
        </p:blipFill>
        <p:spPr>
          <a:xfrm>
            <a:off x="92499" y="1410038"/>
            <a:ext cx="10107619" cy="3676862"/>
          </a:xfrm>
          <a:prstGeom prst="rect">
            <a:avLst/>
          </a:prstGeom>
        </p:spPr>
      </p:pic>
      <p:pic>
        <p:nvPicPr>
          <p:cNvPr id="10" name="Imagen 9">
            <a:extLst>
              <a:ext uri="{FF2B5EF4-FFF2-40B4-BE49-F238E27FC236}">
                <a16:creationId xmlns:a16="http://schemas.microsoft.com/office/drawing/2014/main" id="{4723DD58-CBA5-C0A7-4979-AD3A2D087B6E}"/>
              </a:ext>
            </a:extLst>
          </p:cNvPr>
          <p:cNvPicPr>
            <a:picLocks noChangeAspect="1"/>
          </p:cNvPicPr>
          <p:nvPr/>
        </p:nvPicPr>
        <p:blipFill>
          <a:blip r:embed="rId7"/>
          <a:stretch>
            <a:fillRect/>
          </a:stretch>
        </p:blipFill>
        <p:spPr>
          <a:xfrm>
            <a:off x="6129978" y="5086900"/>
            <a:ext cx="3371658" cy="1421385"/>
          </a:xfrm>
          <a:prstGeom prst="rect">
            <a:avLst/>
          </a:prstGeom>
        </p:spPr>
      </p:pic>
    </p:spTree>
    <p:extLst>
      <p:ext uri="{BB962C8B-B14F-4D97-AF65-F5344CB8AC3E}">
        <p14:creationId xmlns:p14="http://schemas.microsoft.com/office/powerpoint/2010/main" val="23433225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200" b="1" kern="0" dirty="0">
                <a:effectLst/>
                <a:latin typeface="Calibri" panose="020F0502020204030204" pitchFamily="34" charset="0"/>
                <a:ea typeface="Times New Roman" panose="02020603050405020304" pitchFamily="18" charset="0"/>
                <a:cs typeface="Times New Roman" panose="02020603050405020304" pitchFamily="18" charset="0"/>
              </a:rPr>
              <a:t>TRANSPARENCIA Y COMUNICACIÓN RESPONSABLE</a:t>
            </a:r>
            <a:endParaRPr lang="es-ES" sz="32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4" name="Decágono 3">
            <a:extLst>
              <a:ext uri="{FF2B5EF4-FFF2-40B4-BE49-F238E27FC236}">
                <a16:creationId xmlns:a16="http://schemas.microsoft.com/office/drawing/2014/main" id="{1FB35216-6237-C0D1-B8A0-BD410036D695}"/>
              </a:ext>
            </a:extLst>
          </p:cNvPr>
          <p:cNvSpPr/>
          <p:nvPr/>
        </p:nvSpPr>
        <p:spPr>
          <a:xfrm>
            <a:off x="895350" y="2856049"/>
            <a:ext cx="2514600" cy="1028700"/>
          </a:xfrm>
          <a:prstGeom prst="decagon">
            <a:avLst/>
          </a:prstGeom>
          <a:solidFill>
            <a:srgbClr val="C00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BUENA GOBERNANZA</a:t>
            </a:r>
          </a:p>
        </p:txBody>
      </p:sp>
      <p:sp>
        <p:nvSpPr>
          <p:cNvPr id="8" name="Flecha: a la derecha 7">
            <a:extLst>
              <a:ext uri="{FF2B5EF4-FFF2-40B4-BE49-F238E27FC236}">
                <a16:creationId xmlns:a16="http://schemas.microsoft.com/office/drawing/2014/main" id="{8956D38A-CD80-2127-E8C4-A7F866C1228E}"/>
              </a:ext>
            </a:extLst>
          </p:cNvPr>
          <p:cNvSpPr/>
          <p:nvPr/>
        </p:nvSpPr>
        <p:spPr>
          <a:xfrm>
            <a:off x="3708755" y="3084649"/>
            <a:ext cx="628650" cy="571500"/>
          </a:xfrm>
          <a:prstGeom prst="rightArrow">
            <a:avLst/>
          </a:prstGeom>
          <a:solidFill>
            <a:schemeClr val="bg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BD691C81-9A36-041A-9942-4879C6151312}"/>
              </a:ext>
            </a:extLst>
          </p:cNvPr>
          <p:cNvSpPr/>
          <p:nvPr/>
        </p:nvSpPr>
        <p:spPr>
          <a:xfrm>
            <a:off x="4636210" y="2398849"/>
            <a:ext cx="2514600" cy="1943100"/>
          </a:xfrm>
          <a:prstGeom prst="rect">
            <a:avLst/>
          </a:prstGeom>
          <a:solidFill>
            <a:schemeClr val="accent2">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Ejercicio de transparencia y comunicación responsable en materia de sostenibilidad</a:t>
            </a:r>
          </a:p>
        </p:txBody>
      </p:sp>
      <p:sp>
        <p:nvSpPr>
          <p:cNvPr id="12" name="Flecha: a la derecha 11">
            <a:extLst>
              <a:ext uri="{FF2B5EF4-FFF2-40B4-BE49-F238E27FC236}">
                <a16:creationId xmlns:a16="http://schemas.microsoft.com/office/drawing/2014/main" id="{238A810D-3D89-1630-4153-F532A513931B}"/>
              </a:ext>
            </a:extLst>
          </p:cNvPr>
          <p:cNvSpPr/>
          <p:nvPr/>
        </p:nvSpPr>
        <p:spPr>
          <a:xfrm>
            <a:off x="7449615" y="3084649"/>
            <a:ext cx="628650" cy="571500"/>
          </a:xfrm>
          <a:prstGeom prst="rightArrow">
            <a:avLst/>
          </a:prstGeom>
          <a:solidFill>
            <a:schemeClr val="bg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Flecha: a la derecha 12">
            <a:extLst>
              <a:ext uri="{FF2B5EF4-FFF2-40B4-BE49-F238E27FC236}">
                <a16:creationId xmlns:a16="http://schemas.microsoft.com/office/drawing/2014/main" id="{B89B00A0-164A-DDC8-6D00-8E297B7D8C7F}"/>
              </a:ext>
            </a:extLst>
          </p:cNvPr>
          <p:cNvSpPr/>
          <p:nvPr/>
        </p:nvSpPr>
        <p:spPr>
          <a:xfrm rot="5400000">
            <a:off x="5576887" y="4606128"/>
            <a:ext cx="628650" cy="571500"/>
          </a:xfrm>
          <a:prstGeom prst="rightArrow">
            <a:avLst/>
          </a:prstGeom>
          <a:solidFill>
            <a:schemeClr val="bg2">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DD898165-6CFC-03CD-450A-28DEB5E92A8D}"/>
              </a:ext>
            </a:extLst>
          </p:cNvPr>
          <p:cNvSpPr txBox="1"/>
          <p:nvPr/>
        </p:nvSpPr>
        <p:spPr>
          <a:xfrm>
            <a:off x="4491037" y="5368996"/>
            <a:ext cx="2828925" cy="707886"/>
          </a:xfrm>
          <a:prstGeom prst="rect">
            <a:avLst/>
          </a:prstGeom>
          <a:noFill/>
        </p:spPr>
        <p:txBody>
          <a:bodyPr wrap="square" rtlCol="0">
            <a:spAutoFit/>
          </a:bodyPr>
          <a:lstStyle/>
          <a:p>
            <a:pPr algn="ctr"/>
            <a:r>
              <a:rPr lang="es-ES" sz="2000" dirty="0"/>
              <a:t>Se dirige a </a:t>
            </a:r>
            <a:r>
              <a:rPr lang="es-ES" sz="2000" b="1" dirty="0"/>
              <a:t>todos</a:t>
            </a:r>
            <a:r>
              <a:rPr lang="es-ES" sz="2000" dirty="0"/>
              <a:t> los grupos de interés</a:t>
            </a:r>
          </a:p>
        </p:txBody>
      </p:sp>
      <p:sp>
        <p:nvSpPr>
          <p:cNvPr id="15" name="Rectángulo 14">
            <a:extLst>
              <a:ext uri="{FF2B5EF4-FFF2-40B4-BE49-F238E27FC236}">
                <a16:creationId xmlns:a16="http://schemas.microsoft.com/office/drawing/2014/main" id="{0490E1FB-0385-8455-6CCA-27BC6BE7CC94}"/>
              </a:ext>
            </a:extLst>
          </p:cNvPr>
          <p:cNvSpPr/>
          <p:nvPr/>
        </p:nvSpPr>
        <p:spPr>
          <a:xfrm>
            <a:off x="8377071" y="2281268"/>
            <a:ext cx="2514600" cy="2178262"/>
          </a:xfrm>
          <a:prstGeom prst="rect">
            <a:avLst/>
          </a:prstGeom>
          <a:solidFill>
            <a:schemeClr val="accent2">
              <a:lumMod val="20000"/>
              <a:lumOff val="80000"/>
            </a:schemeClr>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Comunicación de resultados:</a:t>
            </a:r>
          </a:p>
          <a:p>
            <a:pPr marL="342900" indent="-342900">
              <a:buFont typeface="Arial" panose="020B0604020202020204" pitchFamily="34" charset="0"/>
              <a:buChar char="•"/>
            </a:pPr>
            <a:r>
              <a:rPr lang="es-ES" sz="2000" dirty="0">
                <a:solidFill>
                  <a:schemeClr val="tx1"/>
                </a:solidFill>
              </a:rPr>
              <a:t>Fiable</a:t>
            </a:r>
          </a:p>
          <a:p>
            <a:pPr marL="342900" indent="-342900">
              <a:buFont typeface="Arial" panose="020B0604020202020204" pitchFamily="34" charset="0"/>
              <a:buChar char="•"/>
            </a:pPr>
            <a:r>
              <a:rPr lang="es-ES" sz="2000" dirty="0">
                <a:solidFill>
                  <a:schemeClr val="tx1"/>
                </a:solidFill>
              </a:rPr>
              <a:t>Veraz</a:t>
            </a:r>
          </a:p>
          <a:p>
            <a:pPr marL="342900" indent="-342900">
              <a:buFont typeface="Arial" panose="020B0604020202020204" pitchFamily="34" charset="0"/>
              <a:buChar char="•"/>
            </a:pPr>
            <a:r>
              <a:rPr lang="es-ES" sz="2000" dirty="0">
                <a:solidFill>
                  <a:schemeClr val="tx1"/>
                </a:solidFill>
              </a:rPr>
              <a:t>Completa</a:t>
            </a:r>
          </a:p>
          <a:p>
            <a:pPr marL="342900" indent="-342900">
              <a:buFont typeface="Arial" panose="020B0604020202020204" pitchFamily="34" charset="0"/>
              <a:buChar char="•"/>
            </a:pPr>
            <a:r>
              <a:rPr lang="es-ES" sz="2000" dirty="0">
                <a:solidFill>
                  <a:schemeClr val="tx1"/>
                </a:solidFill>
              </a:rPr>
              <a:t>Actualizada</a:t>
            </a:r>
          </a:p>
          <a:p>
            <a:pPr marL="342900" indent="-342900">
              <a:buFont typeface="Arial" panose="020B0604020202020204" pitchFamily="34" charset="0"/>
              <a:buChar char="•"/>
            </a:pPr>
            <a:r>
              <a:rPr lang="es-ES" sz="2000" dirty="0">
                <a:solidFill>
                  <a:schemeClr val="tx1"/>
                </a:solidFill>
              </a:rPr>
              <a:t>Accesible</a:t>
            </a:r>
          </a:p>
        </p:txBody>
      </p:sp>
      <p:pic>
        <p:nvPicPr>
          <p:cNvPr id="6" name="Imagen 5">
            <a:extLst>
              <a:ext uri="{FF2B5EF4-FFF2-40B4-BE49-F238E27FC236}">
                <a16:creationId xmlns:a16="http://schemas.microsoft.com/office/drawing/2014/main" id="{531708EA-BEB5-730E-A2D0-ABED4BBEB1C1}"/>
              </a:ext>
            </a:extLst>
          </p:cNvPr>
          <p:cNvPicPr>
            <a:picLocks noChangeAspect="1"/>
          </p:cNvPicPr>
          <p:nvPr/>
        </p:nvPicPr>
        <p:blipFill>
          <a:blip r:embed="rId4"/>
          <a:stretch>
            <a:fillRect/>
          </a:stretch>
        </p:blipFill>
        <p:spPr>
          <a:xfrm>
            <a:off x="1066426" y="4370362"/>
            <a:ext cx="2012054" cy="1848282"/>
          </a:xfrm>
          <a:prstGeom prst="rect">
            <a:avLst/>
          </a:prstGeom>
        </p:spPr>
      </p:pic>
    </p:spTree>
    <p:extLst>
      <p:ext uri="{BB962C8B-B14F-4D97-AF65-F5344CB8AC3E}">
        <p14:creationId xmlns:p14="http://schemas.microsoft.com/office/powerpoint/2010/main" val="25032599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200" b="1" kern="0" dirty="0">
                <a:effectLst/>
                <a:latin typeface="Calibri" panose="020F0502020204030204" pitchFamily="34" charset="0"/>
                <a:ea typeface="Times New Roman" panose="02020603050405020304" pitchFamily="18" charset="0"/>
                <a:cs typeface="Times New Roman" panose="02020603050405020304" pitchFamily="18" charset="0"/>
              </a:rPr>
              <a:t>TRANSPARENCIA Y COMUNICACIÓN RESPONSABLE</a:t>
            </a:r>
            <a:endParaRPr lang="es-ES" sz="32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CuadroTexto 2">
            <a:extLst>
              <a:ext uri="{FF2B5EF4-FFF2-40B4-BE49-F238E27FC236}">
                <a16:creationId xmlns:a16="http://schemas.microsoft.com/office/drawing/2014/main" id="{E3212BE3-E794-D858-484E-09AAFDDDED7D}"/>
              </a:ext>
            </a:extLst>
          </p:cNvPr>
          <p:cNvSpPr txBox="1"/>
          <p:nvPr/>
        </p:nvSpPr>
        <p:spPr>
          <a:xfrm>
            <a:off x="4705350" y="1619249"/>
            <a:ext cx="3238500" cy="461665"/>
          </a:xfrm>
          <a:prstGeom prst="rect">
            <a:avLst/>
          </a:prstGeom>
          <a:solidFill>
            <a:schemeClr val="accent4">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s-ES" sz="2400" b="1" dirty="0">
                <a:solidFill>
                  <a:schemeClr val="bg1"/>
                </a:solidFill>
              </a:rPr>
              <a:t>ADULTERACIONES</a:t>
            </a:r>
          </a:p>
        </p:txBody>
      </p:sp>
      <p:sp>
        <p:nvSpPr>
          <p:cNvPr id="6" name="CuadroTexto 5">
            <a:extLst>
              <a:ext uri="{FF2B5EF4-FFF2-40B4-BE49-F238E27FC236}">
                <a16:creationId xmlns:a16="http://schemas.microsoft.com/office/drawing/2014/main" id="{5147123F-8DD3-7BD1-0285-FEB5AB85A694}"/>
              </a:ext>
            </a:extLst>
          </p:cNvPr>
          <p:cNvSpPr txBox="1"/>
          <p:nvPr/>
        </p:nvSpPr>
        <p:spPr>
          <a:xfrm>
            <a:off x="1813264" y="2829248"/>
            <a:ext cx="3238500" cy="461665"/>
          </a:xfrm>
          <a:prstGeom prst="rect">
            <a:avLst/>
          </a:prstGeom>
          <a:solidFill>
            <a:srgbClr val="317B5D"/>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s-ES" sz="2400" b="1" dirty="0">
                <a:solidFill>
                  <a:schemeClr val="bg1"/>
                </a:solidFill>
              </a:rPr>
              <a:t>GREENWASHING</a:t>
            </a:r>
          </a:p>
        </p:txBody>
      </p:sp>
      <p:sp>
        <p:nvSpPr>
          <p:cNvPr id="11" name="CuadroTexto 10">
            <a:extLst>
              <a:ext uri="{FF2B5EF4-FFF2-40B4-BE49-F238E27FC236}">
                <a16:creationId xmlns:a16="http://schemas.microsoft.com/office/drawing/2014/main" id="{3D9D98DB-8584-3019-1680-3A4D735A1453}"/>
              </a:ext>
            </a:extLst>
          </p:cNvPr>
          <p:cNvSpPr txBox="1"/>
          <p:nvPr/>
        </p:nvSpPr>
        <p:spPr>
          <a:xfrm>
            <a:off x="7597806" y="2829248"/>
            <a:ext cx="3238500" cy="461665"/>
          </a:xfrm>
          <a:prstGeom prst="rect">
            <a:avLst/>
          </a:prstGeom>
          <a:solidFill>
            <a:srgbClr val="317B5D"/>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s-ES" sz="2400" b="1" dirty="0">
                <a:solidFill>
                  <a:schemeClr val="bg1"/>
                </a:solidFill>
              </a:rPr>
              <a:t>SOCIAL WASHING</a:t>
            </a:r>
          </a:p>
        </p:txBody>
      </p:sp>
      <p:sp>
        <p:nvSpPr>
          <p:cNvPr id="16" name="CuadroTexto 15">
            <a:extLst>
              <a:ext uri="{FF2B5EF4-FFF2-40B4-BE49-F238E27FC236}">
                <a16:creationId xmlns:a16="http://schemas.microsoft.com/office/drawing/2014/main" id="{465CDE42-9324-F1FD-02FA-D15AA357EC85}"/>
              </a:ext>
            </a:extLst>
          </p:cNvPr>
          <p:cNvSpPr txBox="1"/>
          <p:nvPr/>
        </p:nvSpPr>
        <p:spPr>
          <a:xfrm>
            <a:off x="745469" y="4229100"/>
            <a:ext cx="2435881" cy="2031325"/>
          </a:xfrm>
          <a:prstGeom prst="rect">
            <a:avLst/>
          </a:prstGeom>
          <a:solidFill>
            <a:schemeClr val="accent4">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s-ES_tradnl" dirty="0">
                <a:solidFill>
                  <a:srgbClr val="000000"/>
                </a:solidFill>
                <a:latin typeface="Calibri" panose="020F0502020204030204" pitchFamily="34" charset="0"/>
                <a:ea typeface="Times New Roman" panose="02020603050405020304" pitchFamily="18" charset="0"/>
              </a:rPr>
              <a:t>P</a:t>
            </a:r>
            <a:r>
              <a:rPr lang="es-ES_tradnl" sz="1800" dirty="0">
                <a:solidFill>
                  <a:srgbClr val="000000"/>
                </a:solidFill>
                <a:effectLst/>
                <a:latin typeface="Calibri" panose="020F0502020204030204" pitchFamily="34" charset="0"/>
                <a:ea typeface="Times New Roman" panose="02020603050405020304" pitchFamily="18" charset="0"/>
              </a:rPr>
              <a:t>ublicitar las cualidades o características supuestamente ecológicas de un producto cuando estas son irrelevantes para el conjunto</a:t>
            </a:r>
            <a:endParaRPr lang="es-ES" dirty="0"/>
          </a:p>
        </p:txBody>
      </p:sp>
      <p:sp>
        <p:nvSpPr>
          <p:cNvPr id="17" name="CuadroTexto 16">
            <a:extLst>
              <a:ext uri="{FF2B5EF4-FFF2-40B4-BE49-F238E27FC236}">
                <a16:creationId xmlns:a16="http://schemas.microsoft.com/office/drawing/2014/main" id="{C9A46E82-2C93-81E0-17CB-14B059E9C7B1}"/>
              </a:ext>
            </a:extLst>
          </p:cNvPr>
          <p:cNvSpPr txBox="1"/>
          <p:nvPr/>
        </p:nvSpPr>
        <p:spPr>
          <a:xfrm>
            <a:off x="3790950" y="4229100"/>
            <a:ext cx="2435881" cy="1821775"/>
          </a:xfrm>
          <a:prstGeom prst="rect">
            <a:avLst/>
          </a:prstGeom>
          <a:solidFill>
            <a:schemeClr val="accent4">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s-ES_tradnl" dirty="0">
                <a:solidFill>
                  <a:srgbClr val="000000"/>
                </a:solidFill>
                <a:latin typeface="Calibri" panose="020F0502020204030204" pitchFamily="34" charset="0"/>
                <a:ea typeface="Times New Roman" panose="02020603050405020304" pitchFamily="18" charset="0"/>
              </a:rPr>
              <a:t>E</a:t>
            </a:r>
            <a:r>
              <a:rPr lang="es-ES_tradnl" sz="1800" dirty="0">
                <a:solidFill>
                  <a:srgbClr val="000000"/>
                </a:solidFill>
                <a:effectLst/>
                <a:latin typeface="Calibri" panose="020F0502020204030204" pitchFamily="34" charset="0"/>
                <a:ea typeface="Times New Roman" panose="02020603050405020304" pitchFamily="18" charset="0"/>
              </a:rPr>
              <a:t>mplear etiquetas confusas que pueden inducir a error, empleando términos como “natural” o logos verdes</a:t>
            </a:r>
            <a:endParaRPr lang="es-ES" dirty="0"/>
          </a:p>
        </p:txBody>
      </p:sp>
      <p:cxnSp>
        <p:nvCxnSpPr>
          <p:cNvPr id="19" name="Conector recto de flecha 18">
            <a:extLst>
              <a:ext uri="{FF2B5EF4-FFF2-40B4-BE49-F238E27FC236}">
                <a16:creationId xmlns:a16="http://schemas.microsoft.com/office/drawing/2014/main" id="{CCBD6DE0-382F-0415-152D-1C1DB6BD8DC6}"/>
              </a:ext>
            </a:extLst>
          </p:cNvPr>
          <p:cNvCxnSpPr>
            <a:stCxn id="6" idx="2"/>
            <a:endCxn id="16" idx="0"/>
          </p:cNvCxnSpPr>
          <p:nvPr/>
        </p:nvCxnSpPr>
        <p:spPr>
          <a:xfrm flipH="1">
            <a:off x="1963410" y="3290913"/>
            <a:ext cx="1469104" cy="938187"/>
          </a:xfrm>
          <a:prstGeom prst="straightConnector1">
            <a:avLst/>
          </a:prstGeom>
          <a:ln w="41275">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F101C354-1A0F-AD9E-966C-9E0795038660}"/>
              </a:ext>
            </a:extLst>
          </p:cNvPr>
          <p:cNvCxnSpPr>
            <a:cxnSpLocks/>
            <a:stCxn id="6" idx="2"/>
            <a:endCxn id="17" idx="0"/>
          </p:cNvCxnSpPr>
          <p:nvPr/>
        </p:nvCxnSpPr>
        <p:spPr>
          <a:xfrm>
            <a:off x="3432514" y="3290913"/>
            <a:ext cx="1576377" cy="938187"/>
          </a:xfrm>
          <a:prstGeom prst="straightConnector1">
            <a:avLst/>
          </a:prstGeom>
          <a:ln w="41275">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988349B-972A-3449-50CF-0F95F56FB7E5}"/>
              </a:ext>
            </a:extLst>
          </p:cNvPr>
          <p:cNvCxnSpPr>
            <a:cxnSpLocks/>
            <a:endCxn id="6" idx="0"/>
          </p:cNvCxnSpPr>
          <p:nvPr/>
        </p:nvCxnSpPr>
        <p:spPr>
          <a:xfrm flipH="1">
            <a:off x="3432514" y="2092142"/>
            <a:ext cx="2892086" cy="737106"/>
          </a:xfrm>
          <a:prstGeom prst="straightConnector1">
            <a:avLst/>
          </a:prstGeom>
          <a:ln w="41275">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A62CFB98-C06C-F9E0-0E71-19767449FAF5}"/>
              </a:ext>
            </a:extLst>
          </p:cNvPr>
          <p:cNvCxnSpPr>
            <a:cxnSpLocks/>
            <a:stCxn id="3" idx="2"/>
            <a:endCxn id="11" idx="0"/>
          </p:cNvCxnSpPr>
          <p:nvPr/>
        </p:nvCxnSpPr>
        <p:spPr>
          <a:xfrm>
            <a:off x="6324600" y="2080914"/>
            <a:ext cx="2892456" cy="748334"/>
          </a:xfrm>
          <a:prstGeom prst="straightConnector1">
            <a:avLst/>
          </a:prstGeom>
          <a:ln w="41275">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FA689D13-FFB0-5F2A-D458-8726FB3DAB30}"/>
              </a:ext>
            </a:extLst>
          </p:cNvPr>
          <p:cNvSpPr txBox="1"/>
          <p:nvPr/>
        </p:nvSpPr>
        <p:spPr>
          <a:xfrm>
            <a:off x="7597806" y="4229100"/>
            <a:ext cx="3238500" cy="2031325"/>
          </a:xfrm>
          <a:prstGeom prst="rect">
            <a:avLst/>
          </a:prstGeom>
          <a:solidFill>
            <a:schemeClr val="accent4">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s-ES_tradnl" dirty="0">
                <a:solidFill>
                  <a:srgbClr val="000000"/>
                </a:solidFill>
                <a:latin typeface="Calibri" panose="020F0502020204030204" pitchFamily="34" charset="0"/>
                <a:ea typeface="Times New Roman" panose="02020603050405020304" pitchFamily="18" charset="0"/>
              </a:rPr>
              <a:t>L</a:t>
            </a:r>
            <a:r>
              <a:rPr lang="es-ES_tradnl" sz="1800" dirty="0">
                <a:solidFill>
                  <a:srgbClr val="000000"/>
                </a:solidFill>
                <a:effectLst/>
                <a:latin typeface="Calibri" panose="020F0502020204030204" pitchFamily="34" charset="0"/>
                <a:ea typeface="Times New Roman" panose="02020603050405020304" pitchFamily="18" charset="0"/>
              </a:rPr>
              <a:t>a información relativa a la responsabilidad social de la empresa es engañosa y trata de confundir a los destinatarios haciéndoles creer que sus actuaciones son mejores de lo que en realidad son</a:t>
            </a:r>
            <a:endParaRPr lang="es-ES" dirty="0"/>
          </a:p>
        </p:txBody>
      </p:sp>
      <p:cxnSp>
        <p:nvCxnSpPr>
          <p:cNvPr id="29" name="Conector recto de flecha 28">
            <a:extLst>
              <a:ext uri="{FF2B5EF4-FFF2-40B4-BE49-F238E27FC236}">
                <a16:creationId xmlns:a16="http://schemas.microsoft.com/office/drawing/2014/main" id="{39400C6B-F5DC-64F2-9F5A-FC69E13B63F6}"/>
              </a:ext>
            </a:extLst>
          </p:cNvPr>
          <p:cNvCxnSpPr>
            <a:cxnSpLocks/>
          </p:cNvCxnSpPr>
          <p:nvPr/>
        </p:nvCxnSpPr>
        <p:spPr>
          <a:xfrm>
            <a:off x="9217056" y="3251905"/>
            <a:ext cx="0" cy="977195"/>
          </a:xfrm>
          <a:prstGeom prst="straightConnector1">
            <a:avLst/>
          </a:prstGeom>
          <a:ln w="41275">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32" name="Imagen 31" descr="Imagen que contiene Interfaz de usuario gráfica&#10;&#10;Descripción generada automáticamente">
            <a:extLst>
              <a:ext uri="{FF2B5EF4-FFF2-40B4-BE49-F238E27FC236}">
                <a16:creationId xmlns:a16="http://schemas.microsoft.com/office/drawing/2014/main" id="{5794B05D-AA16-A5EA-FEEF-9AF9FBF6215A}"/>
              </a:ext>
            </a:extLst>
          </p:cNvPr>
          <p:cNvPicPr>
            <a:picLocks noChangeAspect="1"/>
          </p:cNvPicPr>
          <p:nvPr/>
        </p:nvPicPr>
        <p:blipFill>
          <a:blip r:embed="rId4"/>
          <a:stretch>
            <a:fillRect/>
          </a:stretch>
        </p:blipFill>
        <p:spPr>
          <a:xfrm>
            <a:off x="118409" y="1338950"/>
            <a:ext cx="2142636" cy="1421136"/>
          </a:xfrm>
          <a:prstGeom prst="rect">
            <a:avLst/>
          </a:prstGeom>
        </p:spPr>
      </p:pic>
    </p:spTree>
    <p:extLst>
      <p:ext uri="{BB962C8B-B14F-4D97-AF65-F5344CB8AC3E}">
        <p14:creationId xmlns:p14="http://schemas.microsoft.com/office/powerpoint/2010/main" val="36298322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200" b="1" kern="0" dirty="0">
                <a:effectLst/>
                <a:latin typeface="Calibri" panose="020F0502020204030204" pitchFamily="34" charset="0"/>
                <a:ea typeface="Times New Roman" panose="02020603050405020304" pitchFamily="18" charset="0"/>
                <a:cs typeface="Times New Roman" panose="02020603050405020304" pitchFamily="18" charset="0"/>
              </a:rPr>
              <a:t>TRANSPARENCIA Y COMUNICACIÓN RESPONSABLE</a:t>
            </a:r>
            <a:endParaRPr lang="es-ES" sz="32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9645445" y="2918936"/>
            <a:ext cx="2330246" cy="3139321"/>
          </a:xfrm>
          <a:prstGeom prst="rect">
            <a:avLst/>
          </a:prstGeom>
          <a:solidFill>
            <a:schemeClr val="accent6">
              <a:lumMod val="20000"/>
              <a:lumOff val="80000"/>
            </a:schemeClr>
          </a:solidFill>
        </p:spPr>
        <p:txBody>
          <a:bodyPr wrap="square" rtlCol="0">
            <a:spAutoFit/>
          </a:bodyPr>
          <a:lstStyle/>
          <a:p>
            <a:r>
              <a:rPr lang="es-ES" dirty="0" err="1">
                <a:hlinkClick r:id="rId4"/>
              </a:rPr>
              <a:t>Applus</a:t>
            </a:r>
            <a:r>
              <a:rPr lang="es-ES" dirty="0"/>
              <a:t> es una empresa dedicada a la inspección, ensayos y certificación que ha sido reconocida por su sostenibilidad y por sus prácticas de comunicación responsable a través de su web y otros canales.</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10353012"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6" name="Imagen 5">
            <a:hlinkClick r:id="rId5"/>
            <a:extLst>
              <a:ext uri="{FF2B5EF4-FFF2-40B4-BE49-F238E27FC236}">
                <a16:creationId xmlns:a16="http://schemas.microsoft.com/office/drawing/2014/main" id="{1D600102-A915-5B1B-6F20-A14FC0806AA8}"/>
              </a:ext>
            </a:extLst>
          </p:cNvPr>
          <p:cNvPicPr>
            <a:picLocks noChangeAspect="1"/>
          </p:cNvPicPr>
          <p:nvPr/>
        </p:nvPicPr>
        <p:blipFill>
          <a:blip r:embed="rId6"/>
          <a:stretch>
            <a:fillRect/>
          </a:stretch>
        </p:blipFill>
        <p:spPr>
          <a:xfrm>
            <a:off x="216309" y="1376977"/>
            <a:ext cx="8932278" cy="5060277"/>
          </a:xfrm>
          <a:prstGeom prst="rect">
            <a:avLst/>
          </a:prstGeom>
        </p:spPr>
      </p:pic>
    </p:spTree>
    <p:extLst>
      <p:ext uri="{BB962C8B-B14F-4D97-AF65-F5344CB8AC3E}">
        <p14:creationId xmlns:p14="http://schemas.microsoft.com/office/powerpoint/2010/main" val="3195643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EJEMPLO DE GREENWASHING</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9437970" y="340111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8" name="Imagen 7">
            <a:hlinkClick r:id="rId4"/>
            <a:extLst>
              <a:ext uri="{FF2B5EF4-FFF2-40B4-BE49-F238E27FC236}">
                <a16:creationId xmlns:a16="http://schemas.microsoft.com/office/drawing/2014/main" id="{DCD50BF2-F7EF-454A-FA8C-2CCD930F1A0F}"/>
              </a:ext>
            </a:extLst>
          </p:cNvPr>
          <p:cNvPicPr>
            <a:picLocks noChangeAspect="1"/>
          </p:cNvPicPr>
          <p:nvPr/>
        </p:nvPicPr>
        <p:blipFill>
          <a:blip r:embed="rId5"/>
          <a:stretch>
            <a:fillRect/>
          </a:stretch>
        </p:blipFill>
        <p:spPr>
          <a:xfrm>
            <a:off x="216308" y="1471470"/>
            <a:ext cx="7644581" cy="4910887"/>
          </a:xfrm>
          <a:prstGeom prst="rect">
            <a:avLst/>
          </a:prstGeom>
        </p:spPr>
      </p:pic>
    </p:spTree>
    <p:extLst>
      <p:ext uri="{BB962C8B-B14F-4D97-AF65-F5344CB8AC3E}">
        <p14:creationId xmlns:p14="http://schemas.microsoft.com/office/powerpoint/2010/main" val="14614061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EJEMPLO DE GREENWASHING</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8643467" y="2623201"/>
            <a:ext cx="2794355" cy="3139321"/>
          </a:xfrm>
          <a:prstGeom prst="rect">
            <a:avLst/>
          </a:prstGeom>
          <a:solidFill>
            <a:schemeClr val="accent6">
              <a:lumMod val="20000"/>
              <a:lumOff val="80000"/>
            </a:schemeClr>
          </a:solidFill>
        </p:spPr>
        <p:txBody>
          <a:bodyPr wrap="square" rtlCol="0">
            <a:spAutoFit/>
          </a:bodyPr>
          <a:lstStyle/>
          <a:p>
            <a:r>
              <a:rPr lang="es-ES" dirty="0"/>
              <a:t>Ikea es la mayor consumidora de maderas del mundo y trata de dar una imagen de compromiso medioambiental. Sin embargo, una investigación de la ONG </a:t>
            </a:r>
            <a:r>
              <a:rPr lang="es-ES" dirty="0" err="1">
                <a:hlinkClick r:id="rId4"/>
              </a:rPr>
              <a:t>Earthsight</a:t>
            </a:r>
            <a:r>
              <a:rPr lang="es-ES" dirty="0"/>
              <a:t> la relacionó con la tala ilegal en Ucrania y en Rusia, madera que además figuraba como certificada.</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9370059" y="1538845"/>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6" name="Imagen 5">
            <a:hlinkClick r:id="rId5"/>
            <a:extLst>
              <a:ext uri="{FF2B5EF4-FFF2-40B4-BE49-F238E27FC236}">
                <a16:creationId xmlns:a16="http://schemas.microsoft.com/office/drawing/2014/main" id="{60966CF6-181B-2136-086C-BD6BB54B88DF}"/>
              </a:ext>
            </a:extLst>
          </p:cNvPr>
          <p:cNvPicPr>
            <a:picLocks noChangeAspect="1"/>
          </p:cNvPicPr>
          <p:nvPr/>
        </p:nvPicPr>
        <p:blipFill>
          <a:blip r:embed="rId6"/>
          <a:stretch>
            <a:fillRect/>
          </a:stretch>
        </p:blipFill>
        <p:spPr>
          <a:xfrm>
            <a:off x="238042" y="1363553"/>
            <a:ext cx="7449029" cy="5104620"/>
          </a:xfrm>
          <a:prstGeom prst="rect">
            <a:avLst/>
          </a:prstGeom>
        </p:spPr>
      </p:pic>
    </p:spTree>
    <p:extLst>
      <p:ext uri="{BB962C8B-B14F-4D97-AF65-F5344CB8AC3E}">
        <p14:creationId xmlns:p14="http://schemas.microsoft.com/office/powerpoint/2010/main" val="7334343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EJEMPLO DE SOCIAL WASHING</a:t>
            </a:r>
            <a:endParaRPr lang="es-ES" sz="40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8693349" y="2591630"/>
            <a:ext cx="2794355" cy="2585323"/>
          </a:xfrm>
          <a:prstGeom prst="rect">
            <a:avLst/>
          </a:prstGeom>
          <a:solidFill>
            <a:schemeClr val="accent6">
              <a:lumMod val="20000"/>
              <a:lumOff val="80000"/>
            </a:schemeClr>
          </a:solidFill>
        </p:spPr>
        <p:txBody>
          <a:bodyPr wrap="square" rtlCol="0">
            <a:spAutoFit/>
          </a:bodyPr>
          <a:lstStyle/>
          <a:p>
            <a:r>
              <a:rPr lang="es-ES" i="0" dirty="0">
                <a:solidFill>
                  <a:srgbClr val="333333"/>
                </a:solidFill>
                <a:effectLst/>
                <a:latin typeface="Inter"/>
              </a:rPr>
              <a:t>Inditex (Zara): </a:t>
            </a:r>
            <a:r>
              <a:rPr lang="es-ES" b="0" i="0" dirty="0">
                <a:solidFill>
                  <a:srgbClr val="333333"/>
                </a:solidFill>
                <a:effectLst/>
                <a:latin typeface="Inter"/>
              </a:rPr>
              <a:t>Aunque la empresa ha implementado iniciativas de sostenibilidad y responsabilidad social, se ha enfrentado a críticas por las condiciones laborales en sus fábricas y por la falta de transparencia en su cadena de suministro</a:t>
            </a:r>
            <a:r>
              <a:rPr lang="es-ES" dirty="0"/>
              <a:t>.</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9419942" y="1496208"/>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sp>
        <p:nvSpPr>
          <p:cNvPr id="4" name="CuadroTexto 3">
            <a:extLst>
              <a:ext uri="{FF2B5EF4-FFF2-40B4-BE49-F238E27FC236}">
                <a16:creationId xmlns:a16="http://schemas.microsoft.com/office/drawing/2014/main" id="{C72CEB96-AE5E-92DE-0DD0-5AE5B26C4232}"/>
              </a:ext>
            </a:extLst>
          </p:cNvPr>
          <p:cNvSpPr txBox="1"/>
          <p:nvPr/>
        </p:nvSpPr>
        <p:spPr>
          <a:xfrm>
            <a:off x="8756442" y="5743413"/>
            <a:ext cx="2668169" cy="369332"/>
          </a:xfrm>
          <a:prstGeom prst="rect">
            <a:avLst/>
          </a:prstGeom>
          <a:noFill/>
        </p:spPr>
        <p:txBody>
          <a:bodyPr wrap="square" rtlCol="0">
            <a:spAutoFit/>
          </a:bodyPr>
          <a:lstStyle/>
          <a:p>
            <a:pPr algn="ctr"/>
            <a:r>
              <a:rPr lang="es-ES" dirty="0">
                <a:hlinkClick r:id="rId4"/>
              </a:rPr>
              <a:t>Reportaje</a:t>
            </a:r>
            <a:endParaRPr lang="es-ES" dirty="0"/>
          </a:p>
        </p:txBody>
      </p:sp>
      <p:pic>
        <p:nvPicPr>
          <p:cNvPr id="10" name="Imagen 9">
            <a:hlinkClick r:id="rId5"/>
            <a:extLst>
              <a:ext uri="{FF2B5EF4-FFF2-40B4-BE49-F238E27FC236}">
                <a16:creationId xmlns:a16="http://schemas.microsoft.com/office/drawing/2014/main" id="{12DB6833-3ADA-8417-5560-DA5F578A3BF2}"/>
              </a:ext>
            </a:extLst>
          </p:cNvPr>
          <p:cNvPicPr>
            <a:picLocks noChangeAspect="1"/>
          </p:cNvPicPr>
          <p:nvPr/>
        </p:nvPicPr>
        <p:blipFill>
          <a:blip r:embed="rId6"/>
          <a:stretch>
            <a:fillRect/>
          </a:stretch>
        </p:blipFill>
        <p:spPr>
          <a:xfrm>
            <a:off x="379338" y="1451032"/>
            <a:ext cx="7897052" cy="3523500"/>
          </a:xfrm>
          <a:prstGeom prst="rect">
            <a:avLst/>
          </a:prstGeom>
        </p:spPr>
      </p:pic>
      <p:pic>
        <p:nvPicPr>
          <p:cNvPr id="8" name="Imagen 7">
            <a:hlinkClick r:id="rId7"/>
            <a:extLst>
              <a:ext uri="{FF2B5EF4-FFF2-40B4-BE49-F238E27FC236}">
                <a16:creationId xmlns:a16="http://schemas.microsoft.com/office/drawing/2014/main" id="{415F5350-BFC5-BF2F-1DA3-98A8079EE58D}"/>
              </a:ext>
            </a:extLst>
          </p:cNvPr>
          <p:cNvPicPr>
            <a:picLocks noChangeAspect="1"/>
          </p:cNvPicPr>
          <p:nvPr/>
        </p:nvPicPr>
        <p:blipFill>
          <a:blip r:embed="rId8"/>
          <a:stretch>
            <a:fillRect/>
          </a:stretch>
        </p:blipFill>
        <p:spPr>
          <a:xfrm>
            <a:off x="704295" y="5251895"/>
            <a:ext cx="7061221" cy="1279350"/>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29344790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POLÍTICA ANTICORRUPCIÓN Y ANTISOBORNO</a:t>
            </a:r>
            <a:endParaRPr lang="es-ES" sz="36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026" name="Picture 2" descr="Certifications, Accreditations and ISO standards | Keppel DC (Keppel ...">
            <a:extLst>
              <a:ext uri="{FF2B5EF4-FFF2-40B4-BE49-F238E27FC236}">
                <a16:creationId xmlns:a16="http://schemas.microsoft.com/office/drawing/2014/main" id="{81072D0B-0788-9184-97B5-4312B5DED8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819" y="2162341"/>
            <a:ext cx="1813165" cy="1859068"/>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diagonales redondeadas 3">
            <a:extLst>
              <a:ext uri="{FF2B5EF4-FFF2-40B4-BE49-F238E27FC236}">
                <a16:creationId xmlns:a16="http://schemas.microsoft.com/office/drawing/2014/main" id="{83323A2E-72CF-C9D9-C25F-B03A70CA8A38}"/>
              </a:ext>
            </a:extLst>
          </p:cNvPr>
          <p:cNvSpPr/>
          <p:nvPr/>
        </p:nvSpPr>
        <p:spPr>
          <a:xfrm>
            <a:off x="4457700" y="2205251"/>
            <a:ext cx="2990850" cy="653260"/>
          </a:xfrm>
          <a:prstGeom prst="round2DiagRect">
            <a:avLst>
              <a:gd name="adj1" fmla="val 31248"/>
              <a:gd name="adj2" fmla="val 0"/>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Empresa sostenible</a:t>
            </a:r>
          </a:p>
        </p:txBody>
      </p:sp>
      <p:sp>
        <p:nvSpPr>
          <p:cNvPr id="6" name="CuadroTexto 5">
            <a:extLst>
              <a:ext uri="{FF2B5EF4-FFF2-40B4-BE49-F238E27FC236}">
                <a16:creationId xmlns:a16="http://schemas.microsoft.com/office/drawing/2014/main" id="{3F72D310-3576-0699-592B-E9A4807C0023}"/>
              </a:ext>
            </a:extLst>
          </p:cNvPr>
          <p:cNvSpPr txBox="1"/>
          <p:nvPr/>
        </p:nvSpPr>
        <p:spPr>
          <a:xfrm>
            <a:off x="5181600" y="3675965"/>
            <a:ext cx="1543050" cy="646331"/>
          </a:xfrm>
          <a:prstGeom prst="rect">
            <a:avLst/>
          </a:prstGeom>
          <a:solidFill>
            <a:schemeClr val="tx2">
              <a:lumMod val="40000"/>
              <a:lumOff val="60000"/>
            </a:schemeClr>
          </a:solidFill>
        </p:spPr>
        <p:txBody>
          <a:bodyPr wrap="square" rtlCol="0">
            <a:spAutoFit/>
          </a:bodyPr>
          <a:lstStyle/>
          <a:p>
            <a:pPr algn="ctr"/>
            <a:r>
              <a:rPr lang="es-ES" dirty="0"/>
              <a:t>Implementa Políticas</a:t>
            </a:r>
          </a:p>
        </p:txBody>
      </p:sp>
      <p:sp>
        <p:nvSpPr>
          <p:cNvPr id="10" name="Rectángulo: esquinas diagonales redondeadas 9">
            <a:extLst>
              <a:ext uri="{FF2B5EF4-FFF2-40B4-BE49-F238E27FC236}">
                <a16:creationId xmlns:a16="http://schemas.microsoft.com/office/drawing/2014/main" id="{F976BB38-E0BB-FAE0-3F1E-EC1991634710}"/>
              </a:ext>
            </a:extLst>
          </p:cNvPr>
          <p:cNvSpPr/>
          <p:nvPr/>
        </p:nvSpPr>
        <p:spPr>
          <a:xfrm>
            <a:off x="2642235" y="5425433"/>
            <a:ext cx="2219325" cy="653260"/>
          </a:xfrm>
          <a:prstGeom prst="round2DiagRect">
            <a:avLst>
              <a:gd name="adj1" fmla="val 31248"/>
              <a:gd name="adj2" fmla="val 0"/>
            </a:avLst>
          </a:prstGeom>
          <a:solidFill>
            <a:schemeClr val="bg2">
              <a:lumMod val="1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Anticorrupción</a:t>
            </a:r>
          </a:p>
        </p:txBody>
      </p:sp>
      <p:sp>
        <p:nvSpPr>
          <p:cNvPr id="12" name="Rectángulo: esquinas diagonales redondeadas 11">
            <a:extLst>
              <a:ext uri="{FF2B5EF4-FFF2-40B4-BE49-F238E27FC236}">
                <a16:creationId xmlns:a16="http://schemas.microsoft.com/office/drawing/2014/main" id="{B3A6E1F6-68B1-9837-33E8-EEBE8CCD1478}"/>
              </a:ext>
            </a:extLst>
          </p:cNvPr>
          <p:cNvSpPr/>
          <p:nvPr/>
        </p:nvSpPr>
        <p:spPr>
          <a:xfrm>
            <a:off x="7029450" y="5398830"/>
            <a:ext cx="2219325" cy="653260"/>
          </a:xfrm>
          <a:prstGeom prst="round2DiagRect">
            <a:avLst>
              <a:gd name="adj1" fmla="val 31248"/>
              <a:gd name="adj2" fmla="val 0"/>
            </a:avLst>
          </a:prstGeom>
          <a:solidFill>
            <a:schemeClr val="bg2">
              <a:lumMod val="1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Antisoborno</a:t>
            </a:r>
          </a:p>
        </p:txBody>
      </p:sp>
      <p:cxnSp>
        <p:nvCxnSpPr>
          <p:cNvPr id="14" name="Conector recto de flecha 13">
            <a:extLst>
              <a:ext uri="{FF2B5EF4-FFF2-40B4-BE49-F238E27FC236}">
                <a16:creationId xmlns:a16="http://schemas.microsoft.com/office/drawing/2014/main" id="{B8ECB895-8135-3C70-CAAA-72A6C8AB78D1}"/>
              </a:ext>
            </a:extLst>
          </p:cNvPr>
          <p:cNvCxnSpPr>
            <a:stCxn id="4" idx="1"/>
            <a:endCxn id="6" idx="0"/>
          </p:cNvCxnSpPr>
          <p:nvPr/>
        </p:nvCxnSpPr>
        <p:spPr>
          <a:xfrm>
            <a:off x="5953125" y="2858511"/>
            <a:ext cx="0" cy="817454"/>
          </a:xfrm>
          <a:prstGeom prst="straightConnector1">
            <a:avLst/>
          </a:prstGeom>
          <a:ln w="4127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AAE62F12-9E02-7145-81DB-7D20EEE1EF59}"/>
              </a:ext>
            </a:extLst>
          </p:cNvPr>
          <p:cNvCxnSpPr>
            <a:cxnSpLocks/>
            <a:stCxn id="6" idx="2"/>
            <a:endCxn id="10" idx="3"/>
          </p:cNvCxnSpPr>
          <p:nvPr/>
        </p:nvCxnSpPr>
        <p:spPr>
          <a:xfrm flipH="1">
            <a:off x="3751898" y="4322296"/>
            <a:ext cx="2201227" cy="1103137"/>
          </a:xfrm>
          <a:prstGeom prst="straightConnector1">
            <a:avLst/>
          </a:prstGeom>
          <a:ln w="4127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9A619E4C-C079-4AD8-6DF4-7BAF027BCCA8}"/>
              </a:ext>
            </a:extLst>
          </p:cNvPr>
          <p:cNvCxnSpPr>
            <a:cxnSpLocks/>
            <a:stCxn id="6" idx="2"/>
            <a:endCxn id="12" idx="3"/>
          </p:cNvCxnSpPr>
          <p:nvPr/>
        </p:nvCxnSpPr>
        <p:spPr>
          <a:xfrm>
            <a:off x="5953125" y="4322296"/>
            <a:ext cx="2185988" cy="1076534"/>
          </a:xfrm>
          <a:prstGeom prst="straightConnector1">
            <a:avLst/>
          </a:prstGeom>
          <a:ln w="41275">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8" name="Imagen 7">
            <a:extLst>
              <a:ext uri="{FF2B5EF4-FFF2-40B4-BE49-F238E27FC236}">
                <a16:creationId xmlns:a16="http://schemas.microsoft.com/office/drawing/2014/main" id="{EAA46318-100A-E0B0-3F57-8410D8F9CED8}"/>
              </a:ext>
            </a:extLst>
          </p:cNvPr>
          <p:cNvPicPr>
            <a:picLocks noChangeAspect="1"/>
          </p:cNvPicPr>
          <p:nvPr/>
        </p:nvPicPr>
        <p:blipFill>
          <a:blip r:embed="rId5"/>
          <a:stretch>
            <a:fillRect/>
          </a:stretch>
        </p:blipFill>
        <p:spPr>
          <a:xfrm>
            <a:off x="9108489" y="2484117"/>
            <a:ext cx="2186994" cy="1515013"/>
          </a:xfrm>
          <a:prstGeom prst="rect">
            <a:avLst/>
          </a:prstGeom>
        </p:spPr>
      </p:pic>
      <p:sp>
        <p:nvSpPr>
          <p:cNvPr id="11" name="Elipse 10">
            <a:extLst>
              <a:ext uri="{FF2B5EF4-FFF2-40B4-BE49-F238E27FC236}">
                <a16:creationId xmlns:a16="http://schemas.microsoft.com/office/drawing/2014/main" id="{256C7FB3-E2D2-BF32-A682-F73C921AAE32}"/>
              </a:ext>
            </a:extLst>
          </p:cNvPr>
          <p:cNvSpPr/>
          <p:nvPr/>
        </p:nvSpPr>
        <p:spPr>
          <a:xfrm>
            <a:off x="8943975" y="1913949"/>
            <a:ext cx="2469043" cy="2469043"/>
          </a:xfrm>
          <a:prstGeom prst="ellipse">
            <a:avLst/>
          </a:prstGeom>
          <a:noFill/>
          <a:ln w="1016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6" name="Conector recto 15">
            <a:extLst>
              <a:ext uri="{FF2B5EF4-FFF2-40B4-BE49-F238E27FC236}">
                <a16:creationId xmlns:a16="http://schemas.microsoft.com/office/drawing/2014/main" id="{6A835FBD-8541-B0A7-0A97-0245D81C0BC4}"/>
              </a:ext>
            </a:extLst>
          </p:cNvPr>
          <p:cNvCxnSpPr>
            <a:stCxn id="11" idx="1"/>
            <a:endCxn id="11" idx="5"/>
          </p:cNvCxnSpPr>
          <p:nvPr/>
        </p:nvCxnSpPr>
        <p:spPr>
          <a:xfrm>
            <a:off x="9305558" y="2275532"/>
            <a:ext cx="1745877" cy="1745877"/>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8364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POLÍTICA ANTICORRUPCIÓN Y ANTISOBORNO</a:t>
            </a:r>
            <a:endParaRPr lang="es-ES" sz="36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9692640" y="3100916"/>
            <a:ext cx="2221784" cy="1754326"/>
          </a:xfrm>
          <a:prstGeom prst="rect">
            <a:avLst/>
          </a:prstGeom>
          <a:solidFill>
            <a:schemeClr val="accent6">
              <a:lumMod val="20000"/>
              <a:lumOff val="80000"/>
            </a:schemeClr>
          </a:solidFill>
        </p:spPr>
        <p:txBody>
          <a:bodyPr wrap="square" rtlCol="0">
            <a:spAutoFit/>
          </a:bodyPr>
          <a:lstStyle/>
          <a:p>
            <a:r>
              <a:rPr lang="es-ES" dirty="0"/>
              <a:t>Esta empresa ha implementado una política anticorrupción que detalla a través de su página web.</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10353012" y="1376977"/>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8" name="Imagen 7">
            <a:hlinkClick r:id="rId4"/>
            <a:extLst>
              <a:ext uri="{FF2B5EF4-FFF2-40B4-BE49-F238E27FC236}">
                <a16:creationId xmlns:a16="http://schemas.microsoft.com/office/drawing/2014/main" id="{BD083ED0-BB6A-C3ED-9BD1-589621C5B319}"/>
              </a:ext>
            </a:extLst>
          </p:cNvPr>
          <p:cNvPicPr>
            <a:picLocks noChangeAspect="1"/>
          </p:cNvPicPr>
          <p:nvPr/>
        </p:nvPicPr>
        <p:blipFill>
          <a:blip r:embed="rId5"/>
          <a:stretch>
            <a:fillRect/>
          </a:stretch>
        </p:blipFill>
        <p:spPr>
          <a:xfrm>
            <a:off x="57191" y="1561648"/>
            <a:ext cx="9387729" cy="4739196"/>
          </a:xfrm>
          <a:prstGeom prst="rect">
            <a:avLst/>
          </a:prstGeom>
        </p:spPr>
      </p:pic>
    </p:spTree>
    <p:extLst>
      <p:ext uri="{BB962C8B-B14F-4D97-AF65-F5344CB8AC3E}">
        <p14:creationId xmlns:p14="http://schemas.microsoft.com/office/powerpoint/2010/main" val="1844727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POLÍTICA ANTICORRUPCIÓN Y ANTISOBORNO</a:t>
            </a:r>
            <a:endParaRPr lang="es-ES" sz="36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hlinkClick r:id="rId4"/>
            <a:extLst>
              <a:ext uri="{FF2B5EF4-FFF2-40B4-BE49-F238E27FC236}">
                <a16:creationId xmlns:a16="http://schemas.microsoft.com/office/drawing/2014/main" id="{72A66ABD-8985-0BA8-E0FE-231EDB485728}"/>
              </a:ext>
            </a:extLst>
          </p:cNvPr>
          <p:cNvPicPr>
            <a:picLocks noChangeAspect="1"/>
          </p:cNvPicPr>
          <p:nvPr/>
        </p:nvPicPr>
        <p:blipFill>
          <a:blip r:embed="rId5"/>
          <a:stretch>
            <a:fillRect/>
          </a:stretch>
        </p:blipFill>
        <p:spPr>
          <a:xfrm>
            <a:off x="267677" y="3912892"/>
            <a:ext cx="6998589" cy="2945108"/>
          </a:xfrm>
          <a:prstGeom prst="rect">
            <a:avLst/>
          </a:prstGeom>
        </p:spPr>
      </p:pic>
      <p:pic>
        <p:nvPicPr>
          <p:cNvPr id="12" name="Imagen 11">
            <a:hlinkClick r:id="rId6"/>
            <a:extLst>
              <a:ext uri="{FF2B5EF4-FFF2-40B4-BE49-F238E27FC236}">
                <a16:creationId xmlns:a16="http://schemas.microsoft.com/office/drawing/2014/main" id="{75431B1E-9506-4954-6BEB-7A106868B7C0}"/>
              </a:ext>
            </a:extLst>
          </p:cNvPr>
          <p:cNvPicPr>
            <a:picLocks noChangeAspect="1"/>
          </p:cNvPicPr>
          <p:nvPr/>
        </p:nvPicPr>
        <p:blipFill>
          <a:blip r:embed="rId7"/>
          <a:stretch>
            <a:fillRect/>
          </a:stretch>
        </p:blipFill>
        <p:spPr>
          <a:xfrm>
            <a:off x="3518515" y="1428738"/>
            <a:ext cx="8673485" cy="3256207"/>
          </a:xfrm>
          <a:prstGeom prst="rect">
            <a:avLst/>
          </a:prstGeom>
        </p:spPr>
      </p:pic>
    </p:spTree>
    <p:extLst>
      <p:ext uri="{BB962C8B-B14F-4D97-AF65-F5344CB8AC3E}">
        <p14:creationId xmlns:p14="http://schemas.microsoft.com/office/powerpoint/2010/main" val="16277236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162232" y="420746"/>
            <a:ext cx="10190779" cy="1325563"/>
          </a:xfrm>
        </p:spPr>
        <p:txBody>
          <a:bodyPr>
            <a:normAutofit/>
          </a:bodyPr>
          <a:lstStyle/>
          <a:p>
            <a:r>
              <a:rPr lang="es-ES" sz="2800" b="1" kern="0" dirty="0">
                <a:effectLst/>
                <a:latin typeface="Calibri" panose="020F0502020204030204" pitchFamily="34" charset="0"/>
                <a:ea typeface="Times New Roman" panose="02020603050405020304" pitchFamily="18" charset="0"/>
                <a:cs typeface="Times New Roman" panose="02020603050405020304" pitchFamily="18" charset="0"/>
              </a:rPr>
              <a:t>RESPECTO A LA NORMATIVA Y CONTRIBUCIÓN A LOS IMPUESTOS</a:t>
            </a:r>
            <a:endParaRPr lang="es-ES" sz="28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4" name="Rectángulo: esquinas diagonales redondeadas 3">
            <a:extLst>
              <a:ext uri="{FF2B5EF4-FFF2-40B4-BE49-F238E27FC236}">
                <a16:creationId xmlns:a16="http://schemas.microsoft.com/office/drawing/2014/main" id="{AFD1B0B1-D7D0-E887-3854-15B50DA11D01}"/>
              </a:ext>
            </a:extLst>
          </p:cNvPr>
          <p:cNvSpPr/>
          <p:nvPr/>
        </p:nvSpPr>
        <p:spPr>
          <a:xfrm>
            <a:off x="4457700" y="2094761"/>
            <a:ext cx="2990850" cy="653260"/>
          </a:xfrm>
          <a:prstGeom prst="round2DiagRect">
            <a:avLst>
              <a:gd name="adj1" fmla="val 31248"/>
              <a:gd name="adj2" fmla="val 0"/>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Empresa sostenible</a:t>
            </a:r>
          </a:p>
        </p:txBody>
      </p:sp>
      <p:sp>
        <p:nvSpPr>
          <p:cNvPr id="6" name="CuadroTexto 5">
            <a:extLst>
              <a:ext uri="{FF2B5EF4-FFF2-40B4-BE49-F238E27FC236}">
                <a16:creationId xmlns:a16="http://schemas.microsoft.com/office/drawing/2014/main" id="{3B454F61-9177-CF55-1E9E-BB458CAA3580}"/>
              </a:ext>
            </a:extLst>
          </p:cNvPr>
          <p:cNvSpPr txBox="1"/>
          <p:nvPr/>
        </p:nvSpPr>
        <p:spPr>
          <a:xfrm>
            <a:off x="5181600" y="3352115"/>
            <a:ext cx="1543050" cy="584775"/>
          </a:xfrm>
          <a:prstGeom prst="rect">
            <a:avLst/>
          </a:prstGeom>
          <a:solidFill>
            <a:schemeClr val="accent4">
              <a:lumMod val="60000"/>
              <a:lumOff val="40000"/>
            </a:schemeClr>
          </a:solidFill>
        </p:spPr>
        <p:txBody>
          <a:bodyPr wrap="square" rtlCol="0">
            <a:spAutoFit/>
          </a:bodyPr>
          <a:lstStyle/>
          <a:p>
            <a:pPr algn="ctr"/>
            <a:r>
              <a:rPr lang="es-ES" sz="3200" b="1" dirty="0"/>
              <a:t>ESG</a:t>
            </a:r>
          </a:p>
        </p:txBody>
      </p:sp>
      <p:sp>
        <p:nvSpPr>
          <p:cNvPr id="10" name="Rectángulo: esquinas diagonales redondeadas 9">
            <a:extLst>
              <a:ext uri="{FF2B5EF4-FFF2-40B4-BE49-F238E27FC236}">
                <a16:creationId xmlns:a16="http://schemas.microsoft.com/office/drawing/2014/main" id="{0C8C9B1B-FD9D-AB02-4F09-33F1DDD0EAE4}"/>
              </a:ext>
            </a:extLst>
          </p:cNvPr>
          <p:cNvSpPr/>
          <p:nvPr/>
        </p:nvSpPr>
        <p:spPr>
          <a:xfrm>
            <a:off x="2352675" y="4918703"/>
            <a:ext cx="2219325" cy="1223822"/>
          </a:xfrm>
          <a:prstGeom prst="round2DiagRect">
            <a:avLst>
              <a:gd name="adj1" fmla="val 31248"/>
              <a:gd name="adj2" fmla="val 0"/>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Respeto riguroso a la normativa</a:t>
            </a:r>
          </a:p>
        </p:txBody>
      </p:sp>
      <p:sp>
        <p:nvSpPr>
          <p:cNvPr id="13" name="Rectángulo: esquinas diagonales redondeadas 12">
            <a:extLst>
              <a:ext uri="{FF2B5EF4-FFF2-40B4-BE49-F238E27FC236}">
                <a16:creationId xmlns:a16="http://schemas.microsoft.com/office/drawing/2014/main" id="{8D2497A3-E9A6-36E0-FFA9-BE730267F391}"/>
              </a:ext>
            </a:extLst>
          </p:cNvPr>
          <p:cNvSpPr/>
          <p:nvPr/>
        </p:nvSpPr>
        <p:spPr>
          <a:xfrm>
            <a:off x="7334250" y="4892099"/>
            <a:ext cx="2219325" cy="1250425"/>
          </a:xfrm>
          <a:prstGeom prst="round2DiagRect">
            <a:avLst>
              <a:gd name="adj1" fmla="val 31248"/>
              <a:gd name="adj2" fmla="val 0"/>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Al corriente del pago de impuestos y sin evasión fiscal</a:t>
            </a:r>
          </a:p>
        </p:txBody>
      </p:sp>
      <p:cxnSp>
        <p:nvCxnSpPr>
          <p:cNvPr id="14" name="Conector recto de flecha 13">
            <a:extLst>
              <a:ext uri="{FF2B5EF4-FFF2-40B4-BE49-F238E27FC236}">
                <a16:creationId xmlns:a16="http://schemas.microsoft.com/office/drawing/2014/main" id="{E5E3B93B-5F63-0BB1-C552-8A09FF89FE8A}"/>
              </a:ext>
            </a:extLst>
          </p:cNvPr>
          <p:cNvCxnSpPr>
            <a:stCxn id="4" idx="1"/>
            <a:endCxn id="6" idx="0"/>
          </p:cNvCxnSpPr>
          <p:nvPr/>
        </p:nvCxnSpPr>
        <p:spPr>
          <a:xfrm>
            <a:off x="5953125" y="2748021"/>
            <a:ext cx="0" cy="604094"/>
          </a:xfrm>
          <a:prstGeom prst="straightConnector1">
            <a:avLst/>
          </a:prstGeom>
          <a:ln w="41275">
            <a:solidFill>
              <a:schemeClr val="accent2">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67443843-AD44-1A17-AAD7-B0FCCBD72D05}"/>
              </a:ext>
            </a:extLst>
          </p:cNvPr>
          <p:cNvCxnSpPr>
            <a:cxnSpLocks/>
            <a:stCxn id="6" idx="2"/>
            <a:endCxn id="10" idx="3"/>
          </p:cNvCxnSpPr>
          <p:nvPr/>
        </p:nvCxnSpPr>
        <p:spPr>
          <a:xfrm flipH="1">
            <a:off x="3462338" y="3936890"/>
            <a:ext cx="2490787" cy="981813"/>
          </a:xfrm>
          <a:prstGeom prst="straightConnector1">
            <a:avLst/>
          </a:prstGeom>
          <a:ln w="41275">
            <a:solidFill>
              <a:schemeClr val="accent2">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97C3F3BE-E098-95A2-70F8-AC18316BE62A}"/>
              </a:ext>
            </a:extLst>
          </p:cNvPr>
          <p:cNvCxnSpPr>
            <a:cxnSpLocks/>
            <a:stCxn id="6" idx="2"/>
            <a:endCxn id="13" idx="3"/>
          </p:cNvCxnSpPr>
          <p:nvPr/>
        </p:nvCxnSpPr>
        <p:spPr>
          <a:xfrm>
            <a:off x="5953125" y="3936890"/>
            <a:ext cx="2490788" cy="955209"/>
          </a:xfrm>
          <a:prstGeom prst="straightConnector1">
            <a:avLst/>
          </a:prstGeom>
          <a:ln w="41275">
            <a:solidFill>
              <a:schemeClr val="accent2">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Marcador de contenido 2">
            <a:extLst>
              <a:ext uri="{FF2B5EF4-FFF2-40B4-BE49-F238E27FC236}">
                <a16:creationId xmlns:a16="http://schemas.microsoft.com/office/drawing/2014/main" id="{1AC56F1F-6B6F-DD43-3DB9-E734ED5D9159}"/>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8" name="Imagen 17">
            <a:extLst>
              <a:ext uri="{FF2B5EF4-FFF2-40B4-BE49-F238E27FC236}">
                <a16:creationId xmlns:a16="http://schemas.microsoft.com/office/drawing/2014/main" id="{DA50E96D-FA99-6CAD-2950-FC54C06AB2C0}"/>
              </a:ext>
            </a:extLst>
          </p:cNvPr>
          <p:cNvPicPr>
            <a:picLocks noChangeAspect="1"/>
          </p:cNvPicPr>
          <p:nvPr/>
        </p:nvPicPr>
        <p:blipFill>
          <a:blip r:embed="rId4"/>
          <a:stretch>
            <a:fillRect/>
          </a:stretch>
        </p:blipFill>
        <p:spPr>
          <a:xfrm>
            <a:off x="342332" y="1501465"/>
            <a:ext cx="4067743" cy="2867425"/>
          </a:xfrm>
          <a:prstGeom prst="rect">
            <a:avLst/>
          </a:prstGeom>
        </p:spPr>
      </p:pic>
      <p:pic>
        <p:nvPicPr>
          <p:cNvPr id="21" name="Imagen 20">
            <a:extLst>
              <a:ext uri="{FF2B5EF4-FFF2-40B4-BE49-F238E27FC236}">
                <a16:creationId xmlns:a16="http://schemas.microsoft.com/office/drawing/2014/main" id="{2C7D252A-3621-65DF-08A5-5BB31AC8EE52}"/>
              </a:ext>
            </a:extLst>
          </p:cNvPr>
          <p:cNvPicPr>
            <a:picLocks noChangeAspect="1"/>
          </p:cNvPicPr>
          <p:nvPr/>
        </p:nvPicPr>
        <p:blipFill>
          <a:blip r:embed="rId5"/>
          <a:stretch>
            <a:fillRect/>
          </a:stretch>
        </p:blipFill>
        <p:spPr>
          <a:xfrm>
            <a:off x="8991600" y="2117953"/>
            <a:ext cx="2407516" cy="1878153"/>
          </a:xfrm>
          <a:prstGeom prst="rect">
            <a:avLst/>
          </a:prstGeom>
        </p:spPr>
      </p:pic>
      <p:sp>
        <p:nvSpPr>
          <p:cNvPr id="22" name="Elipse 21">
            <a:extLst>
              <a:ext uri="{FF2B5EF4-FFF2-40B4-BE49-F238E27FC236}">
                <a16:creationId xmlns:a16="http://schemas.microsoft.com/office/drawing/2014/main" id="{47008DE9-B7A9-EE47-3D99-0E269CCB6EE9}"/>
              </a:ext>
            </a:extLst>
          </p:cNvPr>
          <p:cNvSpPr/>
          <p:nvPr/>
        </p:nvSpPr>
        <p:spPr>
          <a:xfrm>
            <a:off x="8943975" y="1822509"/>
            <a:ext cx="2469043" cy="2469043"/>
          </a:xfrm>
          <a:prstGeom prst="ellipse">
            <a:avLst/>
          </a:prstGeom>
          <a:noFill/>
          <a:ln w="1016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3" name="Conector recto 22">
            <a:extLst>
              <a:ext uri="{FF2B5EF4-FFF2-40B4-BE49-F238E27FC236}">
                <a16:creationId xmlns:a16="http://schemas.microsoft.com/office/drawing/2014/main" id="{F1AAA446-BB41-24EB-FFB4-AB67790C9E2C}"/>
              </a:ext>
            </a:extLst>
          </p:cNvPr>
          <p:cNvCxnSpPr>
            <a:stCxn id="22" idx="1"/>
            <a:endCxn id="22" idx="5"/>
          </p:cNvCxnSpPr>
          <p:nvPr/>
        </p:nvCxnSpPr>
        <p:spPr>
          <a:xfrm>
            <a:off x="9305558" y="2184092"/>
            <a:ext cx="1745877" cy="1745877"/>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35038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162232" y="420746"/>
            <a:ext cx="10190779" cy="1325563"/>
          </a:xfrm>
        </p:spPr>
        <p:txBody>
          <a:bodyPr>
            <a:normAutofit/>
          </a:bodyPr>
          <a:lstStyle/>
          <a:p>
            <a:r>
              <a:rPr lang="es-ES" sz="2800" b="1" kern="0" dirty="0">
                <a:effectLst/>
                <a:latin typeface="Calibri" panose="020F0502020204030204" pitchFamily="34" charset="0"/>
                <a:ea typeface="Times New Roman" panose="02020603050405020304" pitchFamily="18" charset="0"/>
                <a:cs typeface="Times New Roman" panose="02020603050405020304" pitchFamily="18" charset="0"/>
              </a:rPr>
              <a:t>RESPECTO A LA NORMATIVA Y CONTRIBUCIÓN A LOS IMPUESTOS</a:t>
            </a:r>
            <a:endParaRPr lang="es-ES" sz="28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7233674" y="1951672"/>
            <a:ext cx="2861864" cy="1477328"/>
          </a:xfrm>
          <a:prstGeom prst="rect">
            <a:avLst/>
          </a:prstGeom>
          <a:solidFill>
            <a:schemeClr val="accent6">
              <a:lumMod val="20000"/>
              <a:lumOff val="80000"/>
            </a:schemeClr>
          </a:solidFill>
        </p:spPr>
        <p:txBody>
          <a:bodyPr wrap="square" rtlCol="0">
            <a:spAutoFit/>
          </a:bodyPr>
          <a:lstStyle/>
          <a:p>
            <a:r>
              <a:rPr lang="es-ES" dirty="0"/>
              <a:t>La práctica de la evasión fiscal perjudica al conjunto de la sociedad porque pierde todo lo que se deja de recaudar</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10353011" y="2505670"/>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8" name="Imagen 7">
            <a:hlinkClick r:id="rId4"/>
            <a:extLst>
              <a:ext uri="{FF2B5EF4-FFF2-40B4-BE49-F238E27FC236}">
                <a16:creationId xmlns:a16="http://schemas.microsoft.com/office/drawing/2014/main" id="{71382CB8-6D21-3B89-FA09-521906B69845}"/>
              </a:ext>
            </a:extLst>
          </p:cNvPr>
          <p:cNvPicPr>
            <a:picLocks noChangeAspect="1"/>
          </p:cNvPicPr>
          <p:nvPr/>
        </p:nvPicPr>
        <p:blipFill>
          <a:blip r:embed="rId5"/>
          <a:stretch>
            <a:fillRect/>
          </a:stretch>
        </p:blipFill>
        <p:spPr>
          <a:xfrm>
            <a:off x="415915" y="1376977"/>
            <a:ext cx="5725324" cy="4391638"/>
          </a:xfrm>
          <a:prstGeom prst="rect">
            <a:avLst/>
          </a:prstGeom>
        </p:spPr>
      </p:pic>
      <p:pic>
        <p:nvPicPr>
          <p:cNvPr id="12" name="Imagen 11">
            <a:hlinkClick r:id="rId6"/>
            <a:extLst>
              <a:ext uri="{FF2B5EF4-FFF2-40B4-BE49-F238E27FC236}">
                <a16:creationId xmlns:a16="http://schemas.microsoft.com/office/drawing/2014/main" id="{EC35BDA8-2C78-CB8A-A4E2-DB422EFCE822}"/>
              </a:ext>
            </a:extLst>
          </p:cNvPr>
          <p:cNvPicPr>
            <a:picLocks noChangeAspect="1"/>
          </p:cNvPicPr>
          <p:nvPr/>
        </p:nvPicPr>
        <p:blipFill>
          <a:blip r:embed="rId7"/>
          <a:stretch>
            <a:fillRect/>
          </a:stretch>
        </p:blipFill>
        <p:spPr>
          <a:xfrm>
            <a:off x="6488949" y="3661254"/>
            <a:ext cx="5182548" cy="2806919"/>
          </a:xfrm>
          <a:prstGeom prst="rect">
            <a:avLst/>
          </a:prstGeom>
        </p:spPr>
      </p:pic>
    </p:spTree>
    <p:extLst>
      <p:ext uri="{BB962C8B-B14F-4D97-AF65-F5344CB8AC3E}">
        <p14:creationId xmlns:p14="http://schemas.microsoft.com/office/powerpoint/2010/main" val="24981610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600" b="1" kern="0">
                <a:effectLst/>
                <a:latin typeface="Calibri" panose="020F0502020204030204" pitchFamily="34" charset="0"/>
                <a:ea typeface="Times New Roman" panose="02020603050405020304" pitchFamily="18" charset="0"/>
                <a:cs typeface="Times New Roman" panose="02020603050405020304" pitchFamily="18" charset="0"/>
              </a:rPr>
              <a:t>ESTRATEGIAS </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DE PRESIÓN POLÍTICA</a:t>
            </a:r>
            <a:endParaRPr lang="es-ES" sz="36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8" name="Imagen 7">
            <a:extLst>
              <a:ext uri="{FF2B5EF4-FFF2-40B4-BE49-F238E27FC236}">
                <a16:creationId xmlns:a16="http://schemas.microsoft.com/office/drawing/2014/main" id="{325C24B9-B63C-5C37-D2CA-495800B18145}"/>
              </a:ext>
            </a:extLst>
          </p:cNvPr>
          <p:cNvPicPr>
            <a:picLocks noChangeAspect="1"/>
          </p:cNvPicPr>
          <p:nvPr/>
        </p:nvPicPr>
        <p:blipFill>
          <a:blip r:embed="rId4"/>
          <a:stretch>
            <a:fillRect/>
          </a:stretch>
        </p:blipFill>
        <p:spPr>
          <a:xfrm>
            <a:off x="2771458" y="2253893"/>
            <a:ext cx="1381442" cy="1386616"/>
          </a:xfrm>
          <a:prstGeom prst="rect">
            <a:avLst/>
          </a:prstGeom>
        </p:spPr>
      </p:pic>
      <p:sp>
        <p:nvSpPr>
          <p:cNvPr id="12" name="CuadroTexto 11">
            <a:extLst>
              <a:ext uri="{FF2B5EF4-FFF2-40B4-BE49-F238E27FC236}">
                <a16:creationId xmlns:a16="http://schemas.microsoft.com/office/drawing/2014/main" id="{C398DF33-C6BE-F43F-BA2E-76674E826941}"/>
              </a:ext>
            </a:extLst>
          </p:cNvPr>
          <p:cNvSpPr txBox="1"/>
          <p:nvPr/>
        </p:nvSpPr>
        <p:spPr>
          <a:xfrm>
            <a:off x="4327196" y="2278970"/>
            <a:ext cx="5010150" cy="1323439"/>
          </a:xfrm>
          <a:prstGeom prst="rect">
            <a:avLst/>
          </a:prstGeom>
          <a:noFill/>
        </p:spPr>
        <p:txBody>
          <a:bodyPr wrap="square">
            <a:spAutoFit/>
          </a:bodyPr>
          <a:lstStyle/>
          <a:p>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Los lobbies son conjuntos de personas o empresas con un interés común que se unen para ejercer influencia sobre los poderes públicos</a:t>
            </a:r>
            <a:endParaRPr lang="es-ES" sz="2000" dirty="0"/>
          </a:p>
        </p:txBody>
      </p:sp>
      <p:sp>
        <p:nvSpPr>
          <p:cNvPr id="13" name="Rectángulo 12">
            <a:extLst>
              <a:ext uri="{FF2B5EF4-FFF2-40B4-BE49-F238E27FC236}">
                <a16:creationId xmlns:a16="http://schemas.microsoft.com/office/drawing/2014/main" id="{BCD72059-46DE-60C5-BE5B-EF9A2C945DD7}"/>
              </a:ext>
            </a:extLst>
          </p:cNvPr>
          <p:cNvSpPr/>
          <p:nvPr/>
        </p:nvSpPr>
        <p:spPr>
          <a:xfrm>
            <a:off x="2190750" y="1981200"/>
            <a:ext cx="7146596" cy="1847850"/>
          </a:xfrm>
          <a:prstGeom prst="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Flecha: doblada 13">
            <a:extLst>
              <a:ext uri="{FF2B5EF4-FFF2-40B4-BE49-F238E27FC236}">
                <a16:creationId xmlns:a16="http://schemas.microsoft.com/office/drawing/2014/main" id="{0787FB80-3CEF-E713-8DA6-933E876582C5}"/>
              </a:ext>
            </a:extLst>
          </p:cNvPr>
          <p:cNvSpPr/>
          <p:nvPr/>
        </p:nvSpPr>
        <p:spPr>
          <a:xfrm flipV="1">
            <a:off x="5030623" y="3987741"/>
            <a:ext cx="1466850" cy="1847850"/>
          </a:xfrm>
          <a:prstGeom prst="bentArrow">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16" name="Imagen 15">
            <a:extLst>
              <a:ext uri="{FF2B5EF4-FFF2-40B4-BE49-F238E27FC236}">
                <a16:creationId xmlns:a16="http://schemas.microsoft.com/office/drawing/2014/main" id="{36E41D7A-6169-FD25-3DA4-B41DB95D8F23}"/>
              </a:ext>
            </a:extLst>
          </p:cNvPr>
          <p:cNvPicPr>
            <a:picLocks noChangeAspect="1"/>
          </p:cNvPicPr>
          <p:nvPr/>
        </p:nvPicPr>
        <p:blipFill>
          <a:blip r:embed="rId5"/>
          <a:stretch>
            <a:fillRect/>
          </a:stretch>
        </p:blipFill>
        <p:spPr>
          <a:xfrm>
            <a:off x="6591302" y="4447163"/>
            <a:ext cx="1867161" cy="1619476"/>
          </a:xfrm>
          <a:prstGeom prst="rect">
            <a:avLst/>
          </a:prstGeom>
        </p:spPr>
      </p:pic>
      <p:sp>
        <p:nvSpPr>
          <p:cNvPr id="17" name="CuadroTexto 16">
            <a:extLst>
              <a:ext uri="{FF2B5EF4-FFF2-40B4-BE49-F238E27FC236}">
                <a16:creationId xmlns:a16="http://schemas.microsoft.com/office/drawing/2014/main" id="{7A407FBD-6AD7-BC03-EFBF-D7ACF28F3829}"/>
              </a:ext>
            </a:extLst>
          </p:cNvPr>
          <p:cNvSpPr txBox="1"/>
          <p:nvPr/>
        </p:nvSpPr>
        <p:spPr>
          <a:xfrm>
            <a:off x="2952751" y="4471283"/>
            <a:ext cx="1984044" cy="461665"/>
          </a:xfrm>
          <a:prstGeom prst="rect">
            <a:avLst/>
          </a:prstGeom>
          <a:noFill/>
        </p:spPr>
        <p:txBody>
          <a:bodyPr wrap="square" rtlCol="0">
            <a:spAutoFit/>
          </a:bodyPr>
          <a:lstStyle/>
          <a:p>
            <a:r>
              <a:rPr lang="es-ES" sz="2400" b="1" dirty="0"/>
              <a:t>Incompatible</a:t>
            </a:r>
          </a:p>
        </p:txBody>
      </p:sp>
    </p:spTree>
    <p:extLst>
      <p:ext uri="{BB962C8B-B14F-4D97-AF65-F5344CB8AC3E}">
        <p14:creationId xmlns:p14="http://schemas.microsoft.com/office/powerpoint/2010/main" val="36422896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497819" y="420746"/>
            <a:ext cx="9542826" cy="1325563"/>
          </a:xfrm>
        </p:spPr>
        <p:txBody>
          <a:bodyPr>
            <a:normAutofit/>
          </a:bodyPr>
          <a:lstStyle/>
          <a:p>
            <a:r>
              <a:rPr lang="es-ES" sz="3600" b="1" kern="0">
                <a:effectLst/>
                <a:latin typeface="Calibri" panose="020F0502020204030204" pitchFamily="34" charset="0"/>
                <a:ea typeface="Times New Roman" panose="02020603050405020304" pitchFamily="18" charset="0"/>
                <a:cs typeface="Times New Roman" panose="02020603050405020304" pitchFamily="18" charset="0"/>
              </a:rPr>
              <a:t>ESTRATEGIAS </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DE PRESIÓN POLÍTICA</a:t>
            </a:r>
            <a:endParaRPr lang="es-ES" sz="3600"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CuadroTexto 10">
            <a:extLst>
              <a:ext uri="{FF2B5EF4-FFF2-40B4-BE49-F238E27FC236}">
                <a16:creationId xmlns:a16="http://schemas.microsoft.com/office/drawing/2014/main" id="{0AA882BD-AC57-3D4F-089C-92355280F9F2}"/>
              </a:ext>
            </a:extLst>
          </p:cNvPr>
          <p:cNvSpPr txBox="1"/>
          <p:nvPr/>
        </p:nvSpPr>
        <p:spPr>
          <a:xfrm>
            <a:off x="9108489" y="2618701"/>
            <a:ext cx="2861864" cy="2862322"/>
          </a:xfrm>
          <a:prstGeom prst="rect">
            <a:avLst/>
          </a:prstGeom>
          <a:solidFill>
            <a:schemeClr val="accent6">
              <a:lumMod val="20000"/>
              <a:lumOff val="80000"/>
            </a:schemeClr>
          </a:solidFill>
        </p:spPr>
        <p:txBody>
          <a:bodyPr wrap="square" rtlCol="0">
            <a:spAutoFit/>
          </a:bodyPr>
          <a:lstStyle/>
          <a:p>
            <a:r>
              <a:rPr lang="es-ES" dirty="0"/>
              <a:t>Las grandes empresas tecnológicas han incrementado sus esfuerzos para hacer presión en la Comisión Europea ante la aprobación de la Ley de Servicios Digitales (DSA) y la Ley de Mercados Digitales (DMA), que les resultan perjudiciales.</a:t>
            </a:r>
          </a:p>
        </p:txBody>
      </p:sp>
      <p:sp>
        <p:nvSpPr>
          <p:cNvPr id="3" name="CuadroTexto 2">
            <a:extLst>
              <a:ext uri="{FF2B5EF4-FFF2-40B4-BE49-F238E27FC236}">
                <a16:creationId xmlns:a16="http://schemas.microsoft.com/office/drawing/2014/main" id="{E954AC37-ACBA-CA37-67D5-532F568BBE4B}"/>
              </a:ext>
            </a:extLst>
          </p:cNvPr>
          <p:cNvSpPr txBox="1"/>
          <p:nvPr/>
        </p:nvSpPr>
        <p:spPr>
          <a:xfrm>
            <a:off x="9868836" y="1644310"/>
            <a:ext cx="1341169" cy="36933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ctr"/>
            <a:r>
              <a:rPr lang="es-ES" b="1" dirty="0">
                <a:solidFill>
                  <a:schemeClr val="tx1">
                    <a:lumMod val="85000"/>
                    <a:lumOff val="15000"/>
                  </a:schemeClr>
                </a:solidFill>
              </a:rPr>
              <a:t>EJEMPLO</a:t>
            </a:r>
          </a:p>
        </p:txBody>
      </p:sp>
      <p:pic>
        <p:nvPicPr>
          <p:cNvPr id="6" name="Imagen 5">
            <a:hlinkClick r:id="rId4"/>
            <a:extLst>
              <a:ext uri="{FF2B5EF4-FFF2-40B4-BE49-F238E27FC236}">
                <a16:creationId xmlns:a16="http://schemas.microsoft.com/office/drawing/2014/main" id="{B8078BCA-4199-9B10-9055-AB2A33C4AC8D}"/>
              </a:ext>
            </a:extLst>
          </p:cNvPr>
          <p:cNvPicPr>
            <a:picLocks noChangeAspect="1"/>
          </p:cNvPicPr>
          <p:nvPr/>
        </p:nvPicPr>
        <p:blipFill>
          <a:blip r:embed="rId5"/>
          <a:stretch>
            <a:fillRect/>
          </a:stretch>
        </p:blipFill>
        <p:spPr>
          <a:xfrm>
            <a:off x="277576" y="1561642"/>
            <a:ext cx="8323607" cy="4411967"/>
          </a:xfrm>
          <a:prstGeom prst="rect">
            <a:avLst/>
          </a:prstGeom>
        </p:spPr>
      </p:pic>
    </p:spTree>
    <p:extLst>
      <p:ext uri="{BB962C8B-B14F-4D97-AF65-F5344CB8AC3E}">
        <p14:creationId xmlns:p14="http://schemas.microsoft.com/office/powerpoint/2010/main" val="27255634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4.6. MEDIDA Y EVALUACIÓN DE LAS ESTRATEGIAS ESG O ASG</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5291974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C88A6B19-C83A-2051-08E4-6B61F44585AF}"/>
              </a:ext>
            </a:extLst>
          </p:cNvPr>
          <p:cNvPicPr>
            <a:picLocks noChangeAspect="1"/>
          </p:cNvPicPr>
          <p:nvPr/>
        </p:nvPicPr>
        <p:blipFill>
          <a:blip r:embed="rId3"/>
          <a:stretch>
            <a:fillRect/>
          </a:stretch>
        </p:blipFill>
        <p:spPr>
          <a:xfrm>
            <a:off x="3448051" y="1167229"/>
            <a:ext cx="5254656" cy="5690771"/>
          </a:xfrm>
          <a:prstGeom prst="rect">
            <a:avLst/>
          </a:prstGeom>
        </p:spPr>
      </p:pic>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MEDIDA ESTRATEGIAS ESG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1" name="Rectángulo 10">
            <a:extLst>
              <a:ext uri="{FF2B5EF4-FFF2-40B4-BE49-F238E27FC236}">
                <a16:creationId xmlns:a16="http://schemas.microsoft.com/office/drawing/2014/main" id="{EF833772-1EF1-AE66-995A-7F22BBA1F2AF}"/>
              </a:ext>
            </a:extLst>
          </p:cNvPr>
          <p:cNvSpPr/>
          <p:nvPr/>
        </p:nvSpPr>
        <p:spPr>
          <a:xfrm>
            <a:off x="8553450" y="2295525"/>
            <a:ext cx="314325" cy="5238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9093248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MEDIDA IMPACTO ESTRATEGIAS ESG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extLst>
              <a:ext uri="{FF2B5EF4-FFF2-40B4-BE49-F238E27FC236}">
                <a16:creationId xmlns:a16="http://schemas.microsoft.com/office/drawing/2014/main" id="{E0AC7754-5B45-038E-6E5E-104E316CE162}"/>
              </a:ext>
            </a:extLst>
          </p:cNvPr>
          <p:cNvPicPr>
            <a:picLocks noChangeAspect="1"/>
          </p:cNvPicPr>
          <p:nvPr/>
        </p:nvPicPr>
        <p:blipFill>
          <a:blip r:embed="rId4"/>
          <a:stretch>
            <a:fillRect/>
          </a:stretch>
        </p:blipFill>
        <p:spPr>
          <a:xfrm>
            <a:off x="9102569" y="3116802"/>
            <a:ext cx="2067213" cy="1867161"/>
          </a:xfrm>
          <a:prstGeom prst="rect">
            <a:avLst/>
          </a:prstGeom>
        </p:spPr>
      </p:pic>
      <p:pic>
        <p:nvPicPr>
          <p:cNvPr id="6" name="Imagen 5">
            <a:extLst>
              <a:ext uri="{FF2B5EF4-FFF2-40B4-BE49-F238E27FC236}">
                <a16:creationId xmlns:a16="http://schemas.microsoft.com/office/drawing/2014/main" id="{146E9154-8F56-2B69-4EF1-8970A0ED7E51}"/>
              </a:ext>
            </a:extLst>
          </p:cNvPr>
          <p:cNvPicPr>
            <a:picLocks noChangeAspect="1"/>
          </p:cNvPicPr>
          <p:nvPr/>
        </p:nvPicPr>
        <p:blipFill>
          <a:blip r:embed="rId5"/>
          <a:stretch>
            <a:fillRect/>
          </a:stretch>
        </p:blipFill>
        <p:spPr>
          <a:xfrm>
            <a:off x="3637414" y="1750189"/>
            <a:ext cx="2638793" cy="2076740"/>
          </a:xfrm>
          <a:prstGeom prst="rect">
            <a:avLst/>
          </a:prstGeom>
        </p:spPr>
      </p:pic>
      <p:sp>
        <p:nvSpPr>
          <p:cNvPr id="8" name="Rectángulo 7">
            <a:extLst>
              <a:ext uri="{FF2B5EF4-FFF2-40B4-BE49-F238E27FC236}">
                <a16:creationId xmlns:a16="http://schemas.microsoft.com/office/drawing/2014/main" id="{5D948210-D763-29D6-174B-AD5D5B710ACC}"/>
              </a:ext>
            </a:extLst>
          </p:cNvPr>
          <p:cNvSpPr/>
          <p:nvPr/>
        </p:nvSpPr>
        <p:spPr>
          <a:xfrm>
            <a:off x="6276207" y="1750188"/>
            <a:ext cx="2240280" cy="2099079"/>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Impacto Ambiental, Social y de Gobernanza</a:t>
            </a:r>
          </a:p>
        </p:txBody>
      </p:sp>
      <p:sp>
        <p:nvSpPr>
          <p:cNvPr id="10" name="Rectángulo 9">
            <a:extLst>
              <a:ext uri="{FF2B5EF4-FFF2-40B4-BE49-F238E27FC236}">
                <a16:creationId xmlns:a16="http://schemas.microsoft.com/office/drawing/2014/main" id="{9EC4D800-ED68-69FB-EE47-028B249978FC}"/>
              </a:ext>
            </a:extLst>
          </p:cNvPr>
          <p:cNvSpPr/>
          <p:nvPr/>
        </p:nvSpPr>
        <p:spPr>
          <a:xfrm>
            <a:off x="3637414" y="1750188"/>
            <a:ext cx="2638793" cy="2099079"/>
          </a:xfrm>
          <a:prstGeom prst="rect">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hacia abajo 10">
            <a:extLst>
              <a:ext uri="{FF2B5EF4-FFF2-40B4-BE49-F238E27FC236}">
                <a16:creationId xmlns:a16="http://schemas.microsoft.com/office/drawing/2014/main" id="{38E5E667-D051-0D2C-D217-D8BBC73C1E86}"/>
              </a:ext>
            </a:extLst>
          </p:cNvPr>
          <p:cNvSpPr/>
          <p:nvPr/>
        </p:nvSpPr>
        <p:spPr>
          <a:xfrm>
            <a:off x="5690124" y="4176257"/>
            <a:ext cx="773652" cy="617206"/>
          </a:xfrm>
          <a:prstGeom prst="downArrow">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4711BC90-8F75-7784-5F6E-C838B763702C}"/>
              </a:ext>
            </a:extLst>
          </p:cNvPr>
          <p:cNvSpPr/>
          <p:nvPr/>
        </p:nvSpPr>
        <p:spPr>
          <a:xfrm>
            <a:off x="2876550" y="4983963"/>
            <a:ext cx="6400800" cy="1238538"/>
          </a:xfrm>
          <a:prstGeom prst="rect">
            <a:avLst/>
          </a:prstGeom>
          <a:noFill/>
          <a:ln w="476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dirty="0">
                <a:solidFill>
                  <a:schemeClr val="tx1"/>
                </a:solidFill>
              </a:rPr>
              <a:t>Las empresas deben recurrir a sistemas de medida que les permitan saber el grado de consecución de los objetivos</a:t>
            </a:r>
          </a:p>
        </p:txBody>
      </p:sp>
      <p:sp>
        <p:nvSpPr>
          <p:cNvPr id="13" name="Rectángulo: esquinas diagonales redondeadas 12">
            <a:extLst>
              <a:ext uri="{FF2B5EF4-FFF2-40B4-BE49-F238E27FC236}">
                <a16:creationId xmlns:a16="http://schemas.microsoft.com/office/drawing/2014/main" id="{9693718F-3EE7-D10F-E371-4C4B859E9A3C}"/>
              </a:ext>
            </a:extLst>
          </p:cNvPr>
          <p:cNvSpPr/>
          <p:nvPr/>
        </p:nvSpPr>
        <p:spPr>
          <a:xfrm>
            <a:off x="365760" y="2509181"/>
            <a:ext cx="2240280" cy="2099080"/>
          </a:xfrm>
          <a:prstGeom prst="round2DiagRect">
            <a:avLst/>
          </a:prstGeom>
          <a:solidFill>
            <a:schemeClr val="accent6">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La medida del impacto interesa tanto a la empresa como a sus grupos de interés</a:t>
            </a:r>
          </a:p>
        </p:txBody>
      </p:sp>
    </p:spTree>
    <p:extLst>
      <p:ext uri="{BB962C8B-B14F-4D97-AF65-F5344CB8AC3E}">
        <p14:creationId xmlns:p14="http://schemas.microsoft.com/office/powerpoint/2010/main" val="35908456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MEDIDA IMPACTO ESTRATEGIAS ESG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Elipse 2">
            <a:extLst>
              <a:ext uri="{FF2B5EF4-FFF2-40B4-BE49-F238E27FC236}">
                <a16:creationId xmlns:a16="http://schemas.microsoft.com/office/drawing/2014/main" id="{FC074AA6-010D-92EF-C496-A1A3A205CC70}"/>
              </a:ext>
            </a:extLst>
          </p:cNvPr>
          <p:cNvSpPr/>
          <p:nvPr/>
        </p:nvSpPr>
        <p:spPr>
          <a:xfrm>
            <a:off x="588440" y="3102635"/>
            <a:ext cx="2773680" cy="1811810"/>
          </a:xfrm>
          <a:prstGeom prst="ellipse">
            <a:avLst/>
          </a:prstGeom>
          <a:solidFill>
            <a:schemeClr val="bg2">
              <a:lumMod val="2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INDICADORES DE SOSTENIBILIDAD</a:t>
            </a:r>
          </a:p>
        </p:txBody>
      </p:sp>
      <p:sp>
        <p:nvSpPr>
          <p:cNvPr id="14" name="CuadroTexto 13">
            <a:extLst>
              <a:ext uri="{FF2B5EF4-FFF2-40B4-BE49-F238E27FC236}">
                <a16:creationId xmlns:a16="http://schemas.microsoft.com/office/drawing/2014/main" id="{73595041-9431-80D6-3EEF-B22445C96F7B}"/>
              </a:ext>
            </a:extLst>
          </p:cNvPr>
          <p:cNvSpPr txBox="1"/>
          <p:nvPr/>
        </p:nvSpPr>
        <p:spPr>
          <a:xfrm>
            <a:off x="3900997" y="1672516"/>
            <a:ext cx="6315723" cy="1323439"/>
          </a:xfrm>
          <a:prstGeom prst="rect">
            <a:avLst/>
          </a:prstGeom>
          <a:solidFill>
            <a:schemeClr val="accent2">
              <a:lumMod val="20000"/>
              <a:lumOff val="80000"/>
            </a:schemeClr>
          </a:solidFill>
        </p:spPr>
        <p:txBody>
          <a:bodyPr wrap="square" rtlCol="0">
            <a:spAutoFit/>
          </a:bodyPr>
          <a:lstStyle/>
          <a:p>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IRIS o </a:t>
            </a:r>
            <a:r>
              <a:rPr lang="es-ES_tradnl" sz="2000" b="1" i="1" dirty="0" err="1">
                <a:effectLst/>
                <a:latin typeface="Calibri" panose="020F0502020204030204" pitchFamily="34" charset="0"/>
                <a:ea typeface="Times New Roman" panose="02020603050405020304" pitchFamily="18" charset="0"/>
                <a:cs typeface="Times New Roman" panose="02020603050405020304" pitchFamily="18" charset="0"/>
              </a:rPr>
              <a:t>Impact</a:t>
            </a:r>
            <a:r>
              <a:rPr lang="es-ES_tradnl" sz="2000" b="1"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cs typeface="Times New Roman" panose="02020603050405020304" pitchFamily="18" charset="0"/>
              </a:rPr>
              <a:t>Reporting</a:t>
            </a:r>
            <a:r>
              <a:rPr lang="es-ES_tradnl" sz="2000" b="1" i="1" dirty="0">
                <a:effectLst/>
                <a:latin typeface="Calibri" panose="020F0502020204030204" pitchFamily="34" charset="0"/>
                <a:ea typeface="Times New Roman" panose="02020603050405020304" pitchFamily="18" charset="0"/>
                <a:cs typeface="Times New Roman" panose="02020603050405020304" pitchFamily="18" charset="0"/>
              </a:rPr>
              <a:t> and </a:t>
            </a:r>
            <a:r>
              <a:rPr lang="es-ES_tradnl" sz="2000" b="1" i="1" dirty="0" err="1">
                <a:effectLst/>
                <a:latin typeface="Calibri" panose="020F0502020204030204" pitchFamily="34" charset="0"/>
                <a:ea typeface="Times New Roman" panose="02020603050405020304" pitchFamily="18" charset="0"/>
                <a:cs typeface="Times New Roman" panose="02020603050405020304" pitchFamily="18" charset="0"/>
              </a:rPr>
              <a:t>Investment</a:t>
            </a:r>
            <a:r>
              <a:rPr lang="es-ES_tradnl" sz="2000" b="1"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cs typeface="Times New Roman" panose="02020603050405020304" pitchFamily="18" charset="0"/>
              </a:rPr>
              <a:t>Standart</a:t>
            </a:r>
            <a:r>
              <a:rPr lang="es-ES_tradnl" sz="2000" dirty="0">
                <a:latin typeface="Calibri" panose="020F0502020204030204" pitchFamily="34" charset="0"/>
                <a:ea typeface="Times New Roman" panose="02020603050405020304" pitchFamily="18" charset="0"/>
                <a:cs typeface="Times New Roman" panose="02020603050405020304" pitchFamily="18" charset="0"/>
              </a:rPr>
              <a:t> o “</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Estándar de Informes de Impacto en Inversiones”, desarrollado por el </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Global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Impact</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Investing</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Network</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(GIIN). Ofrece métricas para evaluar impacto. </a:t>
            </a:r>
            <a:endParaRPr lang="es-ES" sz="2000" dirty="0"/>
          </a:p>
        </p:txBody>
      </p:sp>
      <p:sp>
        <p:nvSpPr>
          <p:cNvPr id="15" name="CuadroTexto 14">
            <a:extLst>
              <a:ext uri="{FF2B5EF4-FFF2-40B4-BE49-F238E27FC236}">
                <a16:creationId xmlns:a16="http://schemas.microsoft.com/office/drawing/2014/main" id="{45A80CFB-F3D6-F75A-DD09-90F7F18AE2E9}"/>
              </a:ext>
            </a:extLst>
          </p:cNvPr>
          <p:cNvSpPr txBox="1"/>
          <p:nvPr/>
        </p:nvSpPr>
        <p:spPr>
          <a:xfrm>
            <a:off x="3900997" y="3500051"/>
            <a:ext cx="6315723" cy="1015663"/>
          </a:xfrm>
          <a:prstGeom prst="rect">
            <a:avLst/>
          </a:prstGeom>
          <a:solidFill>
            <a:schemeClr val="accent2">
              <a:lumMod val="20000"/>
              <a:lumOff val="80000"/>
            </a:schemeClr>
          </a:solidFill>
        </p:spPr>
        <p:txBody>
          <a:bodyPr wrap="square" rtlCol="0">
            <a:spAutoFit/>
          </a:bodyPr>
          <a:lstStyle/>
          <a:p>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SROI o</a:t>
            </a:r>
            <a:r>
              <a:rPr lang="es-ES_tradnl" sz="2000" b="1" i="1" dirty="0">
                <a:effectLst/>
                <a:latin typeface="Calibri" panose="020F0502020204030204" pitchFamily="34" charset="0"/>
                <a:ea typeface="Times New Roman" panose="02020603050405020304" pitchFamily="18" charset="0"/>
                <a:cs typeface="Times New Roman" panose="02020603050405020304" pitchFamily="18" charset="0"/>
              </a:rPr>
              <a:t> Social </a:t>
            </a:r>
            <a:r>
              <a:rPr lang="es-ES_tradnl" sz="2000" b="1" i="1" dirty="0" err="1">
                <a:effectLst/>
                <a:latin typeface="Calibri" panose="020F0502020204030204" pitchFamily="34" charset="0"/>
                <a:ea typeface="Times New Roman" panose="02020603050405020304" pitchFamily="18" charset="0"/>
                <a:cs typeface="Times New Roman" panose="02020603050405020304" pitchFamily="18" charset="0"/>
              </a:rPr>
              <a:t>Return</a:t>
            </a:r>
            <a:r>
              <a:rPr lang="es-ES_tradnl" sz="2000" b="1"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cs typeface="Times New Roman" panose="02020603050405020304" pitchFamily="18" charset="0"/>
              </a:rPr>
              <a:t>of</a:t>
            </a:r>
            <a:r>
              <a:rPr lang="es-ES_tradnl" sz="2000" b="1"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cs typeface="Times New Roman" panose="02020603050405020304" pitchFamily="18" charset="0"/>
              </a:rPr>
              <a:t>Investment</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o “Retorno Social de la Inversión”. Se identifican los impactos y se les asigna un valor económico equivalente.</a:t>
            </a:r>
            <a:endParaRPr lang="es-ES" sz="2000" dirty="0"/>
          </a:p>
        </p:txBody>
      </p:sp>
      <p:sp>
        <p:nvSpPr>
          <p:cNvPr id="18" name="CuadroTexto 17">
            <a:extLst>
              <a:ext uri="{FF2B5EF4-FFF2-40B4-BE49-F238E27FC236}">
                <a16:creationId xmlns:a16="http://schemas.microsoft.com/office/drawing/2014/main" id="{C205287B-04BC-E7C4-73C3-EC003AEAE41D}"/>
              </a:ext>
            </a:extLst>
          </p:cNvPr>
          <p:cNvSpPr txBox="1"/>
          <p:nvPr/>
        </p:nvSpPr>
        <p:spPr>
          <a:xfrm>
            <a:off x="3900997" y="5019809"/>
            <a:ext cx="6315723" cy="1323439"/>
          </a:xfrm>
          <a:prstGeom prst="rect">
            <a:avLst/>
          </a:prstGeom>
          <a:solidFill>
            <a:schemeClr val="accent2">
              <a:lumMod val="20000"/>
              <a:lumOff val="80000"/>
            </a:schemeClr>
          </a:solidFill>
        </p:spPr>
        <p:txBody>
          <a:bodyPr wrap="square" rtlCol="0">
            <a:spAutoFit/>
          </a:bodyPr>
          <a:lstStyle/>
          <a:p>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SDG </a:t>
            </a:r>
            <a:r>
              <a:rPr lang="es-ES_tradnl" sz="2000" b="1" dirty="0" err="1">
                <a:effectLst/>
                <a:latin typeface="Calibri" panose="020F0502020204030204" pitchFamily="34" charset="0"/>
                <a:ea typeface="Times New Roman" panose="02020603050405020304" pitchFamily="18" charset="0"/>
                <a:cs typeface="Times New Roman" panose="02020603050405020304" pitchFamily="18" charset="0"/>
              </a:rPr>
              <a:t>Compass</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es la guía para las empresas en materia de sostenibilidad elaborada por Consejo Empresarial Mundial para el Desarrollo Sostenible en colaboración con el Pacto Mundial de Naciones Unidas.</a:t>
            </a:r>
            <a:endParaRPr lang="es-ES" sz="2000" dirty="0"/>
          </a:p>
        </p:txBody>
      </p:sp>
      <p:pic>
        <p:nvPicPr>
          <p:cNvPr id="1026" name="Picture 2" descr="Impact Measurement | Greenline Ventures">
            <a:hlinkClick r:id="rId4"/>
            <a:extLst>
              <a:ext uri="{FF2B5EF4-FFF2-40B4-BE49-F238E27FC236}">
                <a16:creationId xmlns:a16="http://schemas.microsoft.com/office/drawing/2014/main" id="{B38140F7-8749-DA54-AABB-0B0475F64A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16720" y="1797072"/>
            <a:ext cx="1859596" cy="1059264"/>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n 19">
            <a:hlinkClick r:id="rId6"/>
            <a:extLst>
              <a:ext uri="{FF2B5EF4-FFF2-40B4-BE49-F238E27FC236}">
                <a16:creationId xmlns:a16="http://schemas.microsoft.com/office/drawing/2014/main" id="{9AC8C100-9411-8507-2ED2-589DF29FFBA1}"/>
              </a:ext>
            </a:extLst>
          </p:cNvPr>
          <p:cNvPicPr>
            <a:picLocks noChangeAspect="1"/>
          </p:cNvPicPr>
          <p:nvPr/>
        </p:nvPicPr>
        <p:blipFill>
          <a:blip r:embed="rId7"/>
          <a:stretch>
            <a:fillRect/>
          </a:stretch>
        </p:blipFill>
        <p:spPr>
          <a:xfrm>
            <a:off x="10274898" y="5315088"/>
            <a:ext cx="1831898" cy="697640"/>
          </a:xfrm>
          <a:prstGeom prst="rect">
            <a:avLst/>
          </a:prstGeom>
        </p:spPr>
      </p:pic>
      <p:cxnSp>
        <p:nvCxnSpPr>
          <p:cNvPr id="22" name="Conector recto de flecha 21">
            <a:extLst>
              <a:ext uri="{FF2B5EF4-FFF2-40B4-BE49-F238E27FC236}">
                <a16:creationId xmlns:a16="http://schemas.microsoft.com/office/drawing/2014/main" id="{214EF5B9-9988-9808-1924-7D3313985DB9}"/>
              </a:ext>
            </a:extLst>
          </p:cNvPr>
          <p:cNvCxnSpPr>
            <a:stCxn id="3" idx="6"/>
            <a:endCxn id="14" idx="1"/>
          </p:cNvCxnSpPr>
          <p:nvPr/>
        </p:nvCxnSpPr>
        <p:spPr>
          <a:xfrm flipV="1">
            <a:off x="3362120" y="2334236"/>
            <a:ext cx="538877" cy="1674304"/>
          </a:xfrm>
          <a:prstGeom prst="straightConnector1">
            <a:avLst/>
          </a:prstGeom>
          <a:ln w="508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2A861F98-16D3-A2B0-70A4-46EDED43A89C}"/>
              </a:ext>
            </a:extLst>
          </p:cNvPr>
          <p:cNvCxnSpPr>
            <a:cxnSpLocks/>
            <a:stCxn id="3" idx="6"/>
            <a:endCxn id="15" idx="1"/>
          </p:cNvCxnSpPr>
          <p:nvPr/>
        </p:nvCxnSpPr>
        <p:spPr>
          <a:xfrm flipV="1">
            <a:off x="3362120" y="4007883"/>
            <a:ext cx="538877" cy="657"/>
          </a:xfrm>
          <a:prstGeom prst="straightConnector1">
            <a:avLst/>
          </a:prstGeom>
          <a:ln w="508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2DFA8BFE-1AE5-C901-B381-3AB6D5211FF4}"/>
              </a:ext>
            </a:extLst>
          </p:cNvPr>
          <p:cNvCxnSpPr>
            <a:cxnSpLocks/>
            <a:stCxn id="3" idx="6"/>
            <a:endCxn id="18" idx="1"/>
          </p:cNvCxnSpPr>
          <p:nvPr/>
        </p:nvCxnSpPr>
        <p:spPr>
          <a:xfrm>
            <a:off x="3362120" y="4008540"/>
            <a:ext cx="538877" cy="1672989"/>
          </a:xfrm>
          <a:prstGeom prst="straightConnector1">
            <a:avLst/>
          </a:prstGeom>
          <a:ln w="508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77971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MEDIDA IMPACTO ESTRATEGIAS ESG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6" name="Imagen 5" descr="Un conjunto de letras negras en un fondo blanco&#10;&#10;Descripción generada automáticamente con confianza baja">
            <a:extLst>
              <a:ext uri="{FF2B5EF4-FFF2-40B4-BE49-F238E27FC236}">
                <a16:creationId xmlns:a16="http://schemas.microsoft.com/office/drawing/2014/main" id="{AA0DCE10-4F81-B86A-CE1D-28ECEDA25DDD}"/>
              </a:ext>
            </a:extLst>
          </p:cNvPr>
          <p:cNvPicPr>
            <a:picLocks noChangeAspect="1"/>
          </p:cNvPicPr>
          <p:nvPr/>
        </p:nvPicPr>
        <p:blipFill>
          <a:blip r:embed="rId4">
            <a:extLst>
              <a:ext uri="{28A0092B-C50C-407E-A947-70E740481C1C}">
                <a14:useLocalDpi xmlns:a14="http://schemas.microsoft.com/office/drawing/2010/main" val="0"/>
              </a:ext>
            </a:extLst>
          </a:blip>
          <a:srcRect l="11625" t="20000" r="10875" b="24222"/>
          <a:stretch/>
        </p:blipFill>
        <p:spPr>
          <a:xfrm>
            <a:off x="1310640" y="2590800"/>
            <a:ext cx="9448800" cy="3825240"/>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8" name="CuadroTexto 7">
            <a:extLst>
              <a:ext uri="{FF2B5EF4-FFF2-40B4-BE49-F238E27FC236}">
                <a16:creationId xmlns:a16="http://schemas.microsoft.com/office/drawing/2014/main" id="{FBF6ADE7-FDBD-5896-0266-4BD5C7B5EDA4}"/>
              </a:ext>
            </a:extLst>
          </p:cNvPr>
          <p:cNvSpPr txBox="1"/>
          <p:nvPr/>
        </p:nvSpPr>
        <p:spPr>
          <a:xfrm>
            <a:off x="701040" y="1969688"/>
            <a:ext cx="4099560" cy="1015663"/>
          </a:xfrm>
          <a:prstGeom prst="rect">
            <a:avLst/>
          </a:prstGeom>
          <a:solidFill>
            <a:schemeClr val="accent5">
              <a:lumMod val="20000"/>
              <a:lumOff val="80000"/>
            </a:schemeClr>
          </a:solidFill>
          <a:effectLst>
            <a:glow rad="101600">
              <a:schemeClr val="accent5">
                <a:satMod val="175000"/>
                <a:alpha val="40000"/>
              </a:schemeClr>
            </a:glow>
          </a:effectLst>
        </p:spPr>
        <p:txBody>
          <a:bodyPr wrap="square" rtlCol="0">
            <a:spAutoFit/>
          </a:bodyPr>
          <a:lstStyle/>
          <a:p>
            <a:pPr algn="just"/>
            <a:r>
              <a:rPr lang="es-ES" sz="2000" dirty="0"/>
              <a:t>La implantación de cualquier sistema de medición del impacto se realiza mediante un proceso secuencial</a:t>
            </a:r>
          </a:p>
        </p:txBody>
      </p:sp>
    </p:spTree>
    <p:extLst>
      <p:ext uri="{BB962C8B-B14F-4D97-AF65-F5344CB8AC3E}">
        <p14:creationId xmlns:p14="http://schemas.microsoft.com/office/powerpoint/2010/main" val="4088352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INFORMES DE SOSTENIBILIDAD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6" name="CuadroTexto 5">
            <a:extLst>
              <a:ext uri="{FF2B5EF4-FFF2-40B4-BE49-F238E27FC236}">
                <a16:creationId xmlns:a16="http://schemas.microsoft.com/office/drawing/2014/main" id="{852CE280-4BD5-AD72-FFC3-9695C2AEF7D1}"/>
              </a:ext>
            </a:extLst>
          </p:cNvPr>
          <p:cNvSpPr txBox="1"/>
          <p:nvPr/>
        </p:nvSpPr>
        <p:spPr>
          <a:xfrm>
            <a:off x="5530862" y="1840157"/>
            <a:ext cx="6103620" cy="4401205"/>
          </a:xfrm>
          <a:prstGeom prst="rect">
            <a:avLst/>
          </a:prstGeom>
          <a:noFill/>
        </p:spPr>
        <p:txBody>
          <a:bodyPr wrap="square">
            <a:spAutoFit/>
          </a:bodyPr>
          <a:lstStyle/>
          <a:p>
            <a:pPr algn="just">
              <a:spcBef>
                <a:spcPts val="1000"/>
              </a:spcBef>
              <a:spcAft>
                <a:spcPts val="1000"/>
              </a:spcAft>
            </a:pP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El </a:t>
            </a:r>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informe de sostenibilidad</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también denominado reporte no financiero, es un documento </a:t>
            </a:r>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público</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en el que una empresa </a:t>
            </a:r>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comunica</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entre otra información, su </a:t>
            </a:r>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estrategia de sostenibilidad</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sus resultados e</a:t>
            </a:r>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 impactos </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sociales, ambientales y de gobernanza y la gestión de riesgos y oportunidades llevados a cabo durante un cierto periodo de tiempo. Es un </a:t>
            </a:r>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mecanismo de transparencia y rendición</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de cuentas ante sus </a:t>
            </a:r>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grupos de interés</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que conlleva importantes beneficios a la organización, como la mejora de su reputación y el fomento de la confianza en su entorno social, la consecución de empleados más leales y mejor acceso al capital. Además, con él demuestra estar más adaptada a la nueva forma de hacer negocios y ser más sostenible.</a:t>
            </a:r>
            <a:endParaRPr lang="es-ES"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10" name="Imagen 9" descr="Calendario&#10;&#10;Descripción generada automáticamente con confianza baja">
            <a:extLst>
              <a:ext uri="{FF2B5EF4-FFF2-40B4-BE49-F238E27FC236}">
                <a16:creationId xmlns:a16="http://schemas.microsoft.com/office/drawing/2014/main" id="{EEDAD7AA-62B1-3BF0-09C1-E6325D0B32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033" y="1496050"/>
            <a:ext cx="5094043" cy="5094043"/>
          </a:xfrm>
          <a:prstGeom prst="rect">
            <a:avLst/>
          </a:prstGeom>
        </p:spPr>
      </p:pic>
    </p:spTree>
    <p:extLst>
      <p:ext uri="{BB962C8B-B14F-4D97-AF65-F5344CB8AC3E}">
        <p14:creationId xmlns:p14="http://schemas.microsoft.com/office/powerpoint/2010/main" val="15616252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INFORMES DE SOSTENIBILIDAD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Pergamino: vertical 2">
            <a:extLst>
              <a:ext uri="{FF2B5EF4-FFF2-40B4-BE49-F238E27FC236}">
                <a16:creationId xmlns:a16="http://schemas.microsoft.com/office/drawing/2014/main" id="{11463005-38AE-75E8-145E-03F5F76F9A21}"/>
              </a:ext>
            </a:extLst>
          </p:cNvPr>
          <p:cNvSpPr/>
          <p:nvPr/>
        </p:nvSpPr>
        <p:spPr>
          <a:xfrm>
            <a:off x="822960" y="1950720"/>
            <a:ext cx="2834640" cy="2346959"/>
          </a:xfrm>
          <a:prstGeom prst="verticalScroll">
            <a:avLst/>
          </a:prstGeom>
          <a:solidFill>
            <a:srgbClr val="9AC87A"/>
          </a:solidFill>
          <a:scene3d>
            <a:camera prst="perspectiveRelaxedModerately"/>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INFORME DE SOSTENIBILIDAD O NO FINANCIERO</a:t>
            </a:r>
          </a:p>
        </p:txBody>
      </p:sp>
      <p:sp>
        <p:nvSpPr>
          <p:cNvPr id="4" name="Rectángulo: esquinas diagonales redondeadas 3">
            <a:extLst>
              <a:ext uri="{FF2B5EF4-FFF2-40B4-BE49-F238E27FC236}">
                <a16:creationId xmlns:a16="http://schemas.microsoft.com/office/drawing/2014/main" id="{7D9D54D7-D1DE-042F-4148-6C3BC3CB615E}"/>
              </a:ext>
            </a:extLst>
          </p:cNvPr>
          <p:cNvSpPr/>
          <p:nvPr/>
        </p:nvSpPr>
        <p:spPr>
          <a:xfrm>
            <a:off x="8427277" y="1610412"/>
            <a:ext cx="2834640" cy="975360"/>
          </a:xfrm>
          <a:prstGeom prst="round2DiagRect">
            <a:avLst/>
          </a:prstGeom>
          <a:solidFill>
            <a:srgbClr val="40A64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Identificar Riesgos y Oportunidades</a:t>
            </a:r>
          </a:p>
        </p:txBody>
      </p:sp>
      <p:sp>
        <p:nvSpPr>
          <p:cNvPr id="8" name="Rectángulo: esquinas diagonales redondeadas 7">
            <a:extLst>
              <a:ext uri="{FF2B5EF4-FFF2-40B4-BE49-F238E27FC236}">
                <a16:creationId xmlns:a16="http://schemas.microsoft.com/office/drawing/2014/main" id="{C9BEB9EF-13CA-3D13-FF82-AB09544D70A1}"/>
              </a:ext>
            </a:extLst>
          </p:cNvPr>
          <p:cNvSpPr/>
          <p:nvPr/>
        </p:nvSpPr>
        <p:spPr>
          <a:xfrm>
            <a:off x="8427277" y="3687991"/>
            <a:ext cx="2834640" cy="975360"/>
          </a:xfrm>
          <a:prstGeom prst="round2DiagRect">
            <a:avLst/>
          </a:prstGeom>
          <a:solidFill>
            <a:srgbClr val="40A64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Instaurar Procesos de Mejora Continua</a:t>
            </a:r>
          </a:p>
        </p:txBody>
      </p:sp>
      <p:sp>
        <p:nvSpPr>
          <p:cNvPr id="11" name="Elipse 10">
            <a:extLst>
              <a:ext uri="{FF2B5EF4-FFF2-40B4-BE49-F238E27FC236}">
                <a16:creationId xmlns:a16="http://schemas.microsoft.com/office/drawing/2014/main" id="{76EA1C28-8C4F-7E0C-C1EB-5266AA484389}"/>
              </a:ext>
            </a:extLst>
          </p:cNvPr>
          <p:cNvSpPr/>
          <p:nvPr/>
        </p:nvSpPr>
        <p:spPr>
          <a:xfrm>
            <a:off x="4693624" y="2768575"/>
            <a:ext cx="1935480" cy="736614"/>
          </a:xfrm>
          <a:prstGeom prst="ellipse">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PERMITEN</a:t>
            </a:r>
          </a:p>
        </p:txBody>
      </p:sp>
      <p:cxnSp>
        <p:nvCxnSpPr>
          <p:cNvPr id="15" name="Conector recto de flecha 14">
            <a:extLst>
              <a:ext uri="{FF2B5EF4-FFF2-40B4-BE49-F238E27FC236}">
                <a16:creationId xmlns:a16="http://schemas.microsoft.com/office/drawing/2014/main" id="{96894253-8A32-7721-DC80-903B894083B8}"/>
              </a:ext>
            </a:extLst>
          </p:cNvPr>
          <p:cNvCxnSpPr>
            <a:stCxn id="3" idx="3"/>
            <a:endCxn id="11" idx="2"/>
          </p:cNvCxnSpPr>
          <p:nvPr/>
        </p:nvCxnSpPr>
        <p:spPr>
          <a:xfrm>
            <a:off x="3364230" y="3124200"/>
            <a:ext cx="1329394" cy="12682"/>
          </a:xfrm>
          <a:prstGeom prst="straightConnector1">
            <a:avLst/>
          </a:prstGeom>
          <a:ln w="50800">
            <a:solidFill>
              <a:schemeClr val="accent6">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C6740D9B-926C-C14C-F2D9-D55B894BA522}"/>
              </a:ext>
            </a:extLst>
          </p:cNvPr>
          <p:cNvCxnSpPr>
            <a:cxnSpLocks/>
            <a:stCxn id="11" idx="6"/>
            <a:endCxn id="4" idx="2"/>
          </p:cNvCxnSpPr>
          <p:nvPr/>
        </p:nvCxnSpPr>
        <p:spPr>
          <a:xfrm flipV="1">
            <a:off x="6629104" y="2098092"/>
            <a:ext cx="1798173" cy="1038790"/>
          </a:xfrm>
          <a:prstGeom prst="straightConnector1">
            <a:avLst/>
          </a:prstGeom>
          <a:ln w="50800">
            <a:solidFill>
              <a:schemeClr val="accent6">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EE330B47-49BD-EB60-C5D4-3BD25FD55649}"/>
              </a:ext>
            </a:extLst>
          </p:cNvPr>
          <p:cNvCxnSpPr>
            <a:cxnSpLocks/>
            <a:stCxn id="11" idx="6"/>
            <a:endCxn id="8" idx="2"/>
          </p:cNvCxnSpPr>
          <p:nvPr/>
        </p:nvCxnSpPr>
        <p:spPr>
          <a:xfrm>
            <a:off x="6629104" y="3136882"/>
            <a:ext cx="1798173" cy="1038789"/>
          </a:xfrm>
          <a:prstGeom prst="straightConnector1">
            <a:avLst/>
          </a:prstGeom>
          <a:ln w="50800">
            <a:solidFill>
              <a:schemeClr val="accent6">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Flecha: doblada 21">
            <a:extLst>
              <a:ext uri="{FF2B5EF4-FFF2-40B4-BE49-F238E27FC236}">
                <a16:creationId xmlns:a16="http://schemas.microsoft.com/office/drawing/2014/main" id="{A8A55EF0-3A13-01BC-7BED-CAB9187E36EA}"/>
              </a:ext>
            </a:extLst>
          </p:cNvPr>
          <p:cNvSpPr/>
          <p:nvPr/>
        </p:nvSpPr>
        <p:spPr>
          <a:xfrm flipV="1">
            <a:off x="2126277" y="4357190"/>
            <a:ext cx="906483" cy="1355873"/>
          </a:xfrm>
          <a:prstGeom prst="bentArrow">
            <a:avLst/>
          </a:prstGeom>
          <a:solidFill>
            <a:srgbClr val="FFC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3" name="Abrir llave 22">
            <a:extLst>
              <a:ext uri="{FF2B5EF4-FFF2-40B4-BE49-F238E27FC236}">
                <a16:creationId xmlns:a16="http://schemas.microsoft.com/office/drawing/2014/main" id="{19647078-9A8C-894A-78B2-E06AE9E1D902}"/>
              </a:ext>
            </a:extLst>
          </p:cNvPr>
          <p:cNvSpPr/>
          <p:nvPr/>
        </p:nvSpPr>
        <p:spPr>
          <a:xfrm>
            <a:off x="3032760" y="4541429"/>
            <a:ext cx="331469" cy="1897749"/>
          </a:xfrm>
          <a:prstGeom prst="leftBrace">
            <a:avLst>
              <a:gd name="adj1" fmla="val 37745"/>
              <a:gd name="adj2" fmla="val 50000"/>
            </a:avLst>
          </a:prstGeom>
          <a:ln w="508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4" name="CuadroTexto 23">
            <a:extLst>
              <a:ext uri="{FF2B5EF4-FFF2-40B4-BE49-F238E27FC236}">
                <a16:creationId xmlns:a16="http://schemas.microsoft.com/office/drawing/2014/main" id="{3D1CE1F1-6307-32C9-752B-4A4875327EB6}"/>
              </a:ext>
            </a:extLst>
          </p:cNvPr>
          <p:cNvSpPr txBox="1"/>
          <p:nvPr/>
        </p:nvSpPr>
        <p:spPr>
          <a:xfrm>
            <a:off x="3364229" y="4739640"/>
            <a:ext cx="1661013" cy="400110"/>
          </a:xfrm>
          <a:prstGeom prst="rect">
            <a:avLst/>
          </a:prstGeom>
          <a:solidFill>
            <a:srgbClr val="D0FEB0"/>
          </a:solidFill>
        </p:spPr>
        <p:txBody>
          <a:bodyPr wrap="square" rtlCol="0">
            <a:spAutoFit/>
          </a:bodyPr>
          <a:lstStyle/>
          <a:p>
            <a:r>
              <a:rPr lang="es-ES" sz="2000" b="1" dirty="0"/>
              <a:t>Voluntarios</a:t>
            </a:r>
            <a:r>
              <a:rPr lang="es-ES" dirty="0"/>
              <a:t> </a:t>
            </a:r>
          </a:p>
        </p:txBody>
      </p:sp>
      <p:sp>
        <p:nvSpPr>
          <p:cNvPr id="25" name="CuadroTexto 24">
            <a:extLst>
              <a:ext uri="{FF2B5EF4-FFF2-40B4-BE49-F238E27FC236}">
                <a16:creationId xmlns:a16="http://schemas.microsoft.com/office/drawing/2014/main" id="{125F1124-87EF-8D4D-ECFC-51806D1487FF}"/>
              </a:ext>
            </a:extLst>
          </p:cNvPr>
          <p:cNvSpPr txBox="1"/>
          <p:nvPr/>
        </p:nvSpPr>
        <p:spPr>
          <a:xfrm>
            <a:off x="3364229" y="5895944"/>
            <a:ext cx="1661013" cy="400110"/>
          </a:xfrm>
          <a:prstGeom prst="rect">
            <a:avLst/>
          </a:prstGeom>
          <a:solidFill>
            <a:srgbClr val="D0FEB0"/>
          </a:solidFill>
        </p:spPr>
        <p:txBody>
          <a:bodyPr wrap="square" rtlCol="0">
            <a:spAutoFit/>
          </a:bodyPr>
          <a:lstStyle/>
          <a:p>
            <a:r>
              <a:rPr lang="es-ES" sz="2000" b="1" dirty="0"/>
              <a:t>Preceptivos</a:t>
            </a:r>
          </a:p>
        </p:txBody>
      </p:sp>
      <p:cxnSp>
        <p:nvCxnSpPr>
          <p:cNvPr id="26" name="Conector recto de flecha 25">
            <a:extLst>
              <a:ext uri="{FF2B5EF4-FFF2-40B4-BE49-F238E27FC236}">
                <a16:creationId xmlns:a16="http://schemas.microsoft.com/office/drawing/2014/main" id="{B59BCEFB-DC39-E077-BF24-DE10334891C8}"/>
              </a:ext>
            </a:extLst>
          </p:cNvPr>
          <p:cNvCxnSpPr>
            <a:cxnSpLocks/>
          </p:cNvCxnSpPr>
          <p:nvPr/>
        </p:nvCxnSpPr>
        <p:spPr>
          <a:xfrm>
            <a:off x="4996741" y="4936024"/>
            <a:ext cx="664623" cy="3671"/>
          </a:xfrm>
          <a:prstGeom prst="straightConnector1">
            <a:avLst/>
          </a:prstGeom>
          <a:ln w="50800">
            <a:solidFill>
              <a:schemeClr val="accent6">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DD43A2C3-43A8-3677-945A-44564574E46B}"/>
              </a:ext>
            </a:extLst>
          </p:cNvPr>
          <p:cNvSpPr txBox="1"/>
          <p:nvPr/>
        </p:nvSpPr>
        <p:spPr>
          <a:xfrm>
            <a:off x="5661364" y="4632871"/>
            <a:ext cx="1935480" cy="646331"/>
          </a:xfrm>
          <a:prstGeom prst="rect">
            <a:avLst/>
          </a:prstGeom>
          <a:noFill/>
        </p:spPr>
        <p:txBody>
          <a:bodyPr wrap="square" rtlCol="0">
            <a:spAutoFit/>
          </a:bodyPr>
          <a:lstStyle/>
          <a:p>
            <a:r>
              <a:rPr lang="es-ES" dirty="0"/>
              <a:t>Página web, canal </a:t>
            </a:r>
            <a:r>
              <a:rPr lang="es-ES" dirty="0" err="1"/>
              <a:t>Youtube</a:t>
            </a:r>
            <a:r>
              <a:rPr lang="es-ES" dirty="0"/>
              <a:t>, </a:t>
            </a:r>
            <a:r>
              <a:rPr lang="es-ES" dirty="0" err="1"/>
              <a:t>etc</a:t>
            </a:r>
            <a:endParaRPr lang="es-ES" dirty="0"/>
          </a:p>
        </p:txBody>
      </p:sp>
      <p:cxnSp>
        <p:nvCxnSpPr>
          <p:cNvPr id="29" name="Conector recto de flecha 28">
            <a:extLst>
              <a:ext uri="{FF2B5EF4-FFF2-40B4-BE49-F238E27FC236}">
                <a16:creationId xmlns:a16="http://schemas.microsoft.com/office/drawing/2014/main" id="{BD8C4BE4-E8EE-9CF3-24E6-44D35B8F7B55}"/>
              </a:ext>
            </a:extLst>
          </p:cNvPr>
          <p:cNvCxnSpPr>
            <a:cxnSpLocks/>
          </p:cNvCxnSpPr>
          <p:nvPr/>
        </p:nvCxnSpPr>
        <p:spPr>
          <a:xfrm>
            <a:off x="4975711" y="6100604"/>
            <a:ext cx="664623" cy="3671"/>
          </a:xfrm>
          <a:prstGeom prst="straightConnector1">
            <a:avLst/>
          </a:prstGeom>
          <a:ln w="50800">
            <a:solidFill>
              <a:schemeClr val="accent6">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971E41D9-053A-9791-4066-07259EFC1638}"/>
              </a:ext>
            </a:extLst>
          </p:cNvPr>
          <p:cNvSpPr txBox="1"/>
          <p:nvPr/>
        </p:nvSpPr>
        <p:spPr>
          <a:xfrm>
            <a:off x="5640334" y="5675531"/>
            <a:ext cx="1935480" cy="923330"/>
          </a:xfrm>
          <a:prstGeom prst="rect">
            <a:avLst/>
          </a:prstGeom>
          <a:noFill/>
        </p:spPr>
        <p:txBody>
          <a:bodyPr wrap="square" rtlCol="0">
            <a:spAutoFit/>
          </a:bodyPr>
          <a:lstStyle/>
          <a:p>
            <a:r>
              <a:rPr lang="es-ES" dirty="0"/>
              <a:t>CNMV, Red Española del Pacto Mundial, </a:t>
            </a:r>
            <a:r>
              <a:rPr lang="es-ES" dirty="0" err="1"/>
              <a:t>etc</a:t>
            </a:r>
            <a:endParaRPr lang="es-ES" dirty="0"/>
          </a:p>
        </p:txBody>
      </p:sp>
    </p:spTree>
    <p:extLst>
      <p:ext uri="{BB962C8B-B14F-4D97-AF65-F5344CB8AC3E}">
        <p14:creationId xmlns:p14="http://schemas.microsoft.com/office/powerpoint/2010/main" val="22498511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EJEMPLO INFORME DE SOSTENIBILIDAD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7" name="Imagen 16">
            <a:hlinkClick r:id="rId4"/>
            <a:extLst>
              <a:ext uri="{FF2B5EF4-FFF2-40B4-BE49-F238E27FC236}">
                <a16:creationId xmlns:a16="http://schemas.microsoft.com/office/drawing/2014/main" id="{24016DE1-6315-AF24-15A5-70F41FDA4969}"/>
              </a:ext>
            </a:extLst>
          </p:cNvPr>
          <p:cNvPicPr>
            <a:picLocks noChangeAspect="1"/>
          </p:cNvPicPr>
          <p:nvPr/>
        </p:nvPicPr>
        <p:blipFill>
          <a:blip r:embed="rId5"/>
          <a:stretch>
            <a:fillRect/>
          </a:stretch>
        </p:blipFill>
        <p:spPr>
          <a:xfrm>
            <a:off x="2349475" y="1310640"/>
            <a:ext cx="7182852" cy="5087060"/>
          </a:xfrm>
          <a:prstGeom prst="rect">
            <a:avLst/>
          </a:prstGeom>
        </p:spPr>
      </p:pic>
    </p:spTree>
    <p:extLst>
      <p:ext uri="{BB962C8B-B14F-4D97-AF65-F5344CB8AC3E}">
        <p14:creationId xmlns:p14="http://schemas.microsoft.com/office/powerpoint/2010/main" val="7447794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ELABORAR INFORME DE SOSTENIBILIDAD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descr="Diagrama&#10;&#10;Descripción generada automáticamente">
            <a:extLst>
              <a:ext uri="{FF2B5EF4-FFF2-40B4-BE49-F238E27FC236}">
                <a16:creationId xmlns:a16="http://schemas.microsoft.com/office/drawing/2014/main" id="{327002D4-1838-80EA-903C-C51F01DAC852}"/>
              </a:ext>
            </a:extLst>
          </p:cNvPr>
          <p:cNvPicPr>
            <a:picLocks noChangeAspect="1"/>
          </p:cNvPicPr>
          <p:nvPr/>
        </p:nvPicPr>
        <p:blipFill>
          <a:blip r:embed="rId4">
            <a:extLst>
              <a:ext uri="{28A0092B-C50C-407E-A947-70E740481C1C}">
                <a14:useLocalDpi xmlns:a14="http://schemas.microsoft.com/office/drawing/2010/main" val="0"/>
              </a:ext>
            </a:extLst>
          </a:blip>
          <a:srcRect b="-2421"/>
          <a:stretch/>
        </p:blipFill>
        <p:spPr>
          <a:xfrm>
            <a:off x="274320" y="1969687"/>
            <a:ext cx="11643359" cy="4095831"/>
          </a:xfrm>
          <a:prstGeom prst="rect">
            <a:avLst/>
          </a:prstGeom>
        </p:spPr>
      </p:pic>
    </p:spTree>
    <p:extLst>
      <p:ext uri="{BB962C8B-B14F-4D97-AF65-F5344CB8AC3E}">
        <p14:creationId xmlns:p14="http://schemas.microsoft.com/office/powerpoint/2010/main" val="22003257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640080" y="533807"/>
            <a:ext cx="9400565" cy="1325563"/>
          </a:xfrm>
        </p:spPr>
        <p:txBody>
          <a:bodyPr>
            <a:normAutofit fontScale="90000"/>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ESTÁNDARES DE INFORMES DE SOSTENIBILIDAD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superiores cortadas 2">
            <a:extLst>
              <a:ext uri="{FF2B5EF4-FFF2-40B4-BE49-F238E27FC236}">
                <a16:creationId xmlns:a16="http://schemas.microsoft.com/office/drawing/2014/main" id="{48E12F50-0BB1-562A-5DE1-0695FB767FD1}"/>
              </a:ext>
            </a:extLst>
          </p:cNvPr>
          <p:cNvSpPr/>
          <p:nvPr/>
        </p:nvSpPr>
        <p:spPr>
          <a:xfrm>
            <a:off x="3650045" y="1584175"/>
            <a:ext cx="4953000" cy="550390"/>
          </a:xfrm>
          <a:prstGeom prst="snip2SameRect">
            <a:avLst>
              <a:gd name="adj1" fmla="val 27743"/>
              <a:gd name="adj2" fmla="val 0"/>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a:t>Jurídicos o de obligado cumplimiento </a:t>
            </a:r>
            <a:endParaRPr lang="es-ES" sz="2200" b="1" dirty="0"/>
          </a:p>
        </p:txBody>
      </p:sp>
      <p:sp>
        <p:nvSpPr>
          <p:cNvPr id="6" name="CuadroTexto 5">
            <a:extLst>
              <a:ext uri="{FF2B5EF4-FFF2-40B4-BE49-F238E27FC236}">
                <a16:creationId xmlns:a16="http://schemas.microsoft.com/office/drawing/2014/main" id="{14676288-19A4-86D3-B74C-98B4B35C0371}"/>
              </a:ext>
            </a:extLst>
          </p:cNvPr>
          <p:cNvSpPr txBox="1"/>
          <p:nvPr/>
        </p:nvSpPr>
        <p:spPr>
          <a:xfrm>
            <a:off x="2209800" y="3169295"/>
            <a:ext cx="3116451" cy="1631216"/>
          </a:xfrm>
          <a:prstGeom prst="rect">
            <a:avLst/>
          </a:prstGeom>
          <a:solidFill>
            <a:schemeClr val="bg2">
              <a:lumMod val="90000"/>
            </a:schemeClr>
          </a:solidFill>
        </p:spPr>
        <p:txBody>
          <a:bodyPr wrap="square" rtlCol="0">
            <a:spAutoFit/>
          </a:bodyPr>
          <a:lstStyle/>
          <a:p>
            <a:pPr algn="just"/>
            <a:r>
              <a:rPr lang="es-ES_tradnl" sz="2000" b="1" i="1" dirty="0">
                <a:effectLst/>
                <a:latin typeface="Calibri" panose="020F0502020204030204" pitchFamily="34" charset="0"/>
                <a:ea typeface="Times New Roman" panose="02020603050405020304" pitchFamily="18" charset="0"/>
                <a:cs typeface="Times New Roman" panose="02020603050405020304" pitchFamily="18" charset="0"/>
              </a:rPr>
              <a:t>ESRS </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o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European</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Sustainability</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Reporting</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Standards</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o Normas Europeas de Información en Materia de Sostenibilidad</a:t>
            </a:r>
            <a:endParaRPr lang="es-ES" sz="2000" dirty="0"/>
          </a:p>
        </p:txBody>
      </p:sp>
      <p:pic>
        <p:nvPicPr>
          <p:cNvPr id="11" name="Imagen 10">
            <a:hlinkClick r:id="rId4"/>
            <a:extLst>
              <a:ext uri="{FF2B5EF4-FFF2-40B4-BE49-F238E27FC236}">
                <a16:creationId xmlns:a16="http://schemas.microsoft.com/office/drawing/2014/main" id="{5AB209DA-33B8-3028-7C50-CD63D94B7FBE}"/>
              </a:ext>
            </a:extLst>
          </p:cNvPr>
          <p:cNvPicPr>
            <a:picLocks noChangeAspect="1"/>
          </p:cNvPicPr>
          <p:nvPr/>
        </p:nvPicPr>
        <p:blipFill>
          <a:blip r:embed="rId5"/>
          <a:stretch>
            <a:fillRect/>
          </a:stretch>
        </p:blipFill>
        <p:spPr>
          <a:xfrm>
            <a:off x="2567644" y="5396583"/>
            <a:ext cx="2400635" cy="733527"/>
          </a:xfrm>
          <a:prstGeom prst="rect">
            <a:avLst/>
          </a:prstGeom>
        </p:spPr>
      </p:pic>
      <p:pic>
        <p:nvPicPr>
          <p:cNvPr id="2050" name="Picture 2" descr="European Union Flag Free Stock Photo - Public Domain Pictures">
            <a:extLst>
              <a:ext uri="{FF2B5EF4-FFF2-40B4-BE49-F238E27FC236}">
                <a16:creationId xmlns:a16="http://schemas.microsoft.com/office/drawing/2014/main" id="{6F2F6F73-2AFB-AE5C-B4AE-075E85D380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271" y="3321011"/>
            <a:ext cx="1327785" cy="1327785"/>
          </a:xfrm>
          <a:prstGeom prst="rect">
            <a:avLst/>
          </a:prstGeom>
          <a:noFill/>
          <a:extLst>
            <a:ext uri="{909E8E84-426E-40DD-AFC4-6F175D3DCCD1}">
              <a14:hiddenFill xmlns:a14="http://schemas.microsoft.com/office/drawing/2010/main">
                <a:solidFill>
                  <a:srgbClr val="FFFFFF"/>
                </a:solidFill>
              </a14:hiddenFill>
            </a:ext>
          </a:extLst>
        </p:spPr>
      </p:pic>
      <p:sp>
        <p:nvSpPr>
          <p:cNvPr id="12" name="Flecha: hacia arriba 11">
            <a:extLst>
              <a:ext uri="{FF2B5EF4-FFF2-40B4-BE49-F238E27FC236}">
                <a16:creationId xmlns:a16="http://schemas.microsoft.com/office/drawing/2014/main" id="{6A300233-8B7E-2FD9-0E7A-8150830013F1}"/>
              </a:ext>
            </a:extLst>
          </p:cNvPr>
          <p:cNvSpPr/>
          <p:nvPr/>
        </p:nvSpPr>
        <p:spPr>
          <a:xfrm>
            <a:off x="3513486" y="4879687"/>
            <a:ext cx="479394" cy="425751"/>
          </a:xfrm>
          <a:prstGeom prst="upArrow">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Conector recto de flecha 13">
            <a:extLst>
              <a:ext uri="{FF2B5EF4-FFF2-40B4-BE49-F238E27FC236}">
                <a16:creationId xmlns:a16="http://schemas.microsoft.com/office/drawing/2014/main" id="{C7282A91-5F6D-F236-02DF-36E5E605015C}"/>
              </a:ext>
            </a:extLst>
          </p:cNvPr>
          <p:cNvCxnSpPr>
            <a:cxnSpLocks/>
            <a:stCxn id="3" idx="1"/>
            <a:endCxn id="6" idx="0"/>
          </p:cNvCxnSpPr>
          <p:nvPr/>
        </p:nvCxnSpPr>
        <p:spPr>
          <a:xfrm flipH="1">
            <a:off x="3768026" y="2134565"/>
            <a:ext cx="2358519" cy="1034730"/>
          </a:xfrm>
          <a:prstGeom prst="straightConnector1">
            <a:avLst/>
          </a:prstGeom>
          <a:ln w="50800">
            <a:solidFill>
              <a:schemeClr val="tx1">
                <a:lumMod val="85000"/>
                <a:lumOff val="1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25610B91-B2C3-7F0F-D921-C5E93AA866B9}"/>
              </a:ext>
            </a:extLst>
          </p:cNvPr>
          <p:cNvSpPr txBox="1"/>
          <p:nvPr/>
        </p:nvSpPr>
        <p:spPr>
          <a:xfrm>
            <a:off x="6926840" y="3169295"/>
            <a:ext cx="3116451" cy="1631216"/>
          </a:xfrm>
          <a:prstGeom prst="rect">
            <a:avLst/>
          </a:prstGeom>
          <a:solidFill>
            <a:schemeClr val="bg2">
              <a:lumMod val="90000"/>
            </a:schemeClr>
          </a:solidFill>
        </p:spPr>
        <p:txBody>
          <a:bodyPr wrap="square" rtlCol="0">
            <a:spAutoFit/>
          </a:bodyPr>
          <a:lstStyle/>
          <a:p>
            <a:pPr algn="just"/>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Normas de la SEC </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Securities</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and Exchange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Commission</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o de la Comisión del Mercado de Valores de EEUU</a:t>
            </a:r>
            <a:endParaRPr lang="es-ES" sz="2000" dirty="0"/>
          </a:p>
        </p:txBody>
      </p:sp>
      <p:cxnSp>
        <p:nvCxnSpPr>
          <p:cNvPr id="17" name="Conector recto de flecha 16">
            <a:extLst>
              <a:ext uri="{FF2B5EF4-FFF2-40B4-BE49-F238E27FC236}">
                <a16:creationId xmlns:a16="http://schemas.microsoft.com/office/drawing/2014/main" id="{2803D543-A239-D14E-8701-4C40E5F00406}"/>
              </a:ext>
            </a:extLst>
          </p:cNvPr>
          <p:cNvCxnSpPr>
            <a:cxnSpLocks/>
            <a:stCxn id="3" idx="1"/>
            <a:endCxn id="15" idx="0"/>
          </p:cNvCxnSpPr>
          <p:nvPr/>
        </p:nvCxnSpPr>
        <p:spPr>
          <a:xfrm>
            <a:off x="6126545" y="2134565"/>
            <a:ext cx="2358521" cy="1034730"/>
          </a:xfrm>
          <a:prstGeom prst="straightConnector1">
            <a:avLst/>
          </a:prstGeom>
          <a:ln w="50800">
            <a:solidFill>
              <a:schemeClr val="tx1">
                <a:lumMod val="85000"/>
                <a:lumOff val="1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2052" name="Picture 4" descr="Bandera de los Estados Unidos | Banderas-mundo.es">
            <a:extLst>
              <a:ext uri="{FF2B5EF4-FFF2-40B4-BE49-F238E27FC236}">
                <a16:creationId xmlns:a16="http://schemas.microsoft.com/office/drawing/2014/main" id="{34946DDD-132F-2821-3496-FA87162501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39415" y="3564495"/>
            <a:ext cx="1600589" cy="840816"/>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n 21">
            <a:hlinkClick r:id="rId8"/>
            <a:extLst>
              <a:ext uri="{FF2B5EF4-FFF2-40B4-BE49-F238E27FC236}">
                <a16:creationId xmlns:a16="http://schemas.microsoft.com/office/drawing/2014/main" id="{6BF0616B-125E-79A0-D7F3-84EB4ABD6D24}"/>
              </a:ext>
            </a:extLst>
          </p:cNvPr>
          <p:cNvPicPr>
            <a:picLocks noChangeAspect="1"/>
          </p:cNvPicPr>
          <p:nvPr/>
        </p:nvPicPr>
        <p:blipFill>
          <a:blip r:embed="rId9"/>
          <a:stretch>
            <a:fillRect/>
          </a:stretch>
        </p:blipFill>
        <p:spPr>
          <a:xfrm>
            <a:off x="7132870" y="5346140"/>
            <a:ext cx="2704389" cy="834412"/>
          </a:xfrm>
          <a:prstGeom prst="rect">
            <a:avLst/>
          </a:prstGeom>
        </p:spPr>
      </p:pic>
      <p:sp>
        <p:nvSpPr>
          <p:cNvPr id="23" name="Flecha: hacia arriba 22">
            <a:extLst>
              <a:ext uri="{FF2B5EF4-FFF2-40B4-BE49-F238E27FC236}">
                <a16:creationId xmlns:a16="http://schemas.microsoft.com/office/drawing/2014/main" id="{83D262EB-BBEE-F2D3-D9AD-5769DDEBC755}"/>
              </a:ext>
            </a:extLst>
          </p:cNvPr>
          <p:cNvSpPr/>
          <p:nvPr/>
        </p:nvSpPr>
        <p:spPr>
          <a:xfrm>
            <a:off x="8245367" y="4920389"/>
            <a:ext cx="479394" cy="425751"/>
          </a:xfrm>
          <a:prstGeom prst="upArrow">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749587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640080" y="533807"/>
            <a:ext cx="9400565" cy="1325563"/>
          </a:xfrm>
        </p:spPr>
        <p:txBody>
          <a:bodyPr>
            <a:normAutofit fontScale="90000"/>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ESTÁNDARES DE INFORMES DE SOSTENIBILIDAD </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superiores cortadas 2">
            <a:extLst>
              <a:ext uri="{FF2B5EF4-FFF2-40B4-BE49-F238E27FC236}">
                <a16:creationId xmlns:a16="http://schemas.microsoft.com/office/drawing/2014/main" id="{48E12F50-0BB1-562A-5DE1-0695FB767FD1}"/>
              </a:ext>
            </a:extLst>
          </p:cNvPr>
          <p:cNvSpPr/>
          <p:nvPr/>
        </p:nvSpPr>
        <p:spPr>
          <a:xfrm>
            <a:off x="3650045" y="1584175"/>
            <a:ext cx="4953000" cy="550390"/>
          </a:xfrm>
          <a:prstGeom prst="snip2SameRect">
            <a:avLst>
              <a:gd name="adj1" fmla="val 27743"/>
              <a:gd name="adj2" fmla="val 0"/>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No Jurídicos o cumplimiento voluntario </a:t>
            </a:r>
          </a:p>
        </p:txBody>
      </p:sp>
      <p:sp>
        <p:nvSpPr>
          <p:cNvPr id="6" name="CuadroTexto 5">
            <a:extLst>
              <a:ext uri="{FF2B5EF4-FFF2-40B4-BE49-F238E27FC236}">
                <a16:creationId xmlns:a16="http://schemas.microsoft.com/office/drawing/2014/main" id="{14676288-19A4-86D3-B74C-98B4B35C0371}"/>
              </a:ext>
            </a:extLst>
          </p:cNvPr>
          <p:cNvSpPr txBox="1"/>
          <p:nvPr/>
        </p:nvSpPr>
        <p:spPr>
          <a:xfrm>
            <a:off x="677652" y="3169295"/>
            <a:ext cx="3116451" cy="1938992"/>
          </a:xfrm>
          <a:prstGeom prst="rect">
            <a:avLst/>
          </a:prstGeom>
          <a:solidFill>
            <a:srgbClr val="FFD9D9"/>
          </a:solidFill>
        </p:spPr>
        <p:txBody>
          <a:bodyPr wrap="square" rtlCol="0">
            <a:spAutoFit/>
          </a:bodyPr>
          <a:lstStyle/>
          <a:p>
            <a:pPr algn="just"/>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GRI </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(Global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Reporting</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Iniciative),</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una de las organizaciones internacionales con mayor reconocimiento en el ámbito de la sostenibilidad</a:t>
            </a:r>
            <a:endParaRPr lang="es-ES" sz="2000" dirty="0"/>
          </a:p>
        </p:txBody>
      </p:sp>
      <p:sp>
        <p:nvSpPr>
          <p:cNvPr id="12" name="Flecha: hacia arriba 11">
            <a:extLst>
              <a:ext uri="{FF2B5EF4-FFF2-40B4-BE49-F238E27FC236}">
                <a16:creationId xmlns:a16="http://schemas.microsoft.com/office/drawing/2014/main" id="{6A300233-8B7E-2FD9-0E7A-8150830013F1}"/>
              </a:ext>
            </a:extLst>
          </p:cNvPr>
          <p:cNvSpPr/>
          <p:nvPr/>
        </p:nvSpPr>
        <p:spPr>
          <a:xfrm>
            <a:off x="1996180" y="5154007"/>
            <a:ext cx="479394" cy="425751"/>
          </a:xfrm>
          <a:prstGeom prst="upArrow">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Conector recto de flecha 13">
            <a:extLst>
              <a:ext uri="{FF2B5EF4-FFF2-40B4-BE49-F238E27FC236}">
                <a16:creationId xmlns:a16="http://schemas.microsoft.com/office/drawing/2014/main" id="{C7282A91-5F6D-F236-02DF-36E5E605015C}"/>
              </a:ext>
            </a:extLst>
          </p:cNvPr>
          <p:cNvCxnSpPr>
            <a:cxnSpLocks/>
            <a:stCxn id="3" idx="1"/>
            <a:endCxn id="6" idx="0"/>
          </p:cNvCxnSpPr>
          <p:nvPr/>
        </p:nvCxnSpPr>
        <p:spPr>
          <a:xfrm flipH="1">
            <a:off x="2235878" y="2134565"/>
            <a:ext cx="3890667" cy="1034730"/>
          </a:xfrm>
          <a:prstGeom prst="straightConnector1">
            <a:avLst/>
          </a:prstGeom>
          <a:ln w="50800">
            <a:solidFill>
              <a:schemeClr val="tx1">
                <a:lumMod val="85000"/>
                <a:lumOff val="1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2803D543-A239-D14E-8701-4C40E5F00406}"/>
              </a:ext>
            </a:extLst>
          </p:cNvPr>
          <p:cNvCxnSpPr>
            <a:cxnSpLocks/>
            <a:stCxn id="3" idx="1"/>
            <a:endCxn id="13" idx="0"/>
          </p:cNvCxnSpPr>
          <p:nvPr/>
        </p:nvCxnSpPr>
        <p:spPr>
          <a:xfrm>
            <a:off x="6126545" y="2134565"/>
            <a:ext cx="1" cy="1034730"/>
          </a:xfrm>
          <a:prstGeom prst="straightConnector1">
            <a:avLst/>
          </a:prstGeom>
          <a:ln w="50800">
            <a:solidFill>
              <a:schemeClr val="tx1">
                <a:lumMod val="85000"/>
                <a:lumOff val="1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8" name="Imagen 7">
            <a:hlinkClick r:id="rId4"/>
            <a:extLst>
              <a:ext uri="{FF2B5EF4-FFF2-40B4-BE49-F238E27FC236}">
                <a16:creationId xmlns:a16="http://schemas.microsoft.com/office/drawing/2014/main" id="{016188B7-5EB2-ADB2-050B-0494BEC86D53}"/>
              </a:ext>
            </a:extLst>
          </p:cNvPr>
          <p:cNvPicPr>
            <a:picLocks noChangeAspect="1"/>
          </p:cNvPicPr>
          <p:nvPr/>
        </p:nvPicPr>
        <p:blipFill>
          <a:blip r:embed="rId5"/>
          <a:stretch>
            <a:fillRect/>
          </a:stretch>
        </p:blipFill>
        <p:spPr>
          <a:xfrm>
            <a:off x="1854824" y="5629942"/>
            <a:ext cx="762106" cy="733527"/>
          </a:xfrm>
          <a:prstGeom prst="rect">
            <a:avLst/>
          </a:prstGeom>
        </p:spPr>
      </p:pic>
      <p:sp>
        <p:nvSpPr>
          <p:cNvPr id="13" name="CuadroTexto 12">
            <a:extLst>
              <a:ext uri="{FF2B5EF4-FFF2-40B4-BE49-F238E27FC236}">
                <a16:creationId xmlns:a16="http://schemas.microsoft.com/office/drawing/2014/main" id="{70A8839B-A1C7-B368-5132-3F8883A3A362}"/>
              </a:ext>
            </a:extLst>
          </p:cNvPr>
          <p:cNvSpPr txBox="1"/>
          <p:nvPr/>
        </p:nvSpPr>
        <p:spPr>
          <a:xfrm>
            <a:off x="4341625" y="3169295"/>
            <a:ext cx="3569841" cy="1938992"/>
          </a:xfrm>
          <a:prstGeom prst="rect">
            <a:avLst/>
          </a:prstGeom>
          <a:solidFill>
            <a:srgbClr val="FFD9D9"/>
          </a:solidFill>
        </p:spPr>
        <p:txBody>
          <a:bodyPr wrap="square" rtlCol="0">
            <a:spAutoFit/>
          </a:bodyPr>
          <a:lstStyle/>
          <a:p>
            <a:pPr algn="just"/>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ISSB </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International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Sustainability</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Standard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Board</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a:t>
            </a:r>
            <a:r>
              <a:rPr lang="es-ES_tradnl" sz="2000" b="1" dirty="0">
                <a:latin typeface="Calibri" panose="020F0502020204030204" pitchFamily="34" charset="0"/>
                <a:ea typeface="Times New Roman" panose="02020603050405020304" pitchFamily="18" charset="0"/>
                <a:cs typeface="Times New Roman" panose="02020603050405020304" pitchFamily="18" charset="0"/>
              </a:rPr>
              <a:t> </a:t>
            </a:r>
            <a:r>
              <a:rPr lang="es-ES_tradnl" sz="2000" dirty="0">
                <a:latin typeface="Calibri" panose="020F0502020204030204" pitchFamily="34" charset="0"/>
                <a:ea typeface="Times New Roman" panose="02020603050405020304" pitchFamily="18" charset="0"/>
                <a:cs typeface="Times New Roman" panose="02020603050405020304" pitchFamily="18" charset="0"/>
              </a:rPr>
              <a:t>desarrollados por la </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IFRS (</a:t>
            </a:r>
            <a:r>
              <a:rPr lang="es-ES_tradnl" sz="2000" i="1" dirty="0">
                <a:solidFill>
                  <a:srgbClr val="000000"/>
                </a:solidFill>
                <a:effectLst/>
                <a:latin typeface="Calibri" panose="020F0502020204030204" pitchFamily="34" charset="0"/>
                <a:ea typeface="Times New Roman" panose="02020603050405020304" pitchFamily="18" charset="0"/>
              </a:rPr>
              <a:t>International </a:t>
            </a:r>
            <a:r>
              <a:rPr lang="es-ES_tradnl" sz="2000" i="1" dirty="0" err="1">
                <a:solidFill>
                  <a:srgbClr val="000000"/>
                </a:solidFill>
                <a:effectLst/>
                <a:latin typeface="Calibri" panose="020F0502020204030204" pitchFamily="34" charset="0"/>
                <a:ea typeface="Times New Roman" panose="02020603050405020304" pitchFamily="18" charset="0"/>
              </a:rPr>
              <a:t>Financial</a:t>
            </a:r>
            <a:r>
              <a:rPr lang="es-ES_tradnl" sz="2000" i="1" dirty="0">
                <a:solidFill>
                  <a:srgbClr val="000000"/>
                </a:solidFill>
                <a:effectLst/>
                <a:latin typeface="Calibri" panose="020F0502020204030204" pitchFamily="34" charset="0"/>
                <a:ea typeface="Times New Roman" panose="02020603050405020304" pitchFamily="18" charset="0"/>
              </a:rPr>
              <a:t> </a:t>
            </a:r>
            <a:r>
              <a:rPr lang="es-ES_tradnl" sz="2000" i="1" dirty="0" err="1">
                <a:solidFill>
                  <a:srgbClr val="000000"/>
                </a:solidFill>
                <a:effectLst/>
                <a:latin typeface="Calibri" panose="020F0502020204030204" pitchFamily="34" charset="0"/>
                <a:ea typeface="Times New Roman" panose="02020603050405020304" pitchFamily="18" charset="0"/>
              </a:rPr>
              <a:t>Reporting</a:t>
            </a:r>
            <a:r>
              <a:rPr lang="es-ES_tradnl" sz="2000" i="1" dirty="0">
                <a:solidFill>
                  <a:srgbClr val="000000"/>
                </a:solidFill>
                <a:effectLst/>
                <a:latin typeface="Calibri" panose="020F0502020204030204" pitchFamily="34" charset="0"/>
                <a:ea typeface="Times New Roman" panose="02020603050405020304" pitchFamily="18" charset="0"/>
              </a:rPr>
              <a:t> </a:t>
            </a:r>
            <a:r>
              <a:rPr lang="es-ES_tradnl" sz="2000" i="1" dirty="0" err="1">
                <a:solidFill>
                  <a:srgbClr val="000000"/>
                </a:solidFill>
                <a:effectLst/>
                <a:latin typeface="Calibri" panose="020F0502020204030204" pitchFamily="34" charset="0"/>
                <a:ea typeface="Times New Roman" panose="02020603050405020304" pitchFamily="18" charset="0"/>
              </a:rPr>
              <a:t>Standards</a:t>
            </a:r>
            <a:r>
              <a:rPr lang="es-ES_tradnl" sz="2000" i="1" dirty="0">
                <a:solidFill>
                  <a:srgbClr val="000000"/>
                </a:solidFill>
                <a:effectLst/>
                <a:latin typeface="Calibri" panose="020F0502020204030204" pitchFamily="34" charset="0"/>
                <a:ea typeface="Times New Roman" panose="02020603050405020304" pitchFamily="18" charset="0"/>
              </a:rPr>
              <a:t>, </a:t>
            </a:r>
            <a:r>
              <a:rPr lang="es-ES_tradnl" sz="2000" dirty="0">
                <a:solidFill>
                  <a:srgbClr val="000000"/>
                </a:solidFill>
                <a:effectLst/>
                <a:latin typeface="Calibri" panose="020F0502020204030204" pitchFamily="34" charset="0"/>
                <a:ea typeface="Times New Roman" panose="02020603050405020304" pitchFamily="18" charset="0"/>
              </a:rPr>
              <a:t>en sustitución de </a:t>
            </a:r>
            <a:r>
              <a:rPr lang="es-ES_tradnl" sz="2000" dirty="0" err="1">
                <a:solidFill>
                  <a:srgbClr val="000000"/>
                </a:solidFill>
                <a:effectLst/>
                <a:latin typeface="Calibri" panose="020F0502020204030204" pitchFamily="34" charset="0"/>
                <a:ea typeface="Times New Roman" panose="02020603050405020304" pitchFamily="18" charset="0"/>
              </a:rPr>
              <a:t>estándars</a:t>
            </a:r>
            <a:r>
              <a:rPr lang="es-ES_tradnl" sz="2000" dirty="0">
                <a:solidFill>
                  <a:srgbClr val="000000"/>
                </a:solidFill>
                <a:effectLst/>
                <a:latin typeface="Calibri" panose="020F0502020204030204" pitchFamily="34" charset="0"/>
                <a:ea typeface="Times New Roman" panose="02020603050405020304" pitchFamily="18" charset="0"/>
              </a:rPr>
              <a:t> anteriores</a:t>
            </a:r>
            <a:endParaRPr lang="es-ES" sz="2000" dirty="0"/>
          </a:p>
        </p:txBody>
      </p:sp>
      <p:pic>
        <p:nvPicPr>
          <p:cNvPr id="18" name="Imagen 17">
            <a:hlinkClick r:id="rId6"/>
            <a:extLst>
              <a:ext uri="{FF2B5EF4-FFF2-40B4-BE49-F238E27FC236}">
                <a16:creationId xmlns:a16="http://schemas.microsoft.com/office/drawing/2014/main" id="{64A0AF33-B1AF-A2E4-4A57-2F8CA076BAE5}"/>
              </a:ext>
            </a:extLst>
          </p:cNvPr>
          <p:cNvPicPr>
            <a:picLocks noChangeAspect="1"/>
          </p:cNvPicPr>
          <p:nvPr/>
        </p:nvPicPr>
        <p:blipFill>
          <a:blip r:embed="rId7"/>
          <a:stretch>
            <a:fillRect/>
          </a:stretch>
        </p:blipFill>
        <p:spPr>
          <a:xfrm>
            <a:off x="5338657" y="5729968"/>
            <a:ext cx="1514686" cy="533474"/>
          </a:xfrm>
          <a:prstGeom prst="rect">
            <a:avLst/>
          </a:prstGeom>
        </p:spPr>
      </p:pic>
      <p:sp>
        <p:nvSpPr>
          <p:cNvPr id="20" name="Flecha: hacia arriba 19">
            <a:extLst>
              <a:ext uri="{FF2B5EF4-FFF2-40B4-BE49-F238E27FC236}">
                <a16:creationId xmlns:a16="http://schemas.microsoft.com/office/drawing/2014/main" id="{E31C4EA2-6D45-8743-0923-F6C0B6C91143}"/>
              </a:ext>
            </a:extLst>
          </p:cNvPr>
          <p:cNvSpPr/>
          <p:nvPr/>
        </p:nvSpPr>
        <p:spPr>
          <a:xfrm>
            <a:off x="5886848" y="5154007"/>
            <a:ext cx="479394" cy="425751"/>
          </a:xfrm>
          <a:prstGeom prst="upArrow">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6EA5E8D1-5C6A-DF6E-2791-7132DB1ABB96}"/>
              </a:ext>
            </a:extLst>
          </p:cNvPr>
          <p:cNvSpPr txBox="1"/>
          <p:nvPr/>
        </p:nvSpPr>
        <p:spPr>
          <a:xfrm>
            <a:off x="8397899" y="3185320"/>
            <a:ext cx="3116451" cy="1938992"/>
          </a:xfrm>
          <a:prstGeom prst="rect">
            <a:avLst/>
          </a:prstGeom>
          <a:solidFill>
            <a:srgbClr val="FFD9D9"/>
          </a:solidFill>
        </p:spPr>
        <p:txBody>
          <a:bodyPr wrap="square" rtlCol="0">
            <a:spAutoFit/>
          </a:bodyPr>
          <a:lstStyle/>
          <a:p>
            <a:pPr algn="just"/>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CDP </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Carbon</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i="1" dirty="0" err="1">
                <a:effectLst/>
                <a:latin typeface="Calibri" panose="020F0502020204030204" pitchFamily="34" charset="0"/>
                <a:ea typeface="Times New Roman" panose="02020603050405020304" pitchFamily="18" charset="0"/>
                <a:cs typeface="Times New Roman" panose="02020603050405020304" pitchFamily="18" charset="0"/>
              </a:rPr>
              <a:t>Disclosure</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Project</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organización que proporciona una guía para calcular y comunicar sus emisiones de gases de efecto invernadero</a:t>
            </a:r>
            <a:endParaRPr lang="es-ES" sz="2000" dirty="0"/>
          </a:p>
        </p:txBody>
      </p:sp>
      <p:pic>
        <p:nvPicPr>
          <p:cNvPr id="25" name="Imagen 24">
            <a:hlinkClick r:id="rId8"/>
            <a:extLst>
              <a:ext uri="{FF2B5EF4-FFF2-40B4-BE49-F238E27FC236}">
                <a16:creationId xmlns:a16="http://schemas.microsoft.com/office/drawing/2014/main" id="{801A9A10-A4A9-517E-55BC-418EFB99E29F}"/>
              </a:ext>
            </a:extLst>
          </p:cNvPr>
          <p:cNvPicPr>
            <a:picLocks noChangeAspect="1"/>
          </p:cNvPicPr>
          <p:nvPr/>
        </p:nvPicPr>
        <p:blipFill>
          <a:blip r:embed="rId9"/>
          <a:stretch>
            <a:fillRect/>
          </a:stretch>
        </p:blipFill>
        <p:spPr>
          <a:xfrm>
            <a:off x="9404226" y="5709719"/>
            <a:ext cx="1103796" cy="573973"/>
          </a:xfrm>
          <a:prstGeom prst="rect">
            <a:avLst/>
          </a:prstGeom>
        </p:spPr>
      </p:pic>
      <p:sp>
        <p:nvSpPr>
          <p:cNvPr id="26" name="Flecha: hacia arriba 25">
            <a:extLst>
              <a:ext uri="{FF2B5EF4-FFF2-40B4-BE49-F238E27FC236}">
                <a16:creationId xmlns:a16="http://schemas.microsoft.com/office/drawing/2014/main" id="{A51B2EC5-8BA4-498E-B8EE-F1C5D85D2002}"/>
              </a:ext>
            </a:extLst>
          </p:cNvPr>
          <p:cNvSpPr/>
          <p:nvPr/>
        </p:nvSpPr>
        <p:spPr>
          <a:xfrm>
            <a:off x="9803788" y="5154007"/>
            <a:ext cx="479394" cy="425751"/>
          </a:xfrm>
          <a:prstGeom prst="upArrow">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8" name="Conector recto de flecha 27">
            <a:extLst>
              <a:ext uri="{FF2B5EF4-FFF2-40B4-BE49-F238E27FC236}">
                <a16:creationId xmlns:a16="http://schemas.microsoft.com/office/drawing/2014/main" id="{9F887962-DED3-7EB4-724E-93685232A691}"/>
              </a:ext>
            </a:extLst>
          </p:cNvPr>
          <p:cNvCxnSpPr>
            <a:cxnSpLocks/>
            <a:stCxn id="3" idx="1"/>
            <a:endCxn id="21" idx="0"/>
          </p:cNvCxnSpPr>
          <p:nvPr/>
        </p:nvCxnSpPr>
        <p:spPr>
          <a:xfrm>
            <a:off x="6126545" y="2134565"/>
            <a:ext cx="3829580" cy="1050755"/>
          </a:xfrm>
          <a:prstGeom prst="straightConnector1">
            <a:avLst/>
          </a:prstGeom>
          <a:ln w="50800">
            <a:solidFill>
              <a:schemeClr val="tx1">
                <a:lumMod val="85000"/>
                <a:lumOff val="15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57239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640080" y="533807"/>
            <a:ext cx="9400565" cy="1325563"/>
          </a:xfrm>
        </p:spPr>
        <p:txBody>
          <a:bodyPr>
            <a:normAutofit fontScale="90000"/>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INTEGRACIÓN DE ESTÁNDARES ANTERIORES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10" name="Imagen 9" descr="Diagrama&#10;&#10;Descripción generada automáticamente">
            <a:extLst>
              <a:ext uri="{FF2B5EF4-FFF2-40B4-BE49-F238E27FC236}">
                <a16:creationId xmlns:a16="http://schemas.microsoft.com/office/drawing/2014/main" id="{BF33ED9A-DC12-36BA-1A5D-6C45F6CEF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9360" y="1419923"/>
            <a:ext cx="7292340" cy="5194812"/>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403979226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4.7. CERTIFICADOS ESG O ASG</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254180646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CERTIFICACIÓN </a:t>
            </a:r>
            <a:r>
              <a:rPr lang="es-ES" sz="4000" b="1" kern="0" dirty="0">
                <a:latin typeface="Calibri" panose="020F0502020204030204" pitchFamily="34" charset="0"/>
                <a:ea typeface="Times New Roman" panose="02020603050405020304" pitchFamily="18" charset="0"/>
                <a:cs typeface="Times New Roman" panose="02020603050405020304" pitchFamily="18" charset="0"/>
              </a:rPr>
              <a:t>ESG O ASG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extLst>
              <a:ext uri="{FF2B5EF4-FFF2-40B4-BE49-F238E27FC236}">
                <a16:creationId xmlns:a16="http://schemas.microsoft.com/office/drawing/2014/main" id="{28E53AFF-409B-6D3A-8BC1-3A97B482282E}"/>
              </a:ext>
            </a:extLst>
          </p:cNvPr>
          <p:cNvPicPr>
            <a:picLocks noChangeAspect="1"/>
          </p:cNvPicPr>
          <p:nvPr/>
        </p:nvPicPr>
        <p:blipFill>
          <a:blip r:embed="rId4"/>
          <a:stretch>
            <a:fillRect/>
          </a:stretch>
        </p:blipFill>
        <p:spPr>
          <a:xfrm>
            <a:off x="5610072" y="1972433"/>
            <a:ext cx="1202208" cy="1395607"/>
          </a:xfrm>
          <a:prstGeom prst="rect">
            <a:avLst/>
          </a:prstGeom>
        </p:spPr>
      </p:pic>
      <p:sp>
        <p:nvSpPr>
          <p:cNvPr id="6" name="Rectángulo 5">
            <a:extLst>
              <a:ext uri="{FF2B5EF4-FFF2-40B4-BE49-F238E27FC236}">
                <a16:creationId xmlns:a16="http://schemas.microsoft.com/office/drawing/2014/main" id="{7FA8CCC8-2CDA-CD5E-C034-B70BDF5C2A9B}"/>
              </a:ext>
            </a:extLst>
          </p:cNvPr>
          <p:cNvSpPr/>
          <p:nvPr/>
        </p:nvSpPr>
        <p:spPr>
          <a:xfrm>
            <a:off x="5396712" y="1859370"/>
            <a:ext cx="3975888" cy="1569628"/>
          </a:xfrm>
          <a:prstGeom prst="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8EEF84D7-67A8-613C-A0FE-1944CF7BB803}"/>
              </a:ext>
            </a:extLst>
          </p:cNvPr>
          <p:cNvSpPr txBox="1"/>
          <p:nvPr/>
        </p:nvSpPr>
        <p:spPr>
          <a:xfrm>
            <a:off x="7142528" y="2002911"/>
            <a:ext cx="1925267" cy="1323439"/>
          </a:xfrm>
          <a:prstGeom prst="rect">
            <a:avLst/>
          </a:prstGeom>
          <a:noFill/>
        </p:spPr>
        <p:txBody>
          <a:bodyPr wrap="square" rtlCol="0">
            <a:spAutoFit/>
          </a:bodyPr>
          <a:lstStyle/>
          <a:p>
            <a:pPr algn="just"/>
            <a:r>
              <a:rPr lang="es-ES" sz="2000" b="1" dirty="0"/>
              <a:t>Entidad Externa </a:t>
            </a:r>
            <a:r>
              <a:rPr lang="es-ES" sz="2000" dirty="0"/>
              <a:t>reconocida y técnicamente competente</a:t>
            </a:r>
          </a:p>
        </p:txBody>
      </p:sp>
      <p:cxnSp>
        <p:nvCxnSpPr>
          <p:cNvPr id="12" name="Conector recto 11">
            <a:extLst>
              <a:ext uri="{FF2B5EF4-FFF2-40B4-BE49-F238E27FC236}">
                <a16:creationId xmlns:a16="http://schemas.microsoft.com/office/drawing/2014/main" id="{1504411B-9039-33AD-42BA-57362D9834F8}"/>
              </a:ext>
            </a:extLst>
          </p:cNvPr>
          <p:cNvCxnSpPr/>
          <p:nvPr/>
        </p:nvCxnSpPr>
        <p:spPr>
          <a:xfrm>
            <a:off x="6812280" y="1859370"/>
            <a:ext cx="0" cy="1569628"/>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E3D91801-5689-AF75-CA99-2E02A5157210}"/>
              </a:ext>
            </a:extLst>
          </p:cNvPr>
          <p:cNvPicPr>
            <a:picLocks noChangeAspect="1"/>
          </p:cNvPicPr>
          <p:nvPr/>
        </p:nvPicPr>
        <p:blipFill>
          <a:blip r:embed="rId5"/>
          <a:stretch>
            <a:fillRect/>
          </a:stretch>
        </p:blipFill>
        <p:spPr>
          <a:xfrm flipH="1">
            <a:off x="1665540" y="3246120"/>
            <a:ext cx="1384213" cy="1975134"/>
          </a:xfrm>
          <a:prstGeom prst="rect">
            <a:avLst/>
          </a:prstGeom>
        </p:spPr>
      </p:pic>
      <p:sp>
        <p:nvSpPr>
          <p:cNvPr id="14" name="Flecha: doblada 13">
            <a:extLst>
              <a:ext uri="{FF2B5EF4-FFF2-40B4-BE49-F238E27FC236}">
                <a16:creationId xmlns:a16="http://schemas.microsoft.com/office/drawing/2014/main" id="{76433675-C395-0489-0A2A-BAA914F2ACD7}"/>
              </a:ext>
            </a:extLst>
          </p:cNvPr>
          <p:cNvSpPr/>
          <p:nvPr/>
        </p:nvSpPr>
        <p:spPr>
          <a:xfrm rot="5400000" flipV="1">
            <a:off x="3366467" y="1215876"/>
            <a:ext cx="873577" cy="3186912"/>
          </a:xfrm>
          <a:prstGeom prst="bentArrow">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5" name="Rectángulo: esquinas redondeadas 14">
            <a:extLst>
              <a:ext uri="{FF2B5EF4-FFF2-40B4-BE49-F238E27FC236}">
                <a16:creationId xmlns:a16="http://schemas.microsoft.com/office/drawing/2014/main" id="{4B2909C9-2634-36F0-6322-44A78C92626C}"/>
              </a:ext>
            </a:extLst>
          </p:cNvPr>
          <p:cNvSpPr/>
          <p:nvPr/>
        </p:nvSpPr>
        <p:spPr>
          <a:xfrm>
            <a:off x="1554752" y="5393825"/>
            <a:ext cx="1605787" cy="424856"/>
          </a:xfrm>
          <a:prstGeom prst="round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EMPRESA</a:t>
            </a:r>
          </a:p>
        </p:txBody>
      </p:sp>
      <p:sp>
        <p:nvSpPr>
          <p:cNvPr id="16" name="CuadroTexto 15">
            <a:extLst>
              <a:ext uri="{FF2B5EF4-FFF2-40B4-BE49-F238E27FC236}">
                <a16:creationId xmlns:a16="http://schemas.microsoft.com/office/drawing/2014/main" id="{E75EB928-C43E-4A91-FC27-8BE41B01C846}"/>
              </a:ext>
            </a:extLst>
          </p:cNvPr>
          <p:cNvSpPr txBox="1"/>
          <p:nvPr/>
        </p:nvSpPr>
        <p:spPr>
          <a:xfrm>
            <a:off x="2113330" y="1972433"/>
            <a:ext cx="3186911" cy="400110"/>
          </a:xfrm>
          <a:prstGeom prst="rect">
            <a:avLst/>
          </a:prstGeom>
          <a:noFill/>
        </p:spPr>
        <p:txBody>
          <a:bodyPr wrap="square" rtlCol="0">
            <a:spAutoFit/>
          </a:bodyPr>
          <a:lstStyle/>
          <a:p>
            <a:r>
              <a:rPr lang="es-ES" sz="2000" dirty="0"/>
              <a:t>Vigila si cumple criterios ASG</a:t>
            </a:r>
          </a:p>
        </p:txBody>
      </p:sp>
      <p:sp>
        <p:nvSpPr>
          <p:cNvPr id="17" name="Flecha: doblada 16">
            <a:extLst>
              <a:ext uri="{FF2B5EF4-FFF2-40B4-BE49-F238E27FC236}">
                <a16:creationId xmlns:a16="http://schemas.microsoft.com/office/drawing/2014/main" id="{6F9FCAC2-6262-BFB0-AD8D-2518AA70345D}"/>
              </a:ext>
            </a:extLst>
          </p:cNvPr>
          <p:cNvSpPr/>
          <p:nvPr/>
        </p:nvSpPr>
        <p:spPr>
          <a:xfrm flipH="1" flipV="1">
            <a:off x="3257010" y="3428694"/>
            <a:ext cx="2979648" cy="2575865"/>
          </a:xfrm>
          <a:prstGeom prst="bentArrow">
            <a:avLst>
              <a:gd name="adj1" fmla="val 10789"/>
              <a:gd name="adj2" fmla="val 14736"/>
              <a:gd name="adj3" fmla="val 25000"/>
              <a:gd name="adj4" fmla="val 27434"/>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19" name="Imagen 18">
            <a:extLst>
              <a:ext uri="{FF2B5EF4-FFF2-40B4-BE49-F238E27FC236}">
                <a16:creationId xmlns:a16="http://schemas.microsoft.com/office/drawing/2014/main" id="{2581A857-EB50-2108-C9ED-337EF80E80FD}"/>
              </a:ext>
            </a:extLst>
          </p:cNvPr>
          <p:cNvPicPr>
            <a:picLocks noChangeAspect="1"/>
          </p:cNvPicPr>
          <p:nvPr/>
        </p:nvPicPr>
        <p:blipFill>
          <a:blip r:embed="rId6"/>
          <a:stretch>
            <a:fillRect/>
          </a:stretch>
        </p:blipFill>
        <p:spPr>
          <a:xfrm>
            <a:off x="6409329" y="4058227"/>
            <a:ext cx="1476581" cy="1381318"/>
          </a:xfrm>
          <a:prstGeom prst="rect">
            <a:avLst/>
          </a:prstGeom>
        </p:spPr>
      </p:pic>
      <p:sp>
        <p:nvSpPr>
          <p:cNvPr id="20" name="CuadroTexto 19">
            <a:extLst>
              <a:ext uri="{FF2B5EF4-FFF2-40B4-BE49-F238E27FC236}">
                <a16:creationId xmlns:a16="http://schemas.microsoft.com/office/drawing/2014/main" id="{73422C19-B45F-49BC-D2C9-CC351CCD94F6}"/>
              </a:ext>
            </a:extLst>
          </p:cNvPr>
          <p:cNvSpPr txBox="1"/>
          <p:nvPr/>
        </p:nvSpPr>
        <p:spPr>
          <a:xfrm>
            <a:off x="2475537" y="6094831"/>
            <a:ext cx="4758432" cy="400110"/>
          </a:xfrm>
          <a:prstGeom prst="rect">
            <a:avLst/>
          </a:prstGeom>
          <a:noFill/>
        </p:spPr>
        <p:txBody>
          <a:bodyPr wrap="square" rtlCol="0">
            <a:spAutoFit/>
          </a:bodyPr>
          <a:lstStyle/>
          <a:p>
            <a:r>
              <a:rPr lang="es-ES" sz="2000" dirty="0"/>
              <a:t>Otorga certificado si cumple criterios ASG</a:t>
            </a:r>
          </a:p>
        </p:txBody>
      </p:sp>
      <p:sp>
        <p:nvSpPr>
          <p:cNvPr id="21" name="CuadroTexto 20">
            <a:extLst>
              <a:ext uri="{FF2B5EF4-FFF2-40B4-BE49-F238E27FC236}">
                <a16:creationId xmlns:a16="http://schemas.microsoft.com/office/drawing/2014/main" id="{FEC9826D-45CD-0CD7-1BE2-B7FA3FB9489D}"/>
              </a:ext>
            </a:extLst>
          </p:cNvPr>
          <p:cNvSpPr txBox="1"/>
          <p:nvPr/>
        </p:nvSpPr>
        <p:spPr>
          <a:xfrm>
            <a:off x="6409329" y="5315585"/>
            <a:ext cx="1352863" cy="400110"/>
          </a:xfrm>
          <a:prstGeom prst="rect">
            <a:avLst/>
          </a:prstGeom>
          <a:noFill/>
        </p:spPr>
        <p:txBody>
          <a:bodyPr wrap="square" rtlCol="0">
            <a:spAutoFit/>
          </a:bodyPr>
          <a:lstStyle/>
          <a:p>
            <a:pPr algn="ctr"/>
            <a:r>
              <a:rPr lang="es-ES" sz="2000" dirty="0"/>
              <a:t>Certificado</a:t>
            </a:r>
          </a:p>
        </p:txBody>
      </p:sp>
      <p:sp>
        <p:nvSpPr>
          <p:cNvPr id="22" name="Abrir llave 21">
            <a:extLst>
              <a:ext uri="{FF2B5EF4-FFF2-40B4-BE49-F238E27FC236}">
                <a16:creationId xmlns:a16="http://schemas.microsoft.com/office/drawing/2014/main" id="{46B3C5AB-E6BE-730E-F2A2-3DA15D89C324}"/>
              </a:ext>
            </a:extLst>
          </p:cNvPr>
          <p:cNvSpPr/>
          <p:nvPr/>
        </p:nvSpPr>
        <p:spPr>
          <a:xfrm>
            <a:off x="7762192" y="3977640"/>
            <a:ext cx="447137" cy="1381318"/>
          </a:xfrm>
          <a:prstGeom prst="leftBrace">
            <a:avLst>
              <a:gd name="adj1" fmla="val 42417"/>
              <a:gd name="adj2" fmla="val 50000"/>
            </a:avLst>
          </a:prstGeom>
          <a:ln w="508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3" name="CuadroTexto 22">
            <a:extLst>
              <a:ext uri="{FF2B5EF4-FFF2-40B4-BE49-F238E27FC236}">
                <a16:creationId xmlns:a16="http://schemas.microsoft.com/office/drawing/2014/main" id="{3A0E56A3-CD4C-864D-B351-4A2E3719C243}"/>
              </a:ext>
            </a:extLst>
          </p:cNvPr>
          <p:cNvSpPr txBox="1"/>
          <p:nvPr/>
        </p:nvSpPr>
        <p:spPr>
          <a:xfrm>
            <a:off x="8041591" y="4056001"/>
            <a:ext cx="2961690" cy="1323439"/>
          </a:xfrm>
          <a:prstGeom prst="rect">
            <a:avLst/>
          </a:prstGeom>
          <a:noFill/>
        </p:spPr>
        <p:txBody>
          <a:bodyPr wrap="square" rtlCol="0">
            <a:spAutoFit/>
          </a:bodyPr>
          <a:lstStyle/>
          <a:p>
            <a:pPr marL="342900" indent="-342900">
              <a:buFont typeface="Arial" panose="020B0604020202020204" pitchFamily="34" charset="0"/>
              <a:buChar char="•"/>
            </a:pPr>
            <a:r>
              <a:rPr lang="es-ES" sz="2000" dirty="0"/>
              <a:t>Mejora su reputación</a:t>
            </a:r>
          </a:p>
          <a:p>
            <a:endParaRPr lang="es-ES" sz="2000" dirty="0"/>
          </a:p>
          <a:p>
            <a:pPr marL="342900" indent="-342900">
              <a:buFont typeface="Arial" panose="020B0604020202020204" pitchFamily="34" charset="0"/>
              <a:buChar char="•"/>
            </a:pPr>
            <a:r>
              <a:rPr lang="es-ES" sz="2000" dirty="0"/>
              <a:t>Ofrece garantías a los grupos de interés</a:t>
            </a:r>
          </a:p>
        </p:txBody>
      </p:sp>
    </p:spTree>
    <p:extLst>
      <p:ext uri="{BB962C8B-B14F-4D97-AF65-F5344CB8AC3E}">
        <p14:creationId xmlns:p14="http://schemas.microsoft.com/office/powerpoint/2010/main" val="24293909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CERTIFICACIÓN ESG O ASG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redondeadas 2">
            <a:extLst>
              <a:ext uri="{FF2B5EF4-FFF2-40B4-BE49-F238E27FC236}">
                <a16:creationId xmlns:a16="http://schemas.microsoft.com/office/drawing/2014/main" id="{22F56FD1-5C97-2835-9BB5-CF271760EFC0}"/>
              </a:ext>
            </a:extLst>
          </p:cNvPr>
          <p:cNvSpPr/>
          <p:nvPr/>
        </p:nvSpPr>
        <p:spPr>
          <a:xfrm>
            <a:off x="883920" y="3474720"/>
            <a:ext cx="2819400" cy="975360"/>
          </a:xfrm>
          <a:prstGeom prst="roundRect">
            <a:avLst/>
          </a:prstGeom>
          <a:solidFill>
            <a:schemeClr val="tx1">
              <a:lumMod val="85000"/>
              <a:lumOff val="1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NORMAS RECONOCIDAS</a:t>
            </a:r>
          </a:p>
        </p:txBody>
      </p:sp>
      <p:pic>
        <p:nvPicPr>
          <p:cNvPr id="6" name="Imagen 5">
            <a:extLst>
              <a:ext uri="{FF2B5EF4-FFF2-40B4-BE49-F238E27FC236}">
                <a16:creationId xmlns:a16="http://schemas.microsoft.com/office/drawing/2014/main" id="{DB5CC9CF-757A-56B6-25B0-AE849C1DDC33}"/>
              </a:ext>
            </a:extLst>
          </p:cNvPr>
          <p:cNvPicPr>
            <a:picLocks noChangeAspect="1"/>
          </p:cNvPicPr>
          <p:nvPr/>
        </p:nvPicPr>
        <p:blipFill>
          <a:blip r:embed="rId4"/>
          <a:stretch>
            <a:fillRect/>
          </a:stretch>
        </p:blipFill>
        <p:spPr>
          <a:xfrm>
            <a:off x="4983036" y="2260639"/>
            <a:ext cx="705835" cy="878693"/>
          </a:xfrm>
          <a:prstGeom prst="rect">
            <a:avLst/>
          </a:prstGeom>
        </p:spPr>
      </p:pic>
      <p:sp>
        <p:nvSpPr>
          <p:cNvPr id="10" name="CuadroTexto 9">
            <a:hlinkClick r:id="rId5"/>
            <a:extLst>
              <a:ext uri="{FF2B5EF4-FFF2-40B4-BE49-F238E27FC236}">
                <a16:creationId xmlns:a16="http://schemas.microsoft.com/office/drawing/2014/main" id="{33AB5498-6C3D-0913-6E02-D76643CFFD28}"/>
              </a:ext>
            </a:extLst>
          </p:cNvPr>
          <p:cNvSpPr txBox="1"/>
          <p:nvPr/>
        </p:nvSpPr>
        <p:spPr>
          <a:xfrm>
            <a:off x="6262234" y="2346042"/>
            <a:ext cx="2835898" cy="707886"/>
          </a:xfrm>
          <a:prstGeom prst="rect">
            <a:avLst/>
          </a:prstGeom>
          <a:solidFill>
            <a:srgbClr val="FFE7E7"/>
          </a:solidFill>
        </p:spPr>
        <p:txBody>
          <a:bodyPr wrap="square" rtlCol="0">
            <a:spAutoFit/>
          </a:bodyPr>
          <a:lstStyle/>
          <a:p>
            <a:pPr algn="just"/>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ISO 26000: Guía de Responsabilidad Social</a:t>
            </a:r>
            <a:endParaRPr lang="es-ES" sz="2000" dirty="0"/>
          </a:p>
        </p:txBody>
      </p:sp>
      <p:sp>
        <p:nvSpPr>
          <p:cNvPr id="11" name="CuadroTexto 10">
            <a:extLst>
              <a:ext uri="{FF2B5EF4-FFF2-40B4-BE49-F238E27FC236}">
                <a16:creationId xmlns:a16="http://schemas.microsoft.com/office/drawing/2014/main" id="{D70DA4F2-FFA8-CB1F-7981-CC556B226831}"/>
              </a:ext>
            </a:extLst>
          </p:cNvPr>
          <p:cNvSpPr txBox="1"/>
          <p:nvPr/>
        </p:nvSpPr>
        <p:spPr>
          <a:xfrm>
            <a:off x="9337089" y="2443318"/>
            <a:ext cx="2300950" cy="461665"/>
          </a:xfrm>
          <a:prstGeom prst="rect">
            <a:avLst/>
          </a:prstGeom>
          <a:noFill/>
        </p:spPr>
        <p:txBody>
          <a:bodyPr wrap="square" rtlCol="0">
            <a:spAutoFit/>
          </a:bodyPr>
          <a:lstStyle/>
          <a:p>
            <a:r>
              <a:rPr lang="es-ES" sz="2400" b="1" dirty="0">
                <a:solidFill>
                  <a:srgbClr val="C00000"/>
                </a:solidFill>
              </a:rPr>
              <a:t>No certificable</a:t>
            </a:r>
          </a:p>
        </p:txBody>
      </p:sp>
      <p:pic>
        <p:nvPicPr>
          <p:cNvPr id="12" name="Imagen 11">
            <a:extLst>
              <a:ext uri="{FF2B5EF4-FFF2-40B4-BE49-F238E27FC236}">
                <a16:creationId xmlns:a16="http://schemas.microsoft.com/office/drawing/2014/main" id="{2AD9D796-29A8-B7F7-3286-38884B063AD4}"/>
              </a:ext>
            </a:extLst>
          </p:cNvPr>
          <p:cNvPicPr>
            <a:picLocks noChangeAspect="1"/>
          </p:cNvPicPr>
          <p:nvPr/>
        </p:nvPicPr>
        <p:blipFill>
          <a:blip r:embed="rId4"/>
          <a:stretch>
            <a:fillRect/>
          </a:stretch>
        </p:blipFill>
        <p:spPr>
          <a:xfrm>
            <a:off x="4983036" y="4935639"/>
            <a:ext cx="705835" cy="878693"/>
          </a:xfrm>
          <a:prstGeom prst="rect">
            <a:avLst/>
          </a:prstGeom>
        </p:spPr>
      </p:pic>
      <p:sp>
        <p:nvSpPr>
          <p:cNvPr id="13" name="CuadroTexto 12">
            <a:hlinkClick r:id="rId6"/>
            <a:extLst>
              <a:ext uri="{FF2B5EF4-FFF2-40B4-BE49-F238E27FC236}">
                <a16:creationId xmlns:a16="http://schemas.microsoft.com/office/drawing/2014/main" id="{6C559329-B260-573D-AC26-43CF2062D3BC}"/>
              </a:ext>
            </a:extLst>
          </p:cNvPr>
          <p:cNvSpPr txBox="1"/>
          <p:nvPr/>
        </p:nvSpPr>
        <p:spPr>
          <a:xfrm>
            <a:off x="6262234" y="5021043"/>
            <a:ext cx="2835898" cy="707886"/>
          </a:xfrm>
          <a:prstGeom prst="rect">
            <a:avLst/>
          </a:prstGeom>
          <a:solidFill>
            <a:srgbClr val="FFE7E7"/>
          </a:solidFill>
        </p:spPr>
        <p:txBody>
          <a:bodyPr wrap="square" rtlCol="0">
            <a:spAutoFit/>
          </a:bodyPr>
          <a:lstStyle/>
          <a:p>
            <a:pPr algn="just"/>
            <a:r>
              <a:rPr lang="es-ES_tradnl" sz="2000" b="1" dirty="0">
                <a:effectLst/>
                <a:latin typeface="Calibri" panose="020F0502020204030204" pitchFamily="34" charset="0"/>
                <a:ea typeface="Times New Roman" panose="02020603050405020304" pitchFamily="18" charset="0"/>
                <a:cs typeface="Times New Roman" panose="02020603050405020304" pitchFamily="18" charset="0"/>
              </a:rPr>
              <a:t>UNE-EN-ISO 14001: Gestión Medioambiental</a:t>
            </a:r>
            <a:endParaRPr lang="es-ES" sz="2000" dirty="0"/>
          </a:p>
        </p:txBody>
      </p:sp>
      <p:cxnSp>
        <p:nvCxnSpPr>
          <p:cNvPr id="15" name="Conector recto de flecha 14">
            <a:extLst>
              <a:ext uri="{FF2B5EF4-FFF2-40B4-BE49-F238E27FC236}">
                <a16:creationId xmlns:a16="http://schemas.microsoft.com/office/drawing/2014/main" id="{3C06445F-15B5-28E4-C202-F2B631A4A5D9}"/>
              </a:ext>
            </a:extLst>
          </p:cNvPr>
          <p:cNvCxnSpPr>
            <a:cxnSpLocks/>
            <a:stCxn id="3" idx="3"/>
            <a:endCxn id="6" idx="1"/>
          </p:cNvCxnSpPr>
          <p:nvPr/>
        </p:nvCxnSpPr>
        <p:spPr>
          <a:xfrm flipV="1">
            <a:off x="3703320" y="2699986"/>
            <a:ext cx="1279716" cy="1262414"/>
          </a:xfrm>
          <a:prstGeom prst="straightConnector1">
            <a:avLst/>
          </a:prstGeom>
          <a:ln w="50800">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45AB0AE5-C35B-214E-E363-05B1CD8AE803}"/>
              </a:ext>
            </a:extLst>
          </p:cNvPr>
          <p:cNvCxnSpPr>
            <a:cxnSpLocks/>
            <a:stCxn id="3" idx="3"/>
            <a:endCxn id="12" idx="1"/>
          </p:cNvCxnSpPr>
          <p:nvPr/>
        </p:nvCxnSpPr>
        <p:spPr>
          <a:xfrm>
            <a:off x="3703320" y="3962400"/>
            <a:ext cx="1279716" cy="1412586"/>
          </a:xfrm>
          <a:prstGeom prst="straightConnector1">
            <a:avLst/>
          </a:prstGeom>
          <a:ln w="50800">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7B456D78-3CF8-E7A2-14E0-76FEC600F09B}"/>
              </a:ext>
            </a:extLst>
          </p:cNvPr>
          <p:cNvCxnSpPr>
            <a:stCxn id="6" idx="3"/>
            <a:endCxn id="10" idx="1"/>
          </p:cNvCxnSpPr>
          <p:nvPr/>
        </p:nvCxnSpPr>
        <p:spPr>
          <a:xfrm flipV="1">
            <a:off x="5688871" y="2699985"/>
            <a:ext cx="573363" cy="1"/>
          </a:xfrm>
          <a:prstGeom prst="line">
            <a:avLst/>
          </a:prstGeom>
          <a:ln w="508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A98DB6AE-5FEA-A0A5-7F26-720F875FCCF7}"/>
              </a:ext>
            </a:extLst>
          </p:cNvPr>
          <p:cNvCxnSpPr/>
          <p:nvPr/>
        </p:nvCxnSpPr>
        <p:spPr>
          <a:xfrm flipV="1">
            <a:off x="5688871" y="5374984"/>
            <a:ext cx="573363" cy="1"/>
          </a:xfrm>
          <a:prstGeom prst="line">
            <a:avLst/>
          </a:prstGeom>
          <a:ln w="508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94AE305F-74CE-FB46-0A6B-2796A8ECDFF0}"/>
              </a:ext>
            </a:extLst>
          </p:cNvPr>
          <p:cNvSpPr txBox="1"/>
          <p:nvPr/>
        </p:nvSpPr>
        <p:spPr>
          <a:xfrm>
            <a:off x="6262234" y="5938955"/>
            <a:ext cx="2835898" cy="369332"/>
          </a:xfrm>
          <a:prstGeom prst="rect">
            <a:avLst/>
          </a:prstGeom>
          <a:noFill/>
        </p:spPr>
        <p:txBody>
          <a:bodyPr wrap="square" rtlCol="0">
            <a:spAutoFit/>
          </a:bodyPr>
          <a:lstStyle/>
          <a:p>
            <a:pPr algn="ctr"/>
            <a:r>
              <a:rPr lang="es-ES" dirty="0">
                <a:hlinkClick r:id="rId7"/>
              </a:rPr>
              <a:t>Vídeo Explicativo</a:t>
            </a:r>
            <a:endParaRPr lang="es-ES" dirty="0"/>
          </a:p>
        </p:txBody>
      </p:sp>
      <p:sp>
        <p:nvSpPr>
          <p:cNvPr id="23" name="CuadroTexto 22">
            <a:extLst>
              <a:ext uri="{FF2B5EF4-FFF2-40B4-BE49-F238E27FC236}">
                <a16:creationId xmlns:a16="http://schemas.microsoft.com/office/drawing/2014/main" id="{8E7DCCE5-60C4-144D-689D-A85068C6CA4C}"/>
              </a:ext>
            </a:extLst>
          </p:cNvPr>
          <p:cNvSpPr txBox="1"/>
          <p:nvPr/>
        </p:nvSpPr>
        <p:spPr>
          <a:xfrm>
            <a:off x="6262234" y="3302435"/>
            <a:ext cx="2835898" cy="369332"/>
          </a:xfrm>
          <a:prstGeom prst="rect">
            <a:avLst/>
          </a:prstGeom>
          <a:noFill/>
        </p:spPr>
        <p:txBody>
          <a:bodyPr wrap="square" rtlCol="0">
            <a:spAutoFit/>
          </a:bodyPr>
          <a:lstStyle/>
          <a:p>
            <a:pPr algn="ctr"/>
            <a:r>
              <a:rPr lang="es-ES" dirty="0">
                <a:hlinkClick r:id="rId8"/>
              </a:rPr>
              <a:t>Vídeo Explicativo</a:t>
            </a:r>
            <a:endParaRPr lang="es-ES" dirty="0"/>
          </a:p>
        </p:txBody>
      </p:sp>
    </p:spTree>
    <p:extLst>
      <p:ext uri="{BB962C8B-B14F-4D97-AF65-F5344CB8AC3E}">
        <p14:creationId xmlns:p14="http://schemas.microsoft.com/office/powerpoint/2010/main" val="42360013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CERTIFICACIÓN ESG O ASG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8" name="Imagen 7">
            <a:extLst>
              <a:ext uri="{FF2B5EF4-FFF2-40B4-BE49-F238E27FC236}">
                <a16:creationId xmlns:a16="http://schemas.microsoft.com/office/drawing/2014/main" id="{8DD6BEAE-C682-14F3-5937-F3420729836E}"/>
              </a:ext>
            </a:extLst>
          </p:cNvPr>
          <p:cNvPicPr>
            <a:picLocks noChangeAspect="1"/>
          </p:cNvPicPr>
          <p:nvPr/>
        </p:nvPicPr>
        <p:blipFill>
          <a:blip r:embed="rId4"/>
          <a:stretch>
            <a:fillRect/>
          </a:stretch>
        </p:blipFill>
        <p:spPr>
          <a:xfrm>
            <a:off x="2323609" y="1303557"/>
            <a:ext cx="5029691" cy="5554443"/>
          </a:xfrm>
          <a:prstGeom prst="rect">
            <a:avLst/>
          </a:prstGeom>
        </p:spPr>
      </p:pic>
      <p:sp>
        <p:nvSpPr>
          <p:cNvPr id="3" name="CuadroTexto 2">
            <a:extLst>
              <a:ext uri="{FF2B5EF4-FFF2-40B4-BE49-F238E27FC236}">
                <a16:creationId xmlns:a16="http://schemas.microsoft.com/office/drawing/2014/main" id="{4D52FF71-D586-BBCD-954E-B66E94BDF48B}"/>
              </a:ext>
            </a:extLst>
          </p:cNvPr>
          <p:cNvSpPr txBox="1"/>
          <p:nvPr/>
        </p:nvSpPr>
        <p:spPr>
          <a:xfrm>
            <a:off x="8664607" y="3139440"/>
            <a:ext cx="2369153" cy="1200329"/>
          </a:xfrm>
          <a:prstGeom prst="rect">
            <a:avLst/>
          </a:prstGeom>
          <a:noFill/>
        </p:spPr>
        <p:txBody>
          <a:bodyPr wrap="square" rtlCol="0">
            <a:spAutoFit/>
          </a:bodyPr>
          <a:lstStyle/>
          <a:p>
            <a:pPr algn="just"/>
            <a:r>
              <a:rPr lang="es-ES" sz="2400" dirty="0"/>
              <a:t>Ejemplos de Certificados ESG o ASG extendidos</a:t>
            </a:r>
          </a:p>
        </p:txBody>
      </p:sp>
    </p:spTree>
    <p:extLst>
      <p:ext uri="{BB962C8B-B14F-4D97-AF65-F5344CB8AC3E}">
        <p14:creationId xmlns:p14="http://schemas.microsoft.com/office/powerpoint/2010/main" val="380854723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4.8. EL ESG/ASG Y LOS INVERSORES</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3116734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ESG O ASG Y LOS INVERSORES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4" name="Rectángulo 3">
            <a:extLst>
              <a:ext uri="{FF2B5EF4-FFF2-40B4-BE49-F238E27FC236}">
                <a16:creationId xmlns:a16="http://schemas.microsoft.com/office/drawing/2014/main" id="{E2B9073A-86B8-A5F9-845C-F80DDCC247C2}"/>
              </a:ext>
            </a:extLst>
          </p:cNvPr>
          <p:cNvSpPr/>
          <p:nvPr/>
        </p:nvSpPr>
        <p:spPr>
          <a:xfrm>
            <a:off x="4770120" y="1961681"/>
            <a:ext cx="2529840" cy="1082040"/>
          </a:xfrm>
          <a:prstGeom prst="rect">
            <a:avLst/>
          </a:prstGeom>
          <a:solidFill>
            <a:srgbClr val="186A6A"/>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CRITERIOS </a:t>
            </a:r>
          </a:p>
          <a:p>
            <a:pPr algn="ctr"/>
            <a:r>
              <a:rPr lang="es-ES" sz="3200" b="1" dirty="0"/>
              <a:t>ASG</a:t>
            </a:r>
            <a:r>
              <a:rPr lang="es-ES" sz="2400" b="1" dirty="0"/>
              <a:t> o </a:t>
            </a:r>
            <a:r>
              <a:rPr lang="es-ES" sz="3200" b="1" dirty="0"/>
              <a:t>ESG</a:t>
            </a:r>
          </a:p>
        </p:txBody>
      </p:sp>
      <p:sp>
        <p:nvSpPr>
          <p:cNvPr id="6" name="CuadroTexto 5">
            <a:extLst>
              <a:ext uri="{FF2B5EF4-FFF2-40B4-BE49-F238E27FC236}">
                <a16:creationId xmlns:a16="http://schemas.microsoft.com/office/drawing/2014/main" id="{3C40912D-2584-4B14-C424-D0FE0FF95464}"/>
              </a:ext>
            </a:extLst>
          </p:cNvPr>
          <p:cNvSpPr txBox="1"/>
          <p:nvPr/>
        </p:nvSpPr>
        <p:spPr>
          <a:xfrm>
            <a:off x="1310640" y="3596639"/>
            <a:ext cx="2514600" cy="1200329"/>
          </a:xfrm>
          <a:prstGeom prst="rect">
            <a:avLst/>
          </a:prstGeom>
          <a:solidFill>
            <a:schemeClr val="accent4">
              <a:lumMod val="20000"/>
              <a:lumOff val="80000"/>
            </a:schemeClr>
          </a:solidFill>
        </p:spPr>
        <p:txBody>
          <a:bodyPr wrap="square" rtlCol="0">
            <a:spAutoFit/>
          </a:bodyPr>
          <a:lstStyle/>
          <a:p>
            <a:pPr algn="just"/>
            <a:r>
              <a:rPr lang="es-ES" dirty="0"/>
              <a:t>Solamente las empresas que apuesten por ellos serán económicamente viables a largo plazo</a:t>
            </a:r>
          </a:p>
        </p:txBody>
      </p:sp>
      <p:sp>
        <p:nvSpPr>
          <p:cNvPr id="10" name="Rectángulo 9">
            <a:extLst>
              <a:ext uri="{FF2B5EF4-FFF2-40B4-BE49-F238E27FC236}">
                <a16:creationId xmlns:a16="http://schemas.microsoft.com/office/drawing/2014/main" id="{A79BB0C6-326A-5E7D-1820-97574ADF2EFE}"/>
              </a:ext>
            </a:extLst>
          </p:cNvPr>
          <p:cNvSpPr/>
          <p:nvPr/>
        </p:nvSpPr>
        <p:spPr>
          <a:xfrm>
            <a:off x="4358640" y="5408133"/>
            <a:ext cx="3352800" cy="731520"/>
          </a:xfrm>
          <a:prstGeom prst="rect">
            <a:avLst/>
          </a:prstGeom>
          <a:solidFill>
            <a:srgbClr val="186A6A"/>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Es también una cuestión de sostenibilidad económica</a:t>
            </a:r>
          </a:p>
        </p:txBody>
      </p:sp>
      <p:sp>
        <p:nvSpPr>
          <p:cNvPr id="11" name="CuadroTexto 10">
            <a:extLst>
              <a:ext uri="{FF2B5EF4-FFF2-40B4-BE49-F238E27FC236}">
                <a16:creationId xmlns:a16="http://schemas.microsoft.com/office/drawing/2014/main" id="{8D5369AF-ACC7-AF7A-8452-32017425B8BE}"/>
              </a:ext>
            </a:extLst>
          </p:cNvPr>
          <p:cNvSpPr txBox="1"/>
          <p:nvPr/>
        </p:nvSpPr>
        <p:spPr>
          <a:xfrm>
            <a:off x="8244397" y="3596640"/>
            <a:ext cx="2514600" cy="1200329"/>
          </a:xfrm>
          <a:prstGeom prst="rect">
            <a:avLst/>
          </a:prstGeom>
          <a:solidFill>
            <a:schemeClr val="accent4">
              <a:lumMod val="20000"/>
              <a:lumOff val="80000"/>
            </a:schemeClr>
          </a:solidFill>
        </p:spPr>
        <p:txBody>
          <a:bodyPr wrap="square" rtlCol="0">
            <a:spAutoFit/>
          </a:bodyPr>
          <a:lstStyle/>
          <a:p>
            <a:pPr algn="just"/>
            <a:r>
              <a:rPr lang="es-ES" dirty="0"/>
              <a:t>Cada vez más los inversores tienen en cuenta estas cuestiones para tomar decisiones</a:t>
            </a:r>
          </a:p>
        </p:txBody>
      </p:sp>
      <p:sp>
        <p:nvSpPr>
          <p:cNvPr id="12" name="Flecha: doblada 11">
            <a:extLst>
              <a:ext uri="{FF2B5EF4-FFF2-40B4-BE49-F238E27FC236}">
                <a16:creationId xmlns:a16="http://schemas.microsoft.com/office/drawing/2014/main" id="{ADFF54B6-4F8D-C507-541B-C7BC3F37197E}"/>
              </a:ext>
            </a:extLst>
          </p:cNvPr>
          <p:cNvSpPr/>
          <p:nvPr/>
        </p:nvSpPr>
        <p:spPr>
          <a:xfrm rot="5400000" flipV="1">
            <a:off x="2916012" y="1925351"/>
            <a:ext cx="873577" cy="2042161"/>
          </a:xfrm>
          <a:prstGeom prst="bentArrow">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3" name="Flecha: doblada 12">
            <a:extLst>
              <a:ext uri="{FF2B5EF4-FFF2-40B4-BE49-F238E27FC236}">
                <a16:creationId xmlns:a16="http://schemas.microsoft.com/office/drawing/2014/main" id="{7DEE8D78-F7FC-2701-AE4A-D6CBC0FC57A9}"/>
              </a:ext>
            </a:extLst>
          </p:cNvPr>
          <p:cNvSpPr/>
          <p:nvPr/>
        </p:nvSpPr>
        <p:spPr>
          <a:xfrm rot="16200000" flipH="1" flipV="1">
            <a:off x="8227817" y="1925351"/>
            <a:ext cx="873577" cy="2042161"/>
          </a:xfrm>
          <a:prstGeom prst="bentArrow">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4" name="Flecha: doblada 13">
            <a:extLst>
              <a:ext uri="{FF2B5EF4-FFF2-40B4-BE49-F238E27FC236}">
                <a16:creationId xmlns:a16="http://schemas.microsoft.com/office/drawing/2014/main" id="{D6053DD4-50BF-4D0F-1207-CAA39506EA98}"/>
              </a:ext>
            </a:extLst>
          </p:cNvPr>
          <p:cNvSpPr/>
          <p:nvPr/>
        </p:nvSpPr>
        <p:spPr>
          <a:xfrm rot="16200000">
            <a:off x="2869995" y="4432056"/>
            <a:ext cx="873577" cy="2042161"/>
          </a:xfrm>
          <a:prstGeom prst="bentArrow">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5" name="Flecha: doblada 14">
            <a:extLst>
              <a:ext uri="{FF2B5EF4-FFF2-40B4-BE49-F238E27FC236}">
                <a16:creationId xmlns:a16="http://schemas.microsoft.com/office/drawing/2014/main" id="{11803897-030F-5A70-F5C0-7DDF2433F1F0}"/>
              </a:ext>
            </a:extLst>
          </p:cNvPr>
          <p:cNvSpPr/>
          <p:nvPr/>
        </p:nvSpPr>
        <p:spPr>
          <a:xfrm rot="5400000" flipH="1">
            <a:off x="8329466" y="4432056"/>
            <a:ext cx="873577" cy="2042161"/>
          </a:xfrm>
          <a:prstGeom prst="bentArrow">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pic>
        <p:nvPicPr>
          <p:cNvPr id="17" name="Imagen 16">
            <a:extLst>
              <a:ext uri="{FF2B5EF4-FFF2-40B4-BE49-F238E27FC236}">
                <a16:creationId xmlns:a16="http://schemas.microsoft.com/office/drawing/2014/main" id="{A5700F26-BDA2-8448-3749-DA15BB456CEE}"/>
              </a:ext>
            </a:extLst>
          </p:cNvPr>
          <p:cNvPicPr>
            <a:picLocks noChangeAspect="1"/>
          </p:cNvPicPr>
          <p:nvPr/>
        </p:nvPicPr>
        <p:blipFill>
          <a:blip r:embed="rId4"/>
          <a:stretch>
            <a:fillRect/>
          </a:stretch>
        </p:blipFill>
        <p:spPr>
          <a:xfrm>
            <a:off x="4907058" y="3444301"/>
            <a:ext cx="2255520" cy="1775898"/>
          </a:xfrm>
          <a:prstGeom prst="rect">
            <a:avLst/>
          </a:prstGeom>
        </p:spPr>
      </p:pic>
    </p:spTree>
    <p:extLst>
      <p:ext uri="{BB962C8B-B14F-4D97-AF65-F5344CB8AC3E}">
        <p14:creationId xmlns:p14="http://schemas.microsoft.com/office/powerpoint/2010/main" val="24357955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ESG O ASG Y LOS INVERSORES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redondeadas 2">
            <a:extLst>
              <a:ext uri="{FF2B5EF4-FFF2-40B4-BE49-F238E27FC236}">
                <a16:creationId xmlns:a16="http://schemas.microsoft.com/office/drawing/2014/main" id="{94D5ADC2-E44F-3710-381F-7F6F80BB483E}"/>
              </a:ext>
            </a:extLst>
          </p:cNvPr>
          <p:cNvSpPr/>
          <p:nvPr/>
        </p:nvSpPr>
        <p:spPr>
          <a:xfrm>
            <a:off x="1889760" y="2440136"/>
            <a:ext cx="2819400" cy="1523911"/>
          </a:xfrm>
          <a:prstGeom prst="roundRect">
            <a:avLst/>
          </a:prstGeom>
          <a:solidFill>
            <a:schemeClr val="accent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CAPITAL SOCILAMENTE RESPONSABLE</a:t>
            </a:r>
          </a:p>
        </p:txBody>
      </p:sp>
      <p:sp>
        <p:nvSpPr>
          <p:cNvPr id="8" name="Rectángulo: esquinas redondeadas 7">
            <a:extLst>
              <a:ext uri="{FF2B5EF4-FFF2-40B4-BE49-F238E27FC236}">
                <a16:creationId xmlns:a16="http://schemas.microsoft.com/office/drawing/2014/main" id="{69B0210D-4E98-DCAF-DAD0-20EB154A45BB}"/>
              </a:ext>
            </a:extLst>
          </p:cNvPr>
          <p:cNvSpPr/>
          <p:nvPr/>
        </p:nvSpPr>
        <p:spPr>
          <a:xfrm>
            <a:off x="7193280" y="2440136"/>
            <a:ext cx="2819400" cy="1523911"/>
          </a:xfrm>
          <a:prstGeom prst="roundRect">
            <a:avLst/>
          </a:prstGeom>
          <a:solidFill>
            <a:schemeClr val="accent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INVERSIÓN SOCILAMENTE RESPONSABLE</a:t>
            </a:r>
          </a:p>
        </p:txBody>
      </p:sp>
      <p:sp>
        <p:nvSpPr>
          <p:cNvPr id="16" name="CuadroTexto 15">
            <a:extLst>
              <a:ext uri="{FF2B5EF4-FFF2-40B4-BE49-F238E27FC236}">
                <a16:creationId xmlns:a16="http://schemas.microsoft.com/office/drawing/2014/main" id="{093307CD-412E-25A5-E082-AF22CE4F158E}"/>
              </a:ext>
            </a:extLst>
          </p:cNvPr>
          <p:cNvSpPr txBox="1"/>
          <p:nvPr/>
        </p:nvSpPr>
        <p:spPr>
          <a:xfrm>
            <a:off x="1889760" y="4623749"/>
            <a:ext cx="2819400" cy="1631216"/>
          </a:xfrm>
          <a:prstGeom prst="rect">
            <a:avLst/>
          </a:prstGeom>
          <a:solidFill>
            <a:srgbClr val="FEFECE"/>
          </a:solidFill>
        </p:spPr>
        <p:txBody>
          <a:bodyPr wrap="square" rtlCol="0">
            <a:spAutoFit/>
          </a:bodyPr>
          <a:lstStyle/>
          <a:p>
            <a:pPr algn="just"/>
            <a:r>
              <a:rPr lang="es-ES" sz="2000" dirty="0"/>
              <a:t>Grupos de capital cuya finalidad es buscar inversiones en empresas que se ajusten a criterios ESG o ASG</a:t>
            </a:r>
          </a:p>
        </p:txBody>
      </p:sp>
      <p:pic>
        <p:nvPicPr>
          <p:cNvPr id="19" name="Imagen 18">
            <a:extLst>
              <a:ext uri="{FF2B5EF4-FFF2-40B4-BE49-F238E27FC236}">
                <a16:creationId xmlns:a16="http://schemas.microsoft.com/office/drawing/2014/main" id="{FE41CC06-9E26-91D9-09AD-2191EFF2D69B}"/>
              </a:ext>
            </a:extLst>
          </p:cNvPr>
          <p:cNvPicPr>
            <a:picLocks noChangeAspect="1"/>
          </p:cNvPicPr>
          <p:nvPr/>
        </p:nvPicPr>
        <p:blipFill>
          <a:blip r:embed="rId4"/>
          <a:stretch>
            <a:fillRect/>
          </a:stretch>
        </p:blipFill>
        <p:spPr>
          <a:xfrm>
            <a:off x="10357231" y="2497143"/>
            <a:ext cx="1819529" cy="1409897"/>
          </a:xfrm>
          <a:prstGeom prst="rect">
            <a:avLst/>
          </a:prstGeom>
        </p:spPr>
      </p:pic>
      <p:pic>
        <p:nvPicPr>
          <p:cNvPr id="21" name="Imagen 20">
            <a:extLst>
              <a:ext uri="{FF2B5EF4-FFF2-40B4-BE49-F238E27FC236}">
                <a16:creationId xmlns:a16="http://schemas.microsoft.com/office/drawing/2014/main" id="{C81D20BA-2A51-29CD-D9A0-61EE3956C5E4}"/>
              </a:ext>
            </a:extLst>
          </p:cNvPr>
          <p:cNvPicPr>
            <a:picLocks noChangeAspect="1"/>
          </p:cNvPicPr>
          <p:nvPr/>
        </p:nvPicPr>
        <p:blipFill>
          <a:blip r:embed="rId5"/>
          <a:stretch>
            <a:fillRect/>
          </a:stretch>
        </p:blipFill>
        <p:spPr>
          <a:xfrm>
            <a:off x="32274" y="2587643"/>
            <a:ext cx="1581371" cy="1228896"/>
          </a:xfrm>
          <a:prstGeom prst="rect">
            <a:avLst/>
          </a:prstGeom>
        </p:spPr>
      </p:pic>
      <p:sp>
        <p:nvSpPr>
          <p:cNvPr id="22" name="Flecha: a la izquierda y derecha 21">
            <a:extLst>
              <a:ext uri="{FF2B5EF4-FFF2-40B4-BE49-F238E27FC236}">
                <a16:creationId xmlns:a16="http://schemas.microsoft.com/office/drawing/2014/main" id="{51974B90-43E2-19C4-0669-5B4F9C99B867}"/>
              </a:ext>
            </a:extLst>
          </p:cNvPr>
          <p:cNvSpPr/>
          <p:nvPr/>
        </p:nvSpPr>
        <p:spPr>
          <a:xfrm>
            <a:off x="4735830" y="2832667"/>
            <a:ext cx="2415540" cy="738848"/>
          </a:xfrm>
          <a:prstGeom prst="leftRightArrow">
            <a:avLst/>
          </a:prstGeom>
          <a:solidFill>
            <a:srgbClr val="FFC0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uadroTexto 22">
            <a:extLst>
              <a:ext uri="{FF2B5EF4-FFF2-40B4-BE49-F238E27FC236}">
                <a16:creationId xmlns:a16="http://schemas.microsoft.com/office/drawing/2014/main" id="{AC97C3D9-7AFC-3472-411F-3C75D084D201}"/>
              </a:ext>
            </a:extLst>
          </p:cNvPr>
          <p:cNvSpPr txBox="1"/>
          <p:nvPr/>
        </p:nvSpPr>
        <p:spPr>
          <a:xfrm>
            <a:off x="7193280" y="4649623"/>
            <a:ext cx="2819400" cy="1631216"/>
          </a:xfrm>
          <a:prstGeom prst="rect">
            <a:avLst/>
          </a:prstGeom>
          <a:solidFill>
            <a:srgbClr val="FEFECE"/>
          </a:solidFill>
        </p:spPr>
        <p:txBody>
          <a:bodyPr wrap="square" rtlCol="0">
            <a:spAutoFit/>
          </a:bodyPr>
          <a:lstStyle/>
          <a:p>
            <a:pPr algn="just"/>
            <a:r>
              <a:rPr lang="es-ES" sz="2000" dirty="0"/>
              <a:t>Son inversiones que se rigen tanto por criterios económicos como por criterios éticos, sociales y ambientales</a:t>
            </a:r>
          </a:p>
        </p:txBody>
      </p:sp>
      <p:cxnSp>
        <p:nvCxnSpPr>
          <p:cNvPr id="25" name="Conector recto 24">
            <a:extLst>
              <a:ext uri="{FF2B5EF4-FFF2-40B4-BE49-F238E27FC236}">
                <a16:creationId xmlns:a16="http://schemas.microsoft.com/office/drawing/2014/main" id="{C2D6774E-DFF3-4BA6-8975-EFD7FB9E2116}"/>
              </a:ext>
            </a:extLst>
          </p:cNvPr>
          <p:cNvCxnSpPr>
            <a:stCxn id="3" idx="2"/>
            <a:endCxn id="16" idx="0"/>
          </p:cNvCxnSpPr>
          <p:nvPr/>
        </p:nvCxnSpPr>
        <p:spPr>
          <a:xfrm>
            <a:off x="3299460" y="3964047"/>
            <a:ext cx="0" cy="659702"/>
          </a:xfrm>
          <a:prstGeom prst="line">
            <a:avLst/>
          </a:prstGeom>
          <a:ln w="50800">
            <a:solidFill>
              <a:srgbClr val="EAB200"/>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0089A574-A698-EB5E-16AF-813216ACE91A}"/>
              </a:ext>
            </a:extLst>
          </p:cNvPr>
          <p:cNvCxnSpPr/>
          <p:nvPr/>
        </p:nvCxnSpPr>
        <p:spPr>
          <a:xfrm>
            <a:off x="8587740" y="3964047"/>
            <a:ext cx="0" cy="659702"/>
          </a:xfrm>
          <a:prstGeom prst="line">
            <a:avLst/>
          </a:prstGeom>
          <a:ln w="50800">
            <a:solidFill>
              <a:srgbClr val="EAB200"/>
            </a:solidFill>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D5DA3DC4-0B05-AA15-AEBE-4E8A933690E2}"/>
              </a:ext>
            </a:extLst>
          </p:cNvPr>
          <p:cNvSpPr txBox="1"/>
          <p:nvPr/>
        </p:nvSpPr>
        <p:spPr>
          <a:xfrm>
            <a:off x="7193279" y="1630680"/>
            <a:ext cx="2819399" cy="400110"/>
          </a:xfrm>
          <a:prstGeom prst="rect">
            <a:avLst/>
          </a:prstGeom>
          <a:noFill/>
        </p:spPr>
        <p:txBody>
          <a:bodyPr wrap="square" rtlCol="0">
            <a:spAutoFit/>
          </a:bodyPr>
          <a:lstStyle/>
          <a:p>
            <a:pPr algn="ctr"/>
            <a:r>
              <a:rPr lang="es-ES" sz="2000" u="sng" dirty="0"/>
              <a:t>Estrategia en aumento</a:t>
            </a:r>
          </a:p>
        </p:txBody>
      </p:sp>
      <p:sp>
        <p:nvSpPr>
          <p:cNvPr id="28" name="CuadroTexto 27">
            <a:extLst>
              <a:ext uri="{FF2B5EF4-FFF2-40B4-BE49-F238E27FC236}">
                <a16:creationId xmlns:a16="http://schemas.microsoft.com/office/drawing/2014/main" id="{E1D92009-274D-3364-AB93-F19C0364087F}"/>
              </a:ext>
            </a:extLst>
          </p:cNvPr>
          <p:cNvSpPr txBox="1"/>
          <p:nvPr/>
        </p:nvSpPr>
        <p:spPr>
          <a:xfrm>
            <a:off x="5186235" y="6278659"/>
            <a:ext cx="1819529" cy="369332"/>
          </a:xfrm>
          <a:prstGeom prst="rect">
            <a:avLst/>
          </a:prstGeom>
          <a:noFill/>
        </p:spPr>
        <p:txBody>
          <a:bodyPr wrap="square" rtlCol="0">
            <a:spAutoFit/>
          </a:bodyPr>
          <a:lstStyle/>
          <a:p>
            <a:pPr algn="ctr"/>
            <a:r>
              <a:rPr lang="es-ES" dirty="0">
                <a:hlinkClick r:id="rId6"/>
              </a:rPr>
              <a:t>Vídeo Explicativo</a:t>
            </a:r>
            <a:endParaRPr lang="es-ES" dirty="0"/>
          </a:p>
        </p:txBody>
      </p:sp>
    </p:spTree>
    <p:extLst>
      <p:ext uri="{BB962C8B-B14F-4D97-AF65-F5344CB8AC3E}">
        <p14:creationId xmlns:p14="http://schemas.microsoft.com/office/powerpoint/2010/main" val="19030016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4000" b="1" kern="0" dirty="0">
                <a:effectLst/>
                <a:latin typeface="Calibri" panose="020F0502020204030204" pitchFamily="34" charset="0"/>
                <a:ea typeface="Times New Roman" panose="02020603050405020304" pitchFamily="18" charset="0"/>
                <a:cs typeface="Times New Roman" panose="02020603050405020304" pitchFamily="18" charset="0"/>
              </a:rPr>
              <a:t>FONDOS </a:t>
            </a:r>
            <a:r>
              <a:rPr lang="es-ES" sz="4000" b="1" kern="0" dirty="0">
                <a:latin typeface="Calibri" panose="020F0502020204030204" pitchFamily="34" charset="0"/>
                <a:ea typeface="Times New Roman" panose="02020603050405020304" pitchFamily="18" charset="0"/>
                <a:cs typeface="Times New Roman" panose="02020603050405020304" pitchFamily="18" charset="0"/>
              </a:rPr>
              <a:t>ISR</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extLst>
              <a:ext uri="{FF2B5EF4-FFF2-40B4-BE49-F238E27FC236}">
                <a16:creationId xmlns:a16="http://schemas.microsoft.com/office/drawing/2014/main" id="{BB64E348-8219-4C04-B959-5CCE6AE27587}"/>
              </a:ext>
            </a:extLst>
          </p:cNvPr>
          <p:cNvPicPr>
            <a:picLocks noChangeAspect="1"/>
          </p:cNvPicPr>
          <p:nvPr/>
        </p:nvPicPr>
        <p:blipFill>
          <a:blip r:embed="rId4"/>
          <a:stretch>
            <a:fillRect/>
          </a:stretch>
        </p:blipFill>
        <p:spPr>
          <a:xfrm>
            <a:off x="4528486" y="2984451"/>
            <a:ext cx="2891188" cy="1728130"/>
          </a:xfrm>
          <a:prstGeom prst="rect">
            <a:avLst/>
          </a:prstGeom>
        </p:spPr>
      </p:pic>
      <p:sp>
        <p:nvSpPr>
          <p:cNvPr id="10" name="CuadroTexto 9">
            <a:extLst>
              <a:ext uri="{FF2B5EF4-FFF2-40B4-BE49-F238E27FC236}">
                <a16:creationId xmlns:a16="http://schemas.microsoft.com/office/drawing/2014/main" id="{2F8FB4B2-19FA-EFFC-CEE3-E6DD3134DC03}"/>
              </a:ext>
            </a:extLst>
          </p:cNvPr>
          <p:cNvSpPr txBox="1"/>
          <p:nvPr/>
        </p:nvSpPr>
        <p:spPr>
          <a:xfrm>
            <a:off x="4139866" y="2484120"/>
            <a:ext cx="3668428" cy="523220"/>
          </a:xfrm>
          <a:prstGeom prst="rect">
            <a:avLst/>
          </a:prstGeom>
          <a:noFill/>
        </p:spPr>
        <p:txBody>
          <a:bodyPr wrap="square" rtlCol="0">
            <a:spAutoFit/>
          </a:bodyPr>
          <a:lstStyle/>
          <a:p>
            <a:pPr algn="ctr"/>
            <a:r>
              <a:rPr lang="es-ES" sz="2800" b="1" dirty="0">
                <a:solidFill>
                  <a:schemeClr val="accent6">
                    <a:lumMod val="50000"/>
                  </a:schemeClr>
                </a:solidFill>
              </a:rPr>
              <a:t>Fondos ISRS</a:t>
            </a:r>
          </a:p>
        </p:txBody>
      </p:sp>
      <p:sp>
        <p:nvSpPr>
          <p:cNvPr id="11" name="Rectángulo 10">
            <a:extLst>
              <a:ext uri="{FF2B5EF4-FFF2-40B4-BE49-F238E27FC236}">
                <a16:creationId xmlns:a16="http://schemas.microsoft.com/office/drawing/2014/main" id="{2F542EC9-55F7-08F1-3637-76291FCE46FD}"/>
              </a:ext>
            </a:extLst>
          </p:cNvPr>
          <p:cNvSpPr/>
          <p:nvPr/>
        </p:nvSpPr>
        <p:spPr>
          <a:xfrm>
            <a:off x="4373732" y="2362200"/>
            <a:ext cx="3200696" cy="2499360"/>
          </a:xfrm>
          <a:prstGeom prst="rect">
            <a:avLst/>
          </a:prstGeom>
          <a:noFill/>
          <a:ln w="762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5FED9D82-7628-629B-4CEF-AE4BEAB3FBE4}"/>
              </a:ext>
            </a:extLst>
          </p:cNvPr>
          <p:cNvSpPr txBox="1"/>
          <p:nvPr/>
        </p:nvSpPr>
        <p:spPr>
          <a:xfrm>
            <a:off x="781855" y="1730067"/>
            <a:ext cx="2926080" cy="1015663"/>
          </a:xfrm>
          <a:prstGeom prst="rect">
            <a:avLst/>
          </a:prstGeom>
          <a:solidFill>
            <a:srgbClr val="D0FEB0"/>
          </a:solidFill>
        </p:spPr>
        <p:txBody>
          <a:bodyPr wrap="square" rtlCol="0">
            <a:spAutoFit/>
          </a:bodyPr>
          <a:lstStyle/>
          <a:p>
            <a:pPr algn="just"/>
            <a:r>
              <a:rPr lang="es-ES" sz="2000" dirty="0"/>
              <a:t>Carteras de valores o bonos de gobierno que siguen criterios ESG o ASG</a:t>
            </a:r>
          </a:p>
        </p:txBody>
      </p:sp>
      <p:sp>
        <p:nvSpPr>
          <p:cNvPr id="13" name="CuadroTexto 12">
            <a:extLst>
              <a:ext uri="{FF2B5EF4-FFF2-40B4-BE49-F238E27FC236}">
                <a16:creationId xmlns:a16="http://schemas.microsoft.com/office/drawing/2014/main" id="{D2BCA94B-FA0D-346E-A264-031D176C07A7}"/>
              </a:ext>
            </a:extLst>
          </p:cNvPr>
          <p:cNvSpPr txBox="1"/>
          <p:nvPr/>
        </p:nvSpPr>
        <p:spPr>
          <a:xfrm>
            <a:off x="2707306" y="5389020"/>
            <a:ext cx="6533548" cy="1015663"/>
          </a:xfrm>
          <a:prstGeom prst="rect">
            <a:avLst/>
          </a:prstGeom>
          <a:solidFill>
            <a:srgbClr val="D0FEB0"/>
          </a:solidFill>
        </p:spPr>
        <p:txBody>
          <a:bodyPr wrap="square" rtlCol="0">
            <a:spAutoFit/>
          </a:bodyPr>
          <a:lstStyle/>
          <a:p>
            <a:pPr algn="just"/>
            <a:r>
              <a:rPr lang="es-ES_tradnl" sz="2000" dirty="0">
                <a:solidFill>
                  <a:srgbClr val="000000"/>
                </a:solidFill>
                <a:latin typeface="Calibri" panose="020F0502020204030204" pitchFamily="34" charset="0"/>
                <a:ea typeface="Times New Roman" panose="02020603050405020304" pitchFamily="18" charset="0"/>
              </a:rPr>
              <a:t>E</a:t>
            </a:r>
            <a:r>
              <a:rPr lang="es-ES_tradnl" sz="2000" dirty="0">
                <a:solidFill>
                  <a:srgbClr val="000000"/>
                </a:solidFill>
                <a:effectLst/>
                <a:latin typeface="Calibri" panose="020F0502020204030204" pitchFamily="34" charset="0"/>
                <a:ea typeface="Times New Roman" panose="02020603050405020304" pitchFamily="18" charset="0"/>
              </a:rPr>
              <a:t>xcluyen acciones de empresas contaminantes, que fabrican productos nocivos para la salud o que aplican prácticas laborales no admitidas como el trabajo infantil, etc.</a:t>
            </a:r>
            <a:endParaRPr lang="es-ES" sz="2000" dirty="0"/>
          </a:p>
        </p:txBody>
      </p:sp>
      <p:sp>
        <p:nvSpPr>
          <p:cNvPr id="14" name="CuadroTexto 13">
            <a:extLst>
              <a:ext uri="{FF2B5EF4-FFF2-40B4-BE49-F238E27FC236}">
                <a16:creationId xmlns:a16="http://schemas.microsoft.com/office/drawing/2014/main" id="{BBF33D57-7A50-EB36-863E-6F1C69D047E1}"/>
              </a:ext>
            </a:extLst>
          </p:cNvPr>
          <p:cNvSpPr txBox="1"/>
          <p:nvPr/>
        </p:nvSpPr>
        <p:spPr>
          <a:xfrm>
            <a:off x="8239858" y="1730067"/>
            <a:ext cx="2926080" cy="1938992"/>
          </a:xfrm>
          <a:prstGeom prst="rect">
            <a:avLst/>
          </a:prstGeom>
          <a:solidFill>
            <a:srgbClr val="D0FEB0"/>
          </a:solidFill>
        </p:spPr>
        <p:txBody>
          <a:bodyPr wrap="square" rtlCol="0">
            <a:spAutoFit/>
          </a:bodyPr>
          <a:lstStyle/>
          <a:p>
            <a:pPr algn="just"/>
            <a:r>
              <a:rPr lang="es-ES_tradnl" sz="2000" dirty="0">
                <a:solidFill>
                  <a:srgbClr val="000000"/>
                </a:solidFill>
                <a:latin typeface="Calibri" panose="020F0502020204030204" pitchFamily="34" charset="0"/>
                <a:ea typeface="Times New Roman" panose="02020603050405020304" pitchFamily="18" charset="0"/>
              </a:rPr>
              <a:t>Contribuyen</a:t>
            </a:r>
            <a:r>
              <a:rPr lang="es-ES_tradnl" sz="2000" dirty="0">
                <a:solidFill>
                  <a:srgbClr val="000000"/>
                </a:solidFill>
                <a:effectLst/>
                <a:latin typeface="Calibri" panose="020F0502020204030204" pitchFamily="34" charset="0"/>
                <a:ea typeface="Times New Roman" panose="02020603050405020304" pitchFamily="18" charset="0"/>
              </a:rPr>
              <a:t> a una transformación social y ambiental hacia un mundo más justo, inclusivo y respetuoso con el medio ambiente</a:t>
            </a:r>
            <a:endParaRPr lang="es-ES" sz="2000" dirty="0"/>
          </a:p>
        </p:txBody>
      </p:sp>
      <p:sp>
        <p:nvSpPr>
          <p:cNvPr id="15" name="CuadroTexto 14">
            <a:extLst>
              <a:ext uri="{FF2B5EF4-FFF2-40B4-BE49-F238E27FC236}">
                <a16:creationId xmlns:a16="http://schemas.microsoft.com/office/drawing/2014/main" id="{CE504E97-C265-03A7-B5E5-ACA32407D574}"/>
              </a:ext>
            </a:extLst>
          </p:cNvPr>
          <p:cNvSpPr txBox="1"/>
          <p:nvPr/>
        </p:nvSpPr>
        <p:spPr>
          <a:xfrm>
            <a:off x="8239858" y="3998399"/>
            <a:ext cx="2926080" cy="1015663"/>
          </a:xfrm>
          <a:prstGeom prst="rect">
            <a:avLst/>
          </a:prstGeom>
          <a:solidFill>
            <a:srgbClr val="D0FEB0"/>
          </a:solidFill>
        </p:spPr>
        <p:txBody>
          <a:bodyPr wrap="square" rtlCol="0">
            <a:spAutoFit/>
          </a:bodyPr>
          <a:lstStyle/>
          <a:p>
            <a:pPr algn="just"/>
            <a:r>
              <a:rPr lang="es-ES" sz="2000" dirty="0"/>
              <a:t>Están alineados con los ODS y el Acuerdo de París de la Agenda 2030</a:t>
            </a:r>
          </a:p>
        </p:txBody>
      </p:sp>
      <p:sp>
        <p:nvSpPr>
          <p:cNvPr id="17" name="CuadroTexto 16">
            <a:extLst>
              <a:ext uri="{FF2B5EF4-FFF2-40B4-BE49-F238E27FC236}">
                <a16:creationId xmlns:a16="http://schemas.microsoft.com/office/drawing/2014/main" id="{8FDA6F54-4FDD-85B3-3C1E-615F297EA9F7}"/>
              </a:ext>
            </a:extLst>
          </p:cNvPr>
          <p:cNvSpPr txBox="1"/>
          <p:nvPr/>
        </p:nvSpPr>
        <p:spPr>
          <a:xfrm>
            <a:off x="781855" y="3382846"/>
            <a:ext cx="2926080" cy="1631216"/>
          </a:xfrm>
          <a:prstGeom prst="rect">
            <a:avLst/>
          </a:prstGeom>
          <a:solidFill>
            <a:srgbClr val="D0FEB0"/>
          </a:solidFill>
        </p:spPr>
        <p:txBody>
          <a:bodyPr wrap="square" rtlCol="0">
            <a:spAutoFit/>
          </a:bodyPr>
          <a:lstStyle/>
          <a:p>
            <a:pPr algn="just"/>
            <a:r>
              <a:rPr lang="es-ES" sz="2000" dirty="0"/>
              <a:t>No renuncian a la rentabilidad financiera, que suele ser mayor que el de las inversiones tradicionales</a:t>
            </a:r>
          </a:p>
        </p:txBody>
      </p:sp>
      <p:cxnSp>
        <p:nvCxnSpPr>
          <p:cNvPr id="20" name="Conector recto 19">
            <a:extLst>
              <a:ext uri="{FF2B5EF4-FFF2-40B4-BE49-F238E27FC236}">
                <a16:creationId xmlns:a16="http://schemas.microsoft.com/office/drawing/2014/main" id="{E2B3AD49-931F-0930-3D5E-79DB0A1595D6}"/>
              </a:ext>
            </a:extLst>
          </p:cNvPr>
          <p:cNvCxnSpPr>
            <a:stCxn id="11" idx="1"/>
            <a:endCxn id="12" idx="3"/>
          </p:cNvCxnSpPr>
          <p:nvPr/>
        </p:nvCxnSpPr>
        <p:spPr>
          <a:xfrm flipH="1" flipV="1">
            <a:off x="3707935" y="2237899"/>
            <a:ext cx="665797" cy="1373981"/>
          </a:xfrm>
          <a:prstGeom prst="line">
            <a:avLst/>
          </a:prstGeom>
          <a:ln w="508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6C11D335-71A2-5373-C334-068C080DEBB8}"/>
              </a:ext>
            </a:extLst>
          </p:cNvPr>
          <p:cNvCxnSpPr>
            <a:cxnSpLocks/>
            <a:stCxn id="11" idx="1"/>
            <a:endCxn id="17" idx="3"/>
          </p:cNvCxnSpPr>
          <p:nvPr/>
        </p:nvCxnSpPr>
        <p:spPr>
          <a:xfrm flipH="1">
            <a:off x="3707935" y="3611880"/>
            <a:ext cx="665797" cy="586574"/>
          </a:xfrm>
          <a:prstGeom prst="line">
            <a:avLst/>
          </a:prstGeom>
          <a:ln w="508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D009534D-DD6F-5BB9-F1D2-9E1CDB5C767F}"/>
              </a:ext>
            </a:extLst>
          </p:cNvPr>
          <p:cNvCxnSpPr>
            <a:cxnSpLocks/>
            <a:stCxn id="14" idx="1"/>
          </p:cNvCxnSpPr>
          <p:nvPr/>
        </p:nvCxnSpPr>
        <p:spPr>
          <a:xfrm flipH="1">
            <a:off x="7574428" y="2699563"/>
            <a:ext cx="665430" cy="909877"/>
          </a:xfrm>
          <a:prstGeom prst="line">
            <a:avLst/>
          </a:prstGeom>
          <a:ln w="508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17EE9B92-89B1-B574-6B51-AF5C8FC51810}"/>
              </a:ext>
            </a:extLst>
          </p:cNvPr>
          <p:cNvCxnSpPr>
            <a:cxnSpLocks/>
            <a:stCxn id="15" idx="1"/>
          </p:cNvCxnSpPr>
          <p:nvPr/>
        </p:nvCxnSpPr>
        <p:spPr>
          <a:xfrm flipH="1" flipV="1">
            <a:off x="7574428" y="3553005"/>
            <a:ext cx="665430" cy="953226"/>
          </a:xfrm>
          <a:prstGeom prst="line">
            <a:avLst/>
          </a:prstGeom>
          <a:ln w="508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39652BAE-E52E-293B-76EB-1D439B0534FA}"/>
              </a:ext>
            </a:extLst>
          </p:cNvPr>
          <p:cNvCxnSpPr>
            <a:cxnSpLocks/>
            <a:stCxn id="13" idx="0"/>
          </p:cNvCxnSpPr>
          <p:nvPr/>
        </p:nvCxnSpPr>
        <p:spPr>
          <a:xfrm flipV="1">
            <a:off x="5974080" y="4874360"/>
            <a:ext cx="0" cy="514660"/>
          </a:xfrm>
          <a:prstGeom prst="line">
            <a:avLst/>
          </a:prstGeom>
          <a:ln w="508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4274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ÍNDICES BURSÁTILES RELACIONADOS CON ESG O ASG</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diagonales redondeadas 2">
            <a:extLst>
              <a:ext uri="{FF2B5EF4-FFF2-40B4-BE49-F238E27FC236}">
                <a16:creationId xmlns:a16="http://schemas.microsoft.com/office/drawing/2014/main" id="{93579054-0F2E-F34A-CB3D-6C1602B2CAE0}"/>
              </a:ext>
            </a:extLst>
          </p:cNvPr>
          <p:cNvSpPr/>
          <p:nvPr/>
        </p:nvSpPr>
        <p:spPr>
          <a:xfrm>
            <a:off x="1009513" y="1592982"/>
            <a:ext cx="2494935" cy="601026"/>
          </a:xfrm>
          <a:prstGeom prst="round2DiagRect">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ÍNDICES BURSÁTILES</a:t>
            </a:r>
          </a:p>
        </p:txBody>
      </p:sp>
      <p:sp>
        <p:nvSpPr>
          <p:cNvPr id="4" name="CuadroTexto 3">
            <a:extLst>
              <a:ext uri="{FF2B5EF4-FFF2-40B4-BE49-F238E27FC236}">
                <a16:creationId xmlns:a16="http://schemas.microsoft.com/office/drawing/2014/main" id="{D1BA1EEA-1E00-D8F7-D8E6-3F393CDD38BD}"/>
              </a:ext>
            </a:extLst>
          </p:cNvPr>
          <p:cNvSpPr txBox="1"/>
          <p:nvPr/>
        </p:nvSpPr>
        <p:spPr>
          <a:xfrm>
            <a:off x="4604533" y="1433883"/>
            <a:ext cx="4336026" cy="923330"/>
          </a:xfrm>
          <a:prstGeom prst="rect">
            <a:avLst/>
          </a:prstGeom>
          <a:solidFill>
            <a:srgbClr val="FFE7E7"/>
          </a:solidFill>
        </p:spPr>
        <p:txBody>
          <a:bodyPr wrap="square" rtlCol="0">
            <a:spAutoFit/>
          </a:bodyPr>
          <a:lstStyle/>
          <a:p>
            <a:pPr algn="just"/>
            <a:r>
              <a:rPr lang="es-ES_tradnl" sz="1800" dirty="0">
                <a:effectLst/>
                <a:latin typeface="Calibri" panose="020F0502020204030204" pitchFamily="34" charset="0"/>
                <a:ea typeface="Times New Roman" panose="02020603050405020304" pitchFamily="18" charset="0"/>
                <a:cs typeface="Times New Roman" panose="02020603050405020304" pitchFamily="18" charset="0"/>
              </a:rPr>
              <a:t>Son valores numéricos que muestran la variación estadística temporal de los precios de cotización en bolsa de una empresa</a:t>
            </a:r>
            <a:endParaRPr lang="es-ES" dirty="0"/>
          </a:p>
        </p:txBody>
      </p:sp>
      <p:sp>
        <p:nvSpPr>
          <p:cNvPr id="8" name="Rectángulo: esquinas diagonales redondeadas 7">
            <a:extLst>
              <a:ext uri="{FF2B5EF4-FFF2-40B4-BE49-F238E27FC236}">
                <a16:creationId xmlns:a16="http://schemas.microsoft.com/office/drawing/2014/main" id="{0F4EB698-DCDC-8DAD-BC4C-0B9DC1AB8234}"/>
              </a:ext>
            </a:extLst>
          </p:cNvPr>
          <p:cNvSpPr/>
          <p:nvPr/>
        </p:nvSpPr>
        <p:spPr>
          <a:xfrm>
            <a:off x="782561" y="2818744"/>
            <a:ext cx="10649504" cy="923330"/>
          </a:xfrm>
          <a:prstGeom prst="round2Diag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000" b="1" i="1" u="sng" dirty="0">
                <a:effectLst/>
                <a:latin typeface="Calibri" panose="020F0502020204030204" pitchFamily="34" charset="0"/>
                <a:ea typeface="Times New Roman" panose="02020603050405020304" pitchFamily="18" charset="0"/>
                <a:cs typeface="Times New Roman" panose="02020603050405020304" pitchFamily="18" charset="0"/>
              </a:rPr>
              <a:t>Dow Jones </a:t>
            </a:r>
            <a:r>
              <a:rPr lang="es-ES_tradnl" sz="2000" b="1" i="1" u="sng" dirty="0" err="1">
                <a:effectLst/>
                <a:latin typeface="Calibri" panose="020F0502020204030204" pitchFamily="34" charset="0"/>
                <a:ea typeface="Times New Roman" panose="02020603050405020304" pitchFamily="18" charset="0"/>
                <a:cs typeface="Times New Roman" panose="02020603050405020304" pitchFamily="18" charset="0"/>
              </a:rPr>
              <a:t>Soustainability</a:t>
            </a:r>
            <a:r>
              <a:rPr lang="es-ES_tradnl" sz="2000" b="1" i="1" u="sng" dirty="0">
                <a:effectLst/>
                <a:latin typeface="Calibri" panose="020F0502020204030204" pitchFamily="34" charset="0"/>
                <a:ea typeface="Times New Roman" panose="02020603050405020304" pitchFamily="18" charset="0"/>
                <a:cs typeface="Times New Roman" panose="02020603050405020304" pitchFamily="18" charset="0"/>
              </a:rPr>
              <a:t> </a:t>
            </a:r>
            <a:r>
              <a:rPr lang="es-ES_tradnl" sz="2000" b="1" i="1" u="sng" dirty="0" err="1">
                <a:effectLst/>
                <a:latin typeface="Calibri" panose="020F0502020204030204" pitchFamily="34" charset="0"/>
                <a:ea typeface="Times New Roman" panose="02020603050405020304" pitchFamily="18" charset="0"/>
                <a:cs typeface="Times New Roman" panose="02020603050405020304" pitchFamily="18" charset="0"/>
              </a:rPr>
              <a:t>Index</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Es </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un conjunto de indicadores que miden el desempeño sostenible de una empresa o su capacidad de integrar rentabilidad con aspectos medioambientales y sociales</a:t>
            </a:r>
            <a:endParaRPr lang="es-ES" sz="2000" dirty="0"/>
          </a:p>
        </p:txBody>
      </p:sp>
      <p:sp>
        <p:nvSpPr>
          <p:cNvPr id="19" name="Rectángulo: esquinas diagonales redondeadas 18">
            <a:extLst>
              <a:ext uri="{FF2B5EF4-FFF2-40B4-BE49-F238E27FC236}">
                <a16:creationId xmlns:a16="http://schemas.microsoft.com/office/drawing/2014/main" id="{C34218E0-E3A3-CD8D-88DB-BCD9A8E83BB7}"/>
              </a:ext>
            </a:extLst>
          </p:cNvPr>
          <p:cNvSpPr/>
          <p:nvPr/>
        </p:nvSpPr>
        <p:spPr>
          <a:xfrm>
            <a:off x="782561" y="4130376"/>
            <a:ext cx="10649504" cy="923330"/>
          </a:xfrm>
          <a:prstGeom prst="round2Diag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s-ES_tradnl" sz="2000" b="1" i="1" u="sng" dirty="0">
                <a:effectLst/>
                <a:latin typeface="Calibri" panose="020F0502020204030204" pitchFamily="34" charset="0"/>
                <a:ea typeface="Times New Roman" panose="02020603050405020304" pitchFamily="18" charset="0"/>
                <a:cs typeface="Times New Roman" panose="02020603050405020304" pitchFamily="18" charset="0"/>
              </a:rPr>
              <a:t>FTSE4 Good </a:t>
            </a:r>
            <a:r>
              <a:rPr lang="es-ES_tradnl" sz="2000" b="1" i="1" u="sng" dirty="0" err="1">
                <a:effectLst/>
                <a:latin typeface="Calibri" panose="020F0502020204030204" pitchFamily="34" charset="0"/>
                <a:ea typeface="Times New Roman" panose="02020603050405020304" pitchFamily="18" charset="0"/>
                <a:cs typeface="Times New Roman" panose="02020603050405020304" pitchFamily="18" charset="0"/>
              </a:rPr>
              <a:t>Index</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Son un conjunto de índices bursátiles de la Bolsa de Londres que evalúan a las empresas según criterios ASG o ESG</a:t>
            </a:r>
            <a:endParaRPr lang="es-ES" sz="2000" dirty="0"/>
          </a:p>
        </p:txBody>
      </p:sp>
      <p:sp>
        <p:nvSpPr>
          <p:cNvPr id="21" name="Rectángulo: esquinas diagonales redondeadas 20">
            <a:extLst>
              <a:ext uri="{FF2B5EF4-FFF2-40B4-BE49-F238E27FC236}">
                <a16:creationId xmlns:a16="http://schemas.microsoft.com/office/drawing/2014/main" id="{E258E191-5B52-F7D5-598B-53DC11E6D462}"/>
              </a:ext>
            </a:extLst>
          </p:cNvPr>
          <p:cNvSpPr/>
          <p:nvPr/>
        </p:nvSpPr>
        <p:spPr>
          <a:xfrm>
            <a:off x="782561" y="5442008"/>
            <a:ext cx="10649504" cy="923330"/>
          </a:xfrm>
          <a:prstGeom prst="round2DiagRect">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s-ES_tradnl" sz="2000" b="1" i="1" u="sng" dirty="0">
                <a:effectLst/>
                <a:latin typeface="Calibri" panose="020F0502020204030204" pitchFamily="34" charset="0"/>
                <a:ea typeface="Times New Roman" panose="02020603050405020304" pitchFamily="18" charset="0"/>
                <a:cs typeface="Times New Roman" panose="02020603050405020304" pitchFamily="18" charset="0"/>
              </a:rPr>
              <a:t>MSCI ESG</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La compañía estadounidense MSCI (</a:t>
            </a:r>
            <a:r>
              <a:rPr lang="es-ES_tradnl" sz="2000" i="1" dirty="0">
                <a:effectLst/>
                <a:latin typeface="Calibri" panose="020F0502020204030204" pitchFamily="34" charset="0"/>
                <a:ea typeface="Times New Roman" panose="02020603050405020304" pitchFamily="18" charset="0"/>
                <a:cs typeface="Times New Roman" panose="02020603050405020304" pitchFamily="18" charset="0"/>
              </a:rPr>
              <a:t> Morgan Stanley Capital International)</a:t>
            </a:r>
            <a:r>
              <a:rPr lang="es-ES_tradnl" sz="2000" dirty="0">
                <a:effectLst/>
                <a:latin typeface="Calibri" panose="020F0502020204030204" pitchFamily="34" charset="0"/>
                <a:ea typeface="Times New Roman" panose="02020603050405020304" pitchFamily="18" charset="0"/>
                <a:cs typeface="Times New Roman" panose="02020603050405020304" pitchFamily="18" charset="0"/>
              </a:rPr>
              <a:t>, dedicada a generar índices bursátiles, ha desarrollado un grupo específico destinado a identificar los riesgos ESG o ASG</a:t>
            </a:r>
            <a:endParaRPr lang="es-ES" sz="2000" dirty="0"/>
          </a:p>
        </p:txBody>
      </p:sp>
      <p:cxnSp>
        <p:nvCxnSpPr>
          <p:cNvPr id="23" name="Conector: angular 22">
            <a:extLst>
              <a:ext uri="{FF2B5EF4-FFF2-40B4-BE49-F238E27FC236}">
                <a16:creationId xmlns:a16="http://schemas.microsoft.com/office/drawing/2014/main" id="{83C9DEE0-8E9A-B7D0-776D-5E1E054E35DD}"/>
              </a:ext>
            </a:extLst>
          </p:cNvPr>
          <p:cNvCxnSpPr>
            <a:stCxn id="3" idx="2"/>
            <a:endCxn id="8" idx="2"/>
          </p:cNvCxnSpPr>
          <p:nvPr/>
        </p:nvCxnSpPr>
        <p:spPr>
          <a:xfrm rot="10800000" flipV="1">
            <a:off x="782561" y="1893495"/>
            <a:ext cx="226952" cy="1386914"/>
          </a:xfrm>
          <a:prstGeom prst="bentConnector3">
            <a:avLst>
              <a:gd name="adj1" fmla="val 200726"/>
            </a:avLst>
          </a:prstGeom>
          <a:ln w="50800">
            <a:tailEnd type="triangle" w="med" len="med"/>
          </a:ln>
        </p:spPr>
        <p:style>
          <a:lnRef idx="1">
            <a:schemeClr val="dk1"/>
          </a:lnRef>
          <a:fillRef idx="0">
            <a:schemeClr val="dk1"/>
          </a:fillRef>
          <a:effectRef idx="0">
            <a:schemeClr val="dk1"/>
          </a:effectRef>
          <a:fontRef idx="minor">
            <a:schemeClr val="tx1"/>
          </a:fontRef>
        </p:style>
      </p:cxnSp>
      <p:cxnSp>
        <p:nvCxnSpPr>
          <p:cNvPr id="29" name="Conector: angular 28">
            <a:extLst>
              <a:ext uri="{FF2B5EF4-FFF2-40B4-BE49-F238E27FC236}">
                <a16:creationId xmlns:a16="http://schemas.microsoft.com/office/drawing/2014/main" id="{F893FCA5-EED8-32F6-D786-2839C6293C85}"/>
              </a:ext>
            </a:extLst>
          </p:cNvPr>
          <p:cNvCxnSpPr>
            <a:cxnSpLocks/>
            <a:endCxn id="19" idx="2"/>
          </p:cNvCxnSpPr>
          <p:nvPr/>
        </p:nvCxnSpPr>
        <p:spPr>
          <a:xfrm rot="16200000" flipH="1">
            <a:off x="4825" y="3814305"/>
            <a:ext cx="1311632" cy="243840"/>
          </a:xfrm>
          <a:prstGeom prst="bentConnector2">
            <a:avLst/>
          </a:prstGeom>
          <a:ln w="50800">
            <a:tailEnd type="triangle"/>
          </a:ln>
        </p:spPr>
        <p:style>
          <a:lnRef idx="1">
            <a:schemeClr val="dk1"/>
          </a:lnRef>
          <a:fillRef idx="0">
            <a:schemeClr val="dk1"/>
          </a:fillRef>
          <a:effectRef idx="0">
            <a:schemeClr val="dk1"/>
          </a:effectRef>
          <a:fontRef idx="minor">
            <a:schemeClr val="tx1"/>
          </a:fontRef>
        </p:style>
      </p:cxnSp>
      <p:cxnSp>
        <p:nvCxnSpPr>
          <p:cNvPr id="34" name="Conector: angular 33">
            <a:extLst>
              <a:ext uri="{FF2B5EF4-FFF2-40B4-BE49-F238E27FC236}">
                <a16:creationId xmlns:a16="http://schemas.microsoft.com/office/drawing/2014/main" id="{B8B76AF7-9CA6-4DA9-5F79-5103AE1860A8}"/>
              </a:ext>
            </a:extLst>
          </p:cNvPr>
          <p:cNvCxnSpPr>
            <a:cxnSpLocks/>
          </p:cNvCxnSpPr>
          <p:nvPr/>
        </p:nvCxnSpPr>
        <p:spPr>
          <a:xfrm rot="16200000" flipH="1">
            <a:off x="-17801" y="5130242"/>
            <a:ext cx="1311632" cy="243840"/>
          </a:xfrm>
          <a:prstGeom prst="bentConnector2">
            <a:avLst/>
          </a:prstGeom>
          <a:ln w="50800">
            <a:tailEnd type="triangle"/>
          </a:ln>
        </p:spPr>
        <p:style>
          <a:lnRef idx="1">
            <a:schemeClr val="dk1"/>
          </a:lnRef>
          <a:fillRef idx="0">
            <a:schemeClr val="dk1"/>
          </a:fillRef>
          <a:effectRef idx="0">
            <a:schemeClr val="dk1"/>
          </a:effectRef>
          <a:fontRef idx="minor">
            <a:schemeClr val="tx1"/>
          </a:fontRef>
        </p:style>
      </p:cxnSp>
      <p:cxnSp>
        <p:nvCxnSpPr>
          <p:cNvPr id="37" name="Conector recto de flecha 36">
            <a:extLst>
              <a:ext uri="{FF2B5EF4-FFF2-40B4-BE49-F238E27FC236}">
                <a16:creationId xmlns:a16="http://schemas.microsoft.com/office/drawing/2014/main" id="{A5B2282D-5698-D018-B71A-9B3E03D30A70}"/>
              </a:ext>
            </a:extLst>
          </p:cNvPr>
          <p:cNvCxnSpPr>
            <a:stCxn id="3" idx="0"/>
            <a:endCxn id="4" idx="1"/>
          </p:cNvCxnSpPr>
          <p:nvPr/>
        </p:nvCxnSpPr>
        <p:spPr>
          <a:xfrm>
            <a:off x="3504448" y="1893495"/>
            <a:ext cx="1100085" cy="2053"/>
          </a:xfrm>
          <a:prstGeom prst="straightConnector1">
            <a:avLst/>
          </a:prstGeom>
          <a:ln w="50800">
            <a:tailEnd type="triangle"/>
          </a:ln>
        </p:spPr>
        <p:style>
          <a:lnRef idx="1">
            <a:schemeClr val="dk1"/>
          </a:lnRef>
          <a:fillRef idx="0">
            <a:schemeClr val="dk1"/>
          </a:fillRef>
          <a:effectRef idx="0">
            <a:schemeClr val="dk1"/>
          </a:effectRef>
          <a:fontRef idx="minor">
            <a:schemeClr val="tx1"/>
          </a:fontRef>
        </p:style>
      </p:cxnSp>
      <p:pic>
        <p:nvPicPr>
          <p:cNvPr id="39" name="Imagen 38">
            <a:extLst>
              <a:ext uri="{FF2B5EF4-FFF2-40B4-BE49-F238E27FC236}">
                <a16:creationId xmlns:a16="http://schemas.microsoft.com/office/drawing/2014/main" id="{F3D24485-1A12-23DA-F6ED-AF57438A5A70}"/>
              </a:ext>
            </a:extLst>
          </p:cNvPr>
          <p:cNvPicPr>
            <a:picLocks noChangeAspect="1"/>
          </p:cNvPicPr>
          <p:nvPr/>
        </p:nvPicPr>
        <p:blipFill>
          <a:blip r:embed="rId4"/>
          <a:stretch>
            <a:fillRect/>
          </a:stretch>
        </p:blipFill>
        <p:spPr>
          <a:xfrm>
            <a:off x="9584304" y="1173935"/>
            <a:ext cx="1769496" cy="1576778"/>
          </a:xfrm>
          <a:prstGeom prst="rect">
            <a:avLst/>
          </a:prstGeom>
        </p:spPr>
      </p:pic>
    </p:spTree>
    <p:extLst>
      <p:ext uri="{BB962C8B-B14F-4D97-AF65-F5344CB8AC3E}">
        <p14:creationId xmlns:p14="http://schemas.microsoft.com/office/powerpoint/2010/main" val="30038357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TAXONOMÍA EUROPEA DE FINANZAS SOSTENIBLES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026" name="Picture 2" descr="Understanding the EU Taxonomy">
            <a:extLst>
              <a:ext uri="{FF2B5EF4-FFF2-40B4-BE49-F238E27FC236}">
                <a16:creationId xmlns:a16="http://schemas.microsoft.com/office/drawing/2014/main" id="{0E975CB6-C5F8-FD56-C61D-363BAC0C338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286" t="23114" r="18107" b="22002"/>
          <a:stretch/>
        </p:blipFill>
        <p:spPr bwMode="auto">
          <a:xfrm>
            <a:off x="782561" y="1585811"/>
            <a:ext cx="2229624" cy="1325562"/>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BCA75741-7948-E0CA-01F9-73D65FA94D86}"/>
              </a:ext>
            </a:extLst>
          </p:cNvPr>
          <p:cNvSpPr txBox="1"/>
          <p:nvPr/>
        </p:nvSpPr>
        <p:spPr>
          <a:xfrm>
            <a:off x="4531459" y="2996416"/>
            <a:ext cx="2229624" cy="923330"/>
          </a:xfrm>
          <a:prstGeom prst="rect">
            <a:avLst/>
          </a:prstGeom>
          <a:noFill/>
        </p:spPr>
        <p:txBody>
          <a:bodyPr wrap="square" rtlCol="0">
            <a:spAutoFit/>
          </a:bodyPr>
          <a:lstStyle/>
          <a:p>
            <a:pPr algn="ctr"/>
            <a:r>
              <a:rPr lang="es-ES" b="1" dirty="0"/>
              <a:t>72 ACTIVIDADES DEFINIDAS POR 35 EXPERTOS</a:t>
            </a:r>
          </a:p>
        </p:txBody>
      </p:sp>
      <p:sp>
        <p:nvSpPr>
          <p:cNvPr id="11" name="CuadroTexto 10">
            <a:extLst>
              <a:ext uri="{FF2B5EF4-FFF2-40B4-BE49-F238E27FC236}">
                <a16:creationId xmlns:a16="http://schemas.microsoft.com/office/drawing/2014/main" id="{5C7D13A6-3BE3-1084-49AE-BE47ADC46138}"/>
              </a:ext>
            </a:extLst>
          </p:cNvPr>
          <p:cNvSpPr txBox="1"/>
          <p:nvPr/>
        </p:nvSpPr>
        <p:spPr>
          <a:xfrm>
            <a:off x="3858232" y="4404988"/>
            <a:ext cx="3576079" cy="2308324"/>
          </a:xfrm>
          <a:prstGeom prst="rect">
            <a:avLst/>
          </a:prstGeom>
          <a:solidFill>
            <a:schemeClr val="accent5">
              <a:lumMod val="20000"/>
              <a:lumOff val="80000"/>
            </a:schemeClr>
          </a:solidFill>
        </p:spPr>
        <p:txBody>
          <a:bodyPr wrap="square" rtlCol="0">
            <a:spAutoFit/>
          </a:bodyPr>
          <a:lstStyle/>
          <a:p>
            <a:r>
              <a:rPr lang="es-ES" b="1" u="sng" dirty="0"/>
              <a:t>Requisitos de las actividades</a:t>
            </a:r>
            <a:r>
              <a:rPr lang="es-ES" dirty="0"/>
              <a:t>:</a:t>
            </a:r>
          </a:p>
          <a:p>
            <a:pPr algn="l">
              <a:buFont typeface="Arial" panose="020B0604020202020204" pitchFamily="34" charset="0"/>
              <a:buChar char="•"/>
            </a:pPr>
            <a:r>
              <a:rPr lang="es-ES" b="0" i="0" dirty="0">
                <a:solidFill>
                  <a:srgbClr val="4A4A4A"/>
                </a:solidFill>
                <a:effectLst/>
                <a:latin typeface="Asap"/>
              </a:rPr>
              <a:t>Contribuir a una economía neutra en carbono</a:t>
            </a:r>
          </a:p>
          <a:p>
            <a:pPr algn="l">
              <a:buFont typeface="Arial" panose="020B0604020202020204" pitchFamily="34" charset="0"/>
              <a:buChar char="•"/>
            </a:pPr>
            <a:r>
              <a:rPr lang="es-ES" b="0" i="0" dirty="0">
                <a:solidFill>
                  <a:srgbClr val="4A4A4A"/>
                </a:solidFill>
                <a:effectLst/>
                <a:latin typeface="Asap"/>
              </a:rPr>
              <a:t>No dañar significativamente otros objetivos medioambientales</a:t>
            </a:r>
          </a:p>
          <a:p>
            <a:pPr algn="l">
              <a:buFont typeface="Arial" panose="020B0604020202020204" pitchFamily="34" charset="0"/>
              <a:buChar char="•"/>
            </a:pPr>
            <a:r>
              <a:rPr lang="es-ES" b="0" i="0" dirty="0">
                <a:solidFill>
                  <a:srgbClr val="4A4A4A"/>
                </a:solidFill>
                <a:effectLst/>
                <a:latin typeface="Asap"/>
              </a:rPr>
              <a:t>Desarrollar su actividad con un mínimo de estándares éticos y laborales</a:t>
            </a:r>
            <a:endParaRPr lang="es-ES" dirty="0"/>
          </a:p>
        </p:txBody>
      </p:sp>
      <p:sp>
        <p:nvSpPr>
          <p:cNvPr id="12" name="CuadroTexto 11">
            <a:extLst>
              <a:ext uri="{FF2B5EF4-FFF2-40B4-BE49-F238E27FC236}">
                <a16:creationId xmlns:a16="http://schemas.microsoft.com/office/drawing/2014/main" id="{4F4BD779-E8A5-921A-0A4A-10DA39692D6F}"/>
              </a:ext>
            </a:extLst>
          </p:cNvPr>
          <p:cNvSpPr txBox="1"/>
          <p:nvPr/>
        </p:nvSpPr>
        <p:spPr>
          <a:xfrm>
            <a:off x="7911626" y="1657647"/>
            <a:ext cx="3914614" cy="3170099"/>
          </a:xfrm>
          <a:prstGeom prst="rect">
            <a:avLst/>
          </a:prstGeom>
          <a:solidFill>
            <a:srgbClr val="FEFECE"/>
          </a:solidFill>
        </p:spPr>
        <p:txBody>
          <a:bodyPr wrap="square" rtlCol="0">
            <a:spAutoFit/>
          </a:bodyPr>
          <a:lstStyle/>
          <a:p>
            <a:r>
              <a:rPr lang="es-ES" sz="2000" b="1" u="sng" dirty="0"/>
              <a:t>Objetivos</a:t>
            </a:r>
            <a:r>
              <a:rPr lang="es-ES" sz="2000" dirty="0"/>
              <a:t>:</a:t>
            </a:r>
          </a:p>
          <a:p>
            <a:pPr algn="l">
              <a:buFont typeface="Arial" panose="020B0604020202020204" pitchFamily="34" charset="0"/>
              <a:buChar char="•"/>
            </a:pPr>
            <a:r>
              <a:rPr lang="es-ES" sz="2000" b="0" i="0" dirty="0">
                <a:solidFill>
                  <a:srgbClr val="4A4A4A"/>
                </a:solidFill>
                <a:effectLst/>
              </a:rPr>
              <a:t>La mitigación del cambio climático</a:t>
            </a:r>
          </a:p>
          <a:p>
            <a:pPr algn="l">
              <a:buFont typeface="Arial" panose="020B0604020202020204" pitchFamily="34" charset="0"/>
              <a:buChar char="•"/>
            </a:pPr>
            <a:r>
              <a:rPr lang="es-ES" sz="2000" b="0" i="0" dirty="0">
                <a:solidFill>
                  <a:srgbClr val="4A4A4A"/>
                </a:solidFill>
                <a:effectLst/>
              </a:rPr>
              <a:t>Adaptación al cambio climático</a:t>
            </a:r>
          </a:p>
          <a:p>
            <a:pPr algn="l">
              <a:buFont typeface="Arial" panose="020B0604020202020204" pitchFamily="34" charset="0"/>
              <a:buChar char="•"/>
            </a:pPr>
            <a:r>
              <a:rPr lang="es-ES" sz="2000" b="0" i="0" dirty="0">
                <a:solidFill>
                  <a:srgbClr val="4A4A4A"/>
                </a:solidFill>
                <a:effectLst/>
              </a:rPr>
              <a:t>Sostenibilidad y protección de agua y recursos marinos</a:t>
            </a:r>
          </a:p>
          <a:p>
            <a:pPr algn="l">
              <a:buFont typeface="Arial" panose="020B0604020202020204" pitchFamily="34" charset="0"/>
              <a:buChar char="•"/>
            </a:pPr>
            <a:r>
              <a:rPr lang="es-ES" sz="2000" b="0" i="0" dirty="0">
                <a:solidFill>
                  <a:srgbClr val="4A4A4A"/>
                </a:solidFill>
                <a:effectLst/>
              </a:rPr>
              <a:t>Transición a una economía circular</a:t>
            </a:r>
          </a:p>
          <a:p>
            <a:pPr algn="l">
              <a:buFont typeface="Arial" panose="020B0604020202020204" pitchFamily="34" charset="0"/>
              <a:buChar char="•"/>
            </a:pPr>
            <a:r>
              <a:rPr lang="es-ES" sz="2000" b="0" i="0" dirty="0">
                <a:solidFill>
                  <a:srgbClr val="4A4A4A"/>
                </a:solidFill>
                <a:effectLst/>
              </a:rPr>
              <a:t>Prevención y control de la contaminación </a:t>
            </a:r>
          </a:p>
          <a:p>
            <a:pPr algn="l">
              <a:buFont typeface="Arial" panose="020B0604020202020204" pitchFamily="34" charset="0"/>
              <a:buChar char="•"/>
            </a:pPr>
            <a:r>
              <a:rPr lang="es-ES" sz="2000" b="0" i="0" dirty="0">
                <a:solidFill>
                  <a:srgbClr val="4A4A4A"/>
                </a:solidFill>
                <a:effectLst/>
              </a:rPr>
              <a:t>Protección y restauración de la biodiversidad y ecosistemas</a:t>
            </a:r>
          </a:p>
        </p:txBody>
      </p:sp>
      <p:sp>
        <p:nvSpPr>
          <p:cNvPr id="13" name="Rectángulo: esquinas redondeadas 12">
            <a:extLst>
              <a:ext uri="{FF2B5EF4-FFF2-40B4-BE49-F238E27FC236}">
                <a16:creationId xmlns:a16="http://schemas.microsoft.com/office/drawing/2014/main" id="{7C377F5D-2284-8FF8-CD07-593F634A7942}"/>
              </a:ext>
            </a:extLst>
          </p:cNvPr>
          <p:cNvSpPr/>
          <p:nvPr/>
        </p:nvSpPr>
        <p:spPr>
          <a:xfrm>
            <a:off x="4327863" y="1712949"/>
            <a:ext cx="2636816" cy="1071286"/>
          </a:xfrm>
          <a:prstGeom prst="roundRect">
            <a:avLst/>
          </a:prstGeom>
          <a:solidFill>
            <a:srgbClr val="F2B8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Catálogo de actividades sostenibles</a:t>
            </a:r>
          </a:p>
        </p:txBody>
      </p:sp>
      <p:sp>
        <p:nvSpPr>
          <p:cNvPr id="14" name="Flecha: a la derecha 13">
            <a:extLst>
              <a:ext uri="{FF2B5EF4-FFF2-40B4-BE49-F238E27FC236}">
                <a16:creationId xmlns:a16="http://schemas.microsoft.com/office/drawing/2014/main" id="{C494CDF0-93C5-9C63-C0DF-1F34CB49EC0A}"/>
              </a:ext>
            </a:extLst>
          </p:cNvPr>
          <p:cNvSpPr/>
          <p:nvPr/>
        </p:nvSpPr>
        <p:spPr>
          <a:xfrm>
            <a:off x="3083432" y="2059098"/>
            <a:ext cx="1173184" cy="378989"/>
          </a:xfrm>
          <a:prstGeom prst="rightArrow">
            <a:avLst/>
          </a:prstGeom>
          <a:solidFill>
            <a:schemeClr val="tx1">
              <a:lumMod val="85000"/>
              <a:lumOff val="1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lecha: a la derecha 14">
            <a:extLst>
              <a:ext uri="{FF2B5EF4-FFF2-40B4-BE49-F238E27FC236}">
                <a16:creationId xmlns:a16="http://schemas.microsoft.com/office/drawing/2014/main" id="{7828868E-19C6-A222-967D-AE68AAB99522}"/>
              </a:ext>
            </a:extLst>
          </p:cNvPr>
          <p:cNvSpPr/>
          <p:nvPr/>
        </p:nvSpPr>
        <p:spPr>
          <a:xfrm rot="5400000">
            <a:off x="1476500" y="3190855"/>
            <a:ext cx="767866" cy="378989"/>
          </a:xfrm>
          <a:prstGeom prst="rightArrow">
            <a:avLst/>
          </a:prstGeom>
          <a:solidFill>
            <a:schemeClr val="tx1">
              <a:lumMod val="85000"/>
              <a:lumOff val="1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esquinas redondeadas 17">
            <a:extLst>
              <a:ext uri="{FF2B5EF4-FFF2-40B4-BE49-F238E27FC236}">
                <a16:creationId xmlns:a16="http://schemas.microsoft.com/office/drawing/2014/main" id="{3360EB1D-D5F1-5DD7-5327-032989A7FDB7}"/>
              </a:ext>
            </a:extLst>
          </p:cNvPr>
          <p:cNvSpPr/>
          <p:nvPr/>
        </p:nvSpPr>
        <p:spPr>
          <a:xfrm>
            <a:off x="542025" y="3884271"/>
            <a:ext cx="2636816" cy="1721982"/>
          </a:xfrm>
          <a:prstGeom prst="roundRect">
            <a:avLst/>
          </a:prstGeom>
          <a:solidFill>
            <a:srgbClr val="F2B80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Orientar los flujos de capital para facilitar la transición a una economía más sostenible</a:t>
            </a:r>
          </a:p>
        </p:txBody>
      </p:sp>
    </p:spTree>
    <p:extLst>
      <p:ext uri="{BB962C8B-B14F-4D97-AF65-F5344CB8AC3E}">
        <p14:creationId xmlns:p14="http://schemas.microsoft.com/office/powerpoint/2010/main" val="18598827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TAXONOMÍA EUROPEA DE FINANZAS SOSTENIBLES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3906792D-8462-0DB6-D9FE-8E03144E3D96}"/>
              </a:ext>
            </a:extLst>
          </p:cNvPr>
          <p:cNvPicPr>
            <a:picLocks noChangeAspect="1"/>
          </p:cNvPicPr>
          <p:nvPr/>
        </p:nvPicPr>
        <p:blipFill>
          <a:blip r:embed="rId5"/>
          <a:stretch>
            <a:fillRect/>
          </a:stretch>
        </p:blipFill>
        <p:spPr>
          <a:xfrm>
            <a:off x="976761" y="1376239"/>
            <a:ext cx="10238477" cy="5045806"/>
          </a:xfrm>
          <a:prstGeom prst="rect">
            <a:avLst/>
          </a:prstGeom>
        </p:spPr>
      </p:pic>
    </p:spTree>
    <p:extLst>
      <p:ext uri="{BB962C8B-B14F-4D97-AF65-F5344CB8AC3E}">
        <p14:creationId xmlns:p14="http://schemas.microsoft.com/office/powerpoint/2010/main" val="38260567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TAXONOMÍA EUROPEA DE FINANZAS SOSTENIBLES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 name="Imagen 3">
            <a:hlinkClick r:id="rId4"/>
            <a:extLst>
              <a:ext uri="{FF2B5EF4-FFF2-40B4-BE49-F238E27FC236}">
                <a16:creationId xmlns:a16="http://schemas.microsoft.com/office/drawing/2014/main" id="{CF81C44E-7BCC-8A28-6048-CE839EE2768E}"/>
              </a:ext>
            </a:extLst>
          </p:cNvPr>
          <p:cNvPicPr>
            <a:picLocks noChangeAspect="1"/>
          </p:cNvPicPr>
          <p:nvPr/>
        </p:nvPicPr>
        <p:blipFill>
          <a:blip r:embed="rId5"/>
          <a:stretch>
            <a:fillRect/>
          </a:stretch>
        </p:blipFill>
        <p:spPr>
          <a:xfrm>
            <a:off x="1676400" y="1454778"/>
            <a:ext cx="8088113" cy="5013395"/>
          </a:xfrm>
          <a:prstGeom prst="rect">
            <a:avLst/>
          </a:prstGeom>
        </p:spPr>
      </p:pic>
      <p:sp>
        <p:nvSpPr>
          <p:cNvPr id="6" name="CuadroTexto 5">
            <a:extLst>
              <a:ext uri="{FF2B5EF4-FFF2-40B4-BE49-F238E27FC236}">
                <a16:creationId xmlns:a16="http://schemas.microsoft.com/office/drawing/2014/main" id="{FC556DA8-6219-7FFE-8FE4-BD0F57EC68DF}"/>
              </a:ext>
            </a:extLst>
          </p:cNvPr>
          <p:cNvSpPr txBox="1"/>
          <p:nvPr/>
        </p:nvSpPr>
        <p:spPr>
          <a:xfrm>
            <a:off x="10040645" y="3185160"/>
            <a:ext cx="1739875" cy="646331"/>
          </a:xfrm>
          <a:prstGeom prst="rect">
            <a:avLst/>
          </a:prstGeom>
          <a:noFill/>
        </p:spPr>
        <p:txBody>
          <a:bodyPr wrap="square" rtlCol="0">
            <a:spAutoFit/>
          </a:bodyPr>
          <a:lstStyle/>
          <a:p>
            <a:r>
              <a:rPr lang="es-ES" dirty="0"/>
              <a:t>Fuente: Banco de España</a:t>
            </a:r>
          </a:p>
        </p:txBody>
      </p:sp>
    </p:spTree>
    <p:extLst>
      <p:ext uri="{BB962C8B-B14F-4D97-AF65-F5344CB8AC3E}">
        <p14:creationId xmlns:p14="http://schemas.microsoft.com/office/powerpoint/2010/main" val="202082035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BONO VERDE EUROPEO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6" name="Imagen 5">
            <a:hlinkClick r:id="rId4"/>
            <a:extLst>
              <a:ext uri="{FF2B5EF4-FFF2-40B4-BE49-F238E27FC236}">
                <a16:creationId xmlns:a16="http://schemas.microsoft.com/office/drawing/2014/main" id="{5ECDC0D5-8FAE-3E33-4CC9-2B535936C22F}"/>
              </a:ext>
            </a:extLst>
          </p:cNvPr>
          <p:cNvPicPr>
            <a:picLocks noChangeAspect="1"/>
          </p:cNvPicPr>
          <p:nvPr/>
        </p:nvPicPr>
        <p:blipFill>
          <a:blip r:embed="rId5"/>
          <a:stretch>
            <a:fillRect/>
          </a:stretch>
        </p:blipFill>
        <p:spPr>
          <a:xfrm>
            <a:off x="4327865" y="3253635"/>
            <a:ext cx="6751616" cy="3023112"/>
          </a:xfrm>
          <a:prstGeom prst="rect">
            <a:avLst/>
          </a:prstGeom>
        </p:spPr>
      </p:pic>
      <p:sp>
        <p:nvSpPr>
          <p:cNvPr id="8" name="Rectángulo 7">
            <a:extLst>
              <a:ext uri="{FF2B5EF4-FFF2-40B4-BE49-F238E27FC236}">
                <a16:creationId xmlns:a16="http://schemas.microsoft.com/office/drawing/2014/main" id="{4D468141-249A-6B36-FAB8-3FAA2480F01D}"/>
              </a:ext>
            </a:extLst>
          </p:cNvPr>
          <p:cNvSpPr/>
          <p:nvPr/>
        </p:nvSpPr>
        <p:spPr>
          <a:xfrm>
            <a:off x="640080" y="1622161"/>
            <a:ext cx="2529840" cy="1082040"/>
          </a:xfrm>
          <a:prstGeom prst="rect">
            <a:avLst/>
          </a:prstGeom>
          <a:solidFill>
            <a:srgbClr val="45C727"/>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Bono Verde Europeo</a:t>
            </a:r>
          </a:p>
        </p:txBody>
      </p:sp>
      <p:pic>
        <p:nvPicPr>
          <p:cNvPr id="11" name="Imagen 10">
            <a:extLst>
              <a:ext uri="{FF2B5EF4-FFF2-40B4-BE49-F238E27FC236}">
                <a16:creationId xmlns:a16="http://schemas.microsoft.com/office/drawing/2014/main" id="{DD202649-04E6-E418-3C2C-E3CD594E7068}"/>
              </a:ext>
            </a:extLst>
          </p:cNvPr>
          <p:cNvPicPr>
            <a:picLocks noChangeAspect="1"/>
          </p:cNvPicPr>
          <p:nvPr/>
        </p:nvPicPr>
        <p:blipFill>
          <a:blip r:embed="rId6"/>
          <a:stretch>
            <a:fillRect/>
          </a:stretch>
        </p:blipFill>
        <p:spPr>
          <a:xfrm>
            <a:off x="640080" y="3253635"/>
            <a:ext cx="2529840" cy="2765462"/>
          </a:xfrm>
          <a:prstGeom prst="rect">
            <a:avLst/>
          </a:prstGeom>
        </p:spPr>
      </p:pic>
      <p:sp>
        <p:nvSpPr>
          <p:cNvPr id="12" name="CuadroTexto 11">
            <a:extLst>
              <a:ext uri="{FF2B5EF4-FFF2-40B4-BE49-F238E27FC236}">
                <a16:creationId xmlns:a16="http://schemas.microsoft.com/office/drawing/2014/main" id="{9FF1B012-D3E7-0BAC-F52C-7286F12E56BB}"/>
              </a:ext>
            </a:extLst>
          </p:cNvPr>
          <p:cNvSpPr txBox="1"/>
          <p:nvPr/>
        </p:nvSpPr>
        <p:spPr>
          <a:xfrm>
            <a:off x="4327864" y="1655349"/>
            <a:ext cx="6751616" cy="1015663"/>
          </a:xfrm>
          <a:prstGeom prst="rect">
            <a:avLst/>
          </a:prstGeom>
          <a:solidFill>
            <a:srgbClr val="EAFAE6"/>
          </a:solidFill>
        </p:spPr>
        <p:txBody>
          <a:bodyPr wrap="square" rtlCol="0">
            <a:spAutoFit/>
          </a:bodyPr>
          <a:lstStyle/>
          <a:p>
            <a:pPr algn="just"/>
            <a:r>
              <a:rPr lang="es-ES_tradnl" sz="2000" dirty="0">
                <a:solidFill>
                  <a:srgbClr val="000000"/>
                </a:solidFill>
                <a:effectLst/>
                <a:latin typeface="Calibri" panose="020F0502020204030204" pitchFamily="34" charset="0"/>
                <a:ea typeface="Times New Roman" panose="02020603050405020304" pitchFamily="18" charset="0"/>
              </a:rPr>
              <a:t>Títulos de deuda diseñados para favorecer proyectos climáticos y medioambientales cuyo capital se invierte mayoritariamente en actividades recogidas en la </a:t>
            </a:r>
            <a:r>
              <a:rPr lang="es-ES_tradnl" sz="2000" b="1" dirty="0">
                <a:solidFill>
                  <a:srgbClr val="000000"/>
                </a:solidFill>
                <a:effectLst/>
                <a:latin typeface="Calibri" panose="020F0502020204030204" pitchFamily="34" charset="0"/>
                <a:ea typeface="Times New Roman" panose="02020603050405020304" pitchFamily="18" charset="0"/>
              </a:rPr>
              <a:t>Taxonomía Europea</a:t>
            </a:r>
            <a:endParaRPr lang="es-ES" sz="2000" b="1" dirty="0"/>
          </a:p>
        </p:txBody>
      </p:sp>
      <p:cxnSp>
        <p:nvCxnSpPr>
          <p:cNvPr id="14" name="Conector recto 13">
            <a:extLst>
              <a:ext uri="{FF2B5EF4-FFF2-40B4-BE49-F238E27FC236}">
                <a16:creationId xmlns:a16="http://schemas.microsoft.com/office/drawing/2014/main" id="{C2E50C11-BD41-00BB-5B1A-DC8113FA9B0B}"/>
              </a:ext>
            </a:extLst>
          </p:cNvPr>
          <p:cNvCxnSpPr>
            <a:stCxn id="12" idx="1"/>
            <a:endCxn id="8" idx="3"/>
          </p:cNvCxnSpPr>
          <p:nvPr/>
        </p:nvCxnSpPr>
        <p:spPr>
          <a:xfrm flipH="1">
            <a:off x="3169920" y="2163181"/>
            <a:ext cx="1157944" cy="0"/>
          </a:xfrm>
          <a:prstGeom prst="line">
            <a:avLst/>
          </a:prstGeom>
          <a:ln w="508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80372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BONO VERDE EUROPEO</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4" name="Imagen 3">
            <a:hlinkClick r:id="rId4"/>
            <a:extLst>
              <a:ext uri="{FF2B5EF4-FFF2-40B4-BE49-F238E27FC236}">
                <a16:creationId xmlns:a16="http://schemas.microsoft.com/office/drawing/2014/main" id="{80F0E730-4072-A412-DB7A-B7F08A71171F}"/>
              </a:ext>
            </a:extLst>
          </p:cNvPr>
          <p:cNvPicPr>
            <a:picLocks noChangeAspect="1"/>
          </p:cNvPicPr>
          <p:nvPr/>
        </p:nvPicPr>
        <p:blipFill>
          <a:blip r:embed="rId5"/>
          <a:stretch>
            <a:fillRect/>
          </a:stretch>
        </p:blipFill>
        <p:spPr>
          <a:xfrm>
            <a:off x="999413" y="1425408"/>
            <a:ext cx="9041232" cy="5306443"/>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95930662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4.9. EL PAPELDE LOS GOBIERNOS Y LA NORMATIVA</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8216709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EL PAPEL DE LOS GOBIERNOS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3" name="Imagen 2">
            <a:extLst>
              <a:ext uri="{FF2B5EF4-FFF2-40B4-BE49-F238E27FC236}">
                <a16:creationId xmlns:a16="http://schemas.microsoft.com/office/drawing/2014/main" id="{6B388269-EAEC-7321-0715-46ADCA230590}"/>
              </a:ext>
            </a:extLst>
          </p:cNvPr>
          <p:cNvPicPr>
            <a:picLocks noChangeAspect="1"/>
          </p:cNvPicPr>
          <p:nvPr/>
        </p:nvPicPr>
        <p:blipFill>
          <a:blip r:embed="rId4"/>
          <a:stretch>
            <a:fillRect/>
          </a:stretch>
        </p:blipFill>
        <p:spPr>
          <a:xfrm>
            <a:off x="5283832" y="2780300"/>
            <a:ext cx="1547840" cy="1484920"/>
          </a:xfrm>
          <a:prstGeom prst="rect">
            <a:avLst/>
          </a:prstGeom>
        </p:spPr>
      </p:pic>
      <p:sp>
        <p:nvSpPr>
          <p:cNvPr id="6" name="CuadroTexto 5">
            <a:extLst>
              <a:ext uri="{FF2B5EF4-FFF2-40B4-BE49-F238E27FC236}">
                <a16:creationId xmlns:a16="http://schemas.microsoft.com/office/drawing/2014/main" id="{10CBB4A4-FEC7-7CFD-E815-D8489207E4B8}"/>
              </a:ext>
            </a:extLst>
          </p:cNvPr>
          <p:cNvSpPr txBox="1"/>
          <p:nvPr/>
        </p:nvSpPr>
        <p:spPr>
          <a:xfrm>
            <a:off x="5166212" y="2100405"/>
            <a:ext cx="1783080" cy="461665"/>
          </a:xfrm>
          <a:prstGeom prst="rect">
            <a:avLst/>
          </a:prstGeom>
          <a:noFill/>
        </p:spPr>
        <p:txBody>
          <a:bodyPr wrap="square" rtlCol="0">
            <a:spAutoFit/>
          </a:bodyPr>
          <a:lstStyle/>
          <a:p>
            <a:pPr algn="ctr"/>
            <a:r>
              <a:rPr lang="es-ES" sz="2400" b="1" dirty="0"/>
              <a:t>GOBIERNOS</a:t>
            </a:r>
          </a:p>
        </p:txBody>
      </p:sp>
      <p:sp>
        <p:nvSpPr>
          <p:cNvPr id="8" name="Rectángulo 7">
            <a:extLst>
              <a:ext uri="{FF2B5EF4-FFF2-40B4-BE49-F238E27FC236}">
                <a16:creationId xmlns:a16="http://schemas.microsoft.com/office/drawing/2014/main" id="{E627C173-A1CB-1265-26EE-7D90AE51A8E7}"/>
              </a:ext>
            </a:extLst>
          </p:cNvPr>
          <p:cNvSpPr/>
          <p:nvPr/>
        </p:nvSpPr>
        <p:spPr>
          <a:xfrm>
            <a:off x="4998424" y="1942617"/>
            <a:ext cx="2118656" cy="2540821"/>
          </a:xfrm>
          <a:prstGeom prst="rect">
            <a:avLst/>
          </a:prstGeom>
          <a:noFill/>
          <a:ln w="508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diagonales redondeadas 9">
            <a:extLst>
              <a:ext uri="{FF2B5EF4-FFF2-40B4-BE49-F238E27FC236}">
                <a16:creationId xmlns:a16="http://schemas.microsoft.com/office/drawing/2014/main" id="{D77D09B4-AEE8-853B-2C9C-BE533489C572}"/>
              </a:ext>
            </a:extLst>
          </p:cNvPr>
          <p:cNvSpPr/>
          <p:nvPr/>
        </p:nvSpPr>
        <p:spPr>
          <a:xfrm>
            <a:off x="1447800" y="2569690"/>
            <a:ext cx="2407920" cy="950177"/>
          </a:xfrm>
          <a:prstGeom prst="round2DiagRect">
            <a:avLst/>
          </a:prstGeom>
          <a:solidFill>
            <a:srgbClr val="E99E09"/>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ESTABLECEN POLÍTICAS</a:t>
            </a:r>
          </a:p>
        </p:txBody>
      </p:sp>
      <p:sp>
        <p:nvSpPr>
          <p:cNvPr id="11" name="Rectángulo: esquinas diagonales redondeadas 10">
            <a:extLst>
              <a:ext uri="{FF2B5EF4-FFF2-40B4-BE49-F238E27FC236}">
                <a16:creationId xmlns:a16="http://schemas.microsoft.com/office/drawing/2014/main" id="{3406B212-9DA4-5FBC-D49E-70ADE5336B0C}"/>
              </a:ext>
            </a:extLst>
          </p:cNvPr>
          <p:cNvSpPr/>
          <p:nvPr/>
        </p:nvSpPr>
        <p:spPr>
          <a:xfrm>
            <a:off x="8290264" y="2569690"/>
            <a:ext cx="2407920" cy="950177"/>
          </a:xfrm>
          <a:prstGeom prst="round2DiagRect">
            <a:avLst/>
          </a:prstGeom>
          <a:solidFill>
            <a:srgbClr val="E99E09"/>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DECIDEN FINANCIACIÓN</a:t>
            </a:r>
          </a:p>
        </p:txBody>
      </p:sp>
      <p:sp>
        <p:nvSpPr>
          <p:cNvPr id="12" name="Rectángulo: esquinas diagonales redondeadas 11">
            <a:extLst>
              <a:ext uri="{FF2B5EF4-FFF2-40B4-BE49-F238E27FC236}">
                <a16:creationId xmlns:a16="http://schemas.microsoft.com/office/drawing/2014/main" id="{3C8DAF4F-7F15-3E9A-0DA6-C77D7F1FE80A}"/>
              </a:ext>
            </a:extLst>
          </p:cNvPr>
          <p:cNvSpPr/>
          <p:nvPr/>
        </p:nvSpPr>
        <p:spPr>
          <a:xfrm>
            <a:off x="4853792" y="5443011"/>
            <a:ext cx="2407920" cy="950177"/>
          </a:xfrm>
          <a:prstGeom prst="round2DiagRect">
            <a:avLst/>
          </a:prstGeom>
          <a:solidFill>
            <a:srgbClr val="E99E09"/>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DICTAN REGULACIÓN</a:t>
            </a:r>
          </a:p>
        </p:txBody>
      </p:sp>
      <p:sp>
        <p:nvSpPr>
          <p:cNvPr id="13" name="Flecha: cheurón 12">
            <a:extLst>
              <a:ext uri="{FF2B5EF4-FFF2-40B4-BE49-F238E27FC236}">
                <a16:creationId xmlns:a16="http://schemas.microsoft.com/office/drawing/2014/main" id="{1880B4AD-6CB3-76DB-1EC1-56CF1574F274}"/>
              </a:ext>
            </a:extLst>
          </p:cNvPr>
          <p:cNvSpPr/>
          <p:nvPr/>
        </p:nvSpPr>
        <p:spPr>
          <a:xfrm>
            <a:off x="7337098" y="2877138"/>
            <a:ext cx="724566" cy="335280"/>
          </a:xfrm>
          <a:prstGeom prst="chevron">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4" name="Flecha: cheurón 13">
            <a:extLst>
              <a:ext uri="{FF2B5EF4-FFF2-40B4-BE49-F238E27FC236}">
                <a16:creationId xmlns:a16="http://schemas.microsoft.com/office/drawing/2014/main" id="{5AF6AEEF-6955-ABCE-A6DC-8E32B0020F60}"/>
              </a:ext>
            </a:extLst>
          </p:cNvPr>
          <p:cNvSpPr/>
          <p:nvPr/>
        </p:nvSpPr>
        <p:spPr>
          <a:xfrm flipH="1">
            <a:off x="4029482" y="2877138"/>
            <a:ext cx="724566" cy="335280"/>
          </a:xfrm>
          <a:prstGeom prst="chevron">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5" name="Flecha: cheurón 14">
            <a:extLst>
              <a:ext uri="{FF2B5EF4-FFF2-40B4-BE49-F238E27FC236}">
                <a16:creationId xmlns:a16="http://schemas.microsoft.com/office/drawing/2014/main" id="{8D0361E2-D5EF-8B3E-7591-E4BADE01CBE2}"/>
              </a:ext>
            </a:extLst>
          </p:cNvPr>
          <p:cNvSpPr/>
          <p:nvPr/>
        </p:nvSpPr>
        <p:spPr>
          <a:xfrm rot="5400000">
            <a:off x="5695469" y="4740590"/>
            <a:ext cx="724566" cy="335280"/>
          </a:xfrm>
          <a:prstGeom prst="chevron">
            <a:avLst/>
          </a:prstGeom>
          <a:solidFill>
            <a:schemeClr val="accent1">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 name="CuadroTexto 3">
            <a:extLst>
              <a:ext uri="{FF2B5EF4-FFF2-40B4-BE49-F238E27FC236}">
                <a16:creationId xmlns:a16="http://schemas.microsoft.com/office/drawing/2014/main" id="{85A5B518-7910-00EE-A707-5C53140AB3AD}"/>
              </a:ext>
            </a:extLst>
          </p:cNvPr>
          <p:cNvSpPr txBox="1"/>
          <p:nvPr/>
        </p:nvSpPr>
        <p:spPr>
          <a:xfrm>
            <a:off x="603441" y="4483438"/>
            <a:ext cx="3426041" cy="1631216"/>
          </a:xfrm>
          <a:prstGeom prst="rect">
            <a:avLst/>
          </a:prstGeom>
          <a:solidFill>
            <a:schemeClr val="accent1">
              <a:lumMod val="20000"/>
              <a:lumOff val="80000"/>
            </a:schemeClr>
          </a:solidFill>
          <a:effectLst>
            <a:outerShdw blurRad="63500" sx="102000" sy="102000" algn="ctr" rotWithShape="0">
              <a:prstClr val="black">
                <a:alpha val="40000"/>
              </a:prstClr>
            </a:outerShdw>
          </a:effectLst>
        </p:spPr>
        <p:txBody>
          <a:bodyPr wrap="square" rtlCol="0">
            <a:spAutoFit/>
          </a:bodyPr>
          <a:lstStyle/>
          <a:p>
            <a:pPr algn="just"/>
            <a:r>
              <a:rPr lang="es-ES" sz="2000" dirty="0"/>
              <a:t>Su papel es fundamental para lograr que las empresas adopten criterios ESG o ASG y avanzar hacia una economía más </a:t>
            </a:r>
            <a:r>
              <a:rPr lang="es-ES" sz="2000" b="1" dirty="0"/>
              <a:t>sostenible</a:t>
            </a:r>
            <a:r>
              <a:rPr lang="es-ES" sz="2000" dirty="0"/>
              <a:t>.</a:t>
            </a:r>
          </a:p>
        </p:txBody>
      </p:sp>
    </p:spTree>
    <p:extLst>
      <p:ext uri="{BB962C8B-B14F-4D97-AF65-F5344CB8AC3E}">
        <p14:creationId xmlns:p14="http://schemas.microsoft.com/office/powerpoint/2010/main" val="34320385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65760" y="537301"/>
            <a:ext cx="974279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EUROPEAS SOBRE REPORTES NO FINANCIEROS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16" name="Flecha: a la derecha 15">
            <a:extLst>
              <a:ext uri="{FF2B5EF4-FFF2-40B4-BE49-F238E27FC236}">
                <a16:creationId xmlns:a16="http://schemas.microsoft.com/office/drawing/2014/main" id="{2909F494-5D6C-518A-1F26-DDC704BB7843}"/>
              </a:ext>
            </a:extLst>
          </p:cNvPr>
          <p:cNvSpPr/>
          <p:nvPr/>
        </p:nvSpPr>
        <p:spPr>
          <a:xfrm>
            <a:off x="655024" y="5957203"/>
            <a:ext cx="11049296" cy="210652"/>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5E991B4E-8803-201B-EAEC-F5D64F3F1673}"/>
              </a:ext>
            </a:extLst>
          </p:cNvPr>
          <p:cNvSpPr/>
          <p:nvPr/>
        </p:nvSpPr>
        <p:spPr>
          <a:xfrm>
            <a:off x="4933184" y="5914400"/>
            <a:ext cx="253455" cy="253455"/>
          </a:xfrm>
          <a:prstGeom prst="ellipse">
            <a:avLst/>
          </a:prstGeom>
          <a:solidFill>
            <a:srgbClr val="C00000"/>
          </a:solidFill>
          <a:effectLst>
            <a:glow rad="101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A8CA0FB7-05EC-B30F-5936-4F75451EA458}"/>
              </a:ext>
            </a:extLst>
          </p:cNvPr>
          <p:cNvSpPr txBox="1"/>
          <p:nvPr/>
        </p:nvSpPr>
        <p:spPr>
          <a:xfrm>
            <a:off x="4506846" y="5305412"/>
            <a:ext cx="1106129" cy="400110"/>
          </a:xfrm>
          <a:prstGeom prst="rect">
            <a:avLst/>
          </a:prstGeom>
          <a:noFill/>
        </p:spPr>
        <p:txBody>
          <a:bodyPr wrap="square" rtlCol="0">
            <a:spAutoFit/>
          </a:bodyPr>
          <a:lstStyle/>
          <a:p>
            <a:pPr algn="ctr"/>
            <a:r>
              <a:rPr lang="es-ES" sz="2000" dirty="0"/>
              <a:t>2024</a:t>
            </a:r>
          </a:p>
        </p:txBody>
      </p:sp>
      <p:sp>
        <p:nvSpPr>
          <p:cNvPr id="24" name="Rectángulo 23">
            <a:extLst>
              <a:ext uri="{FF2B5EF4-FFF2-40B4-BE49-F238E27FC236}">
                <a16:creationId xmlns:a16="http://schemas.microsoft.com/office/drawing/2014/main" id="{14E3163F-B4A1-BD17-562D-F71B9A26BA50}"/>
              </a:ext>
            </a:extLst>
          </p:cNvPr>
          <p:cNvSpPr/>
          <p:nvPr/>
        </p:nvSpPr>
        <p:spPr>
          <a:xfrm>
            <a:off x="1961863" y="3642321"/>
            <a:ext cx="2330245" cy="1456173"/>
          </a:xfrm>
          <a:prstGeom prst="rect">
            <a:avLst/>
          </a:prstGeom>
          <a:solidFill>
            <a:srgbClr val="FFCB2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800" b="1" dirty="0">
                <a:effectLst/>
                <a:latin typeface="Calibri" panose="020F0502020204030204" pitchFamily="34" charset="0"/>
                <a:ea typeface="Times New Roman" panose="02020603050405020304" pitchFamily="18" charset="0"/>
              </a:rPr>
              <a:t>Directiva de Información no financiera NFRD</a:t>
            </a:r>
            <a:r>
              <a:rPr lang="es-ES_tradnl" sz="1800" b="1" i="1" dirty="0">
                <a:effectLst/>
                <a:latin typeface="Calibri" panose="020F0502020204030204" pitchFamily="34" charset="0"/>
                <a:ea typeface="Times New Roman" panose="02020603050405020304" pitchFamily="18" charset="0"/>
              </a:rPr>
              <a:t> </a:t>
            </a:r>
            <a:r>
              <a:rPr lang="es-ES_tradnl" sz="1800" b="1" dirty="0">
                <a:effectLst/>
                <a:latin typeface="Calibri" panose="020F0502020204030204" pitchFamily="34" charset="0"/>
                <a:ea typeface="Times New Roman" panose="02020603050405020304" pitchFamily="18" charset="0"/>
              </a:rPr>
              <a:t>(</a:t>
            </a:r>
            <a:r>
              <a:rPr lang="es-ES_tradnl" sz="1800" b="1" i="1" dirty="0">
                <a:effectLst/>
                <a:latin typeface="Calibri" panose="020F0502020204030204" pitchFamily="34" charset="0"/>
                <a:ea typeface="Times New Roman" panose="02020603050405020304" pitchFamily="18" charset="0"/>
              </a:rPr>
              <a:t>Non-</a:t>
            </a:r>
            <a:r>
              <a:rPr lang="es-ES_tradnl" sz="1800" b="1" i="1" dirty="0" err="1">
                <a:effectLst/>
                <a:latin typeface="Calibri" panose="020F0502020204030204" pitchFamily="34" charset="0"/>
                <a:ea typeface="Times New Roman" panose="02020603050405020304" pitchFamily="18" charset="0"/>
              </a:rPr>
              <a:t>Financial</a:t>
            </a:r>
            <a:r>
              <a:rPr lang="es-ES_tradnl" sz="1800" b="1" i="1" dirty="0">
                <a:effectLst/>
                <a:latin typeface="Calibri" panose="020F0502020204030204" pitchFamily="34" charset="0"/>
                <a:ea typeface="Times New Roman" panose="02020603050405020304" pitchFamily="18" charset="0"/>
              </a:rPr>
              <a:t> </a:t>
            </a:r>
            <a:r>
              <a:rPr lang="es-ES_tradnl" sz="1800" b="1" i="1" dirty="0" err="1">
                <a:effectLst/>
                <a:latin typeface="Calibri" panose="020F0502020204030204" pitchFamily="34" charset="0"/>
                <a:ea typeface="Times New Roman" panose="02020603050405020304" pitchFamily="18" charset="0"/>
              </a:rPr>
              <a:t>Reporting</a:t>
            </a:r>
            <a:r>
              <a:rPr lang="es-ES_tradnl" sz="1800" b="1" i="1" dirty="0">
                <a:effectLst/>
                <a:latin typeface="Calibri" panose="020F0502020204030204" pitchFamily="34" charset="0"/>
                <a:ea typeface="Times New Roman" panose="02020603050405020304" pitchFamily="18" charset="0"/>
              </a:rPr>
              <a:t> Directive</a:t>
            </a:r>
            <a:r>
              <a:rPr lang="es-ES_tradnl" sz="1800" b="1" dirty="0">
                <a:effectLst/>
                <a:latin typeface="Calibri" panose="020F0502020204030204" pitchFamily="34" charset="0"/>
                <a:ea typeface="Times New Roman" panose="02020603050405020304" pitchFamily="18" charset="0"/>
              </a:rPr>
              <a:t>)</a:t>
            </a:r>
            <a:endParaRPr lang="es-ES" b="1" dirty="0"/>
          </a:p>
        </p:txBody>
      </p:sp>
      <p:sp>
        <p:nvSpPr>
          <p:cNvPr id="25" name="Rectángulo 24">
            <a:extLst>
              <a:ext uri="{FF2B5EF4-FFF2-40B4-BE49-F238E27FC236}">
                <a16:creationId xmlns:a16="http://schemas.microsoft.com/office/drawing/2014/main" id="{5AAC2FEE-9DF2-D7BA-FA67-C77197EDC431}"/>
              </a:ext>
            </a:extLst>
          </p:cNvPr>
          <p:cNvSpPr/>
          <p:nvPr/>
        </p:nvSpPr>
        <p:spPr>
          <a:xfrm>
            <a:off x="5939097" y="3642321"/>
            <a:ext cx="3274803" cy="1456173"/>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800" b="1" dirty="0">
                <a:effectLst/>
                <a:latin typeface="Calibri" panose="020F0502020204030204" pitchFamily="34" charset="0"/>
                <a:ea typeface="Times New Roman" panose="02020603050405020304" pitchFamily="18" charset="0"/>
              </a:rPr>
              <a:t>Directiva de Información sobre Sostenibilidad Corporativa </a:t>
            </a:r>
            <a:r>
              <a:rPr lang="es-ES_tradnl" sz="1800" dirty="0">
                <a:effectLst/>
                <a:latin typeface="Calibri" panose="020F0502020204030204" pitchFamily="34" charset="0"/>
                <a:ea typeface="Times New Roman" panose="02020603050405020304" pitchFamily="18" charset="0"/>
              </a:rPr>
              <a:t>(CSRD o </a:t>
            </a:r>
            <a:r>
              <a:rPr lang="es-ES_tradnl" sz="1800" i="1" dirty="0" err="1">
                <a:effectLst/>
                <a:latin typeface="Calibri" panose="020F0502020204030204" pitchFamily="34" charset="0"/>
                <a:ea typeface="Times New Roman" panose="02020603050405020304" pitchFamily="18" charset="0"/>
              </a:rPr>
              <a:t>Corporate</a:t>
            </a:r>
            <a:r>
              <a:rPr lang="es-ES_tradnl" sz="1800" i="1" dirty="0">
                <a:effectLst/>
                <a:latin typeface="Calibri" panose="020F0502020204030204" pitchFamily="34" charset="0"/>
                <a:ea typeface="Times New Roman" panose="02020603050405020304" pitchFamily="18" charset="0"/>
              </a:rPr>
              <a:t> </a:t>
            </a:r>
            <a:r>
              <a:rPr lang="es-ES_tradnl" sz="1800" i="1" dirty="0" err="1">
                <a:effectLst/>
                <a:latin typeface="Calibri" panose="020F0502020204030204" pitchFamily="34" charset="0"/>
                <a:ea typeface="Times New Roman" panose="02020603050405020304" pitchFamily="18" charset="0"/>
              </a:rPr>
              <a:t>Sustainability</a:t>
            </a:r>
            <a:r>
              <a:rPr lang="es-ES_tradnl" sz="1800" i="1" dirty="0">
                <a:effectLst/>
                <a:latin typeface="Calibri" panose="020F0502020204030204" pitchFamily="34" charset="0"/>
                <a:ea typeface="Times New Roman" panose="02020603050405020304" pitchFamily="18" charset="0"/>
              </a:rPr>
              <a:t> </a:t>
            </a:r>
            <a:r>
              <a:rPr lang="es-ES_tradnl" sz="1800" i="1" dirty="0" err="1">
                <a:effectLst/>
                <a:latin typeface="Calibri" panose="020F0502020204030204" pitchFamily="34" charset="0"/>
                <a:ea typeface="Times New Roman" panose="02020603050405020304" pitchFamily="18" charset="0"/>
              </a:rPr>
              <a:t>Reporting</a:t>
            </a:r>
            <a:r>
              <a:rPr lang="es-ES_tradnl" sz="1800" i="1" dirty="0">
                <a:effectLst/>
                <a:latin typeface="Calibri" panose="020F0502020204030204" pitchFamily="34" charset="0"/>
                <a:ea typeface="Times New Roman" panose="02020603050405020304" pitchFamily="18" charset="0"/>
              </a:rPr>
              <a:t> Directive</a:t>
            </a:r>
            <a:r>
              <a:rPr lang="es-ES_tradnl" sz="1800" dirty="0">
                <a:effectLst/>
                <a:latin typeface="Calibri" panose="020F0502020204030204" pitchFamily="34" charset="0"/>
                <a:ea typeface="Times New Roman" panose="02020603050405020304" pitchFamily="18" charset="0"/>
              </a:rPr>
              <a:t>)</a:t>
            </a:r>
            <a:endParaRPr lang="es-ES" b="1" dirty="0"/>
          </a:p>
        </p:txBody>
      </p:sp>
      <p:sp>
        <p:nvSpPr>
          <p:cNvPr id="27" name="Flecha: a la derecha 26">
            <a:extLst>
              <a:ext uri="{FF2B5EF4-FFF2-40B4-BE49-F238E27FC236}">
                <a16:creationId xmlns:a16="http://schemas.microsoft.com/office/drawing/2014/main" id="{07080B4B-EAB8-16CE-7C11-717C266A168B}"/>
              </a:ext>
            </a:extLst>
          </p:cNvPr>
          <p:cNvSpPr/>
          <p:nvPr/>
        </p:nvSpPr>
        <p:spPr>
          <a:xfrm>
            <a:off x="4602989" y="4133500"/>
            <a:ext cx="1018532" cy="473814"/>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uadroTexto 28">
            <a:extLst>
              <a:ext uri="{FF2B5EF4-FFF2-40B4-BE49-F238E27FC236}">
                <a16:creationId xmlns:a16="http://schemas.microsoft.com/office/drawing/2014/main" id="{79CF922D-B253-F07E-FA37-07700DC2AB4C}"/>
              </a:ext>
            </a:extLst>
          </p:cNvPr>
          <p:cNvSpPr txBox="1"/>
          <p:nvPr/>
        </p:nvSpPr>
        <p:spPr>
          <a:xfrm>
            <a:off x="6411376" y="5265934"/>
            <a:ext cx="2330245" cy="646331"/>
          </a:xfrm>
          <a:prstGeom prst="rect">
            <a:avLst/>
          </a:prstGeom>
          <a:noFill/>
        </p:spPr>
        <p:txBody>
          <a:bodyPr wrap="square" rtlCol="0">
            <a:spAutoFit/>
          </a:bodyPr>
          <a:lstStyle/>
          <a:p>
            <a:pPr algn="ctr"/>
            <a:r>
              <a:rPr lang="es-ES" dirty="0"/>
              <a:t>Afecta 50.000 compañías</a:t>
            </a:r>
          </a:p>
        </p:txBody>
      </p:sp>
      <p:sp>
        <p:nvSpPr>
          <p:cNvPr id="31" name="CuadroTexto 30">
            <a:extLst>
              <a:ext uri="{FF2B5EF4-FFF2-40B4-BE49-F238E27FC236}">
                <a16:creationId xmlns:a16="http://schemas.microsoft.com/office/drawing/2014/main" id="{2179C230-BE4B-88CE-16E7-BE9728C74EC8}"/>
              </a:ext>
            </a:extLst>
          </p:cNvPr>
          <p:cNvSpPr txBox="1"/>
          <p:nvPr/>
        </p:nvSpPr>
        <p:spPr>
          <a:xfrm>
            <a:off x="1961863" y="5265934"/>
            <a:ext cx="2330245" cy="646331"/>
          </a:xfrm>
          <a:prstGeom prst="rect">
            <a:avLst/>
          </a:prstGeom>
          <a:noFill/>
        </p:spPr>
        <p:txBody>
          <a:bodyPr wrap="square" rtlCol="0">
            <a:spAutoFit/>
          </a:bodyPr>
          <a:lstStyle/>
          <a:p>
            <a:pPr algn="ctr"/>
            <a:r>
              <a:rPr lang="es-ES" dirty="0"/>
              <a:t>Afecta 11.000 compañías</a:t>
            </a:r>
          </a:p>
        </p:txBody>
      </p:sp>
      <p:pic>
        <p:nvPicPr>
          <p:cNvPr id="33" name="Imagen 32">
            <a:extLst>
              <a:ext uri="{FF2B5EF4-FFF2-40B4-BE49-F238E27FC236}">
                <a16:creationId xmlns:a16="http://schemas.microsoft.com/office/drawing/2014/main" id="{0ACABC71-7984-113A-D407-8F1824B7BD1F}"/>
              </a:ext>
            </a:extLst>
          </p:cNvPr>
          <p:cNvPicPr>
            <a:picLocks noChangeAspect="1"/>
          </p:cNvPicPr>
          <p:nvPr/>
        </p:nvPicPr>
        <p:blipFill>
          <a:blip r:embed="rId4"/>
          <a:stretch>
            <a:fillRect/>
          </a:stretch>
        </p:blipFill>
        <p:spPr>
          <a:xfrm>
            <a:off x="6621515" y="2183219"/>
            <a:ext cx="1958605" cy="745584"/>
          </a:xfrm>
          <a:prstGeom prst="rect">
            <a:avLst/>
          </a:prstGeom>
        </p:spPr>
      </p:pic>
      <p:sp>
        <p:nvSpPr>
          <p:cNvPr id="34" name="Abrir llave 33">
            <a:extLst>
              <a:ext uri="{FF2B5EF4-FFF2-40B4-BE49-F238E27FC236}">
                <a16:creationId xmlns:a16="http://schemas.microsoft.com/office/drawing/2014/main" id="{26C977CC-59B0-6A69-C19C-1997C2629CAB}"/>
              </a:ext>
            </a:extLst>
          </p:cNvPr>
          <p:cNvSpPr/>
          <p:nvPr/>
        </p:nvSpPr>
        <p:spPr>
          <a:xfrm rot="5400000">
            <a:off x="7213615" y="1429407"/>
            <a:ext cx="725766" cy="3814434"/>
          </a:xfrm>
          <a:prstGeom prst="leftBrace">
            <a:avLst>
              <a:gd name="adj1" fmla="val 48915"/>
              <a:gd name="adj2" fmla="val 50000"/>
            </a:avLst>
          </a:prstGeom>
          <a:ln w="508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5" name="CuadroTexto 34">
            <a:extLst>
              <a:ext uri="{FF2B5EF4-FFF2-40B4-BE49-F238E27FC236}">
                <a16:creationId xmlns:a16="http://schemas.microsoft.com/office/drawing/2014/main" id="{809D7628-9ECF-0295-3AEA-E43E104BAC78}"/>
              </a:ext>
            </a:extLst>
          </p:cNvPr>
          <p:cNvSpPr txBox="1"/>
          <p:nvPr/>
        </p:nvSpPr>
        <p:spPr>
          <a:xfrm>
            <a:off x="655024" y="1639257"/>
            <a:ext cx="3672840" cy="1323439"/>
          </a:xfrm>
          <a:prstGeom prst="rect">
            <a:avLst/>
          </a:prstGeom>
          <a:solidFill>
            <a:srgbClr val="FFE7E7"/>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just"/>
            <a:r>
              <a:rPr lang="es-ES" sz="2000" dirty="0"/>
              <a:t>Es la regulación que se aplica a los </a:t>
            </a:r>
            <a:r>
              <a:rPr lang="es-ES" sz="2000" b="1" dirty="0"/>
              <a:t>Informes de Sostenibilidad </a:t>
            </a:r>
            <a:r>
              <a:rPr lang="es-ES" sz="2000" dirty="0"/>
              <a:t>y establece que empresas tienen la obligación legal de elaborarlos</a:t>
            </a:r>
          </a:p>
        </p:txBody>
      </p:sp>
      <p:sp>
        <p:nvSpPr>
          <p:cNvPr id="36" name="Elipse 35">
            <a:extLst>
              <a:ext uri="{FF2B5EF4-FFF2-40B4-BE49-F238E27FC236}">
                <a16:creationId xmlns:a16="http://schemas.microsoft.com/office/drawing/2014/main" id="{DF9DF534-2BDA-6B00-1C79-46594682C74C}"/>
              </a:ext>
            </a:extLst>
          </p:cNvPr>
          <p:cNvSpPr/>
          <p:nvPr/>
        </p:nvSpPr>
        <p:spPr>
          <a:xfrm>
            <a:off x="9627062" y="5914400"/>
            <a:ext cx="253455" cy="253455"/>
          </a:xfrm>
          <a:prstGeom prst="ellipse">
            <a:avLst/>
          </a:prstGeom>
          <a:solidFill>
            <a:srgbClr val="C00000"/>
          </a:solidFill>
          <a:effectLst>
            <a:glow rad="101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CuadroTexto 36">
            <a:extLst>
              <a:ext uri="{FF2B5EF4-FFF2-40B4-BE49-F238E27FC236}">
                <a16:creationId xmlns:a16="http://schemas.microsoft.com/office/drawing/2014/main" id="{82004634-595F-4ADF-A0A9-8C99B252E72E}"/>
              </a:ext>
            </a:extLst>
          </p:cNvPr>
          <p:cNvSpPr txBox="1"/>
          <p:nvPr/>
        </p:nvSpPr>
        <p:spPr>
          <a:xfrm>
            <a:off x="9200724" y="5305412"/>
            <a:ext cx="1106129" cy="400110"/>
          </a:xfrm>
          <a:prstGeom prst="rect">
            <a:avLst/>
          </a:prstGeom>
          <a:noFill/>
        </p:spPr>
        <p:txBody>
          <a:bodyPr wrap="square" rtlCol="0">
            <a:spAutoFit/>
          </a:bodyPr>
          <a:lstStyle/>
          <a:p>
            <a:pPr algn="ctr"/>
            <a:r>
              <a:rPr lang="es-ES" sz="2000" dirty="0"/>
              <a:t>2025</a:t>
            </a:r>
          </a:p>
        </p:txBody>
      </p:sp>
      <p:sp>
        <p:nvSpPr>
          <p:cNvPr id="38" name="CuadroTexto 37">
            <a:extLst>
              <a:ext uri="{FF2B5EF4-FFF2-40B4-BE49-F238E27FC236}">
                <a16:creationId xmlns:a16="http://schemas.microsoft.com/office/drawing/2014/main" id="{E2DB251F-F6BC-4E3B-EB7A-3F7E02D72A62}"/>
              </a:ext>
            </a:extLst>
          </p:cNvPr>
          <p:cNvSpPr txBox="1"/>
          <p:nvPr/>
        </p:nvSpPr>
        <p:spPr>
          <a:xfrm>
            <a:off x="9753788" y="5310872"/>
            <a:ext cx="2330245" cy="646331"/>
          </a:xfrm>
          <a:prstGeom prst="rect">
            <a:avLst/>
          </a:prstGeom>
          <a:noFill/>
        </p:spPr>
        <p:txBody>
          <a:bodyPr wrap="square" rtlCol="0">
            <a:spAutoFit/>
          </a:bodyPr>
          <a:lstStyle/>
          <a:p>
            <a:pPr algn="ctr"/>
            <a:r>
              <a:rPr lang="es-ES" dirty="0"/>
              <a:t>Transposición a normativa nacional</a:t>
            </a:r>
          </a:p>
        </p:txBody>
      </p:sp>
    </p:spTree>
    <p:extLst>
      <p:ext uri="{BB962C8B-B14F-4D97-AF65-F5344CB8AC3E}">
        <p14:creationId xmlns:p14="http://schemas.microsoft.com/office/powerpoint/2010/main" val="27034017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65760" y="537301"/>
            <a:ext cx="974279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EUROPEAS SOBRE REPORTES NO FINANCIEROS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2050" name="Picture 2" descr="The European Union flag | CONTEMPORARY HISTORY">
            <a:extLst>
              <a:ext uri="{FF2B5EF4-FFF2-40B4-BE49-F238E27FC236}">
                <a16:creationId xmlns:a16="http://schemas.microsoft.com/office/drawing/2014/main" id="{54FAF79F-5A51-C0F8-7739-7D26FDB21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2603" y="2556587"/>
            <a:ext cx="2181425" cy="1413708"/>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748AC8D8-8697-1CF4-1479-5B502737FB30}"/>
              </a:ext>
            </a:extLst>
          </p:cNvPr>
          <p:cNvSpPr txBox="1"/>
          <p:nvPr/>
        </p:nvSpPr>
        <p:spPr>
          <a:xfrm>
            <a:off x="5531209" y="2981952"/>
            <a:ext cx="1024212" cy="52322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s-ES" sz="2800" b="1" dirty="0">
                <a:solidFill>
                  <a:srgbClr val="FFC000"/>
                </a:solidFill>
              </a:rPr>
              <a:t>CSRD</a:t>
            </a:r>
          </a:p>
        </p:txBody>
      </p:sp>
      <p:sp>
        <p:nvSpPr>
          <p:cNvPr id="6" name="CuadroTexto 5">
            <a:extLst>
              <a:ext uri="{FF2B5EF4-FFF2-40B4-BE49-F238E27FC236}">
                <a16:creationId xmlns:a16="http://schemas.microsoft.com/office/drawing/2014/main" id="{78E02D9B-6B8A-75AA-BDC5-CCD4E1BA1416}"/>
              </a:ext>
            </a:extLst>
          </p:cNvPr>
          <p:cNvSpPr txBox="1"/>
          <p:nvPr/>
        </p:nvSpPr>
        <p:spPr>
          <a:xfrm>
            <a:off x="522396" y="3282464"/>
            <a:ext cx="3004184" cy="1938992"/>
          </a:xfrm>
          <a:prstGeom prst="rect">
            <a:avLst/>
          </a:prstGeom>
          <a:solidFill>
            <a:srgbClr val="FFF7C9"/>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Proporciona todo el entramado legal necesario para apoyar las buenas prácticas ESG o ASG en las empresas que operan en la Unión Europea</a:t>
            </a:r>
            <a:endParaRPr lang="es-ES" sz="2000" dirty="0"/>
          </a:p>
        </p:txBody>
      </p:sp>
      <p:sp>
        <p:nvSpPr>
          <p:cNvPr id="8" name="CuadroTexto 7">
            <a:extLst>
              <a:ext uri="{FF2B5EF4-FFF2-40B4-BE49-F238E27FC236}">
                <a16:creationId xmlns:a16="http://schemas.microsoft.com/office/drawing/2014/main" id="{0106A671-D7B7-348A-1E59-CA6720A3B546}"/>
              </a:ext>
            </a:extLst>
          </p:cNvPr>
          <p:cNvSpPr txBox="1"/>
          <p:nvPr/>
        </p:nvSpPr>
        <p:spPr>
          <a:xfrm>
            <a:off x="8579085" y="3282464"/>
            <a:ext cx="3004185" cy="1631216"/>
          </a:xfrm>
          <a:prstGeom prst="rect">
            <a:avLst/>
          </a:prstGeom>
          <a:solidFill>
            <a:srgbClr val="FFF7C9"/>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Es una guía para implementar negocios sostenibles y asegurar su competitividad y supervivencia a largo plazo</a:t>
            </a:r>
            <a:endParaRPr lang="es-ES" sz="2000" dirty="0"/>
          </a:p>
        </p:txBody>
      </p:sp>
      <p:sp>
        <p:nvSpPr>
          <p:cNvPr id="10" name="CuadroTexto 9">
            <a:extLst>
              <a:ext uri="{FF2B5EF4-FFF2-40B4-BE49-F238E27FC236}">
                <a16:creationId xmlns:a16="http://schemas.microsoft.com/office/drawing/2014/main" id="{63A70F23-EB33-05D5-9D50-ECDC7879E863}"/>
              </a:ext>
            </a:extLst>
          </p:cNvPr>
          <p:cNvSpPr txBox="1"/>
          <p:nvPr/>
        </p:nvSpPr>
        <p:spPr>
          <a:xfrm>
            <a:off x="4541224" y="5067776"/>
            <a:ext cx="3004185" cy="1323439"/>
          </a:xfrm>
          <a:prstGeom prst="rect">
            <a:avLst/>
          </a:prstGeom>
          <a:solidFill>
            <a:srgbClr val="FFF7C9"/>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Establece unos modelos preceptivos de informes de sostenibilidad, las </a:t>
            </a:r>
            <a:r>
              <a:rPr lang="es-ES_tradnl" sz="2000" b="1" dirty="0">
                <a:effectLst/>
                <a:latin typeface="Calibri" panose="020F0502020204030204" pitchFamily="34" charset="0"/>
                <a:ea typeface="Times New Roman" panose="02020603050405020304" pitchFamily="18" charset="0"/>
              </a:rPr>
              <a:t>normas ESRS</a:t>
            </a:r>
            <a:endParaRPr lang="es-ES" sz="2000" b="1" dirty="0"/>
          </a:p>
        </p:txBody>
      </p:sp>
      <p:cxnSp>
        <p:nvCxnSpPr>
          <p:cNvPr id="12" name="Conector recto de flecha 11">
            <a:extLst>
              <a:ext uri="{FF2B5EF4-FFF2-40B4-BE49-F238E27FC236}">
                <a16:creationId xmlns:a16="http://schemas.microsoft.com/office/drawing/2014/main" id="{833DA01F-AA12-27FB-E638-E037DE40A9AD}"/>
              </a:ext>
            </a:extLst>
          </p:cNvPr>
          <p:cNvCxnSpPr>
            <a:stCxn id="2050" idx="2"/>
            <a:endCxn id="6" idx="3"/>
          </p:cNvCxnSpPr>
          <p:nvPr/>
        </p:nvCxnSpPr>
        <p:spPr>
          <a:xfrm flipH="1">
            <a:off x="3526580" y="3970295"/>
            <a:ext cx="2516736" cy="281665"/>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F82F5F27-274F-682F-B341-B5384AD17BBA}"/>
              </a:ext>
            </a:extLst>
          </p:cNvPr>
          <p:cNvCxnSpPr>
            <a:cxnSpLocks/>
            <a:stCxn id="2050" idx="2"/>
            <a:endCxn id="10" idx="0"/>
          </p:cNvCxnSpPr>
          <p:nvPr/>
        </p:nvCxnSpPr>
        <p:spPr>
          <a:xfrm>
            <a:off x="6043316" y="3970295"/>
            <a:ext cx="1" cy="1097481"/>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5399D5A7-C32A-DA32-67F2-74016428A636}"/>
              </a:ext>
            </a:extLst>
          </p:cNvPr>
          <p:cNvCxnSpPr>
            <a:cxnSpLocks/>
            <a:stCxn id="2050" idx="2"/>
            <a:endCxn id="8" idx="1"/>
          </p:cNvCxnSpPr>
          <p:nvPr/>
        </p:nvCxnSpPr>
        <p:spPr>
          <a:xfrm>
            <a:off x="6043316" y="3970295"/>
            <a:ext cx="2535769" cy="127777"/>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3ADBFD42-2251-AD5C-C20A-9B319ED647CC}"/>
              </a:ext>
            </a:extLst>
          </p:cNvPr>
          <p:cNvSpPr txBox="1"/>
          <p:nvPr/>
        </p:nvSpPr>
        <p:spPr>
          <a:xfrm>
            <a:off x="4824273" y="1503431"/>
            <a:ext cx="2333428" cy="1015663"/>
          </a:xfrm>
          <a:prstGeom prst="rect">
            <a:avLst/>
          </a:prstGeom>
          <a:noFill/>
        </p:spPr>
        <p:txBody>
          <a:bodyPr wrap="square" rtlCol="0">
            <a:spAutoFit/>
          </a:bodyPr>
          <a:lstStyle/>
          <a:p>
            <a:pPr algn="ctr"/>
            <a:r>
              <a:rPr lang="es-ES_tradnl" sz="2000" b="1" i="1" dirty="0" err="1">
                <a:effectLst/>
                <a:latin typeface="Calibri" panose="020F0502020204030204" pitchFamily="34" charset="0"/>
                <a:ea typeface="Times New Roman" panose="02020603050405020304" pitchFamily="18" charset="0"/>
              </a:rPr>
              <a:t>Corporate</a:t>
            </a:r>
            <a:r>
              <a:rPr lang="es-ES_tradnl" sz="2000" b="1" i="1" dirty="0">
                <a:effectLst/>
                <a:latin typeface="Calibri" panose="020F0502020204030204" pitchFamily="34" charset="0"/>
                <a:ea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rPr>
              <a:t>Sustainability</a:t>
            </a:r>
            <a:r>
              <a:rPr lang="es-ES_tradnl" sz="2000" b="1" i="1" dirty="0">
                <a:effectLst/>
                <a:latin typeface="Calibri" panose="020F0502020204030204" pitchFamily="34" charset="0"/>
                <a:ea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rPr>
              <a:t>Reporting</a:t>
            </a:r>
            <a:r>
              <a:rPr lang="es-ES_tradnl" sz="2000" b="1" i="1" dirty="0">
                <a:effectLst/>
                <a:latin typeface="Calibri" panose="020F0502020204030204" pitchFamily="34" charset="0"/>
                <a:ea typeface="Times New Roman" panose="02020603050405020304" pitchFamily="18" charset="0"/>
              </a:rPr>
              <a:t> Directive</a:t>
            </a:r>
            <a:endParaRPr lang="es-ES" sz="2000" b="1" dirty="0"/>
          </a:p>
        </p:txBody>
      </p:sp>
    </p:spTree>
    <p:extLst>
      <p:ext uri="{BB962C8B-B14F-4D97-AF65-F5344CB8AC3E}">
        <p14:creationId xmlns:p14="http://schemas.microsoft.com/office/powerpoint/2010/main" val="20678039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65760" y="537301"/>
            <a:ext cx="974279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EUROPEAS SOBRE REPORTES NO FINANCIEROS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4" name="Flecha: a la derecha 3">
            <a:extLst>
              <a:ext uri="{FF2B5EF4-FFF2-40B4-BE49-F238E27FC236}">
                <a16:creationId xmlns:a16="http://schemas.microsoft.com/office/drawing/2014/main" id="{0BE589CE-9C2C-B58B-822B-5456EC43B9ED}"/>
              </a:ext>
            </a:extLst>
          </p:cNvPr>
          <p:cNvSpPr/>
          <p:nvPr/>
        </p:nvSpPr>
        <p:spPr>
          <a:xfrm>
            <a:off x="210902" y="5572741"/>
            <a:ext cx="11722018" cy="243371"/>
          </a:xfrm>
          <a:prstGeom prst="rightArrow">
            <a:avLst>
              <a:gd name="adj1" fmla="val 50000"/>
              <a:gd name="adj2" fmla="val 114567"/>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C9A15BAA-3D31-8AC3-7B06-C768D56D32C4}"/>
              </a:ext>
            </a:extLst>
          </p:cNvPr>
          <p:cNvSpPr/>
          <p:nvPr/>
        </p:nvSpPr>
        <p:spPr>
          <a:xfrm>
            <a:off x="3470428" y="5529784"/>
            <a:ext cx="253455" cy="253455"/>
          </a:xfrm>
          <a:prstGeom prst="ellipse">
            <a:avLst/>
          </a:prstGeom>
          <a:solidFill>
            <a:srgbClr val="C00000"/>
          </a:solidFill>
          <a:effectLst>
            <a:glow rad="101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Elipse 13">
            <a:extLst>
              <a:ext uri="{FF2B5EF4-FFF2-40B4-BE49-F238E27FC236}">
                <a16:creationId xmlns:a16="http://schemas.microsoft.com/office/drawing/2014/main" id="{58ACD8F7-8C52-4794-C689-F8DFCCAB5382}"/>
              </a:ext>
            </a:extLst>
          </p:cNvPr>
          <p:cNvSpPr/>
          <p:nvPr/>
        </p:nvSpPr>
        <p:spPr>
          <a:xfrm>
            <a:off x="6043400" y="5529784"/>
            <a:ext cx="253455" cy="253455"/>
          </a:xfrm>
          <a:prstGeom prst="ellipse">
            <a:avLst/>
          </a:prstGeom>
          <a:solidFill>
            <a:srgbClr val="FFCB25"/>
          </a:solidFill>
          <a:effectLst>
            <a:glow rad="101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Elipse 14">
            <a:extLst>
              <a:ext uri="{FF2B5EF4-FFF2-40B4-BE49-F238E27FC236}">
                <a16:creationId xmlns:a16="http://schemas.microsoft.com/office/drawing/2014/main" id="{3D2F4333-038C-C504-91AA-5BF5707D3B40}"/>
              </a:ext>
            </a:extLst>
          </p:cNvPr>
          <p:cNvSpPr/>
          <p:nvPr/>
        </p:nvSpPr>
        <p:spPr>
          <a:xfrm>
            <a:off x="8616372" y="5529784"/>
            <a:ext cx="253455" cy="253455"/>
          </a:xfrm>
          <a:prstGeom prst="ellipse">
            <a:avLst/>
          </a:prstGeom>
          <a:solidFill>
            <a:schemeClr val="accent6">
              <a:lumMod val="75000"/>
            </a:schemeClr>
          </a:solidFill>
          <a:effectLst>
            <a:glow rad="101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0785A66D-E60E-AB6E-0F99-E66FE3CB308F}"/>
              </a:ext>
            </a:extLst>
          </p:cNvPr>
          <p:cNvSpPr txBox="1"/>
          <p:nvPr/>
        </p:nvSpPr>
        <p:spPr>
          <a:xfrm>
            <a:off x="471118" y="5938500"/>
            <a:ext cx="1106129" cy="400110"/>
          </a:xfrm>
          <a:prstGeom prst="rect">
            <a:avLst/>
          </a:prstGeom>
          <a:noFill/>
        </p:spPr>
        <p:txBody>
          <a:bodyPr wrap="square" rtlCol="0">
            <a:spAutoFit/>
          </a:bodyPr>
          <a:lstStyle/>
          <a:p>
            <a:pPr algn="ctr"/>
            <a:r>
              <a:rPr lang="es-ES" sz="2000" dirty="0"/>
              <a:t>2024</a:t>
            </a:r>
          </a:p>
        </p:txBody>
      </p:sp>
      <p:sp>
        <p:nvSpPr>
          <p:cNvPr id="17" name="CuadroTexto 16">
            <a:extLst>
              <a:ext uri="{FF2B5EF4-FFF2-40B4-BE49-F238E27FC236}">
                <a16:creationId xmlns:a16="http://schemas.microsoft.com/office/drawing/2014/main" id="{63832E5A-6419-96B2-4CC6-C00AF7CFC63D}"/>
              </a:ext>
            </a:extLst>
          </p:cNvPr>
          <p:cNvSpPr txBox="1"/>
          <p:nvPr/>
        </p:nvSpPr>
        <p:spPr>
          <a:xfrm>
            <a:off x="5617062" y="5938500"/>
            <a:ext cx="1106129" cy="400110"/>
          </a:xfrm>
          <a:prstGeom prst="rect">
            <a:avLst/>
          </a:prstGeom>
          <a:noFill/>
        </p:spPr>
        <p:txBody>
          <a:bodyPr wrap="square" rtlCol="0">
            <a:spAutoFit/>
          </a:bodyPr>
          <a:lstStyle/>
          <a:p>
            <a:pPr algn="ctr"/>
            <a:r>
              <a:rPr lang="es-ES" sz="2000" dirty="0"/>
              <a:t>2026</a:t>
            </a:r>
          </a:p>
        </p:txBody>
      </p:sp>
      <p:sp>
        <p:nvSpPr>
          <p:cNvPr id="20" name="Elipse 19">
            <a:extLst>
              <a:ext uri="{FF2B5EF4-FFF2-40B4-BE49-F238E27FC236}">
                <a16:creationId xmlns:a16="http://schemas.microsoft.com/office/drawing/2014/main" id="{F530BD6C-3600-D5FC-7B46-B7C437836614}"/>
              </a:ext>
            </a:extLst>
          </p:cNvPr>
          <p:cNvSpPr/>
          <p:nvPr/>
        </p:nvSpPr>
        <p:spPr>
          <a:xfrm>
            <a:off x="897456" y="5529784"/>
            <a:ext cx="253455" cy="253455"/>
          </a:xfrm>
          <a:prstGeom prst="ellipse">
            <a:avLst/>
          </a:prstGeom>
          <a:solidFill>
            <a:schemeClr val="accent5">
              <a:lumMod val="75000"/>
            </a:schemeClr>
          </a:solidFill>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uadroTexto 20">
            <a:extLst>
              <a:ext uri="{FF2B5EF4-FFF2-40B4-BE49-F238E27FC236}">
                <a16:creationId xmlns:a16="http://schemas.microsoft.com/office/drawing/2014/main" id="{F772ADBC-31B8-C0E9-E7E2-096569A13B21}"/>
              </a:ext>
            </a:extLst>
          </p:cNvPr>
          <p:cNvSpPr txBox="1"/>
          <p:nvPr/>
        </p:nvSpPr>
        <p:spPr>
          <a:xfrm>
            <a:off x="3044090" y="5938500"/>
            <a:ext cx="1106129" cy="400110"/>
          </a:xfrm>
          <a:prstGeom prst="rect">
            <a:avLst/>
          </a:prstGeom>
          <a:noFill/>
        </p:spPr>
        <p:txBody>
          <a:bodyPr wrap="square" rtlCol="0">
            <a:spAutoFit/>
          </a:bodyPr>
          <a:lstStyle/>
          <a:p>
            <a:pPr algn="ctr"/>
            <a:r>
              <a:rPr lang="es-ES" sz="2000" dirty="0"/>
              <a:t>2025</a:t>
            </a:r>
          </a:p>
        </p:txBody>
      </p:sp>
      <p:sp>
        <p:nvSpPr>
          <p:cNvPr id="22" name="CuadroTexto 21">
            <a:extLst>
              <a:ext uri="{FF2B5EF4-FFF2-40B4-BE49-F238E27FC236}">
                <a16:creationId xmlns:a16="http://schemas.microsoft.com/office/drawing/2014/main" id="{5F0B3A19-F1E8-5F7C-C50D-D1233B93B0A1}"/>
              </a:ext>
            </a:extLst>
          </p:cNvPr>
          <p:cNvSpPr txBox="1"/>
          <p:nvPr/>
        </p:nvSpPr>
        <p:spPr>
          <a:xfrm>
            <a:off x="8190034" y="5938500"/>
            <a:ext cx="1106129" cy="400110"/>
          </a:xfrm>
          <a:prstGeom prst="rect">
            <a:avLst/>
          </a:prstGeom>
          <a:noFill/>
        </p:spPr>
        <p:txBody>
          <a:bodyPr wrap="square" rtlCol="0">
            <a:spAutoFit/>
          </a:bodyPr>
          <a:lstStyle/>
          <a:p>
            <a:pPr algn="ctr"/>
            <a:r>
              <a:rPr lang="es-ES" sz="2000" dirty="0"/>
              <a:t>2027</a:t>
            </a:r>
          </a:p>
        </p:txBody>
      </p:sp>
      <p:sp>
        <p:nvSpPr>
          <p:cNvPr id="23" name="Rectángulo: esquinas redondeadas 22">
            <a:extLst>
              <a:ext uri="{FF2B5EF4-FFF2-40B4-BE49-F238E27FC236}">
                <a16:creationId xmlns:a16="http://schemas.microsoft.com/office/drawing/2014/main" id="{3BE7EE1B-E4CC-8FF3-E805-B2ADF124896B}"/>
              </a:ext>
            </a:extLst>
          </p:cNvPr>
          <p:cNvSpPr/>
          <p:nvPr/>
        </p:nvSpPr>
        <p:spPr>
          <a:xfrm>
            <a:off x="1150911" y="3257860"/>
            <a:ext cx="2201889" cy="2075770"/>
          </a:xfrm>
          <a:prstGeom prst="roundRect">
            <a:avLst/>
          </a:prstGeom>
          <a:solidFill>
            <a:schemeClr val="accent5">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000" b="1" dirty="0">
                <a:effectLst/>
                <a:latin typeface="Calibri" panose="020F0502020204030204" pitchFamily="34" charset="0"/>
                <a:ea typeface="Times New Roman" panose="02020603050405020304" pitchFamily="18" charset="0"/>
              </a:rPr>
              <a:t>Empresas que tenían obligación de hacerlo con la directiva NFRD</a:t>
            </a:r>
            <a:endParaRPr lang="es-ES" sz="2000" b="1" dirty="0"/>
          </a:p>
        </p:txBody>
      </p:sp>
      <p:sp>
        <p:nvSpPr>
          <p:cNvPr id="24" name="Rectángulo: esquinas redondeadas 23">
            <a:extLst>
              <a:ext uri="{FF2B5EF4-FFF2-40B4-BE49-F238E27FC236}">
                <a16:creationId xmlns:a16="http://schemas.microsoft.com/office/drawing/2014/main" id="{7878A6C0-52B8-B6F9-60F1-F97E34801358}"/>
              </a:ext>
            </a:extLst>
          </p:cNvPr>
          <p:cNvSpPr/>
          <p:nvPr/>
        </p:nvSpPr>
        <p:spPr>
          <a:xfrm>
            <a:off x="3780933" y="3257860"/>
            <a:ext cx="2201889" cy="2043985"/>
          </a:xfrm>
          <a:prstGeom prst="roundRect">
            <a:avLst/>
          </a:prstGeom>
          <a:solidFill>
            <a:srgbClr val="C0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1600" b="1" dirty="0">
                <a:effectLst/>
                <a:latin typeface="Calibri" panose="020F0502020204030204" pitchFamily="34" charset="0"/>
                <a:ea typeface="Times New Roman" panose="02020603050405020304" pitchFamily="18" charset="0"/>
              </a:rPr>
              <a:t>Empresas con más de 250 empleados y/o 40 millones de euros de facturación y/o 20 millones de euros de balance total, cotizadas o no</a:t>
            </a:r>
            <a:endParaRPr lang="es-ES" sz="1600" b="1" dirty="0"/>
          </a:p>
        </p:txBody>
      </p:sp>
      <p:sp>
        <p:nvSpPr>
          <p:cNvPr id="27" name="Rectángulo: esquinas redondeadas 26">
            <a:extLst>
              <a:ext uri="{FF2B5EF4-FFF2-40B4-BE49-F238E27FC236}">
                <a16:creationId xmlns:a16="http://schemas.microsoft.com/office/drawing/2014/main" id="{81930002-AD28-A6AE-42FC-392AE1200A82}"/>
              </a:ext>
            </a:extLst>
          </p:cNvPr>
          <p:cNvSpPr/>
          <p:nvPr/>
        </p:nvSpPr>
        <p:spPr>
          <a:xfrm>
            <a:off x="6389217" y="3289645"/>
            <a:ext cx="2201889" cy="2043985"/>
          </a:xfrm>
          <a:prstGeom prst="roundRect">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000" b="1" dirty="0">
                <a:effectLst/>
                <a:latin typeface="Calibri" panose="020F0502020204030204" pitchFamily="34" charset="0"/>
                <a:ea typeface="Times New Roman" panose="02020603050405020304" pitchFamily="18" charset="0"/>
              </a:rPr>
              <a:t>Pymes cotizadas (menos de 250 trabajadores)</a:t>
            </a:r>
            <a:endParaRPr lang="es-ES" sz="2000" b="1" dirty="0"/>
          </a:p>
        </p:txBody>
      </p:sp>
      <p:sp>
        <p:nvSpPr>
          <p:cNvPr id="30" name="Rectángulo: esquinas redondeadas 29">
            <a:extLst>
              <a:ext uri="{FF2B5EF4-FFF2-40B4-BE49-F238E27FC236}">
                <a16:creationId xmlns:a16="http://schemas.microsoft.com/office/drawing/2014/main" id="{82E98CA1-CBC6-A001-5DC2-2FEBC5E685AD}"/>
              </a:ext>
            </a:extLst>
          </p:cNvPr>
          <p:cNvSpPr/>
          <p:nvPr/>
        </p:nvSpPr>
        <p:spPr>
          <a:xfrm>
            <a:off x="8864649" y="3273752"/>
            <a:ext cx="2201889" cy="2075770"/>
          </a:xfrm>
          <a:prstGeom prst="roundRect">
            <a:avLst/>
          </a:prstGeom>
          <a:solidFill>
            <a:schemeClr val="accent6">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b="1" dirty="0">
                <a:effectLst/>
                <a:latin typeface="Calibri" panose="020F0502020204030204" pitchFamily="34" charset="0"/>
                <a:ea typeface="Times New Roman" panose="02020603050405020304" pitchFamily="18" charset="0"/>
              </a:rPr>
              <a:t>Empresas de fuera de la UE pero que operen en ella y que cumplan unos requisitos específicos</a:t>
            </a:r>
            <a:endParaRPr lang="es-ES" b="1" dirty="0"/>
          </a:p>
        </p:txBody>
      </p:sp>
      <p:sp>
        <p:nvSpPr>
          <p:cNvPr id="33" name="Rectángulo: esquinas superiores cortadas 32">
            <a:extLst>
              <a:ext uri="{FF2B5EF4-FFF2-40B4-BE49-F238E27FC236}">
                <a16:creationId xmlns:a16="http://schemas.microsoft.com/office/drawing/2014/main" id="{0770D864-7A26-DE49-F683-FCC5A1C6A63D}"/>
              </a:ext>
            </a:extLst>
          </p:cNvPr>
          <p:cNvSpPr/>
          <p:nvPr/>
        </p:nvSpPr>
        <p:spPr>
          <a:xfrm>
            <a:off x="941701" y="1474202"/>
            <a:ext cx="10390136" cy="586113"/>
          </a:xfrm>
          <a:prstGeom prst="snip2SameRect">
            <a:avLst>
              <a:gd name="adj1" fmla="val 32251"/>
              <a:gd name="adj2" fmla="val 0"/>
            </a:avLst>
          </a:prstGeom>
          <a:solidFill>
            <a:schemeClr val="bg2">
              <a:lumMod val="2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¿QUÉ EMPRESAS TIENEN OBLIGACIÓN DE PRESENTAR INFORME DE SOSTENIBILIDAD?</a:t>
            </a:r>
          </a:p>
        </p:txBody>
      </p:sp>
      <p:pic>
        <p:nvPicPr>
          <p:cNvPr id="6" name="Imagen 5">
            <a:extLst>
              <a:ext uri="{FF2B5EF4-FFF2-40B4-BE49-F238E27FC236}">
                <a16:creationId xmlns:a16="http://schemas.microsoft.com/office/drawing/2014/main" id="{7412B007-59D9-FF5E-7E57-F5E58CF3BC6A}"/>
              </a:ext>
            </a:extLst>
          </p:cNvPr>
          <p:cNvPicPr>
            <a:picLocks noChangeAspect="1"/>
          </p:cNvPicPr>
          <p:nvPr/>
        </p:nvPicPr>
        <p:blipFill>
          <a:blip r:embed="rId4"/>
          <a:stretch>
            <a:fillRect/>
          </a:stretch>
        </p:blipFill>
        <p:spPr>
          <a:xfrm>
            <a:off x="5621319" y="2240091"/>
            <a:ext cx="1101872" cy="719323"/>
          </a:xfrm>
          <a:prstGeom prst="rect">
            <a:avLst/>
          </a:prstGeom>
        </p:spPr>
      </p:pic>
      <p:sp>
        <p:nvSpPr>
          <p:cNvPr id="8" name="CuadroTexto 7">
            <a:extLst>
              <a:ext uri="{FF2B5EF4-FFF2-40B4-BE49-F238E27FC236}">
                <a16:creationId xmlns:a16="http://schemas.microsoft.com/office/drawing/2014/main" id="{105D367A-3023-5524-3496-4725EB60A60A}"/>
              </a:ext>
            </a:extLst>
          </p:cNvPr>
          <p:cNvSpPr txBox="1"/>
          <p:nvPr/>
        </p:nvSpPr>
        <p:spPr>
          <a:xfrm>
            <a:off x="1024182" y="6468173"/>
            <a:ext cx="2446246" cy="369332"/>
          </a:xfrm>
          <a:prstGeom prst="rect">
            <a:avLst/>
          </a:prstGeom>
          <a:noFill/>
        </p:spPr>
        <p:txBody>
          <a:bodyPr wrap="square" rtlCol="0">
            <a:spAutoFit/>
          </a:bodyPr>
          <a:lstStyle/>
          <a:p>
            <a:r>
              <a:rPr lang="es-ES" dirty="0"/>
              <a:t>Entrada en vigor CSRD</a:t>
            </a:r>
          </a:p>
        </p:txBody>
      </p:sp>
      <p:cxnSp>
        <p:nvCxnSpPr>
          <p:cNvPr id="18" name="Conector recto de flecha 17">
            <a:extLst>
              <a:ext uri="{FF2B5EF4-FFF2-40B4-BE49-F238E27FC236}">
                <a16:creationId xmlns:a16="http://schemas.microsoft.com/office/drawing/2014/main" id="{9AACA123-4007-D15C-655D-9F5407608C78}"/>
              </a:ext>
            </a:extLst>
          </p:cNvPr>
          <p:cNvCxnSpPr>
            <a:cxnSpLocks/>
            <a:stCxn id="8" idx="1"/>
            <a:endCxn id="16" idx="2"/>
          </p:cNvCxnSpPr>
          <p:nvPr/>
        </p:nvCxnSpPr>
        <p:spPr>
          <a:xfrm flipV="1">
            <a:off x="1024182" y="6338610"/>
            <a:ext cx="1" cy="314229"/>
          </a:xfrm>
          <a:prstGeom prst="straightConnector1">
            <a:avLst/>
          </a:prstGeom>
          <a:ln w="38100">
            <a:tailEnd type="triangle" w="med"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846307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65760" y="537301"/>
            <a:ext cx="974279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EUROPEAS SOBRE REPORTES NO FINANCIEROS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2050" name="Picture 2" descr="The European Union flag | CONTEMPORARY HISTORY">
            <a:extLst>
              <a:ext uri="{FF2B5EF4-FFF2-40B4-BE49-F238E27FC236}">
                <a16:creationId xmlns:a16="http://schemas.microsoft.com/office/drawing/2014/main" id="{54FAF79F-5A51-C0F8-7739-7D26FDB21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1587" y="2262521"/>
            <a:ext cx="2383460" cy="1544639"/>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748AC8D8-8697-1CF4-1479-5B502737FB30}"/>
              </a:ext>
            </a:extLst>
          </p:cNvPr>
          <p:cNvSpPr txBox="1"/>
          <p:nvPr/>
        </p:nvSpPr>
        <p:spPr>
          <a:xfrm>
            <a:off x="5531211" y="2799088"/>
            <a:ext cx="1024212" cy="52322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s-ES" sz="2800" b="1" dirty="0">
                <a:solidFill>
                  <a:schemeClr val="bg1"/>
                </a:solidFill>
              </a:rPr>
              <a:t>ESRS</a:t>
            </a:r>
          </a:p>
        </p:txBody>
      </p:sp>
      <p:sp>
        <p:nvSpPr>
          <p:cNvPr id="6" name="CuadroTexto 5">
            <a:extLst>
              <a:ext uri="{FF2B5EF4-FFF2-40B4-BE49-F238E27FC236}">
                <a16:creationId xmlns:a16="http://schemas.microsoft.com/office/drawing/2014/main" id="{78E02D9B-6B8A-75AA-BDC5-CCD4E1BA1416}"/>
              </a:ext>
            </a:extLst>
          </p:cNvPr>
          <p:cNvSpPr txBox="1"/>
          <p:nvPr/>
        </p:nvSpPr>
        <p:spPr>
          <a:xfrm>
            <a:off x="365760" y="4067551"/>
            <a:ext cx="3004184" cy="923330"/>
          </a:xfrm>
          <a:prstGeom prst="rect">
            <a:avLst/>
          </a:prstGeom>
          <a:solidFill>
            <a:schemeClr val="accent6">
              <a:lumMod val="20000"/>
              <a:lumOff val="80000"/>
            </a:schemeClr>
          </a:solidFill>
        </p:spPr>
        <p:txBody>
          <a:bodyPr wrap="square" rtlCol="0">
            <a:spAutoFit/>
          </a:bodyPr>
          <a:lstStyle/>
          <a:p>
            <a:pPr algn="just"/>
            <a:r>
              <a:rPr lang="es-ES_tradnl" sz="1800" dirty="0">
                <a:effectLst/>
                <a:latin typeface="Calibri" panose="020F0502020204030204" pitchFamily="34" charset="0"/>
                <a:ea typeface="Times New Roman" panose="02020603050405020304" pitchFamily="18" charset="0"/>
              </a:rPr>
              <a:t>Son modelos o estándares para realizar informes de sostenibilidad</a:t>
            </a:r>
            <a:endParaRPr lang="es-ES" sz="2000" dirty="0"/>
          </a:p>
        </p:txBody>
      </p:sp>
      <p:sp>
        <p:nvSpPr>
          <p:cNvPr id="8" name="CuadroTexto 7">
            <a:extLst>
              <a:ext uri="{FF2B5EF4-FFF2-40B4-BE49-F238E27FC236}">
                <a16:creationId xmlns:a16="http://schemas.microsoft.com/office/drawing/2014/main" id="{0106A671-D7B7-348A-1E59-CA6720A3B546}"/>
              </a:ext>
            </a:extLst>
          </p:cNvPr>
          <p:cNvSpPr txBox="1"/>
          <p:nvPr/>
        </p:nvSpPr>
        <p:spPr>
          <a:xfrm>
            <a:off x="8751936" y="3975218"/>
            <a:ext cx="3004185" cy="1015663"/>
          </a:xfrm>
          <a:prstGeom prst="rect">
            <a:avLst/>
          </a:prstGeom>
          <a:solidFill>
            <a:schemeClr val="accent6">
              <a:lumMod val="20000"/>
              <a:lumOff val="80000"/>
            </a:schemeClr>
          </a:solidFill>
        </p:spPr>
        <p:txBody>
          <a:bodyPr wrap="square" rtlCol="0">
            <a:spAutoFit/>
          </a:bodyPr>
          <a:lstStyle/>
          <a:p>
            <a:pPr algn="just"/>
            <a:r>
              <a:rPr lang="es-ES" sz="2000" dirty="0"/>
              <a:t>Lo constituyen 12 documentos diferentes, clasificados por temáticas</a:t>
            </a:r>
          </a:p>
        </p:txBody>
      </p:sp>
      <p:sp>
        <p:nvSpPr>
          <p:cNvPr id="10" name="CuadroTexto 9">
            <a:extLst>
              <a:ext uri="{FF2B5EF4-FFF2-40B4-BE49-F238E27FC236}">
                <a16:creationId xmlns:a16="http://schemas.microsoft.com/office/drawing/2014/main" id="{63A70F23-EB33-05D5-9D50-ECDC7879E863}"/>
              </a:ext>
            </a:extLst>
          </p:cNvPr>
          <p:cNvSpPr txBox="1"/>
          <p:nvPr/>
        </p:nvSpPr>
        <p:spPr>
          <a:xfrm>
            <a:off x="4541224" y="4839176"/>
            <a:ext cx="3004185" cy="1631216"/>
          </a:xfrm>
          <a:prstGeom prst="rect">
            <a:avLst/>
          </a:prstGeom>
          <a:solidFill>
            <a:schemeClr val="accent6">
              <a:lumMod val="20000"/>
              <a:lumOff val="80000"/>
            </a:schemeClr>
          </a:solidFill>
        </p:spPr>
        <p:txBody>
          <a:bodyPr wrap="square" rtlCol="0">
            <a:spAutoFit/>
          </a:bodyPr>
          <a:lstStyle/>
          <a:p>
            <a:pPr algn="just"/>
            <a:r>
              <a:rPr lang="es-ES" sz="2000" dirty="0"/>
              <a:t>Estos modelos los deben usar las empresas que están obligadas a realizar informe de sostenibilidad según la </a:t>
            </a:r>
            <a:r>
              <a:rPr lang="es-ES" sz="2000" b="1" dirty="0"/>
              <a:t>CSRD</a:t>
            </a:r>
          </a:p>
        </p:txBody>
      </p:sp>
      <p:cxnSp>
        <p:nvCxnSpPr>
          <p:cNvPr id="12" name="Conector recto de flecha 11">
            <a:extLst>
              <a:ext uri="{FF2B5EF4-FFF2-40B4-BE49-F238E27FC236}">
                <a16:creationId xmlns:a16="http://schemas.microsoft.com/office/drawing/2014/main" id="{833DA01F-AA12-27FB-E638-E037DE40A9AD}"/>
              </a:ext>
            </a:extLst>
          </p:cNvPr>
          <p:cNvCxnSpPr>
            <a:stCxn id="2050" idx="2"/>
            <a:endCxn id="6" idx="3"/>
          </p:cNvCxnSpPr>
          <p:nvPr/>
        </p:nvCxnSpPr>
        <p:spPr>
          <a:xfrm flipH="1">
            <a:off x="3369944" y="3807160"/>
            <a:ext cx="2673373" cy="722056"/>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F82F5F27-274F-682F-B341-B5384AD17BBA}"/>
              </a:ext>
            </a:extLst>
          </p:cNvPr>
          <p:cNvCxnSpPr>
            <a:cxnSpLocks/>
            <a:stCxn id="2050" idx="2"/>
            <a:endCxn id="10" idx="0"/>
          </p:cNvCxnSpPr>
          <p:nvPr/>
        </p:nvCxnSpPr>
        <p:spPr>
          <a:xfrm>
            <a:off x="6043317" y="3807160"/>
            <a:ext cx="0" cy="1032016"/>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5399D5A7-C32A-DA32-67F2-74016428A636}"/>
              </a:ext>
            </a:extLst>
          </p:cNvPr>
          <p:cNvCxnSpPr>
            <a:cxnSpLocks/>
            <a:stCxn id="2050" idx="2"/>
            <a:endCxn id="8" idx="1"/>
          </p:cNvCxnSpPr>
          <p:nvPr/>
        </p:nvCxnSpPr>
        <p:spPr>
          <a:xfrm>
            <a:off x="6043317" y="3807160"/>
            <a:ext cx="2708619" cy="675890"/>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23F14BF0-C60B-F36F-8A3A-F990818AFF1F}"/>
              </a:ext>
            </a:extLst>
          </p:cNvPr>
          <p:cNvSpPr txBox="1"/>
          <p:nvPr/>
        </p:nvSpPr>
        <p:spPr>
          <a:xfrm>
            <a:off x="4653571" y="1503799"/>
            <a:ext cx="2779493" cy="707886"/>
          </a:xfrm>
          <a:prstGeom prst="rect">
            <a:avLst/>
          </a:prstGeom>
          <a:noFill/>
        </p:spPr>
        <p:txBody>
          <a:bodyPr wrap="square" rtlCol="0">
            <a:spAutoFit/>
          </a:bodyPr>
          <a:lstStyle/>
          <a:p>
            <a:pPr algn="ctr"/>
            <a:r>
              <a:rPr lang="es-ES_tradnl" sz="2000" b="1" dirty="0" err="1">
                <a:effectLst/>
                <a:latin typeface="Calibri" panose="020F0502020204030204" pitchFamily="34" charset="0"/>
                <a:ea typeface="Times New Roman" panose="02020603050405020304" pitchFamily="18" charset="0"/>
              </a:rPr>
              <a:t>European</a:t>
            </a:r>
            <a:r>
              <a:rPr lang="es-ES_tradnl" sz="2000" b="1" dirty="0">
                <a:effectLst/>
                <a:latin typeface="Calibri" panose="020F0502020204030204" pitchFamily="34" charset="0"/>
                <a:ea typeface="Times New Roman" panose="02020603050405020304" pitchFamily="18" charset="0"/>
              </a:rPr>
              <a:t> </a:t>
            </a:r>
            <a:r>
              <a:rPr lang="es-ES_tradnl" sz="2000" b="1" dirty="0" err="1">
                <a:effectLst/>
                <a:latin typeface="Calibri" panose="020F0502020204030204" pitchFamily="34" charset="0"/>
                <a:ea typeface="Times New Roman" panose="02020603050405020304" pitchFamily="18" charset="0"/>
              </a:rPr>
              <a:t>Sustainability</a:t>
            </a:r>
            <a:r>
              <a:rPr lang="es-ES_tradnl" sz="2000" b="1" dirty="0">
                <a:effectLst/>
                <a:latin typeface="Calibri" panose="020F0502020204030204" pitchFamily="34" charset="0"/>
                <a:ea typeface="Times New Roman" panose="02020603050405020304" pitchFamily="18" charset="0"/>
              </a:rPr>
              <a:t> </a:t>
            </a:r>
            <a:r>
              <a:rPr lang="es-ES_tradnl" sz="2000" b="1" dirty="0" err="1">
                <a:effectLst/>
                <a:latin typeface="Calibri" panose="020F0502020204030204" pitchFamily="34" charset="0"/>
                <a:ea typeface="Times New Roman" panose="02020603050405020304" pitchFamily="18" charset="0"/>
              </a:rPr>
              <a:t>Reporting</a:t>
            </a:r>
            <a:r>
              <a:rPr lang="es-ES_tradnl" sz="2000" b="1" dirty="0">
                <a:effectLst/>
                <a:latin typeface="Calibri" panose="020F0502020204030204" pitchFamily="34" charset="0"/>
                <a:ea typeface="Times New Roman" panose="02020603050405020304" pitchFamily="18" charset="0"/>
              </a:rPr>
              <a:t> </a:t>
            </a:r>
            <a:r>
              <a:rPr lang="es-ES_tradnl" sz="2000" b="1" dirty="0" err="1">
                <a:effectLst/>
                <a:latin typeface="Calibri" panose="020F0502020204030204" pitchFamily="34" charset="0"/>
                <a:ea typeface="Times New Roman" panose="02020603050405020304" pitchFamily="18" charset="0"/>
              </a:rPr>
              <a:t>Standards</a:t>
            </a:r>
            <a:endParaRPr lang="es-ES" sz="2000" b="1" dirty="0"/>
          </a:p>
        </p:txBody>
      </p:sp>
      <p:sp>
        <p:nvSpPr>
          <p:cNvPr id="24" name="CuadroTexto 23">
            <a:extLst>
              <a:ext uri="{FF2B5EF4-FFF2-40B4-BE49-F238E27FC236}">
                <a16:creationId xmlns:a16="http://schemas.microsoft.com/office/drawing/2014/main" id="{2F8AE931-38ED-35F5-9B26-A5226B2F52C2}"/>
              </a:ext>
            </a:extLst>
          </p:cNvPr>
          <p:cNvSpPr txBox="1"/>
          <p:nvPr/>
        </p:nvSpPr>
        <p:spPr>
          <a:xfrm>
            <a:off x="535576" y="2365043"/>
            <a:ext cx="2383460" cy="369332"/>
          </a:xfrm>
          <a:prstGeom prst="rect">
            <a:avLst/>
          </a:prstGeom>
          <a:noFill/>
        </p:spPr>
        <p:txBody>
          <a:bodyPr wrap="square" rtlCol="0">
            <a:spAutoFit/>
          </a:bodyPr>
          <a:lstStyle/>
          <a:p>
            <a:pPr algn="ctr"/>
            <a:r>
              <a:rPr lang="es-ES" dirty="0">
                <a:hlinkClick r:id="rId5"/>
              </a:rPr>
              <a:t>Vídeo explicativo</a:t>
            </a:r>
            <a:endParaRPr lang="es-ES" dirty="0"/>
          </a:p>
        </p:txBody>
      </p:sp>
    </p:spTree>
    <p:extLst>
      <p:ext uri="{BB962C8B-B14F-4D97-AF65-F5344CB8AC3E}">
        <p14:creationId xmlns:p14="http://schemas.microsoft.com/office/powerpoint/2010/main" val="24527913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65760" y="537301"/>
            <a:ext cx="974279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EUROPEAS SOBRE REPORTES NO FINANCIEROS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10" name="Imagen 9" descr="Diagrama&#10;&#10;Descripción generada automáticamente con confianza media">
            <a:extLst>
              <a:ext uri="{FF2B5EF4-FFF2-40B4-BE49-F238E27FC236}">
                <a16:creationId xmlns:a16="http://schemas.microsoft.com/office/drawing/2014/main" id="{91B56DF0-A61B-6290-E98D-2A6D9EA7D8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450" y="1300838"/>
            <a:ext cx="9879400" cy="5557162"/>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2496964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65760" y="537301"/>
            <a:ext cx="974279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EUROPEAS SOBRE DDHH</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6" name="CuadroTexto 5">
            <a:extLst>
              <a:ext uri="{FF2B5EF4-FFF2-40B4-BE49-F238E27FC236}">
                <a16:creationId xmlns:a16="http://schemas.microsoft.com/office/drawing/2014/main" id="{BC921265-5560-A35B-C362-046F15CA00F9}"/>
              </a:ext>
            </a:extLst>
          </p:cNvPr>
          <p:cNvSpPr txBox="1"/>
          <p:nvPr/>
        </p:nvSpPr>
        <p:spPr>
          <a:xfrm>
            <a:off x="4537414" y="4987155"/>
            <a:ext cx="3105150" cy="1015663"/>
          </a:xfrm>
          <a:prstGeom prst="rect">
            <a:avLst/>
          </a:prstGeom>
          <a:solidFill>
            <a:schemeClr val="accent2">
              <a:lumMod val="20000"/>
              <a:lumOff val="80000"/>
            </a:schemeClr>
          </a:solidFill>
        </p:spPr>
        <p:txBody>
          <a:bodyPr wrap="square" rtlCol="0">
            <a:spAutoFit/>
          </a:bodyPr>
          <a:lstStyle/>
          <a:p>
            <a:pPr algn="just"/>
            <a:r>
              <a:rPr lang="es-ES" sz="2000" dirty="0"/>
              <a:t>Fue finalmente aprobada por el Consejo de la Unión Europea en mayo de 2024</a:t>
            </a:r>
          </a:p>
        </p:txBody>
      </p:sp>
      <p:cxnSp>
        <p:nvCxnSpPr>
          <p:cNvPr id="8" name="Conector recto de flecha 7">
            <a:extLst>
              <a:ext uri="{FF2B5EF4-FFF2-40B4-BE49-F238E27FC236}">
                <a16:creationId xmlns:a16="http://schemas.microsoft.com/office/drawing/2014/main" id="{0822670A-5426-50E8-1AF3-A5760CF07157}"/>
              </a:ext>
            </a:extLst>
          </p:cNvPr>
          <p:cNvCxnSpPr>
            <a:cxnSpLocks/>
            <a:stCxn id="26" idx="2"/>
            <a:endCxn id="6" idx="0"/>
          </p:cNvCxnSpPr>
          <p:nvPr/>
        </p:nvCxnSpPr>
        <p:spPr>
          <a:xfrm>
            <a:off x="6076950" y="3903539"/>
            <a:ext cx="13039" cy="1083616"/>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B52A960A-B116-D6AF-57B2-B39C03947559}"/>
              </a:ext>
            </a:extLst>
          </p:cNvPr>
          <p:cNvSpPr txBox="1"/>
          <p:nvPr/>
        </p:nvSpPr>
        <p:spPr>
          <a:xfrm>
            <a:off x="861521" y="4315855"/>
            <a:ext cx="3282763" cy="2246769"/>
          </a:xfrm>
          <a:prstGeom prst="rect">
            <a:avLst/>
          </a:prstGeom>
          <a:solidFill>
            <a:schemeClr val="accent2">
              <a:lumMod val="20000"/>
              <a:lumOff val="80000"/>
            </a:schemeClr>
          </a:solidFill>
        </p:spPr>
        <p:txBody>
          <a:bodyPr wrap="square" rtlCol="0">
            <a:spAutoFit/>
          </a:bodyPr>
          <a:lstStyle/>
          <a:p>
            <a:pPr algn="just"/>
            <a:r>
              <a:rPr lang="es-ES_tradnl" sz="2000" dirty="0">
                <a:latin typeface="Calibri" panose="020F0502020204030204" pitchFamily="34" charset="0"/>
                <a:ea typeface="Times New Roman" panose="02020603050405020304" pitchFamily="18" charset="0"/>
              </a:rPr>
              <a:t>S</a:t>
            </a:r>
            <a:r>
              <a:rPr lang="es-ES_tradnl" sz="2000" dirty="0">
                <a:effectLst/>
                <a:latin typeface="Calibri" panose="020F0502020204030204" pitchFamily="34" charset="0"/>
                <a:ea typeface="Times New Roman" panose="02020603050405020304" pitchFamily="18" charset="0"/>
              </a:rPr>
              <a:t>e basa en los diez Principios Rectores de Naciones Unidas sobre empresas y DDHH, las recomendaciones de la OCDE para multinacionales y está en consonancia con los DDHH y las normas laborales</a:t>
            </a:r>
            <a:endParaRPr lang="es-ES" sz="2000" dirty="0"/>
          </a:p>
        </p:txBody>
      </p:sp>
      <p:cxnSp>
        <p:nvCxnSpPr>
          <p:cNvPr id="18" name="Conector recto de flecha 17">
            <a:extLst>
              <a:ext uri="{FF2B5EF4-FFF2-40B4-BE49-F238E27FC236}">
                <a16:creationId xmlns:a16="http://schemas.microsoft.com/office/drawing/2014/main" id="{3C979F04-7532-49E0-25CF-77C045DA5A18}"/>
              </a:ext>
            </a:extLst>
          </p:cNvPr>
          <p:cNvCxnSpPr>
            <a:cxnSpLocks/>
            <a:stCxn id="26" idx="2"/>
            <a:endCxn id="15" idx="0"/>
          </p:cNvCxnSpPr>
          <p:nvPr/>
        </p:nvCxnSpPr>
        <p:spPr>
          <a:xfrm flipH="1">
            <a:off x="2502903" y="3903539"/>
            <a:ext cx="3574047" cy="412316"/>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53B46661-0C79-C75D-C0DE-60DA599E6C9E}"/>
              </a:ext>
            </a:extLst>
          </p:cNvPr>
          <p:cNvSpPr txBox="1"/>
          <p:nvPr/>
        </p:nvSpPr>
        <p:spPr>
          <a:xfrm>
            <a:off x="8141898" y="4315855"/>
            <a:ext cx="3105150" cy="2031325"/>
          </a:xfrm>
          <a:prstGeom prst="rect">
            <a:avLst/>
          </a:prstGeom>
          <a:solidFill>
            <a:schemeClr val="accent2">
              <a:lumMod val="20000"/>
              <a:lumOff val="80000"/>
            </a:schemeClr>
          </a:solidFill>
        </p:spPr>
        <p:txBody>
          <a:bodyPr wrap="square" rtlCol="0">
            <a:spAutoFit/>
          </a:bodyPr>
          <a:lstStyle/>
          <a:p>
            <a:pPr algn="just"/>
            <a:r>
              <a:rPr lang="es-ES_tradnl" sz="1800" dirty="0">
                <a:effectLst/>
                <a:latin typeface="Calibri" panose="020F0502020204030204" pitchFamily="34" charset="0"/>
                <a:ea typeface="Times New Roman" panose="02020603050405020304" pitchFamily="18" charset="0"/>
              </a:rPr>
              <a:t>Su objetivo es obligar a las compañías a informar mediante una </a:t>
            </a:r>
            <a:r>
              <a:rPr lang="es-ES_tradnl" sz="1800" b="1" dirty="0">
                <a:effectLst/>
                <a:latin typeface="Calibri" panose="020F0502020204030204" pitchFamily="34" charset="0"/>
                <a:ea typeface="Times New Roman" panose="02020603050405020304" pitchFamily="18" charset="0"/>
              </a:rPr>
              <a:t>diligencia debida</a:t>
            </a:r>
            <a:r>
              <a:rPr lang="es-ES_tradnl" sz="1800" dirty="0">
                <a:effectLst/>
                <a:latin typeface="Calibri" panose="020F0502020204030204" pitchFamily="34" charset="0"/>
                <a:ea typeface="Times New Roman" panose="02020603050405020304" pitchFamily="18" charset="0"/>
              </a:rPr>
              <a:t> sobre los impactos adversos reales y potenciales tanto en materia de DDHH como de medioambiente</a:t>
            </a:r>
            <a:endParaRPr lang="es-ES" sz="2000" dirty="0"/>
          </a:p>
        </p:txBody>
      </p:sp>
      <p:cxnSp>
        <p:nvCxnSpPr>
          <p:cNvPr id="22" name="Conector recto de flecha 21">
            <a:extLst>
              <a:ext uri="{FF2B5EF4-FFF2-40B4-BE49-F238E27FC236}">
                <a16:creationId xmlns:a16="http://schemas.microsoft.com/office/drawing/2014/main" id="{EFEAB560-7940-9025-E978-C11A01F137BD}"/>
              </a:ext>
            </a:extLst>
          </p:cNvPr>
          <p:cNvCxnSpPr>
            <a:cxnSpLocks/>
            <a:stCxn id="26" idx="2"/>
            <a:endCxn id="21" idx="0"/>
          </p:cNvCxnSpPr>
          <p:nvPr/>
        </p:nvCxnSpPr>
        <p:spPr>
          <a:xfrm>
            <a:off x="6076950" y="3903539"/>
            <a:ext cx="3617523" cy="412316"/>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26" name="Imagen 25">
            <a:extLst>
              <a:ext uri="{FF2B5EF4-FFF2-40B4-BE49-F238E27FC236}">
                <a16:creationId xmlns:a16="http://schemas.microsoft.com/office/drawing/2014/main" id="{F7AC25D6-35CF-918D-534E-C93507408461}"/>
              </a:ext>
            </a:extLst>
          </p:cNvPr>
          <p:cNvPicPr>
            <a:picLocks noChangeAspect="1"/>
          </p:cNvPicPr>
          <p:nvPr/>
        </p:nvPicPr>
        <p:blipFill>
          <a:blip r:embed="rId4"/>
          <a:stretch>
            <a:fillRect/>
          </a:stretch>
        </p:blipFill>
        <p:spPr>
          <a:xfrm>
            <a:off x="4857750" y="2302477"/>
            <a:ext cx="2438399" cy="1601062"/>
          </a:xfrm>
          <a:prstGeom prst="rect">
            <a:avLst/>
          </a:prstGeom>
        </p:spPr>
      </p:pic>
      <p:sp>
        <p:nvSpPr>
          <p:cNvPr id="31" name="CuadroTexto 30">
            <a:extLst>
              <a:ext uri="{FF2B5EF4-FFF2-40B4-BE49-F238E27FC236}">
                <a16:creationId xmlns:a16="http://schemas.microsoft.com/office/drawing/2014/main" id="{CB2CBA0B-15AB-3846-E220-864A8DE5C7B4}"/>
              </a:ext>
            </a:extLst>
          </p:cNvPr>
          <p:cNvSpPr txBox="1"/>
          <p:nvPr/>
        </p:nvSpPr>
        <p:spPr>
          <a:xfrm>
            <a:off x="4591050" y="1581150"/>
            <a:ext cx="2937214" cy="707886"/>
          </a:xfrm>
          <a:prstGeom prst="rect">
            <a:avLst/>
          </a:prstGeom>
          <a:noFill/>
        </p:spPr>
        <p:txBody>
          <a:bodyPr wrap="square" rtlCol="0">
            <a:spAutoFit/>
          </a:bodyPr>
          <a:lstStyle/>
          <a:p>
            <a:pPr algn="ctr"/>
            <a:r>
              <a:rPr lang="es-ES_tradnl" sz="2000" b="1" i="1" dirty="0" err="1">
                <a:effectLst/>
                <a:latin typeface="Calibri" panose="020F0502020204030204" pitchFamily="34" charset="0"/>
                <a:ea typeface="Times New Roman" panose="02020603050405020304" pitchFamily="18" charset="0"/>
              </a:rPr>
              <a:t>Corporate</a:t>
            </a:r>
            <a:r>
              <a:rPr lang="es-ES_tradnl" sz="2000" b="1" i="1" dirty="0">
                <a:effectLst/>
                <a:latin typeface="Calibri" panose="020F0502020204030204" pitchFamily="34" charset="0"/>
                <a:ea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rPr>
              <a:t>Sustainability</a:t>
            </a:r>
            <a:r>
              <a:rPr lang="es-ES_tradnl" sz="2000" b="1" i="1" dirty="0">
                <a:effectLst/>
                <a:latin typeface="Calibri" panose="020F0502020204030204" pitchFamily="34" charset="0"/>
                <a:ea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rPr>
              <a:t>Due</a:t>
            </a:r>
            <a:r>
              <a:rPr lang="es-ES_tradnl" sz="2000" b="1" i="1" dirty="0">
                <a:effectLst/>
                <a:latin typeface="Calibri" panose="020F0502020204030204" pitchFamily="34" charset="0"/>
                <a:ea typeface="Times New Roman" panose="02020603050405020304" pitchFamily="18" charset="0"/>
              </a:rPr>
              <a:t> </a:t>
            </a:r>
            <a:r>
              <a:rPr lang="es-ES_tradnl" sz="2000" b="1" i="1" dirty="0" err="1">
                <a:effectLst/>
                <a:latin typeface="Calibri" panose="020F0502020204030204" pitchFamily="34" charset="0"/>
                <a:ea typeface="Times New Roman" panose="02020603050405020304" pitchFamily="18" charset="0"/>
              </a:rPr>
              <a:t>Diligence</a:t>
            </a:r>
            <a:r>
              <a:rPr lang="es-ES_tradnl" sz="2000" b="1" i="1" dirty="0">
                <a:effectLst/>
                <a:latin typeface="Calibri" panose="020F0502020204030204" pitchFamily="34" charset="0"/>
                <a:ea typeface="Times New Roman" panose="02020603050405020304" pitchFamily="18" charset="0"/>
              </a:rPr>
              <a:t> Directive</a:t>
            </a:r>
            <a:endParaRPr lang="es-ES" sz="2000" b="1" dirty="0"/>
          </a:p>
        </p:txBody>
      </p:sp>
      <p:sp>
        <p:nvSpPr>
          <p:cNvPr id="43" name="CuadroTexto 42">
            <a:extLst>
              <a:ext uri="{FF2B5EF4-FFF2-40B4-BE49-F238E27FC236}">
                <a16:creationId xmlns:a16="http://schemas.microsoft.com/office/drawing/2014/main" id="{7DECF6E1-AC80-E38D-87FD-B6B5C76A7BA7}"/>
              </a:ext>
            </a:extLst>
          </p:cNvPr>
          <p:cNvSpPr txBox="1"/>
          <p:nvPr/>
        </p:nvSpPr>
        <p:spPr>
          <a:xfrm>
            <a:off x="8664606" y="2114550"/>
            <a:ext cx="2438399" cy="769441"/>
          </a:xfrm>
          <a:prstGeom prst="rect">
            <a:avLst/>
          </a:prstGeom>
          <a:noFill/>
        </p:spPr>
        <p:txBody>
          <a:bodyPr wrap="square" rtlCol="0">
            <a:spAutoFit/>
          </a:bodyPr>
          <a:lstStyle/>
          <a:p>
            <a:pPr algn="ctr"/>
            <a:r>
              <a:rPr lang="es-ES" sz="2200" dirty="0"/>
              <a:t>Entrada en vigor: 25/07/2024</a:t>
            </a:r>
          </a:p>
        </p:txBody>
      </p:sp>
    </p:spTree>
    <p:extLst>
      <p:ext uri="{BB962C8B-B14F-4D97-AF65-F5344CB8AC3E}">
        <p14:creationId xmlns:p14="http://schemas.microsoft.com/office/powerpoint/2010/main" val="31019243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365760" y="537301"/>
            <a:ext cx="974279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EUROPEAS SOBRE DDHH</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pic>
        <p:nvPicPr>
          <p:cNvPr id="8" name="Imagen 7">
            <a:hlinkClick r:id="rId4"/>
            <a:extLst>
              <a:ext uri="{FF2B5EF4-FFF2-40B4-BE49-F238E27FC236}">
                <a16:creationId xmlns:a16="http://schemas.microsoft.com/office/drawing/2014/main" id="{FE131787-24B6-BFCC-DE56-5F88826C8D33}"/>
              </a:ext>
            </a:extLst>
          </p:cNvPr>
          <p:cNvPicPr>
            <a:picLocks noChangeAspect="1"/>
          </p:cNvPicPr>
          <p:nvPr/>
        </p:nvPicPr>
        <p:blipFill>
          <a:blip r:embed="rId5"/>
          <a:stretch>
            <a:fillRect/>
          </a:stretch>
        </p:blipFill>
        <p:spPr>
          <a:xfrm>
            <a:off x="470413" y="1426044"/>
            <a:ext cx="11145805" cy="5315692"/>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4" name="CuadroTexto 3">
            <a:extLst>
              <a:ext uri="{FF2B5EF4-FFF2-40B4-BE49-F238E27FC236}">
                <a16:creationId xmlns:a16="http://schemas.microsoft.com/office/drawing/2014/main" id="{D41332A4-8744-58F0-5B65-3BE2C6D28857}"/>
              </a:ext>
            </a:extLst>
          </p:cNvPr>
          <p:cNvSpPr txBox="1"/>
          <p:nvPr/>
        </p:nvSpPr>
        <p:spPr>
          <a:xfrm>
            <a:off x="5413555" y="2804007"/>
            <a:ext cx="1259523"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s-ES" sz="2400" b="1" dirty="0">
                <a:solidFill>
                  <a:srgbClr val="FFF7C9"/>
                </a:solidFill>
              </a:rPr>
              <a:t>CSDDD</a:t>
            </a:r>
          </a:p>
        </p:txBody>
      </p:sp>
    </p:spTree>
    <p:extLst>
      <p:ext uri="{BB962C8B-B14F-4D97-AF65-F5344CB8AC3E}">
        <p14:creationId xmlns:p14="http://schemas.microsoft.com/office/powerpoint/2010/main" val="322017058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133350" y="537301"/>
            <a:ext cx="997520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ESPAÑOLAS EMPRESAS Y SOSTENIBILIDAD</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026" name="Picture 2" descr="Download Flag, Spain, Spanish. Royalty-Free Vector Graphic - Pixabay">
            <a:extLst>
              <a:ext uri="{FF2B5EF4-FFF2-40B4-BE49-F238E27FC236}">
                <a16:creationId xmlns:a16="http://schemas.microsoft.com/office/drawing/2014/main" id="{40262CCF-4309-F095-B3E3-5ADD89BE5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6938" y="2501110"/>
            <a:ext cx="2338124" cy="149542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3645CB6-C34B-E4E8-1721-7F0737435FD3}"/>
              </a:ext>
            </a:extLst>
          </p:cNvPr>
          <p:cNvSpPr txBox="1"/>
          <p:nvPr/>
        </p:nvSpPr>
        <p:spPr>
          <a:xfrm>
            <a:off x="3981450" y="1472409"/>
            <a:ext cx="4229100" cy="1015663"/>
          </a:xfrm>
          <a:prstGeom prst="rect">
            <a:avLst/>
          </a:prstGeom>
          <a:noFill/>
        </p:spPr>
        <p:txBody>
          <a:bodyPr wrap="square" rtlCol="0">
            <a:spAutoFit/>
          </a:bodyPr>
          <a:lstStyle/>
          <a:p>
            <a:pPr algn="ctr"/>
            <a:r>
              <a:rPr lang="es-ES_tradnl" sz="2000" b="1" dirty="0">
                <a:effectLst/>
                <a:latin typeface="Calibri" panose="020F0502020204030204" pitchFamily="34" charset="0"/>
                <a:ea typeface="Times New Roman" panose="02020603050405020304" pitchFamily="18" charset="0"/>
              </a:rPr>
              <a:t>Ley 11/2018, de 28 de diciembre en materia de información no financiera y diversidad</a:t>
            </a:r>
            <a:endParaRPr lang="es-ES" sz="2000" dirty="0"/>
          </a:p>
        </p:txBody>
      </p:sp>
      <p:sp>
        <p:nvSpPr>
          <p:cNvPr id="6" name="CuadroTexto 5">
            <a:extLst>
              <a:ext uri="{FF2B5EF4-FFF2-40B4-BE49-F238E27FC236}">
                <a16:creationId xmlns:a16="http://schemas.microsoft.com/office/drawing/2014/main" id="{5A4BBF0F-0106-2C3B-07EB-D89DECC80541}"/>
              </a:ext>
            </a:extLst>
          </p:cNvPr>
          <p:cNvSpPr txBox="1"/>
          <p:nvPr/>
        </p:nvSpPr>
        <p:spPr>
          <a:xfrm>
            <a:off x="5257800" y="3031393"/>
            <a:ext cx="1676400" cy="523220"/>
          </a:xfrm>
          <a:prstGeom prst="rect">
            <a:avLst/>
          </a:prstGeom>
          <a:noFill/>
        </p:spPr>
        <p:txBody>
          <a:bodyPr wrap="square" rtlCol="0">
            <a:spAutoFit/>
          </a:bodyPr>
          <a:lstStyle/>
          <a:p>
            <a:pPr algn="ctr"/>
            <a:r>
              <a:rPr lang="es-ES" sz="2800" b="1" dirty="0">
                <a:solidFill>
                  <a:schemeClr val="tx1">
                    <a:lumMod val="85000"/>
                    <a:lumOff val="15000"/>
                  </a:schemeClr>
                </a:solidFill>
              </a:rPr>
              <a:t>LEY 11/18</a:t>
            </a:r>
          </a:p>
        </p:txBody>
      </p:sp>
      <p:sp>
        <p:nvSpPr>
          <p:cNvPr id="10" name="CuadroTexto 9">
            <a:extLst>
              <a:ext uri="{FF2B5EF4-FFF2-40B4-BE49-F238E27FC236}">
                <a16:creationId xmlns:a16="http://schemas.microsoft.com/office/drawing/2014/main" id="{8EE9FC8A-A4ED-C00F-8525-1DCD02282A7E}"/>
              </a:ext>
            </a:extLst>
          </p:cNvPr>
          <p:cNvSpPr txBox="1"/>
          <p:nvPr/>
        </p:nvSpPr>
        <p:spPr>
          <a:xfrm>
            <a:off x="1238250" y="4762500"/>
            <a:ext cx="3688688" cy="1631216"/>
          </a:xfrm>
          <a:prstGeom prst="rect">
            <a:avLst/>
          </a:prstGeom>
          <a:solidFill>
            <a:schemeClr val="bg2">
              <a:lumMod val="90000"/>
            </a:schemeClr>
          </a:solidFill>
        </p:spPr>
        <p:txBody>
          <a:bodyPr wrap="square" rtlCol="0">
            <a:spAutoFit/>
          </a:bodyPr>
          <a:lstStyle/>
          <a:p>
            <a:pPr algn="just"/>
            <a:r>
              <a:rPr lang="es-ES_tradnl" sz="2000" dirty="0">
                <a:latin typeface="Calibri" panose="020F0502020204030204" pitchFamily="34" charset="0"/>
                <a:ea typeface="Times New Roman" panose="02020603050405020304" pitchFamily="18" charset="0"/>
              </a:rPr>
              <a:t>E</a:t>
            </a:r>
            <a:r>
              <a:rPr lang="es-ES_tradnl" sz="2000" dirty="0">
                <a:effectLst/>
                <a:latin typeface="Calibri" panose="020F0502020204030204" pitchFamily="34" charset="0"/>
                <a:ea typeface="Times New Roman" panose="02020603050405020304" pitchFamily="18" charset="0"/>
              </a:rPr>
              <a:t>sta Ley es el resultado de la transposición al ordenamiento jurídico español de la anterior directiva europea de Información no financiera NFRD</a:t>
            </a:r>
            <a:endParaRPr lang="es-ES" sz="2000" dirty="0"/>
          </a:p>
        </p:txBody>
      </p:sp>
      <p:sp>
        <p:nvSpPr>
          <p:cNvPr id="11" name="CuadroTexto 10">
            <a:extLst>
              <a:ext uri="{FF2B5EF4-FFF2-40B4-BE49-F238E27FC236}">
                <a16:creationId xmlns:a16="http://schemas.microsoft.com/office/drawing/2014/main" id="{BFA07D8E-8A38-42E9-ACE0-8EBA3BD948C5}"/>
              </a:ext>
            </a:extLst>
          </p:cNvPr>
          <p:cNvSpPr txBox="1"/>
          <p:nvPr/>
        </p:nvSpPr>
        <p:spPr>
          <a:xfrm>
            <a:off x="7265062" y="4762500"/>
            <a:ext cx="3688688" cy="1477328"/>
          </a:xfrm>
          <a:prstGeom prst="rect">
            <a:avLst/>
          </a:prstGeom>
          <a:solidFill>
            <a:schemeClr val="bg2">
              <a:lumMod val="90000"/>
            </a:schemeClr>
          </a:solidFill>
        </p:spPr>
        <p:txBody>
          <a:bodyPr wrap="square" rtlCol="0">
            <a:spAutoFit/>
          </a:bodyPr>
          <a:lstStyle/>
          <a:p>
            <a:pPr algn="just"/>
            <a:r>
              <a:rPr lang="es-ES_tradnl" sz="1800" dirty="0">
                <a:effectLst/>
                <a:latin typeface="Calibri" panose="020F0502020204030204" pitchFamily="34" charset="0"/>
                <a:ea typeface="Times New Roman" panose="02020603050405020304" pitchFamily="18" charset="0"/>
              </a:rPr>
              <a:t>Actualmente hay un borrador de una nueva regulación conforme a los requisitos de la nueva directiva CSRD y se espera que entre el 2024 y el 2025 vea la luz.</a:t>
            </a:r>
            <a:endParaRPr lang="es-ES" sz="2000" dirty="0"/>
          </a:p>
        </p:txBody>
      </p:sp>
      <p:cxnSp>
        <p:nvCxnSpPr>
          <p:cNvPr id="13" name="Conector recto de flecha 12">
            <a:extLst>
              <a:ext uri="{FF2B5EF4-FFF2-40B4-BE49-F238E27FC236}">
                <a16:creationId xmlns:a16="http://schemas.microsoft.com/office/drawing/2014/main" id="{E692D3D9-5D4F-FA9F-CA90-395E44996B16}"/>
              </a:ext>
            </a:extLst>
          </p:cNvPr>
          <p:cNvCxnSpPr>
            <a:stCxn id="1026" idx="2"/>
            <a:endCxn id="10" idx="0"/>
          </p:cNvCxnSpPr>
          <p:nvPr/>
        </p:nvCxnSpPr>
        <p:spPr>
          <a:xfrm flipH="1">
            <a:off x="3082594" y="3996535"/>
            <a:ext cx="3013406" cy="765965"/>
          </a:xfrm>
          <a:prstGeom prst="straightConnector1">
            <a:avLst/>
          </a:prstGeom>
          <a:ln w="50800">
            <a:solidFill>
              <a:schemeClr val="tx1">
                <a:lumMod val="65000"/>
                <a:lumOff val="3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5940E05B-EA62-E1B5-67E2-D6B598C426B7}"/>
              </a:ext>
            </a:extLst>
          </p:cNvPr>
          <p:cNvCxnSpPr>
            <a:cxnSpLocks/>
            <a:stCxn id="1026" idx="2"/>
            <a:endCxn id="11" idx="0"/>
          </p:cNvCxnSpPr>
          <p:nvPr/>
        </p:nvCxnSpPr>
        <p:spPr>
          <a:xfrm>
            <a:off x="6096000" y="3996535"/>
            <a:ext cx="3013406" cy="765965"/>
          </a:xfrm>
          <a:prstGeom prst="straightConnector1">
            <a:avLst/>
          </a:prstGeom>
          <a:ln w="50800">
            <a:solidFill>
              <a:schemeClr val="tx1">
                <a:lumMod val="65000"/>
                <a:lumOff val="3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CB4E895A-CC93-A23D-6B27-DE0BACEEE9BD}"/>
              </a:ext>
            </a:extLst>
          </p:cNvPr>
          <p:cNvSpPr txBox="1"/>
          <p:nvPr/>
        </p:nvSpPr>
        <p:spPr>
          <a:xfrm>
            <a:off x="8972550" y="2003955"/>
            <a:ext cx="2190750" cy="369332"/>
          </a:xfrm>
          <a:prstGeom prst="rect">
            <a:avLst/>
          </a:prstGeom>
          <a:noFill/>
        </p:spPr>
        <p:txBody>
          <a:bodyPr wrap="square" rtlCol="0">
            <a:spAutoFit/>
          </a:bodyPr>
          <a:lstStyle/>
          <a:p>
            <a:pPr algn="ctr"/>
            <a:r>
              <a:rPr lang="es-ES" dirty="0">
                <a:hlinkClick r:id="rId5"/>
              </a:rPr>
              <a:t>Vídeo Explicativo</a:t>
            </a:r>
            <a:endParaRPr lang="es-ES" dirty="0"/>
          </a:p>
        </p:txBody>
      </p:sp>
    </p:spTree>
    <p:extLst>
      <p:ext uri="{BB962C8B-B14F-4D97-AF65-F5344CB8AC3E}">
        <p14:creationId xmlns:p14="http://schemas.microsoft.com/office/powerpoint/2010/main" val="146373007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133350" y="537301"/>
            <a:ext cx="997520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ESPAÑOLAS SOBRE</a:t>
            </a:r>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 </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REPORTES NO FINANCIEROS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1026" name="Picture 2" descr="Download Flag, Spain, Spanish. Royalty-Free Vector Graphic - Pixabay">
            <a:extLst>
              <a:ext uri="{FF2B5EF4-FFF2-40B4-BE49-F238E27FC236}">
                <a16:creationId xmlns:a16="http://schemas.microsoft.com/office/drawing/2014/main" id="{40262CCF-4309-F095-B3E3-5ADD89BE5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6135" y="2501110"/>
            <a:ext cx="2338124" cy="149542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3645CB6-C34B-E4E8-1721-7F0737435FD3}"/>
              </a:ext>
            </a:extLst>
          </p:cNvPr>
          <p:cNvSpPr txBox="1"/>
          <p:nvPr/>
        </p:nvSpPr>
        <p:spPr>
          <a:xfrm>
            <a:off x="4568494" y="1472409"/>
            <a:ext cx="3013406" cy="646331"/>
          </a:xfrm>
          <a:prstGeom prst="rect">
            <a:avLst/>
          </a:prstGeom>
          <a:noFill/>
        </p:spPr>
        <p:txBody>
          <a:bodyPr wrap="square" rtlCol="0">
            <a:spAutoFit/>
          </a:bodyPr>
          <a:lstStyle/>
          <a:p>
            <a:pPr algn="ctr"/>
            <a:r>
              <a:rPr lang="es-ES_tradnl" sz="1800" b="1" dirty="0">
                <a:effectLst/>
                <a:latin typeface="Calibri" panose="020F0502020204030204" pitchFamily="34" charset="0"/>
                <a:ea typeface="Times New Roman" panose="02020603050405020304" pitchFamily="18" charset="0"/>
              </a:rPr>
              <a:t>Ley 18/2022 de creación y crecimiento de empresas</a:t>
            </a:r>
            <a:endParaRPr lang="es-ES" sz="2000" dirty="0"/>
          </a:p>
        </p:txBody>
      </p:sp>
      <p:sp>
        <p:nvSpPr>
          <p:cNvPr id="6" name="CuadroTexto 5">
            <a:extLst>
              <a:ext uri="{FF2B5EF4-FFF2-40B4-BE49-F238E27FC236}">
                <a16:creationId xmlns:a16="http://schemas.microsoft.com/office/drawing/2014/main" id="{5A4BBF0F-0106-2C3B-07EB-D89DECC80541}"/>
              </a:ext>
            </a:extLst>
          </p:cNvPr>
          <p:cNvSpPr txBox="1"/>
          <p:nvPr/>
        </p:nvSpPr>
        <p:spPr>
          <a:xfrm>
            <a:off x="5236997" y="3031393"/>
            <a:ext cx="1676400" cy="523220"/>
          </a:xfrm>
          <a:prstGeom prst="rect">
            <a:avLst/>
          </a:prstGeom>
          <a:noFill/>
        </p:spPr>
        <p:txBody>
          <a:bodyPr wrap="square" rtlCol="0">
            <a:spAutoFit/>
          </a:bodyPr>
          <a:lstStyle/>
          <a:p>
            <a:pPr algn="ctr"/>
            <a:r>
              <a:rPr lang="es-ES" sz="2800" b="1" dirty="0">
                <a:solidFill>
                  <a:schemeClr val="tx1">
                    <a:lumMod val="85000"/>
                    <a:lumOff val="15000"/>
                  </a:schemeClr>
                </a:solidFill>
              </a:rPr>
              <a:t>LEY 18/22</a:t>
            </a:r>
          </a:p>
        </p:txBody>
      </p:sp>
      <p:sp>
        <p:nvSpPr>
          <p:cNvPr id="10" name="CuadroTexto 9">
            <a:extLst>
              <a:ext uri="{FF2B5EF4-FFF2-40B4-BE49-F238E27FC236}">
                <a16:creationId xmlns:a16="http://schemas.microsoft.com/office/drawing/2014/main" id="{8EE9FC8A-A4ED-C00F-8525-1DCD02282A7E}"/>
              </a:ext>
            </a:extLst>
          </p:cNvPr>
          <p:cNvSpPr txBox="1"/>
          <p:nvPr/>
        </p:nvSpPr>
        <p:spPr>
          <a:xfrm>
            <a:off x="1238250" y="4762500"/>
            <a:ext cx="3688688" cy="923330"/>
          </a:xfrm>
          <a:prstGeom prst="rect">
            <a:avLst/>
          </a:prstGeom>
          <a:solidFill>
            <a:srgbClr val="FFFF81"/>
          </a:solidFill>
        </p:spPr>
        <p:txBody>
          <a:bodyPr wrap="square" rtlCol="0">
            <a:spAutoFit/>
          </a:bodyPr>
          <a:lstStyle/>
          <a:p>
            <a:pPr algn="just"/>
            <a:r>
              <a:rPr lang="es-ES_tradnl" sz="1800" dirty="0">
                <a:effectLst/>
                <a:latin typeface="Calibri" panose="020F0502020204030204" pitchFamily="34" charset="0"/>
                <a:ea typeface="Times New Roman" panose="02020603050405020304" pitchFamily="18" charset="0"/>
              </a:rPr>
              <a:t>Crea la figura de las </a:t>
            </a:r>
            <a:r>
              <a:rPr lang="es-ES_tradnl" sz="1800" b="1" dirty="0">
                <a:effectLst/>
                <a:latin typeface="Calibri" panose="020F0502020204030204" pitchFamily="34" charset="0"/>
                <a:ea typeface="Times New Roman" panose="02020603050405020304" pitchFamily="18" charset="0"/>
              </a:rPr>
              <a:t>Sociedades de Beneficio e Interés Común </a:t>
            </a:r>
            <a:r>
              <a:rPr lang="es-ES_tradnl" sz="1800" dirty="0">
                <a:effectLst/>
                <a:latin typeface="Calibri" panose="020F0502020204030204" pitchFamily="34" charset="0"/>
                <a:ea typeface="Times New Roman" panose="02020603050405020304" pitchFamily="18" charset="0"/>
              </a:rPr>
              <a:t>(Empresas con Propósito</a:t>
            </a:r>
            <a:endParaRPr lang="es-ES" sz="2000" dirty="0"/>
          </a:p>
        </p:txBody>
      </p:sp>
      <p:sp>
        <p:nvSpPr>
          <p:cNvPr id="11" name="CuadroTexto 10">
            <a:extLst>
              <a:ext uri="{FF2B5EF4-FFF2-40B4-BE49-F238E27FC236}">
                <a16:creationId xmlns:a16="http://schemas.microsoft.com/office/drawing/2014/main" id="{BFA07D8E-8A38-42E9-ACE0-8EBA3BD948C5}"/>
              </a:ext>
            </a:extLst>
          </p:cNvPr>
          <p:cNvSpPr txBox="1"/>
          <p:nvPr/>
        </p:nvSpPr>
        <p:spPr>
          <a:xfrm>
            <a:off x="7265062" y="4762500"/>
            <a:ext cx="3688688" cy="923330"/>
          </a:xfrm>
          <a:prstGeom prst="rect">
            <a:avLst/>
          </a:prstGeom>
          <a:solidFill>
            <a:srgbClr val="FFFF81"/>
          </a:solidFill>
        </p:spPr>
        <p:txBody>
          <a:bodyPr wrap="square" rtlCol="0">
            <a:spAutoFit/>
          </a:bodyPr>
          <a:lstStyle/>
          <a:p>
            <a:pPr algn="just"/>
            <a:r>
              <a:rPr lang="es-ES_tradnl" sz="1800" dirty="0">
                <a:effectLst/>
                <a:latin typeface="Calibri" panose="020F0502020204030204" pitchFamily="34" charset="0"/>
                <a:ea typeface="Times New Roman" panose="02020603050405020304" pitchFamily="18" charset="0"/>
              </a:rPr>
              <a:t>Esta figura ya existía en la normativa de otros países y se trata de dar cobertura a compañías sostenibles.</a:t>
            </a:r>
            <a:endParaRPr lang="es-ES" sz="2000" dirty="0"/>
          </a:p>
        </p:txBody>
      </p:sp>
      <p:cxnSp>
        <p:nvCxnSpPr>
          <p:cNvPr id="13" name="Conector recto de flecha 12">
            <a:extLst>
              <a:ext uri="{FF2B5EF4-FFF2-40B4-BE49-F238E27FC236}">
                <a16:creationId xmlns:a16="http://schemas.microsoft.com/office/drawing/2014/main" id="{E692D3D9-5D4F-FA9F-CA90-395E44996B16}"/>
              </a:ext>
            </a:extLst>
          </p:cNvPr>
          <p:cNvCxnSpPr>
            <a:stCxn id="1026" idx="2"/>
            <a:endCxn id="10" idx="0"/>
          </p:cNvCxnSpPr>
          <p:nvPr/>
        </p:nvCxnSpPr>
        <p:spPr>
          <a:xfrm flipH="1">
            <a:off x="3082594" y="3996535"/>
            <a:ext cx="2992603" cy="765965"/>
          </a:xfrm>
          <a:prstGeom prst="straightConnector1">
            <a:avLst/>
          </a:prstGeom>
          <a:ln w="50800">
            <a:solidFill>
              <a:schemeClr val="tx1">
                <a:lumMod val="65000"/>
                <a:lumOff val="3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5940E05B-EA62-E1B5-67E2-D6B598C426B7}"/>
              </a:ext>
            </a:extLst>
          </p:cNvPr>
          <p:cNvCxnSpPr>
            <a:cxnSpLocks/>
            <a:stCxn id="1026" idx="2"/>
            <a:endCxn id="11" idx="0"/>
          </p:cNvCxnSpPr>
          <p:nvPr/>
        </p:nvCxnSpPr>
        <p:spPr>
          <a:xfrm>
            <a:off x="6075197" y="3996535"/>
            <a:ext cx="3034209" cy="765965"/>
          </a:xfrm>
          <a:prstGeom prst="straightConnector1">
            <a:avLst/>
          </a:prstGeom>
          <a:ln w="50800">
            <a:solidFill>
              <a:schemeClr val="tx1">
                <a:lumMod val="65000"/>
                <a:lumOff val="3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CB4E895A-CC93-A23D-6B27-DE0BACEEE9BD}"/>
              </a:ext>
            </a:extLst>
          </p:cNvPr>
          <p:cNvSpPr txBox="1"/>
          <p:nvPr/>
        </p:nvSpPr>
        <p:spPr>
          <a:xfrm>
            <a:off x="8972550" y="2003955"/>
            <a:ext cx="2190750" cy="369332"/>
          </a:xfrm>
          <a:prstGeom prst="rect">
            <a:avLst/>
          </a:prstGeom>
          <a:noFill/>
        </p:spPr>
        <p:txBody>
          <a:bodyPr wrap="square" rtlCol="0">
            <a:spAutoFit/>
          </a:bodyPr>
          <a:lstStyle/>
          <a:p>
            <a:pPr algn="ctr"/>
            <a:r>
              <a:rPr lang="es-ES" dirty="0">
                <a:hlinkClick r:id="rId5"/>
              </a:rPr>
              <a:t>Vídeo Explicativo</a:t>
            </a:r>
            <a:endParaRPr lang="es-ES" dirty="0"/>
          </a:p>
        </p:txBody>
      </p:sp>
    </p:spTree>
    <p:extLst>
      <p:ext uri="{BB962C8B-B14F-4D97-AF65-F5344CB8AC3E}">
        <p14:creationId xmlns:p14="http://schemas.microsoft.com/office/powerpoint/2010/main" val="258183275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133350" y="537301"/>
            <a:ext cx="9975205" cy="1325563"/>
          </a:xfrm>
        </p:spPr>
        <p:txBody>
          <a:bodyPr>
            <a:normAutofit fontScale="90000"/>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NORMAS ESPAÑOLAS SOBRE</a:t>
            </a:r>
            <a:r>
              <a:rPr lang="es-ES" sz="4400" b="1" kern="0" dirty="0">
                <a:effectLst/>
                <a:latin typeface="Calibri" panose="020F0502020204030204" pitchFamily="34" charset="0"/>
                <a:ea typeface="Times New Roman" panose="02020603050405020304" pitchFamily="18" charset="0"/>
                <a:cs typeface="Times New Roman" panose="02020603050405020304" pitchFamily="18" charset="0"/>
              </a:rPr>
              <a:t> </a:t>
            </a:r>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REPORTES NO FINANCIEROS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2050" name="Picture 2" descr="Blog – Página 4 de 10 – Revoredo.pe">
            <a:extLst>
              <a:ext uri="{FF2B5EF4-FFF2-40B4-BE49-F238E27FC236}">
                <a16:creationId xmlns:a16="http://schemas.microsoft.com/office/drawing/2014/main" id="{891446A7-BA31-1BEB-2694-BEA1B88286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7764" y="1527172"/>
            <a:ext cx="1639539" cy="1221007"/>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0F2B624A-1855-7DF5-A41C-E47D3C2DAF25}"/>
              </a:ext>
            </a:extLst>
          </p:cNvPr>
          <p:cNvSpPr txBox="1"/>
          <p:nvPr/>
        </p:nvSpPr>
        <p:spPr>
          <a:xfrm>
            <a:off x="5757303" y="1642198"/>
            <a:ext cx="1781767" cy="923330"/>
          </a:xfrm>
          <a:prstGeom prst="rect">
            <a:avLst/>
          </a:prstGeom>
          <a:noFill/>
        </p:spPr>
        <p:txBody>
          <a:bodyPr wrap="square" rtlCol="0">
            <a:spAutoFit/>
          </a:bodyPr>
          <a:lstStyle/>
          <a:p>
            <a:pPr algn="ctr"/>
            <a:r>
              <a:rPr lang="es-ES" dirty="0"/>
              <a:t>SOCIEDADES DE BENEFICIO E INTERÉS COMÚN</a:t>
            </a:r>
          </a:p>
        </p:txBody>
      </p:sp>
      <p:sp>
        <p:nvSpPr>
          <p:cNvPr id="8" name="Rectángulo 7">
            <a:extLst>
              <a:ext uri="{FF2B5EF4-FFF2-40B4-BE49-F238E27FC236}">
                <a16:creationId xmlns:a16="http://schemas.microsoft.com/office/drawing/2014/main" id="{9156306A-2AB8-FA7B-D1BE-24EB72D7A6BC}"/>
              </a:ext>
            </a:extLst>
          </p:cNvPr>
          <p:cNvSpPr/>
          <p:nvPr/>
        </p:nvSpPr>
        <p:spPr>
          <a:xfrm>
            <a:off x="4117764" y="1527172"/>
            <a:ext cx="3421306" cy="1221007"/>
          </a:xfrm>
          <a:prstGeom prst="rect">
            <a:avLst/>
          </a:prstGeom>
          <a:noFill/>
          <a:ln w="508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0D3FCE9B-33F8-2A47-A404-F9CAF00C2501}"/>
              </a:ext>
            </a:extLst>
          </p:cNvPr>
          <p:cNvSpPr txBox="1"/>
          <p:nvPr/>
        </p:nvSpPr>
        <p:spPr>
          <a:xfrm>
            <a:off x="4292373" y="3076802"/>
            <a:ext cx="6210300" cy="1641219"/>
          </a:xfrm>
          <a:prstGeom prst="rect">
            <a:avLst/>
          </a:prstGeom>
          <a:noFill/>
        </p:spPr>
        <p:txBody>
          <a:bodyPr wrap="square" rtlCol="0">
            <a:spAutoFit/>
          </a:bodyPr>
          <a:lstStyle/>
          <a:p>
            <a:pPr marL="342900" lvl="0" indent="-342900" algn="just">
              <a:lnSpc>
                <a:spcPct val="115000"/>
              </a:lnSpc>
              <a:spcBef>
                <a:spcPts val="500"/>
              </a:spcBef>
              <a:spcAft>
                <a:spcPts val="710"/>
              </a:spcAft>
              <a:buFont typeface="Symbol" panose="05050102010706020507" pitchFamily="18" charset="2"/>
              <a:buChar char=""/>
            </a:pPr>
            <a:r>
              <a:rPr lang="es-ES" sz="2000" dirty="0">
                <a:effectLst/>
                <a:ea typeface="Times New Roman" panose="02020603050405020304" pitchFamily="18" charset="0"/>
              </a:rPr>
              <a:t>Su compromiso </a:t>
            </a:r>
            <a:r>
              <a:rPr lang="es-ES" sz="2000" dirty="0">
                <a:ea typeface="Times New Roman" panose="02020603050405020304" pitchFamily="18" charset="0"/>
              </a:rPr>
              <a:t>de generar </a:t>
            </a:r>
            <a:r>
              <a:rPr lang="es-ES" sz="2000" b="1" dirty="0">
                <a:effectLst/>
                <a:ea typeface="Times New Roman" panose="02020603050405020304" pitchFamily="18" charset="0"/>
              </a:rPr>
              <a:t>impacto positivo </a:t>
            </a:r>
            <a:r>
              <a:rPr lang="es-ES" sz="2000" dirty="0">
                <a:effectLst/>
                <a:ea typeface="Times New Roman" panose="02020603050405020304" pitchFamily="18" charset="0"/>
              </a:rPr>
              <a:t>a nivel social y medioambiental a través de su actividad.</a:t>
            </a:r>
          </a:p>
          <a:p>
            <a:pPr marL="342900" lvl="0" indent="-342900" algn="just">
              <a:lnSpc>
                <a:spcPct val="115000"/>
              </a:lnSpc>
              <a:spcBef>
                <a:spcPts val="500"/>
              </a:spcBef>
              <a:spcAft>
                <a:spcPts val="710"/>
              </a:spcAft>
              <a:buFont typeface="Symbol" panose="05050102010706020507" pitchFamily="18" charset="2"/>
              <a:buChar char=""/>
            </a:pPr>
            <a:r>
              <a:rPr lang="es-ES" sz="2000" dirty="0">
                <a:effectLst/>
                <a:ea typeface="Times New Roman" panose="02020603050405020304" pitchFamily="18" charset="0"/>
              </a:rPr>
              <a:t>Su sometimiento a mayores niveles de transparencia y rendición de cuentas </a:t>
            </a:r>
          </a:p>
        </p:txBody>
      </p:sp>
      <p:sp>
        <p:nvSpPr>
          <p:cNvPr id="15" name="Rectángulo: esquinas redondeadas 14">
            <a:extLst>
              <a:ext uri="{FF2B5EF4-FFF2-40B4-BE49-F238E27FC236}">
                <a16:creationId xmlns:a16="http://schemas.microsoft.com/office/drawing/2014/main" id="{13DBBD52-59AB-74B3-E3CB-82A44646FA43}"/>
              </a:ext>
            </a:extLst>
          </p:cNvPr>
          <p:cNvSpPr/>
          <p:nvPr/>
        </p:nvSpPr>
        <p:spPr>
          <a:xfrm>
            <a:off x="1222532" y="3598961"/>
            <a:ext cx="1917700" cy="596900"/>
          </a:xfrm>
          <a:prstGeom prst="roundRect">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t>ESTATUTOS</a:t>
            </a:r>
          </a:p>
        </p:txBody>
      </p:sp>
      <p:sp>
        <p:nvSpPr>
          <p:cNvPr id="16" name="CuadroTexto 15">
            <a:extLst>
              <a:ext uri="{FF2B5EF4-FFF2-40B4-BE49-F238E27FC236}">
                <a16:creationId xmlns:a16="http://schemas.microsoft.com/office/drawing/2014/main" id="{070AEC59-E06C-5D51-8D8A-1C0BA199BC9B}"/>
              </a:ext>
            </a:extLst>
          </p:cNvPr>
          <p:cNvSpPr txBox="1"/>
          <p:nvPr/>
        </p:nvSpPr>
        <p:spPr>
          <a:xfrm>
            <a:off x="2723267" y="5145794"/>
            <a:ext cx="6210300" cy="1323439"/>
          </a:xfrm>
          <a:prstGeom prst="rect">
            <a:avLst/>
          </a:prstGeom>
          <a:solidFill>
            <a:schemeClr val="accent2">
              <a:lumMod val="40000"/>
              <a:lumOff val="60000"/>
            </a:schemeClr>
          </a:solidFill>
        </p:spPr>
        <p:txBody>
          <a:bodyPr wrap="square" rtlCol="0">
            <a:spAutoFit/>
          </a:bodyPr>
          <a:lstStyle/>
          <a:p>
            <a:pPr algn="just"/>
            <a:r>
              <a:rPr lang="es-ES_tradnl" sz="2000" dirty="0">
                <a:effectLst/>
                <a:ea typeface="Times New Roman" panose="02020603050405020304" pitchFamily="18" charset="0"/>
              </a:rPr>
              <a:t>Mediante desarrollo reglamentario se contemplarán los criterios y la metodología de validación de esta nueva figura empresarial, que incluirá una verificación del desempeño de la sociedad.</a:t>
            </a:r>
            <a:endParaRPr lang="es-ES" dirty="0"/>
          </a:p>
        </p:txBody>
      </p:sp>
      <p:sp>
        <p:nvSpPr>
          <p:cNvPr id="19" name="Abrir llave 18">
            <a:extLst>
              <a:ext uri="{FF2B5EF4-FFF2-40B4-BE49-F238E27FC236}">
                <a16:creationId xmlns:a16="http://schemas.microsoft.com/office/drawing/2014/main" id="{648AF00F-4993-C91E-308E-BE9957108882}"/>
              </a:ext>
            </a:extLst>
          </p:cNvPr>
          <p:cNvSpPr/>
          <p:nvPr/>
        </p:nvSpPr>
        <p:spPr>
          <a:xfrm>
            <a:off x="3372789" y="3023603"/>
            <a:ext cx="824459" cy="1747617"/>
          </a:xfrm>
          <a:prstGeom prst="leftBrace">
            <a:avLst>
              <a:gd name="adj1" fmla="val 19242"/>
              <a:gd name="adj2" fmla="val 50000"/>
            </a:avLst>
          </a:prstGeom>
          <a:ln w="508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342110265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4.10. NUEVOS MODELOS DE HACER NEGOCIOS</a:t>
            </a: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23307090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NUEVOS MODELOS DE HACER NEGOCIOS</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11" name="Grupo 10">
            <a:extLst>
              <a:ext uri="{FF2B5EF4-FFF2-40B4-BE49-F238E27FC236}">
                <a16:creationId xmlns:a16="http://schemas.microsoft.com/office/drawing/2014/main" id="{428E08C7-BDBE-715B-517A-28BF70654D01}"/>
              </a:ext>
            </a:extLst>
          </p:cNvPr>
          <p:cNvGrpSpPr/>
          <p:nvPr/>
        </p:nvGrpSpPr>
        <p:grpSpPr>
          <a:xfrm>
            <a:off x="4610970" y="2897116"/>
            <a:ext cx="2970060" cy="2533310"/>
            <a:chOff x="3925416" y="1660162"/>
            <a:chExt cx="3030020" cy="2896844"/>
          </a:xfrm>
        </p:grpSpPr>
        <p:grpSp>
          <p:nvGrpSpPr>
            <p:cNvPr id="8" name="Grupo 7">
              <a:extLst>
                <a:ext uri="{FF2B5EF4-FFF2-40B4-BE49-F238E27FC236}">
                  <a16:creationId xmlns:a16="http://schemas.microsoft.com/office/drawing/2014/main" id="{57ADA763-80E9-3E46-B047-82B03F8069B6}"/>
                </a:ext>
              </a:extLst>
            </p:cNvPr>
            <p:cNvGrpSpPr/>
            <p:nvPr/>
          </p:nvGrpSpPr>
          <p:grpSpPr>
            <a:xfrm>
              <a:off x="3925416" y="1660162"/>
              <a:ext cx="3030020" cy="2896844"/>
              <a:chOff x="2321468" y="1540241"/>
              <a:chExt cx="6343138" cy="4066012"/>
            </a:xfrm>
          </p:grpSpPr>
          <p:sp>
            <p:nvSpPr>
              <p:cNvPr id="3" name="Flecha: curvada hacia la derecha 2">
                <a:extLst>
                  <a:ext uri="{FF2B5EF4-FFF2-40B4-BE49-F238E27FC236}">
                    <a16:creationId xmlns:a16="http://schemas.microsoft.com/office/drawing/2014/main" id="{7E22EBBA-4036-A692-B1D7-63F71AB94D92}"/>
                  </a:ext>
                </a:extLst>
              </p:cNvPr>
              <p:cNvSpPr/>
              <p:nvPr/>
            </p:nvSpPr>
            <p:spPr>
              <a:xfrm>
                <a:off x="2321468" y="1828735"/>
                <a:ext cx="3117954" cy="3777518"/>
              </a:xfrm>
              <a:prstGeom prst="curvedRightArrow">
                <a:avLst/>
              </a:prstGeom>
              <a:solidFill>
                <a:schemeClr val="accent6">
                  <a:lumMod val="75000"/>
                </a:schemeClr>
              </a:solidFill>
              <a:scene3d>
                <a:camera prst="perspectiveRigh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Flecha: curvada hacia la derecha 5">
                <a:extLst>
                  <a:ext uri="{FF2B5EF4-FFF2-40B4-BE49-F238E27FC236}">
                    <a16:creationId xmlns:a16="http://schemas.microsoft.com/office/drawing/2014/main" id="{E8CB9325-AB99-0FF8-F3F6-D63C68D3EA10}"/>
                  </a:ext>
                </a:extLst>
              </p:cNvPr>
              <p:cNvSpPr/>
              <p:nvPr/>
            </p:nvSpPr>
            <p:spPr>
              <a:xfrm flipH="1" flipV="1">
                <a:off x="5546652" y="1540241"/>
                <a:ext cx="3117954" cy="3777518"/>
              </a:xfrm>
              <a:prstGeom prst="curvedRightArrow">
                <a:avLst/>
              </a:prstGeom>
              <a:solidFill>
                <a:schemeClr val="accent6">
                  <a:lumMod val="75000"/>
                </a:schemeClr>
              </a:solidFill>
              <a:scene3d>
                <a:camera prst="perspectiveRigh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10" name="CuadroTexto 9">
              <a:extLst>
                <a:ext uri="{FF2B5EF4-FFF2-40B4-BE49-F238E27FC236}">
                  <a16:creationId xmlns:a16="http://schemas.microsoft.com/office/drawing/2014/main" id="{BA5B374D-C006-7DC7-A006-1A147510873C}"/>
                </a:ext>
              </a:extLst>
            </p:cNvPr>
            <p:cNvSpPr txBox="1"/>
            <p:nvPr/>
          </p:nvSpPr>
          <p:spPr>
            <a:xfrm>
              <a:off x="4221003" y="2689920"/>
              <a:ext cx="2556184" cy="830997"/>
            </a:xfrm>
            <a:prstGeom prst="rect">
              <a:avLst/>
            </a:prstGeom>
            <a:noFill/>
          </p:spPr>
          <p:txBody>
            <a:bodyPr wrap="square" rtlCol="0">
              <a:spAutoFit/>
            </a:bodyPr>
            <a:lstStyle/>
            <a:p>
              <a:pPr algn="ctr"/>
              <a:r>
                <a:rPr lang="es-ES" sz="2400" b="1" dirty="0"/>
                <a:t>EMPRESAS REGENERADORAS</a:t>
              </a:r>
            </a:p>
          </p:txBody>
        </p:sp>
      </p:grpSp>
      <p:sp>
        <p:nvSpPr>
          <p:cNvPr id="13" name="Rectángulo: esquinas diagonales redondeadas 12">
            <a:extLst>
              <a:ext uri="{FF2B5EF4-FFF2-40B4-BE49-F238E27FC236}">
                <a16:creationId xmlns:a16="http://schemas.microsoft.com/office/drawing/2014/main" id="{F4C93083-0211-C63C-A47D-71A732343D0F}"/>
              </a:ext>
            </a:extLst>
          </p:cNvPr>
          <p:cNvSpPr/>
          <p:nvPr/>
        </p:nvSpPr>
        <p:spPr>
          <a:xfrm>
            <a:off x="934512" y="1876107"/>
            <a:ext cx="2833141" cy="991266"/>
          </a:xfrm>
          <a:prstGeom prst="round2DiagRect">
            <a:avLst/>
          </a:prstGeom>
          <a:solidFill>
            <a:schemeClr val="accent2">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Constituyen un paso más allá del ESG o ASG</a:t>
            </a:r>
          </a:p>
        </p:txBody>
      </p:sp>
      <p:pic>
        <p:nvPicPr>
          <p:cNvPr id="15" name="Imagen 14">
            <a:extLst>
              <a:ext uri="{FF2B5EF4-FFF2-40B4-BE49-F238E27FC236}">
                <a16:creationId xmlns:a16="http://schemas.microsoft.com/office/drawing/2014/main" id="{B4B1432B-7D7B-5219-692A-66D5370B7155}"/>
              </a:ext>
            </a:extLst>
          </p:cNvPr>
          <p:cNvPicPr>
            <a:picLocks noChangeAspect="1"/>
          </p:cNvPicPr>
          <p:nvPr/>
        </p:nvPicPr>
        <p:blipFill>
          <a:blip r:embed="rId4"/>
          <a:stretch>
            <a:fillRect/>
          </a:stretch>
        </p:blipFill>
        <p:spPr>
          <a:xfrm>
            <a:off x="5323231" y="1422349"/>
            <a:ext cx="1459926" cy="1256379"/>
          </a:xfrm>
          <a:prstGeom prst="rect">
            <a:avLst/>
          </a:prstGeom>
        </p:spPr>
      </p:pic>
      <p:sp>
        <p:nvSpPr>
          <p:cNvPr id="16" name="Rectángulo: esquinas diagonales redondeadas 15">
            <a:extLst>
              <a:ext uri="{FF2B5EF4-FFF2-40B4-BE49-F238E27FC236}">
                <a16:creationId xmlns:a16="http://schemas.microsoft.com/office/drawing/2014/main" id="{8B74E925-569F-BEC4-2EE3-E147B52F2451}"/>
              </a:ext>
            </a:extLst>
          </p:cNvPr>
          <p:cNvSpPr/>
          <p:nvPr/>
        </p:nvSpPr>
        <p:spPr>
          <a:xfrm>
            <a:off x="8489164" y="1876107"/>
            <a:ext cx="2833141" cy="991266"/>
          </a:xfrm>
          <a:prstGeom prst="round2DiagRect">
            <a:avLst/>
          </a:prstGeom>
          <a:solidFill>
            <a:schemeClr val="accent2">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Buscan un papel más activo en la sostenibilidad</a:t>
            </a:r>
          </a:p>
        </p:txBody>
      </p:sp>
      <p:sp>
        <p:nvSpPr>
          <p:cNvPr id="17" name="Rectángulo: esquinas diagonales redondeadas 16">
            <a:extLst>
              <a:ext uri="{FF2B5EF4-FFF2-40B4-BE49-F238E27FC236}">
                <a16:creationId xmlns:a16="http://schemas.microsoft.com/office/drawing/2014/main" id="{9599D83E-FBD5-96D5-28DE-76610D4BDF86}"/>
              </a:ext>
            </a:extLst>
          </p:cNvPr>
          <p:cNvSpPr/>
          <p:nvPr/>
        </p:nvSpPr>
        <p:spPr>
          <a:xfrm>
            <a:off x="934512" y="4998631"/>
            <a:ext cx="2833141" cy="991266"/>
          </a:xfrm>
          <a:prstGeom prst="round2DiagRect">
            <a:avLst/>
          </a:prstGeom>
          <a:solidFill>
            <a:schemeClr val="accent2">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Reparan los daños ambientales</a:t>
            </a:r>
          </a:p>
        </p:txBody>
      </p:sp>
      <p:sp>
        <p:nvSpPr>
          <p:cNvPr id="18" name="Rectángulo: esquinas diagonales redondeadas 17">
            <a:extLst>
              <a:ext uri="{FF2B5EF4-FFF2-40B4-BE49-F238E27FC236}">
                <a16:creationId xmlns:a16="http://schemas.microsoft.com/office/drawing/2014/main" id="{67460FEA-6398-7FBF-653B-3AFE9ECBA669}"/>
              </a:ext>
            </a:extLst>
          </p:cNvPr>
          <p:cNvSpPr/>
          <p:nvPr/>
        </p:nvSpPr>
        <p:spPr>
          <a:xfrm>
            <a:off x="8489164" y="4998631"/>
            <a:ext cx="2833141" cy="991266"/>
          </a:xfrm>
          <a:prstGeom prst="round2DiagRect">
            <a:avLst/>
          </a:prstGeom>
          <a:solidFill>
            <a:schemeClr val="accent2">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Combaten las desigualdades</a:t>
            </a:r>
          </a:p>
        </p:txBody>
      </p:sp>
    </p:spTree>
    <p:extLst>
      <p:ext uri="{BB962C8B-B14F-4D97-AF65-F5344CB8AC3E}">
        <p14:creationId xmlns:p14="http://schemas.microsoft.com/office/powerpoint/2010/main" val="273030322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ECONOMÍA AZUL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grpSp>
        <p:nvGrpSpPr>
          <p:cNvPr id="14" name="Grupo 13">
            <a:extLst>
              <a:ext uri="{FF2B5EF4-FFF2-40B4-BE49-F238E27FC236}">
                <a16:creationId xmlns:a16="http://schemas.microsoft.com/office/drawing/2014/main" id="{EA1C98EF-DB4D-62F1-6130-6047D173DD08}"/>
              </a:ext>
            </a:extLst>
          </p:cNvPr>
          <p:cNvGrpSpPr/>
          <p:nvPr/>
        </p:nvGrpSpPr>
        <p:grpSpPr>
          <a:xfrm>
            <a:off x="2451155" y="1573972"/>
            <a:ext cx="8436568" cy="2741601"/>
            <a:chOff x="1514007" y="1708879"/>
            <a:chExt cx="7824865" cy="2612755"/>
          </a:xfrm>
        </p:grpSpPr>
        <p:pic>
          <p:nvPicPr>
            <p:cNvPr id="3074" name="Picture 2" descr="Category:Gunter Pauli - Wikimedia Commons">
              <a:hlinkClick r:id="rId4"/>
              <a:extLst>
                <a:ext uri="{FF2B5EF4-FFF2-40B4-BE49-F238E27FC236}">
                  <a16:creationId xmlns:a16="http://schemas.microsoft.com/office/drawing/2014/main" id="{6FB2F172-F634-B171-DF9F-C0536C90D5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65" y="1893996"/>
              <a:ext cx="1564051" cy="220807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0401E9C5-EFB9-82D3-9A7F-8EF2298C3BEB}"/>
                </a:ext>
              </a:extLst>
            </p:cNvPr>
            <p:cNvSpPr txBox="1"/>
            <p:nvPr/>
          </p:nvSpPr>
          <p:spPr>
            <a:xfrm>
              <a:off x="3507698" y="1828481"/>
              <a:ext cx="5636302" cy="2493153"/>
            </a:xfrm>
            <a:prstGeom prst="rect">
              <a:avLst/>
            </a:prstGeom>
            <a:noFill/>
          </p:spPr>
          <p:txBody>
            <a:bodyPr wrap="square" rtlCol="0">
              <a:spAutoFit/>
            </a:bodyPr>
            <a:lstStyle/>
            <a:p>
              <a:pPr algn="ctr"/>
              <a:r>
                <a:rPr lang="es-ES" sz="2000" b="1" u="sng" dirty="0"/>
                <a:t>Gunter Pauli</a:t>
              </a:r>
            </a:p>
            <a:p>
              <a:pPr algn="just"/>
              <a:r>
                <a:rPr lang="es-ES" dirty="0"/>
                <a:t>Economista y empresario belga miembro del Club de Roma y creador de la denominada Economía Azul. En los años 90 fundó la próspera empresa </a:t>
              </a:r>
              <a:r>
                <a:rPr lang="es-ES" dirty="0" err="1"/>
                <a:t>Ecover</a:t>
              </a:r>
              <a:r>
                <a:rPr lang="es-ES" dirty="0"/>
                <a:t>, donde tanto la infraestructura como los productos, jabones ecológicos, eran biodegradables. Pero se dio cuenta que la demanda creciente del ingrediente principal, el aceite de palma, causaba la deforestación en Indonesia. Cerró el negocio. Actualmente es presidente de la </a:t>
              </a:r>
              <a:r>
                <a:rPr lang="es-ES" b="1" i="1" dirty="0">
                  <a:solidFill>
                    <a:srgbClr val="000000"/>
                  </a:solidFill>
                  <a:effectLst/>
                  <a:latin typeface="Arial" panose="020B0604020202020204" pitchFamily="34" charset="0"/>
                </a:rPr>
                <a:t> </a:t>
              </a:r>
              <a:r>
                <a:rPr lang="es-ES" dirty="0">
                  <a:solidFill>
                    <a:srgbClr val="000000"/>
                  </a:solidFill>
                  <a:effectLst/>
                  <a:hlinkClick r:id="rId6"/>
                </a:rPr>
                <a:t>Zero </a:t>
              </a:r>
              <a:r>
                <a:rPr lang="es-ES" dirty="0" err="1">
                  <a:solidFill>
                    <a:srgbClr val="000000"/>
                  </a:solidFill>
                  <a:effectLst/>
                  <a:hlinkClick r:id="rId6"/>
                </a:rPr>
                <a:t>Emissions</a:t>
              </a:r>
              <a:r>
                <a:rPr lang="es-ES" dirty="0">
                  <a:solidFill>
                    <a:srgbClr val="000000"/>
                  </a:solidFill>
                  <a:effectLst/>
                  <a:hlinkClick r:id="rId6"/>
                </a:rPr>
                <a:t> </a:t>
              </a:r>
              <a:r>
                <a:rPr lang="es-ES" dirty="0" err="1">
                  <a:solidFill>
                    <a:srgbClr val="000000"/>
                  </a:solidFill>
                  <a:effectLst/>
                  <a:hlinkClick r:id="rId6"/>
                </a:rPr>
                <a:t>Research</a:t>
              </a:r>
              <a:r>
                <a:rPr lang="es-ES" dirty="0">
                  <a:solidFill>
                    <a:srgbClr val="000000"/>
                  </a:solidFill>
                  <a:effectLst/>
                  <a:hlinkClick r:id="rId6"/>
                </a:rPr>
                <a:t> &amp; </a:t>
              </a:r>
              <a:r>
                <a:rPr lang="es-ES" dirty="0" err="1">
                  <a:solidFill>
                    <a:srgbClr val="000000"/>
                  </a:solidFill>
                  <a:effectLst/>
                  <a:hlinkClick r:id="rId6"/>
                </a:rPr>
                <a:t>Initiatives</a:t>
              </a:r>
              <a:r>
                <a:rPr lang="es-ES" dirty="0">
                  <a:solidFill>
                    <a:srgbClr val="000000"/>
                  </a:solidFill>
                  <a:effectLst/>
                  <a:hlinkClick r:id="rId6"/>
                </a:rPr>
                <a:t> </a:t>
              </a:r>
              <a:r>
                <a:rPr lang="es-ES" dirty="0">
                  <a:solidFill>
                    <a:srgbClr val="000000"/>
                  </a:solidFill>
                  <a:effectLst/>
                </a:rPr>
                <a:t>(ZERI)</a:t>
              </a:r>
              <a:endParaRPr lang="es-ES" dirty="0"/>
            </a:p>
          </p:txBody>
        </p:sp>
        <p:sp>
          <p:nvSpPr>
            <p:cNvPr id="12" name="Rectángulo 11">
              <a:extLst>
                <a:ext uri="{FF2B5EF4-FFF2-40B4-BE49-F238E27FC236}">
                  <a16:creationId xmlns:a16="http://schemas.microsoft.com/office/drawing/2014/main" id="{13A8012E-F4A9-D985-52A6-9AF92BBB0097}"/>
                </a:ext>
              </a:extLst>
            </p:cNvPr>
            <p:cNvSpPr/>
            <p:nvPr/>
          </p:nvSpPr>
          <p:spPr>
            <a:xfrm>
              <a:off x="1514007" y="1708879"/>
              <a:ext cx="7824865" cy="2578306"/>
            </a:xfrm>
            <a:prstGeom prst="rect">
              <a:avLst/>
            </a:prstGeom>
            <a:noFill/>
            <a:ln w="5080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9" name="Flecha: hacia abajo 18">
            <a:extLst>
              <a:ext uri="{FF2B5EF4-FFF2-40B4-BE49-F238E27FC236}">
                <a16:creationId xmlns:a16="http://schemas.microsoft.com/office/drawing/2014/main" id="{AC9BFDF0-5079-66DE-A215-96DAF18D69A4}"/>
              </a:ext>
            </a:extLst>
          </p:cNvPr>
          <p:cNvSpPr/>
          <p:nvPr/>
        </p:nvSpPr>
        <p:spPr>
          <a:xfrm>
            <a:off x="6234724" y="4497049"/>
            <a:ext cx="869429" cy="965210"/>
          </a:xfrm>
          <a:prstGeom prst="downArrow">
            <a:avLst/>
          </a:prstGeom>
          <a:solidFill>
            <a:schemeClr val="bg2">
              <a:lumMod val="2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076" name="Picture 4" descr="The Blue Economy 3.0 eBook by Gunter Pauli - EPUB | Rakuten Kobo ...">
            <a:extLst>
              <a:ext uri="{FF2B5EF4-FFF2-40B4-BE49-F238E27FC236}">
                <a16:creationId xmlns:a16="http://schemas.microsoft.com/office/drawing/2014/main" id="{78CC6FBC-1BF4-BD52-6A7E-DF016A37C5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730" y="1635374"/>
            <a:ext cx="1782736" cy="2582647"/>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esquinas redondeadas 19">
            <a:extLst>
              <a:ext uri="{FF2B5EF4-FFF2-40B4-BE49-F238E27FC236}">
                <a16:creationId xmlns:a16="http://schemas.microsoft.com/office/drawing/2014/main" id="{1D2DC54C-E038-75EE-0C73-11379EB0CF69}"/>
              </a:ext>
            </a:extLst>
          </p:cNvPr>
          <p:cNvSpPr/>
          <p:nvPr/>
        </p:nvSpPr>
        <p:spPr>
          <a:xfrm>
            <a:off x="3289156" y="5534256"/>
            <a:ext cx="6760563" cy="861920"/>
          </a:xfrm>
          <a:prstGeom prst="roundRect">
            <a:avLst>
              <a:gd name="adj" fmla="val 27102"/>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Aplica la </a:t>
            </a:r>
            <a:r>
              <a:rPr lang="es-ES" b="1" dirty="0" err="1"/>
              <a:t>biomímesis</a:t>
            </a:r>
            <a:r>
              <a:rPr lang="es-ES" b="1" dirty="0"/>
              <a:t> para crear modelos de empresas amigables con el medio ambiente y beneficiosas con la sociedad</a:t>
            </a:r>
          </a:p>
        </p:txBody>
      </p:sp>
    </p:spTree>
    <p:extLst>
      <p:ext uri="{BB962C8B-B14F-4D97-AF65-F5344CB8AC3E}">
        <p14:creationId xmlns:p14="http://schemas.microsoft.com/office/powerpoint/2010/main" val="130903758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ECONOMÍA AZUL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22" name="Imagen 21">
            <a:hlinkClick r:id="rId4"/>
            <a:extLst>
              <a:ext uri="{FF2B5EF4-FFF2-40B4-BE49-F238E27FC236}">
                <a16:creationId xmlns:a16="http://schemas.microsoft.com/office/drawing/2014/main" id="{382B3DAF-B5D6-07AD-1DFF-FDDC3C5EB197}"/>
              </a:ext>
            </a:extLst>
          </p:cNvPr>
          <p:cNvPicPr>
            <a:picLocks noChangeAspect="1"/>
          </p:cNvPicPr>
          <p:nvPr/>
        </p:nvPicPr>
        <p:blipFill>
          <a:blip r:embed="rId5"/>
          <a:stretch>
            <a:fillRect/>
          </a:stretch>
        </p:blipFill>
        <p:spPr>
          <a:xfrm>
            <a:off x="365913" y="1442591"/>
            <a:ext cx="11460174" cy="50108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422544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ECONOMÍA AZUL</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Rectángulo: esquinas superiores cortadas 2">
            <a:extLst>
              <a:ext uri="{FF2B5EF4-FFF2-40B4-BE49-F238E27FC236}">
                <a16:creationId xmlns:a16="http://schemas.microsoft.com/office/drawing/2014/main" id="{636CD7D1-1656-16C9-C035-B03E1175D1A3}"/>
              </a:ext>
            </a:extLst>
          </p:cNvPr>
          <p:cNvSpPr/>
          <p:nvPr/>
        </p:nvSpPr>
        <p:spPr>
          <a:xfrm>
            <a:off x="3489359" y="1719502"/>
            <a:ext cx="5039374" cy="586113"/>
          </a:xfrm>
          <a:prstGeom prst="snip2SameRect">
            <a:avLst>
              <a:gd name="adj1" fmla="val 32251"/>
              <a:gd name="adj2" fmla="val 0"/>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200" b="1" dirty="0"/>
              <a:t>PRINCIPIOS DE LA ECONOMÍA AZUL</a:t>
            </a:r>
          </a:p>
        </p:txBody>
      </p:sp>
      <p:sp>
        <p:nvSpPr>
          <p:cNvPr id="6" name="Rectángulo: esquinas redondeadas 5">
            <a:extLst>
              <a:ext uri="{FF2B5EF4-FFF2-40B4-BE49-F238E27FC236}">
                <a16:creationId xmlns:a16="http://schemas.microsoft.com/office/drawing/2014/main" id="{1F010C4C-BACA-EE6E-7E46-EB5771BBD156}"/>
              </a:ext>
            </a:extLst>
          </p:cNvPr>
          <p:cNvSpPr/>
          <p:nvPr/>
        </p:nvSpPr>
        <p:spPr>
          <a:xfrm>
            <a:off x="524654" y="2872333"/>
            <a:ext cx="2608288" cy="1112950"/>
          </a:xfrm>
          <a:prstGeom prst="roundRect">
            <a:avLst/>
          </a:prstGeom>
          <a:solidFill>
            <a:schemeClr val="accent5">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000" b="1" dirty="0">
                <a:solidFill>
                  <a:srgbClr val="000000"/>
                </a:solidFill>
                <a:effectLst/>
                <a:latin typeface="Calibri" panose="020F0502020204030204" pitchFamily="34" charset="0"/>
                <a:ea typeface="Times New Roman" panose="02020603050405020304" pitchFamily="18" charset="0"/>
              </a:rPr>
              <a:t>Inspirarse continuamente en la naturaleza</a:t>
            </a:r>
          </a:p>
        </p:txBody>
      </p:sp>
      <p:sp>
        <p:nvSpPr>
          <p:cNvPr id="11" name="Rectángulo: esquinas redondeadas 10">
            <a:extLst>
              <a:ext uri="{FF2B5EF4-FFF2-40B4-BE49-F238E27FC236}">
                <a16:creationId xmlns:a16="http://schemas.microsoft.com/office/drawing/2014/main" id="{D9B82189-E856-38FC-1492-2139C490AD94}"/>
              </a:ext>
            </a:extLst>
          </p:cNvPr>
          <p:cNvSpPr/>
          <p:nvPr/>
        </p:nvSpPr>
        <p:spPr>
          <a:xfrm>
            <a:off x="2891791" y="4580495"/>
            <a:ext cx="6234509" cy="1743217"/>
          </a:xfrm>
          <a:prstGeom prst="roundRect">
            <a:avLst/>
          </a:prstGeom>
          <a:solidFill>
            <a:schemeClr val="accent5">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000" b="1" dirty="0">
                <a:solidFill>
                  <a:srgbClr val="000000"/>
                </a:solidFill>
                <a:effectLst/>
                <a:latin typeface="Calibri" panose="020F0502020204030204" pitchFamily="34" charset="0"/>
                <a:ea typeface="Times New Roman" panose="02020603050405020304" pitchFamily="18" charset="0"/>
              </a:rPr>
              <a:t>Cambiar las reglas del juego</a:t>
            </a:r>
            <a:r>
              <a:rPr lang="es-ES_tradnl" sz="2000" b="1" dirty="0">
                <a:solidFill>
                  <a:srgbClr val="000000"/>
                </a:solidFill>
                <a:latin typeface="Calibri" panose="020F0502020204030204" pitchFamily="34" charset="0"/>
                <a:ea typeface="Times New Roman" panose="02020603050405020304" pitchFamily="18" charset="0"/>
              </a:rPr>
              <a:t>. </a:t>
            </a:r>
            <a:r>
              <a:rPr lang="es-ES_tradnl" sz="2000" dirty="0">
                <a:solidFill>
                  <a:srgbClr val="000000"/>
                </a:solidFill>
                <a:latin typeface="Calibri" panose="020F0502020204030204" pitchFamily="34" charset="0"/>
                <a:ea typeface="Times New Roman" panose="02020603050405020304" pitchFamily="18" charset="0"/>
              </a:rPr>
              <a:t>Las empresas se diseñan</a:t>
            </a:r>
            <a:r>
              <a:rPr lang="es-ES_tradnl" sz="2000" b="1" dirty="0">
                <a:solidFill>
                  <a:srgbClr val="000000"/>
                </a:solidFill>
                <a:latin typeface="Calibri" panose="020F0502020204030204" pitchFamily="34" charset="0"/>
                <a:ea typeface="Times New Roman" panose="02020603050405020304" pitchFamily="18" charset="0"/>
              </a:rPr>
              <a:t> </a:t>
            </a:r>
            <a:r>
              <a:rPr lang="es-ES_tradnl" sz="2000" dirty="0">
                <a:solidFill>
                  <a:srgbClr val="000000"/>
                </a:solidFill>
                <a:effectLst/>
                <a:latin typeface="Calibri" panose="020F0502020204030204" pitchFamily="34" charset="0"/>
                <a:ea typeface="Times New Roman" panose="02020603050405020304" pitchFamily="18" charset="0"/>
              </a:rPr>
              <a:t>para el cambio y la mejora continuos, estableciendo flujos económicos diversificados con un análisis de la rentabilidad global de todo el negocio y no a nivel de producto, ya que son variados</a:t>
            </a:r>
            <a:endParaRPr lang="es-ES_tradnl" sz="2000" b="1" dirty="0">
              <a:solidFill>
                <a:srgbClr val="000000"/>
              </a:solidFill>
              <a:effectLst/>
              <a:latin typeface="Calibri" panose="020F0502020204030204" pitchFamily="34" charset="0"/>
              <a:ea typeface="Times New Roman" panose="02020603050405020304" pitchFamily="18" charset="0"/>
            </a:endParaRPr>
          </a:p>
        </p:txBody>
      </p:sp>
      <p:sp>
        <p:nvSpPr>
          <p:cNvPr id="12" name="Rectángulo: esquinas redondeadas 11">
            <a:extLst>
              <a:ext uri="{FF2B5EF4-FFF2-40B4-BE49-F238E27FC236}">
                <a16:creationId xmlns:a16="http://schemas.microsoft.com/office/drawing/2014/main" id="{1422B2B7-0E42-E6D7-B947-E09710EBB26C}"/>
              </a:ext>
            </a:extLst>
          </p:cNvPr>
          <p:cNvSpPr/>
          <p:nvPr/>
        </p:nvSpPr>
        <p:spPr>
          <a:xfrm>
            <a:off x="8901391" y="2872333"/>
            <a:ext cx="2608288" cy="1112950"/>
          </a:xfrm>
          <a:prstGeom prst="roundRect">
            <a:avLst/>
          </a:prstGeom>
          <a:solidFill>
            <a:schemeClr val="accent5">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000" b="1" dirty="0">
                <a:solidFill>
                  <a:srgbClr val="000000"/>
                </a:solidFill>
                <a:effectLst/>
                <a:latin typeface="Calibri" panose="020F0502020204030204" pitchFamily="34" charset="0"/>
                <a:ea typeface="Times New Roman" panose="02020603050405020304" pitchFamily="18" charset="0"/>
              </a:rPr>
              <a:t>Centrarse en lo que hay disponible localmente</a:t>
            </a:r>
            <a:endParaRPr lang="es-ES_tradnl" sz="2000" b="1" dirty="0">
              <a:solidFill>
                <a:srgbClr val="000000"/>
              </a:solidFill>
              <a:latin typeface="Calibri" panose="020F0502020204030204" pitchFamily="34" charset="0"/>
              <a:ea typeface="Times New Roman" panose="02020603050405020304" pitchFamily="18" charset="0"/>
            </a:endParaRPr>
          </a:p>
        </p:txBody>
      </p:sp>
      <p:sp>
        <p:nvSpPr>
          <p:cNvPr id="13" name="Rectángulo: esquinas redondeadas 12">
            <a:extLst>
              <a:ext uri="{FF2B5EF4-FFF2-40B4-BE49-F238E27FC236}">
                <a16:creationId xmlns:a16="http://schemas.microsoft.com/office/drawing/2014/main" id="{CFA11D16-F5FB-2872-6A33-50158E17252C}"/>
              </a:ext>
            </a:extLst>
          </p:cNvPr>
          <p:cNvSpPr/>
          <p:nvPr/>
        </p:nvSpPr>
        <p:spPr>
          <a:xfrm>
            <a:off x="4713022" y="2872333"/>
            <a:ext cx="2608288" cy="1112950"/>
          </a:xfrm>
          <a:prstGeom prst="roundRect">
            <a:avLst/>
          </a:prstGeom>
          <a:solidFill>
            <a:schemeClr val="accent5">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000" b="1" dirty="0">
                <a:solidFill>
                  <a:srgbClr val="000000"/>
                </a:solidFill>
                <a:effectLst/>
                <a:latin typeface="Calibri" panose="020F0502020204030204" pitchFamily="34" charset="0"/>
                <a:ea typeface="Times New Roman" panose="02020603050405020304" pitchFamily="18" charset="0"/>
              </a:rPr>
              <a:t>La única constante es percibir cambios</a:t>
            </a:r>
            <a:endParaRPr lang="es-ES" sz="2000" dirty="0"/>
          </a:p>
        </p:txBody>
      </p:sp>
    </p:spTree>
    <p:extLst>
      <p:ext uri="{BB962C8B-B14F-4D97-AF65-F5344CB8AC3E}">
        <p14:creationId xmlns:p14="http://schemas.microsoft.com/office/powerpoint/2010/main" val="34761340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NET POSITIVE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pic>
        <p:nvPicPr>
          <p:cNvPr id="4098" name="Picture 2" descr="Can we talk? What leadership means today - Digital Workplace Group">
            <a:hlinkClick r:id="rId4"/>
            <a:extLst>
              <a:ext uri="{FF2B5EF4-FFF2-40B4-BE49-F238E27FC236}">
                <a16:creationId xmlns:a16="http://schemas.microsoft.com/office/drawing/2014/main" id="{01BC33AC-F6BE-F07B-3EC6-F9057CFB093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144" r="10761" b="8925"/>
          <a:stretch/>
        </p:blipFill>
        <p:spPr bwMode="auto">
          <a:xfrm>
            <a:off x="977880" y="1895961"/>
            <a:ext cx="1609969" cy="176458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742C2E90-9BB1-8B3A-03AA-C51EAFF916E9}"/>
              </a:ext>
            </a:extLst>
          </p:cNvPr>
          <p:cNvSpPr txBox="1"/>
          <p:nvPr/>
        </p:nvSpPr>
        <p:spPr>
          <a:xfrm>
            <a:off x="2891787" y="1762592"/>
            <a:ext cx="4467069" cy="2031325"/>
          </a:xfrm>
          <a:prstGeom prst="rect">
            <a:avLst/>
          </a:prstGeom>
          <a:noFill/>
        </p:spPr>
        <p:txBody>
          <a:bodyPr wrap="square" rtlCol="0">
            <a:spAutoFit/>
          </a:bodyPr>
          <a:lstStyle/>
          <a:p>
            <a:pPr algn="ctr"/>
            <a:r>
              <a:rPr lang="es-ES" b="1" u="sng" dirty="0"/>
              <a:t>Paul </a:t>
            </a:r>
            <a:r>
              <a:rPr lang="es-ES" b="1" u="sng" dirty="0" err="1"/>
              <a:t>Polman</a:t>
            </a:r>
            <a:endParaRPr lang="es-ES" b="1" u="sng" dirty="0"/>
          </a:p>
          <a:p>
            <a:pPr algn="just"/>
            <a:r>
              <a:rPr lang="es-ES" dirty="0"/>
              <a:t>Fue CEO de Unilever desde 2009 al 2019 apostando por una fuerte política de compromiso y sostenibilidad, mejorando sus beneficios. Actualmente es cofundador de Imagine, una organización que trata de ayudar a las empresas en esta transformación</a:t>
            </a:r>
          </a:p>
        </p:txBody>
      </p:sp>
      <p:sp>
        <p:nvSpPr>
          <p:cNvPr id="8" name="Rectángulo 7">
            <a:extLst>
              <a:ext uri="{FF2B5EF4-FFF2-40B4-BE49-F238E27FC236}">
                <a16:creationId xmlns:a16="http://schemas.microsoft.com/office/drawing/2014/main" id="{DDB49087-644E-6873-04DA-BC120C76E447}"/>
              </a:ext>
            </a:extLst>
          </p:cNvPr>
          <p:cNvSpPr/>
          <p:nvPr/>
        </p:nvSpPr>
        <p:spPr>
          <a:xfrm>
            <a:off x="824455" y="1762592"/>
            <a:ext cx="6704535" cy="2031319"/>
          </a:xfrm>
          <a:prstGeom prst="rect">
            <a:avLst/>
          </a:prstGeom>
          <a:noFill/>
          <a:ln w="508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ADFBE052-DCB0-4B8E-FD0E-28567D63E91C}"/>
              </a:ext>
            </a:extLst>
          </p:cNvPr>
          <p:cNvSpPr/>
          <p:nvPr/>
        </p:nvSpPr>
        <p:spPr>
          <a:xfrm>
            <a:off x="824455" y="4304755"/>
            <a:ext cx="6704535" cy="2031319"/>
          </a:xfrm>
          <a:prstGeom prst="rect">
            <a:avLst/>
          </a:prstGeom>
          <a:noFill/>
          <a:ln w="508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102" name="Picture 6" descr="New Books - Thinkers50">
            <a:extLst>
              <a:ext uri="{FF2B5EF4-FFF2-40B4-BE49-F238E27FC236}">
                <a16:creationId xmlns:a16="http://schemas.microsoft.com/office/drawing/2014/main" id="{54F02AC1-92A1-5704-6B6D-1BAAA02AA20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459" r="7633"/>
          <a:stretch/>
        </p:blipFill>
        <p:spPr bwMode="auto">
          <a:xfrm>
            <a:off x="7682415" y="2474184"/>
            <a:ext cx="2353456" cy="307625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bout - Andrew Winston">
            <a:hlinkClick r:id="rId7"/>
            <a:extLst>
              <a:ext uri="{FF2B5EF4-FFF2-40B4-BE49-F238E27FC236}">
                <a16:creationId xmlns:a16="http://schemas.microsoft.com/office/drawing/2014/main" id="{2A49F4A9-C90A-7F4D-D986-183D15C18B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5535" y="4513844"/>
            <a:ext cx="1652314" cy="1638371"/>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60027D68-E246-5D1D-E677-A5F0BF9C3787}"/>
              </a:ext>
            </a:extLst>
          </p:cNvPr>
          <p:cNvSpPr txBox="1"/>
          <p:nvPr/>
        </p:nvSpPr>
        <p:spPr>
          <a:xfrm>
            <a:off x="2891786" y="4278468"/>
            <a:ext cx="4467069" cy="2031325"/>
          </a:xfrm>
          <a:prstGeom prst="rect">
            <a:avLst/>
          </a:prstGeom>
          <a:noFill/>
        </p:spPr>
        <p:txBody>
          <a:bodyPr wrap="square" rtlCol="0">
            <a:spAutoFit/>
          </a:bodyPr>
          <a:lstStyle/>
          <a:p>
            <a:pPr algn="ctr"/>
            <a:r>
              <a:rPr lang="es-ES" b="1" u="sng" dirty="0"/>
              <a:t>Andrew Winston</a:t>
            </a:r>
          </a:p>
          <a:p>
            <a:pPr algn="just"/>
            <a:r>
              <a:rPr lang="es-ES" dirty="0"/>
              <a:t>Es un consultor y divulgador experto en sostenibilidad, que ayuda a las empresas a reconducirse y contribuir a la regeneración del mundo. Sus libros son de gran calado y es considerado una de las personas más influyentes a nivel mundial en la materia.</a:t>
            </a:r>
          </a:p>
        </p:txBody>
      </p:sp>
      <p:sp>
        <p:nvSpPr>
          <p:cNvPr id="15" name="Rectángulo 14">
            <a:extLst>
              <a:ext uri="{FF2B5EF4-FFF2-40B4-BE49-F238E27FC236}">
                <a16:creationId xmlns:a16="http://schemas.microsoft.com/office/drawing/2014/main" id="{6C3D0F21-D552-80A1-4C60-2ED46CFAF195}"/>
              </a:ext>
            </a:extLst>
          </p:cNvPr>
          <p:cNvSpPr/>
          <p:nvPr/>
        </p:nvSpPr>
        <p:spPr>
          <a:xfrm>
            <a:off x="10073392" y="2938072"/>
            <a:ext cx="1738859" cy="2158584"/>
          </a:xfrm>
          <a:prstGeom prst="rect">
            <a:avLst/>
          </a:prstGeom>
          <a:solidFill>
            <a:srgbClr val="00B050"/>
          </a:soli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Las empresas Net Positive van más allá del Net Zero y apuestan por la regeneración</a:t>
            </a:r>
          </a:p>
        </p:txBody>
      </p:sp>
    </p:spTree>
    <p:extLst>
      <p:ext uri="{BB962C8B-B14F-4D97-AF65-F5344CB8AC3E}">
        <p14:creationId xmlns:p14="http://schemas.microsoft.com/office/powerpoint/2010/main" val="17704324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332221-9891-C157-40DA-DFAD0B9A3282}"/>
              </a:ext>
            </a:extLst>
          </p:cNvPr>
          <p:cNvSpPr>
            <a:spLocks noGrp="1"/>
          </p:cNvSpPr>
          <p:nvPr>
            <p:ph type="title"/>
          </p:nvPr>
        </p:nvSpPr>
        <p:spPr>
          <a:xfrm>
            <a:off x="838200" y="533807"/>
            <a:ext cx="9202445" cy="1325563"/>
          </a:xfrm>
        </p:spPr>
        <p:txBody>
          <a:bodyPr>
            <a:normAutofit/>
          </a:bodyPr>
          <a:lstStyle/>
          <a:p>
            <a:r>
              <a:rPr lang="es-ES" sz="3600" b="1" kern="0" dirty="0">
                <a:effectLst/>
                <a:latin typeface="Calibri" panose="020F0502020204030204" pitchFamily="34" charset="0"/>
                <a:ea typeface="Times New Roman" panose="02020603050405020304" pitchFamily="18" charset="0"/>
                <a:cs typeface="Times New Roman" panose="02020603050405020304" pitchFamily="18" charset="0"/>
              </a:rPr>
              <a:t>NET POSITIVE</a:t>
            </a:r>
            <a:br>
              <a:rPr lang="es-ES" sz="4400" b="1" kern="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cxnSp>
        <p:nvCxnSpPr>
          <p:cNvPr id="5" name="Conector recto 4">
            <a:extLst>
              <a:ext uri="{FF2B5EF4-FFF2-40B4-BE49-F238E27FC236}">
                <a16:creationId xmlns:a16="http://schemas.microsoft.com/office/drawing/2014/main" id="{891A8819-7497-7C07-0087-684C0D6CF1D7}"/>
              </a:ext>
            </a:extLst>
          </p:cNvPr>
          <p:cNvCxnSpPr/>
          <p:nvPr/>
        </p:nvCxnSpPr>
        <p:spPr>
          <a:xfrm>
            <a:off x="-8878" y="1251747"/>
            <a:ext cx="8673484" cy="0"/>
          </a:xfrm>
          <a:prstGeom prst="line">
            <a:avLst/>
          </a:prstGeom>
          <a:ln>
            <a:solidFill>
              <a:srgbClr val="B3C544"/>
            </a:solidFill>
          </a:ln>
        </p:spPr>
        <p:style>
          <a:lnRef idx="1">
            <a:schemeClr val="accent1"/>
          </a:lnRef>
          <a:fillRef idx="0">
            <a:schemeClr val="accent1"/>
          </a:fillRef>
          <a:effectRef idx="0">
            <a:schemeClr val="accent1"/>
          </a:effectRef>
          <a:fontRef idx="minor">
            <a:schemeClr val="tx1"/>
          </a:fontRef>
        </p:style>
      </p:cxnSp>
      <p:pic>
        <p:nvPicPr>
          <p:cNvPr id="7" name="Imagen 6" descr="Imagen que contiene Logotipo&#10;&#10;Descripción generada automáticamente">
            <a:extLst>
              <a:ext uri="{FF2B5EF4-FFF2-40B4-BE49-F238E27FC236}">
                <a16:creationId xmlns:a16="http://schemas.microsoft.com/office/drawing/2014/main" id="{3A5C5D01-229D-EF58-B70D-187FAEF44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9" name="Marcador de contenido 2">
            <a:extLst>
              <a:ext uri="{FF2B5EF4-FFF2-40B4-BE49-F238E27FC236}">
                <a16:creationId xmlns:a16="http://schemas.microsoft.com/office/drawing/2014/main" id="{5ED9E5CA-2290-BBA6-591C-C73B162D2D1F}"/>
              </a:ext>
            </a:extLst>
          </p:cNvPr>
          <p:cNvSpPr txBox="1">
            <a:spLocks/>
          </p:cNvSpPr>
          <p:nvPr/>
        </p:nvSpPr>
        <p:spPr>
          <a:xfrm>
            <a:off x="6729273" y="6468173"/>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
        <p:nvSpPr>
          <p:cNvPr id="3" name="Elipse 2">
            <a:extLst>
              <a:ext uri="{FF2B5EF4-FFF2-40B4-BE49-F238E27FC236}">
                <a16:creationId xmlns:a16="http://schemas.microsoft.com/office/drawing/2014/main" id="{4E4EEF87-B763-CA12-71E7-0AEF0EA4ACA0}"/>
              </a:ext>
            </a:extLst>
          </p:cNvPr>
          <p:cNvSpPr/>
          <p:nvPr/>
        </p:nvSpPr>
        <p:spPr>
          <a:xfrm>
            <a:off x="4821701" y="2353459"/>
            <a:ext cx="2473377" cy="1060554"/>
          </a:xfrm>
          <a:prstGeom prst="ellipse">
            <a:avLst/>
          </a:prstGeom>
          <a:solidFill>
            <a:srgbClr val="00B05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t>EMPRESAS</a:t>
            </a:r>
          </a:p>
          <a:p>
            <a:pPr algn="ctr"/>
            <a:r>
              <a:rPr lang="es-ES" sz="2000" b="1" dirty="0"/>
              <a:t>NET POSITIVE</a:t>
            </a:r>
          </a:p>
        </p:txBody>
      </p:sp>
      <p:sp>
        <p:nvSpPr>
          <p:cNvPr id="6" name="CuadroTexto 5">
            <a:extLst>
              <a:ext uri="{FF2B5EF4-FFF2-40B4-BE49-F238E27FC236}">
                <a16:creationId xmlns:a16="http://schemas.microsoft.com/office/drawing/2014/main" id="{08276BED-37D1-0C7E-8E32-36F777DFE28C}"/>
              </a:ext>
            </a:extLst>
          </p:cNvPr>
          <p:cNvSpPr txBox="1"/>
          <p:nvPr/>
        </p:nvSpPr>
        <p:spPr>
          <a:xfrm>
            <a:off x="689545" y="2592303"/>
            <a:ext cx="2443397" cy="1323439"/>
          </a:xfrm>
          <a:prstGeom prst="rect">
            <a:avLst/>
          </a:prstGeom>
          <a:solidFill>
            <a:srgbClr val="FFFFB7"/>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Se responsabilizan de todos sus impactos y consecuencias, sean intencionados o no</a:t>
            </a:r>
            <a:endParaRPr lang="es-ES" sz="2000" dirty="0"/>
          </a:p>
        </p:txBody>
      </p:sp>
      <p:sp>
        <p:nvSpPr>
          <p:cNvPr id="11" name="CuadroTexto 10">
            <a:extLst>
              <a:ext uri="{FF2B5EF4-FFF2-40B4-BE49-F238E27FC236}">
                <a16:creationId xmlns:a16="http://schemas.microsoft.com/office/drawing/2014/main" id="{F5010D83-5667-00B2-68E2-857DBB4960B9}"/>
              </a:ext>
            </a:extLst>
          </p:cNvPr>
          <p:cNvSpPr txBox="1"/>
          <p:nvPr/>
        </p:nvSpPr>
        <p:spPr>
          <a:xfrm>
            <a:off x="1884467" y="4154875"/>
            <a:ext cx="2443397" cy="1323439"/>
          </a:xfrm>
          <a:prstGeom prst="rect">
            <a:avLst/>
          </a:prstGeom>
          <a:solidFill>
            <a:srgbClr val="FFFFB7"/>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Operan para el beneficio a largo plazo de la compañía y la sociedad</a:t>
            </a:r>
            <a:endParaRPr lang="es-ES" sz="2000" dirty="0"/>
          </a:p>
        </p:txBody>
      </p:sp>
      <p:sp>
        <p:nvSpPr>
          <p:cNvPr id="15" name="CuadroTexto 14">
            <a:extLst>
              <a:ext uri="{FF2B5EF4-FFF2-40B4-BE49-F238E27FC236}">
                <a16:creationId xmlns:a16="http://schemas.microsoft.com/office/drawing/2014/main" id="{BA41020B-0FAF-B020-B104-F1BE710BD60D}"/>
              </a:ext>
            </a:extLst>
          </p:cNvPr>
          <p:cNvSpPr txBox="1"/>
          <p:nvPr/>
        </p:nvSpPr>
        <p:spPr>
          <a:xfrm>
            <a:off x="7597248" y="4154874"/>
            <a:ext cx="2443397" cy="1323439"/>
          </a:xfrm>
          <a:prstGeom prst="rect">
            <a:avLst/>
          </a:prstGeom>
          <a:solidFill>
            <a:srgbClr val="FFFFB7"/>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Se responsabilizan de todos sus impactos y consecuencias, sean intencionados o no</a:t>
            </a:r>
            <a:endParaRPr lang="es-ES" sz="2000" dirty="0"/>
          </a:p>
        </p:txBody>
      </p:sp>
      <p:sp>
        <p:nvSpPr>
          <p:cNvPr id="18" name="CuadroTexto 17">
            <a:extLst>
              <a:ext uri="{FF2B5EF4-FFF2-40B4-BE49-F238E27FC236}">
                <a16:creationId xmlns:a16="http://schemas.microsoft.com/office/drawing/2014/main" id="{107D4F70-E8FF-F797-9C87-BAB13137489E}"/>
              </a:ext>
            </a:extLst>
          </p:cNvPr>
          <p:cNvSpPr txBox="1"/>
          <p:nvPr/>
        </p:nvSpPr>
        <p:spPr>
          <a:xfrm>
            <a:off x="4874301" y="5578104"/>
            <a:ext cx="2443397" cy="1015663"/>
          </a:xfrm>
          <a:prstGeom prst="rect">
            <a:avLst/>
          </a:prstGeom>
          <a:solidFill>
            <a:srgbClr val="FFFFB7"/>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Crean retornos positivos para todos los grupos de interés</a:t>
            </a:r>
            <a:endParaRPr lang="es-ES" sz="2000" dirty="0"/>
          </a:p>
        </p:txBody>
      </p:sp>
      <p:sp>
        <p:nvSpPr>
          <p:cNvPr id="19" name="CuadroTexto 18">
            <a:extLst>
              <a:ext uri="{FF2B5EF4-FFF2-40B4-BE49-F238E27FC236}">
                <a16:creationId xmlns:a16="http://schemas.microsoft.com/office/drawing/2014/main" id="{EBE12018-DE2C-E207-ED8A-C37EBFBCE244}"/>
              </a:ext>
            </a:extLst>
          </p:cNvPr>
          <p:cNvSpPr txBox="1"/>
          <p:nvPr/>
        </p:nvSpPr>
        <p:spPr>
          <a:xfrm>
            <a:off x="8983836" y="2638209"/>
            <a:ext cx="2443397" cy="1323439"/>
          </a:xfrm>
          <a:prstGeom prst="rect">
            <a:avLst/>
          </a:prstGeom>
          <a:solidFill>
            <a:srgbClr val="FFFFB7"/>
          </a:solidFill>
        </p:spPr>
        <p:txBody>
          <a:bodyPr wrap="square" rtlCol="0">
            <a:spAutoFit/>
          </a:bodyPr>
          <a:lstStyle/>
          <a:p>
            <a:pPr algn="just"/>
            <a:r>
              <a:rPr lang="es-ES_tradnl" sz="2000" dirty="0">
                <a:effectLst/>
                <a:latin typeface="Calibri" panose="020F0502020204030204" pitchFamily="34" charset="0"/>
                <a:ea typeface="Times New Roman" panose="02020603050405020304" pitchFamily="18" charset="0"/>
              </a:rPr>
              <a:t>Los beneficios de sus accionistas son un resultado, no un objetivo</a:t>
            </a:r>
            <a:endParaRPr lang="es-ES" sz="2000" dirty="0"/>
          </a:p>
        </p:txBody>
      </p:sp>
      <p:cxnSp>
        <p:nvCxnSpPr>
          <p:cNvPr id="21" name="Conector recto de flecha 20">
            <a:extLst>
              <a:ext uri="{FF2B5EF4-FFF2-40B4-BE49-F238E27FC236}">
                <a16:creationId xmlns:a16="http://schemas.microsoft.com/office/drawing/2014/main" id="{AE1416BB-4932-DD69-4DF9-AC40D1F1648A}"/>
              </a:ext>
            </a:extLst>
          </p:cNvPr>
          <p:cNvCxnSpPr>
            <a:stCxn id="3" idx="2"/>
            <a:endCxn id="6" idx="3"/>
          </p:cNvCxnSpPr>
          <p:nvPr/>
        </p:nvCxnSpPr>
        <p:spPr>
          <a:xfrm flipH="1">
            <a:off x="3132942" y="2883736"/>
            <a:ext cx="1688759" cy="370287"/>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17" name="Imagen 16">
            <a:extLst>
              <a:ext uri="{FF2B5EF4-FFF2-40B4-BE49-F238E27FC236}">
                <a16:creationId xmlns:a16="http://schemas.microsoft.com/office/drawing/2014/main" id="{EC91893B-15A9-072A-B1C9-F183A258987E}"/>
              </a:ext>
            </a:extLst>
          </p:cNvPr>
          <p:cNvPicPr>
            <a:picLocks noChangeAspect="1"/>
          </p:cNvPicPr>
          <p:nvPr/>
        </p:nvPicPr>
        <p:blipFill>
          <a:blip r:embed="rId4"/>
          <a:stretch>
            <a:fillRect/>
          </a:stretch>
        </p:blipFill>
        <p:spPr>
          <a:xfrm>
            <a:off x="0" y="1310574"/>
            <a:ext cx="876423" cy="852607"/>
          </a:xfrm>
          <a:prstGeom prst="rect">
            <a:avLst/>
          </a:prstGeom>
        </p:spPr>
      </p:pic>
      <p:cxnSp>
        <p:nvCxnSpPr>
          <p:cNvPr id="31" name="Conector recto de flecha 30">
            <a:extLst>
              <a:ext uri="{FF2B5EF4-FFF2-40B4-BE49-F238E27FC236}">
                <a16:creationId xmlns:a16="http://schemas.microsoft.com/office/drawing/2014/main" id="{1860FD67-1A17-5DC5-8663-AD2538FFB870}"/>
              </a:ext>
            </a:extLst>
          </p:cNvPr>
          <p:cNvCxnSpPr>
            <a:cxnSpLocks/>
            <a:stCxn id="3" idx="4"/>
          </p:cNvCxnSpPr>
          <p:nvPr/>
        </p:nvCxnSpPr>
        <p:spPr>
          <a:xfrm>
            <a:off x="6058390" y="3414013"/>
            <a:ext cx="37608" cy="2301094"/>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F4183A3F-1EF9-450F-6AFB-4612060B90AF}"/>
              </a:ext>
            </a:extLst>
          </p:cNvPr>
          <p:cNvCxnSpPr>
            <a:cxnSpLocks/>
            <a:stCxn id="3" idx="6"/>
            <a:endCxn id="19" idx="1"/>
          </p:cNvCxnSpPr>
          <p:nvPr/>
        </p:nvCxnSpPr>
        <p:spPr>
          <a:xfrm>
            <a:off x="7295078" y="2883736"/>
            <a:ext cx="1688758" cy="416193"/>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E0C2AC8E-9A91-DC87-11E0-E2B963ADE79A}"/>
              </a:ext>
            </a:extLst>
          </p:cNvPr>
          <p:cNvCxnSpPr>
            <a:cxnSpLocks/>
            <a:stCxn id="3" idx="4"/>
            <a:endCxn id="11" idx="3"/>
          </p:cNvCxnSpPr>
          <p:nvPr/>
        </p:nvCxnSpPr>
        <p:spPr>
          <a:xfrm flipH="1">
            <a:off x="4327864" y="3414013"/>
            <a:ext cx="1730526" cy="1402582"/>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66275C38-6258-7A03-0A67-771BE68B9542}"/>
              </a:ext>
            </a:extLst>
          </p:cNvPr>
          <p:cNvCxnSpPr>
            <a:cxnSpLocks/>
            <a:stCxn id="3" idx="4"/>
            <a:endCxn id="15" idx="1"/>
          </p:cNvCxnSpPr>
          <p:nvPr/>
        </p:nvCxnSpPr>
        <p:spPr>
          <a:xfrm>
            <a:off x="6058390" y="3414013"/>
            <a:ext cx="1538858" cy="1402581"/>
          </a:xfrm>
          <a:prstGeom prst="straightConnector1">
            <a:avLst/>
          </a:prstGeom>
          <a:ln w="50800">
            <a:solidFill>
              <a:schemeClr val="bg2">
                <a:lumMod val="2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34" name="Imagen 33">
            <a:extLst>
              <a:ext uri="{FF2B5EF4-FFF2-40B4-BE49-F238E27FC236}">
                <a16:creationId xmlns:a16="http://schemas.microsoft.com/office/drawing/2014/main" id="{CDC9EBB5-2045-9F01-FF20-8692F4EE1375}"/>
              </a:ext>
            </a:extLst>
          </p:cNvPr>
          <p:cNvPicPr>
            <a:picLocks noChangeAspect="1"/>
          </p:cNvPicPr>
          <p:nvPr/>
        </p:nvPicPr>
        <p:blipFill>
          <a:blip r:embed="rId4"/>
          <a:stretch>
            <a:fillRect/>
          </a:stretch>
        </p:blipFill>
        <p:spPr>
          <a:xfrm>
            <a:off x="11210373" y="1239222"/>
            <a:ext cx="876423" cy="852607"/>
          </a:xfrm>
          <a:prstGeom prst="rect">
            <a:avLst/>
          </a:prstGeom>
        </p:spPr>
      </p:pic>
    </p:spTree>
    <p:extLst>
      <p:ext uri="{BB962C8B-B14F-4D97-AF65-F5344CB8AC3E}">
        <p14:creationId xmlns:p14="http://schemas.microsoft.com/office/powerpoint/2010/main" val="325561982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1" name="Freeform: Shape 10">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21" name="Imagen 20" descr="Imagen que contiene Logotipo&#10;&#10;Descripción generada automáticamente">
            <a:extLst>
              <a:ext uri="{FF2B5EF4-FFF2-40B4-BE49-F238E27FC236}">
                <a16:creationId xmlns:a16="http://schemas.microsoft.com/office/drawing/2014/main" id="{2228CA1A-BC4F-8C9D-1AD3-F35ED3E26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555" y="350080"/>
            <a:ext cx="1300884" cy="722646"/>
          </a:xfrm>
          <a:prstGeom prst="rect">
            <a:avLst/>
          </a:prstGeom>
        </p:spPr>
      </p:pic>
      <p:sp>
        <p:nvSpPr>
          <p:cNvPr id="7" name="Título 1">
            <a:extLst>
              <a:ext uri="{FF2B5EF4-FFF2-40B4-BE49-F238E27FC236}">
                <a16:creationId xmlns:a16="http://schemas.microsoft.com/office/drawing/2014/main" id="{E9F474EC-0257-6438-C082-1992833519BA}"/>
              </a:ext>
            </a:extLst>
          </p:cNvPr>
          <p:cNvSpPr txBox="1">
            <a:spLocks/>
          </p:cNvSpPr>
          <p:nvPr/>
        </p:nvSpPr>
        <p:spPr>
          <a:xfrm>
            <a:off x="3469566" y="2571306"/>
            <a:ext cx="4784525" cy="132556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5800" b="1" kern="0" dirty="0">
                <a:latin typeface="Calibri" panose="020F0502020204030204" pitchFamily="34" charset="0"/>
                <a:ea typeface="Times New Roman" panose="02020603050405020304" pitchFamily="18" charset="0"/>
                <a:cs typeface="Times New Roman" panose="02020603050405020304" pitchFamily="18" charset="0"/>
              </a:rPr>
              <a:t>FIN DE LA UNIDAD 4</a:t>
            </a:r>
            <a:br>
              <a:rPr lang="es-ES" b="1" kern="0" dirty="0">
                <a:solidFill>
                  <a:srgbClr val="2F5496"/>
                </a:solidFill>
                <a:latin typeface="Calibri" panose="020F0502020204030204" pitchFamily="34" charset="0"/>
                <a:ea typeface="Times New Roman" panose="02020603050405020304" pitchFamily="18" charset="0"/>
                <a:cs typeface="Times New Roman" panose="02020603050405020304" pitchFamily="18" charset="0"/>
              </a:rPr>
            </a:br>
            <a:endParaRPr lang="es-ES" dirty="0"/>
          </a:p>
        </p:txBody>
      </p:sp>
      <p:sp>
        <p:nvSpPr>
          <p:cNvPr id="17" name="Marcador de contenido 2">
            <a:extLst>
              <a:ext uri="{FF2B5EF4-FFF2-40B4-BE49-F238E27FC236}">
                <a16:creationId xmlns:a16="http://schemas.microsoft.com/office/drawing/2014/main" id="{5AA9B4AD-B159-A05A-7923-66BA64CDA3FA}"/>
              </a:ext>
            </a:extLst>
          </p:cNvPr>
          <p:cNvSpPr txBox="1">
            <a:spLocks/>
          </p:cNvSpPr>
          <p:nvPr/>
        </p:nvSpPr>
        <p:spPr>
          <a:xfrm>
            <a:off x="7433263" y="6452911"/>
            <a:ext cx="4758432" cy="4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s-ES" sz="1400" b="1" kern="0" dirty="0">
                <a:solidFill>
                  <a:schemeClr val="bg1">
                    <a:lumMod val="75000"/>
                  </a:schemeClr>
                </a:solidFill>
                <a:latin typeface="Calibri" panose="020F0502020204030204" pitchFamily="34" charset="0"/>
                <a:ea typeface="Times New Roman" panose="02020603050405020304" pitchFamily="18" charset="0"/>
                <a:cs typeface="Times New Roman" panose="02020603050405020304" pitchFamily="18" charset="0"/>
              </a:rPr>
              <a:t>Sostenibilidad aplicada al sistema productivo</a:t>
            </a:r>
          </a:p>
        </p:txBody>
      </p:sp>
    </p:spTree>
    <p:extLst>
      <p:ext uri="{BB962C8B-B14F-4D97-AF65-F5344CB8AC3E}">
        <p14:creationId xmlns:p14="http://schemas.microsoft.com/office/powerpoint/2010/main" val="12789280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11105</TotalTime>
  <Words>6083</Words>
  <Application>Microsoft Office PowerPoint</Application>
  <PresentationFormat>Panorámica</PresentationFormat>
  <Paragraphs>889</Paragraphs>
  <Slides>128</Slides>
  <Notes>96</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128</vt:i4>
      </vt:variant>
    </vt:vector>
  </HeadingPairs>
  <TitlesOfParts>
    <vt:vector size="137" baseType="lpstr">
      <vt:lpstr>Aptos</vt:lpstr>
      <vt:lpstr>Arial</vt:lpstr>
      <vt:lpstr>Asap</vt:lpstr>
      <vt:lpstr>Calibri</vt:lpstr>
      <vt:lpstr>Calibri Light</vt:lpstr>
      <vt:lpstr>Inter</vt:lpstr>
      <vt:lpstr>Symbol</vt:lpstr>
      <vt:lpstr>Times New Roman</vt:lpstr>
      <vt:lpstr>Tema de Office</vt:lpstr>
      <vt:lpstr>SOSTENIBILIDAD APLICADA AL SISTEMA PRODUCTIVO</vt:lpstr>
      <vt:lpstr>Presentación de PowerPoint</vt:lpstr>
      <vt:lpstr>CONCEPTOS DE SOSTENIBILIDAD EMPRESARIAL </vt:lpstr>
      <vt:lpstr>LOS GRUPOS DE INTERÉS (SKATEHOLDERS) </vt:lpstr>
      <vt:lpstr>LOS GRUPOS DE INTERÉS </vt:lpstr>
      <vt:lpstr>LOS GRUPOS DE INTERÉS </vt:lpstr>
      <vt:lpstr>GRUPOS DE INTERÉS INTERNOS </vt:lpstr>
      <vt:lpstr>GRUPOS DE INTERÉS INTERNOS </vt:lpstr>
      <vt:lpstr>GRUPOS DE INTERÉS INTERNOS </vt:lpstr>
      <vt:lpstr>GRUPOS DE INTERÉS EXTERNOS </vt:lpstr>
      <vt:lpstr>GRUPOS DE INTERÉS EXTERNOS </vt:lpstr>
      <vt:lpstr>GRUPOS DE INTERÉS EXTERNOS </vt:lpstr>
      <vt:lpstr>GRUPOS DE INTERÉS EXTERNOS </vt:lpstr>
      <vt:lpstr>GRUPOS DE INTERÉS EXTERNOS </vt:lpstr>
      <vt:lpstr>GRUPOS DE INTERÉS EXTERNOS </vt:lpstr>
      <vt:lpstr>GRUPOS DE INTERÉS EXTERNOS </vt:lpstr>
      <vt:lpstr>LA CADENA DE VALOR </vt:lpstr>
      <vt:lpstr>LA CADENA DE VALOR </vt:lpstr>
      <vt:lpstr>LA CADENA DE VALOR </vt:lpstr>
      <vt:lpstr>LOS PRINCIPIOS RECTORES DEL PACTO MUNDIAL </vt:lpstr>
      <vt:lpstr>LOS PRINCIPIOS RECTORES DEL PACTO MUNDIAL </vt:lpstr>
      <vt:lpstr>EL ALCANCE DE LA ACTIVIDAD EMPRESARIAL </vt:lpstr>
      <vt:lpstr>Presentación de PowerPoint</vt:lpstr>
      <vt:lpstr>TOMA DE CONCIENCIA </vt:lpstr>
      <vt:lpstr>CONCEPTO DE ASG O ESG </vt:lpstr>
      <vt:lpstr>CONCEPTO DE ASG O ESG </vt:lpstr>
      <vt:lpstr>CONCEPTO DE ASG O ESG </vt:lpstr>
      <vt:lpstr>CONCEPTO DE ASG O ESG </vt:lpstr>
      <vt:lpstr>CONCEPTO DE ASG O ESG </vt:lpstr>
      <vt:lpstr>Presentación de PowerPoint</vt:lpstr>
      <vt:lpstr>PROTECCIÓN DE LA BIODIVERSIDAD </vt:lpstr>
      <vt:lpstr>PROTECCIÓN DE LA BIODIVERSIDAD </vt:lpstr>
      <vt:lpstr>PROTECCIÓN DE LA BIODIVERSIDAD </vt:lpstr>
      <vt:lpstr>PROTECCIÓN DE LA BIODIVERSIDAD </vt:lpstr>
      <vt:lpstr>PROTECCIÓN DE LA BIODIVERSIDAD </vt:lpstr>
      <vt:lpstr>EMISIONES GEI Y CAMBIO CLIMÁTICO </vt:lpstr>
      <vt:lpstr>EMISIONES GEI Y CAMBIO CLIMÁTICO </vt:lpstr>
      <vt:lpstr>EMISIONES GEI Y CAMBIO CLIMÁTICO </vt:lpstr>
      <vt:lpstr>EMISIONES GEI Y CAMBIO CLIMÁTICO </vt:lpstr>
      <vt:lpstr>ENERGÍAS RENOVABLES Y EFICIENCIA ENERGÉTICA </vt:lpstr>
      <vt:lpstr>ENERGÍAS RENOVABLES Y EFICIENCIA ENERGÉTICA </vt:lpstr>
      <vt:lpstr>GESTIÓN DEL AGUA Y CONTROL DE LA CONTAMINACIÓN </vt:lpstr>
      <vt:lpstr>GESTIÓN DEL AGUA Y CONTROL DE LA CONTAMINACIÓN </vt:lpstr>
      <vt:lpstr>GESTIÓN DEL AGUA Y CONTROL DE LA CONTAMINACIÓN </vt:lpstr>
      <vt:lpstr>GESTIÓN DEL AGUA Y CONTROL DE LA CONTAMINACIÓN </vt:lpstr>
      <vt:lpstr>GESTIÓN DE RESIDUOS </vt:lpstr>
      <vt:lpstr>GESTIÓN DE RESIDUOS </vt:lpstr>
      <vt:lpstr>Presentación de PowerPoint</vt:lpstr>
      <vt:lpstr>ASPECTOS SOCIALES</vt:lpstr>
      <vt:lpstr>ASPECTOS SOCIALES</vt:lpstr>
      <vt:lpstr>ASPECTOS SOCIALES</vt:lpstr>
      <vt:lpstr>ASPECTOS SOCIALES</vt:lpstr>
      <vt:lpstr>CONDICIONES LABORALES Y DERECHOS HUMANOS</vt:lpstr>
      <vt:lpstr>CONDICIONES LABORALES Y DERECHOS HUMANOS</vt:lpstr>
      <vt:lpstr>ASPECTOS SOCIALES </vt:lpstr>
      <vt:lpstr>CONDICIONES LABORALES Y DERECHOS HUMANOS </vt:lpstr>
      <vt:lpstr>PARTICIPACIÓN EN LA COMUNIDAD </vt:lpstr>
      <vt:lpstr>PARTICIPACIÓN EN LA COMUNIDAD </vt:lpstr>
      <vt:lpstr>PARTICIPACIÓN EN LA COMUNIDAD </vt:lpstr>
      <vt:lpstr>DIVERSIDAD, EQUIDAD E INCLUSIÓN </vt:lpstr>
      <vt:lpstr>DIVERSIDAD, EQUIDAD E INCLUSIÓN </vt:lpstr>
      <vt:lpstr>DIVERSIDAD, EQUIDAD E INCLUSIÓN </vt:lpstr>
      <vt:lpstr>SEGURIDAD DEL PRODUCTO Y PROTECCIÓN DE CONSUMIDORES </vt:lpstr>
      <vt:lpstr>SEGURIDAD DEL PRODUCTO Y PROTECCIÓN DE CONSUMIDORES </vt:lpstr>
      <vt:lpstr>COMPROMISO CON LOS PROVEEDORES </vt:lpstr>
      <vt:lpstr>COMPROMISO CON LOS PROVEEDORES </vt:lpstr>
      <vt:lpstr>Presentación de PowerPoint</vt:lpstr>
      <vt:lpstr>GOBIERNO CORPORATIVO </vt:lpstr>
      <vt:lpstr>GOBIERNO CORPORATIVO </vt:lpstr>
      <vt:lpstr>TRANSPARENCIA Y COMUNICACIÓN RESPONSABLE</vt:lpstr>
      <vt:lpstr>TRANSPARENCIA Y COMUNICACIÓN RESPONSABLE</vt:lpstr>
      <vt:lpstr>TRANSPARENCIA Y COMUNICACIÓN RESPONSABLE</vt:lpstr>
      <vt:lpstr>EJEMPLO DE GREENWASHING</vt:lpstr>
      <vt:lpstr>EJEMPLO DE GREENWASHING</vt:lpstr>
      <vt:lpstr>EJEMPLO DE SOCIAL WASHING</vt:lpstr>
      <vt:lpstr>POLÍTICA ANTICORRUPCIÓN Y ANTISOBORNO</vt:lpstr>
      <vt:lpstr>POLÍTICA ANTICORRUPCIÓN Y ANTISOBORNO</vt:lpstr>
      <vt:lpstr>POLÍTICA ANTICORRUPCIÓN Y ANTISOBORNO</vt:lpstr>
      <vt:lpstr>RESPECTO A LA NORMATIVA Y CONTRIBUCIÓN A LOS IMPUESTOS</vt:lpstr>
      <vt:lpstr>RESPECTO A LA NORMATIVA Y CONTRIBUCIÓN A LOS IMPUESTOS</vt:lpstr>
      <vt:lpstr>ESTRATEGIAS DE PRESIÓN POLÍTICA</vt:lpstr>
      <vt:lpstr>ESTRATEGIAS DE PRESIÓN POLÍTICA</vt:lpstr>
      <vt:lpstr>Presentación de PowerPoint</vt:lpstr>
      <vt:lpstr>MEDIDA ESTRATEGIAS ESG  </vt:lpstr>
      <vt:lpstr>MEDIDA IMPACTO ESTRATEGIAS ESG  </vt:lpstr>
      <vt:lpstr>MEDIDA IMPACTO ESTRATEGIAS ESG  </vt:lpstr>
      <vt:lpstr>MEDIDA IMPACTO ESTRATEGIAS ESG  </vt:lpstr>
      <vt:lpstr>INFORMES DE SOSTENIBILIDAD  </vt:lpstr>
      <vt:lpstr>INFORMES DE SOSTENIBILIDAD  </vt:lpstr>
      <vt:lpstr>EJEMPLO INFORME DE SOSTENIBILIDAD  </vt:lpstr>
      <vt:lpstr>ELABORAR INFORME DE SOSTENIBILIDAD  </vt:lpstr>
      <vt:lpstr>ESTÁNDARES DE INFORMES DE SOSTENIBILIDAD  </vt:lpstr>
      <vt:lpstr>ESTÁNDARES DE INFORMES DE SOSTENIBILIDAD  </vt:lpstr>
      <vt:lpstr>INTEGRACIÓN DE ESTÁNDARES ANTERIORES </vt:lpstr>
      <vt:lpstr>Presentación de PowerPoint</vt:lpstr>
      <vt:lpstr>CERTIFICACIÓN ESG O ASG </vt:lpstr>
      <vt:lpstr>CERTIFICACIÓN ESG O ASG </vt:lpstr>
      <vt:lpstr>CERTIFICACIÓN ESG O ASG </vt:lpstr>
      <vt:lpstr>Presentación de PowerPoint</vt:lpstr>
      <vt:lpstr>ESG O ASG Y LOS INVERSORES </vt:lpstr>
      <vt:lpstr>ESG O ASG Y LOS INVERSORES </vt:lpstr>
      <vt:lpstr>FONDOS ISR </vt:lpstr>
      <vt:lpstr>ÍNDICES BURSÁTILES RELACIONADOS CON ESG O ASG </vt:lpstr>
      <vt:lpstr>TAXONOMÍA EUROPEA DE FINANZAS SOSTENIBLES </vt:lpstr>
      <vt:lpstr>TAXONOMÍA EUROPEA DE FINANZAS SOSTENIBLES </vt:lpstr>
      <vt:lpstr>TAXONOMÍA EUROPEA DE FINANZAS SOSTENIBLES </vt:lpstr>
      <vt:lpstr>BONO VERDE EUROPEO </vt:lpstr>
      <vt:lpstr>BONO VERDE EUROPEO </vt:lpstr>
      <vt:lpstr>Presentación de PowerPoint</vt:lpstr>
      <vt:lpstr>EL PAPEL DE LOS GOBIERNOS </vt:lpstr>
      <vt:lpstr>NORMAS EUROPEAS SOBRE REPORTES NO FINANCIEROS </vt:lpstr>
      <vt:lpstr>NORMAS EUROPEAS SOBRE REPORTES NO FINANCIEROS </vt:lpstr>
      <vt:lpstr>NORMAS EUROPEAS SOBRE REPORTES NO FINANCIEROS </vt:lpstr>
      <vt:lpstr>NORMAS EUROPEAS SOBRE REPORTES NO FINANCIEROS </vt:lpstr>
      <vt:lpstr>NORMAS EUROPEAS SOBRE REPORTES NO FINANCIEROS </vt:lpstr>
      <vt:lpstr>NORMAS EUROPEAS SOBRE DDHH </vt:lpstr>
      <vt:lpstr>NORMAS EUROPEAS SOBRE DDHH </vt:lpstr>
      <vt:lpstr>NORMAS ESPAÑOLAS EMPRESAS Y SOSTENIBILIDAD </vt:lpstr>
      <vt:lpstr>NORMAS ESPAÑOLAS SOBRE REPORTES NO FINANCIEROS </vt:lpstr>
      <vt:lpstr>NORMAS ESPAÑOLAS SOBRE REPORTES NO FINANCIEROS </vt:lpstr>
      <vt:lpstr>Presentación de PowerPoint</vt:lpstr>
      <vt:lpstr>NUEVOS MODELOS DE HACER NEGOCIOS </vt:lpstr>
      <vt:lpstr>ECONOMÍA AZUL </vt:lpstr>
      <vt:lpstr>ECONOMÍA AZUL </vt:lpstr>
      <vt:lpstr>ECONOMÍA AZUL </vt:lpstr>
      <vt:lpstr>NET POSITIVE </vt:lpstr>
      <vt:lpstr>NET POSITIVE </vt:lpstr>
      <vt:lpstr>Presentación de PowerPoint</vt:lpstr>
    </vt:vector>
  </TitlesOfParts>
  <Company>Empresa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DEL LIBRO</dc:title>
  <dc:creator>Rosa Castillo</dc:creator>
  <cp:lastModifiedBy>Rosa Castillo</cp:lastModifiedBy>
  <cp:revision>834</cp:revision>
  <dcterms:created xsi:type="dcterms:W3CDTF">2024-04-15T10:19:16Z</dcterms:created>
  <dcterms:modified xsi:type="dcterms:W3CDTF">2024-09-30T06:21:04Z</dcterms:modified>
</cp:coreProperties>
</file>